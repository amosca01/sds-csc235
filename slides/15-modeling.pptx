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26"/>
  </p:notesMasterIdLst>
  <p:sldIdLst>
    <p:sldId id="256" r:id="rId2"/>
    <p:sldId id="257" r:id="rId3"/>
    <p:sldId id="266" r:id="rId4"/>
    <p:sldId id="273" r:id="rId5"/>
    <p:sldId id="275" r:id="rId6"/>
    <p:sldId id="276" r:id="rId7"/>
    <p:sldId id="277" r:id="rId8"/>
    <p:sldId id="278" r:id="rId9"/>
    <p:sldId id="279" r:id="rId10"/>
    <p:sldId id="280" r:id="rId11"/>
    <p:sldId id="281" r:id="rId12"/>
    <p:sldId id="262" r:id="rId13"/>
    <p:sldId id="271" r:id="rId14"/>
    <p:sldId id="263" r:id="rId15"/>
    <p:sldId id="272" r:id="rId16"/>
    <p:sldId id="264" r:id="rId17"/>
    <p:sldId id="269" r:id="rId18"/>
    <p:sldId id="270" r:id="rId19"/>
    <p:sldId id="265" r:id="rId20"/>
    <p:sldId id="259" r:id="rId21"/>
    <p:sldId id="260" r:id="rId22"/>
    <p:sldId id="261" r:id="rId23"/>
    <p:sldId id="268" r:id="rId24"/>
    <p:sldId id="28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20"/>
    <p:restoredTop sz="64599"/>
  </p:normalViewPr>
  <p:slideViewPr>
    <p:cSldViewPr snapToGrid="0">
      <p:cViewPr varScale="1">
        <p:scale>
          <a:sx n="86" d="100"/>
          <a:sy n="86" d="100"/>
        </p:scale>
        <p:origin x="240"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22518-F7FE-2E40-9C60-793856882CE6}" type="datetimeFigureOut">
              <a:rPr lang="en-US" smtClean="0"/>
              <a:t>2/26/26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CD335-F0CB-D347-B8A5-7AB70F34C34F}" type="slidenum">
              <a:rPr lang="en-US" smtClean="0"/>
              <a:t>‹#›</a:t>
            </a:fld>
            <a:endParaRPr lang="en-US"/>
          </a:p>
        </p:txBody>
      </p:sp>
    </p:spTree>
    <p:extLst>
      <p:ext uri="{BB962C8B-B14F-4D97-AF65-F5344CB8AC3E}">
        <p14:creationId xmlns:p14="http://schemas.microsoft.com/office/powerpoint/2010/main" val="84406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eeksforgeeks.org/data-analysis/techniques-to-evaluate-accuracy-of-classifier-in-data-mining/"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geeksforgeeks.org/machine-learning/precision-recall-curve-ml/" TargetMode="External"/><Relationship Id="rId4" Type="http://schemas.openxmlformats.org/officeDocument/2006/relationships/hyperlink" Target="https://www.geeksforgeeks.org/machine-learning/precision-and-recall-in-machine-learning/"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eeksforgeeks.org/python/python-mean-squared-error/"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geeksforgeeks.org/machine-learning/python-coefficient-of-determination-r2-score/"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1</a:t>
            </a:fld>
            <a:endParaRPr lang="en-US"/>
          </a:p>
        </p:txBody>
      </p:sp>
    </p:spTree>
    <p:extLst>
      <p:ext uri="{BB962C8B-B14F-4D97-AF65-F5344CB8AC3E}">
        <p14:creationId xmlns:p14="http://schemas.microsoft.com/office/powerpoint/2010/main" val="2783177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2</a:t>
            </a:fld>
            <a:endParaRPr lang="en-US"/>
          </a:p>
        </p:txBody>
      </p:sp>
    </p:spTree>
    <p:extLst>
      <p:ext uri="{BB962C8B-B14F-4D97-AF65-F5344CB8AC3E}">
        <p14:creationId xmlns:p14="http://schemas.microsoft.com/office/powerpoint/2010/main" val="234497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B50A-C1C8-7DE4-FF36-F5F0B476E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8058B-31EA-54EE-395C-73E1EE782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92365-FCF3-39D7-CC0D-F192EA5DF6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8E762C-4018-EF5C-8F0C-0F3B4135B98F}"/>
              </a:ext>
            </a:extLst>
          </p:cNvPr>
          <p:cNvSpPr>
            <a:spLocks noGrp="1"/>
          </p:cNvSpPr>
          <p:nvPr>
            <p:ph type="sldNum" sz="quarter" idx="5"/>
          </p:nvPr>
        </p:nvSpPr>
        <p:spPr/>
        <p:txBody>
          <a:bodyPr/>
          <a:lstStyle/>
          <a:p>
            <a:fld id="{362CD335-F0CB-D347-B8A5-7AB70F34C34F}" type="slidenum">
              <a:rPr lang="en-US" smtClean="0"/>
              <a:t>3</a:t>
            </a:fld>
            <a:endParaRPr lang="en-US"/>
          </a:p>
        </p:txBody>
      </p:sp>
    </p:spTree>
    <p:extLst>
      <p:ext uri="{BB962C8B-B14F-4D97-AF65-F5344CB8AC3E}">
        <p14:creationId xmlns:p14="http://schemas.microsoft.com/office/powerpoint/2010/main" val="1641422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76AC0-7617-69AC-2C15-ACB58F928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345F2-41F8-6EF1-6E6F-EEFDEADB2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A2F15-CEDA-6D84-887C-4012501973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98B30-DBD0-2808-7C7C-97FEAAF806CD}"/>
              </a:ext>
            </a:extLst>
          </p:cNvPr>
          <p:cNvSpPr>
            <a:spLocks noGrp="1"/>
          </p:cNvSpPr>
          <p:nvPr>
            <p:ph type="sldNum" sz="quarter" idx="5"/>
          </p:nvPr>
        </p:nvSpPr>
        <p:spPr/>
        <p:txBody>
          <a:bodyPr/>
          <a:lstStyle/>
          <a:p>
            <a:fld id="{362CD335-F0CB-D347-B8A5-7AB70F34C34F}" type="slidenum">
              <a:rPr lang="en-US" smtClean="0"/>
              <a:t>4</a:t>
            </a:fld>
            <a:endParaRPr lang="en-US"/>
          </a:p>
        </p:txBody>
      </p:sp>
    </p:spTree>
    <p:extLst>
      <p:ext uri="{BB962C8B-B14F-4D97-AF65-F5344CB8AC3E}">
        <p14:creationId xmlns:p14="http://schemas.microsoft.com/office/powerpoint/2010/main" val="1684027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B673C-CB9D-951E-2C28-1BFB3AF02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259DE-2C39-16FB-7434-B13948B7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AD06C-F3D2-4EDE-E785-8D647DEF6B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69AA96-3D88-2C42-3EE0-78823B6F008E}"/>
              </a:ext>
            </a:extLst>
          </p:cNvPr>
          <p:cNvSpPr>
            <a:spLocks noGrp="1"/>
          </p:cNvSpPr>
          <p:nvPr>
            <p:ph type="sldNum" sz="quarter" idx="5"/>
          </p:nvPr>
        </p:nvSpPr>
        <p:spPr/>
        <p:txBody>
          <a:bodyPr/>
          <a:lstStyle/>
          <a:p>
            <a:fld id="{362CD335-F0CB-D347-B8A5-7AB70F34C34F}" type="slidenum">
              <a:rPr lang="en-US" smtClean="0"/>
              <a:t>5</a:t>
            </a:fld>
            <a:endParaRPr lang="en-US"/>
          </a:p>
        </p:txBody>
      </p:sp>
    </p:spTree>
    <p:extLst>
      <p:ext uri="{BB962C8B-B14F-4D97-AF65-F5344CB8AC3E}">
        <p14:creationId xmlns:p14="http://schemas.microsoft.com/office/powerpoint/2010/main" val="3349095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7A212-7BAB-819D-0DC3-FD913C3B6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84EAB-9F29-C5C8-F0E0-5A15AC68D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AE9C0-E35A-F1BF-89C1-70A7AF76205A}"/>
              </a:ext>
            </a:extLst>
          </p:cNvPr>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A: </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It is a dataset of a shopping store that is useful in predicting whether a customer will purchase a particular product under consideration or not based on his/her gender, age and salary.</a:t>
            </a:r>
          </a:p>
          <a:p>
            <a:pPr fontAlgn="base"/>
            <a:r>
              <a:rPr lang="en-US" sz="1200" b="1" i="0" kern="1200" dirty="0">
                <a:solidFill>
                  <a:schemeClr val="tx1"/>
                </a:solidFill>
                <a:effectLst/>
                <a:latin typeface="+mn-lt"/>
                <a:ea typeface="+mn-ea"/>
                <a:cs typeface="+mn-cs"/>
              </a:rPr>
              <a:t>Input</a:t>
            </a:r>
            <a:r>
              <a:rPr lang="en-US" sz="1200" b="0" i="0" kern="1200" dirty="0">
                <a:solidFill>
                  <a:schemeClr val="tx1"/>
                </a:solidFill>
                <a:effectLst/>
                <a:latin typeface="+mn-lt"/>
                <a:ea typeface="+mn-ea"/>
                <a:cs typeface="+mn-cs"/>
              </a:rPr>
              <a:t>: Gender, Age, Salary</a:t>
            </a:r>
          </a:p>
          <a:p>
            <a:pPr fontAlgn="base"/>
            <a:r>
              <a:rPr lang="en-US" sz="1200" b="1" i="0" kern="1200" dirty="0">
                <a:solidFill>
                  <a:schemeClr val="tx1"/>
                </a:solidFill>
                <a:effectLst/>
                <a:latin typeface="+mn-lt"/>
                <a:ea typeface="+mn-ea"/>
                <a:cs typeface="+mn-cs"/>
              </a:rPr>
              <a:t>Output</a:t>
            </a:r>
            <a:r>
              <a:rPr lang="en-US" sz="1200" b="0" i="0" kern="1200" dirty="0">
                <a:solidFill>
                  <a:schemeClr val="tx1"/>
                </a:solidFill>
                <a:effectLst/>
                <a:latin typeface="+mn-lt"/>
                <a:ea typeface="+mn-ea"/>
                <a:cs typeface="+mn-cs"/>
              </a:rPr>
              <a:t>: Purchased i.e. 0 or 1; 1 means yes the customer will purchase and 0 means that the customer won't purchase it.</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5A55A74-DD4D-309D-CF5F-EFA1BE10E1F8}"/>
              </a:ext>
            </a:extLst>
          </p:cNvPr>
          <p:cNvSpPr>
            <a:spLocks noGrp="1"/>
          </p:cNvSpPr>
          <p:nvPr>
            <p:ph type="sldNum" sz="quarter" idx="5"/>
          </p:nvPr>
        </p:nvSpPr>
        <p:spPr/>
        <p:txBody>
          <a:bodyPr/>
          <a:lstStyle/>
          <a:p>
            <a:fld id="{362CD335-F0CB-D347-B8A5-7AB70F34C34F}" type="slidenum">
              <a:rPr lang="en-US" smtClean="0"/>
              <a:t>6</a:t>
            </a:fld>
            <a:endParaRPr lang="en-US"/>
          </a:p>
        </p:txBody>
      </p:sp>
    </p:spTree>
    <p:extLst>
      <p:ext uri="{BB962C8B-B14F-4D97-AF65-F5344CB8AC3E}">
        <p14:creationId xmlns:p14="http://schemas.microsoft.com/office/powerpoint/2010/main" val="411869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9F082-2913-90E9-2D89-2A0CAF5A3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602A4-3A98-F56F-44A0-ED5DD8C7A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2208F-5D54-EAF2-1DDD-B07C571B3AE6}"/>
              </a:ext>
            </a:extLst>
          </p:cNvPr>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rtl="0" fontAlgn="base"/>
            <a:r>
              <a:rPr lang="en-US" sz="1200" b="1" i="0" kern="1200" dirty="0">
                <a:solidFill>
                  <a:schemeClr val="tx1"/>
                </a:solidFill>
                <a:effectLst/>
                <a:latin typeface="+mn-lt"/>
                <a:ea typeface="+mn-ea"/>
                <a:cs typeface="+mn-cs"/>
              </a:rPr>
              <a:t>Figure B: </a:t>
            </a:r>
          </a:p>
          <a:p>
            <a:pPr rtl="0" fontAlgn="base"/>
            <a:r>
              <a:rPr lang="en-US" sz="1200" b="0" i="0" kern="1200" dirty="0">
                <a:solidFill>
                  <a:schemeClr val="tx1"/>
                </a:solidFill>
                <a:effectLst/>
                <a:latin typeface="+mn-lt"/>
                <a:ea typeface="+mn-ea"/>
                <a:cs typeface="+mn-cs"/>
              </a:rPr>
              <a:t>It is a Meteorological dataset that serves the purpose of predicting wind speed based on different parameters.</a:t>
            </a:r>
          </a:p>
          <a:p>
            <a:pPr fontAlgn="base"/>
            <a:r>
              <a:rPr lang="en-US" sz="1200" b="1" i="0" kern="1200" dirty="0">
                <a:solidFill>
                  <a:schemeClr val="tx1"/>
                </a:solidFill>
                <a:effectLst/>
                <a:latin typeface="+mn-lt"/>
                <a:ea typeface="+mn-ea"/>
                <a:cs typeface="+mn-cs"/>
              </a:rPr>
              <a:t>Input</a:t>
            </a:r>
            <a:r>
              <a:rPr lang="en-US" sz="1200" b="0" i="0" kern="1200" dirty="0">
                <a:solidFill>
                  <a:schemeClr val="tx1"/>
                </a:solidFill>
                <a:effectLst/>
                <a:latin typeface="+mn-lt"/>
                <a:ea typeface="+mn-ea"/>
                <a:cs typeface="+mn-cs"/>
              </a:rPr>
              <a:t>: Dew Point, Temperature, Pressure, Relative Humidity, Wind Direction</a:t>
            </a:r>
          </a:p>
          <a:p>
            <a:pPr fontAlgn="base"/>
            <a:r>
              <a:rPr lang="en-US" sz="1200" b="1" i="0" kern="1200" dirty="0">
                <a:solidFill>
                  <a:schemeClr val="tx1"/>
                </a:solidFill>
                <a:effectLst/>
                <a:latin typeface="+mn-lt"/>
                <a:ea typeface="+mn-ea"/>
                <a:cs typeface="+mn-cs"/>
              </a:rPr>
              <a:t>Output</a:t>
            </a:r>
            <a:r>
              <a:rPr lang="en-US" sz="1200" b="0" i="0" kern="1200" dirty="0">
                <a:solidFill>
                  <a:schemeClr val="tx1"/>
                </a:solidFill>
                <a:effectLst/>
                <a:latin typeface="+mn-lt"/>
                <a:ea typeface="+mn-ea"/>
                <a:cs typeface="+mn-cs"/>
              </a:rPr>
              <a:t>: Wind Speed</a:t>
            </a:r>
          </a:p>
          <a:p>
            <a:endParaRPr lang="en-US" dirty="0"/>
          </a:p>
        </p:txBody>
      </p:sp>
      <p:sp>
        <p:nvSpPr>
          <p:cNvPr id="4" name="Slide Number Placeholder 3">
            <a:extLst>
              <a:ext uri="{FF2B5EF4-FFF2-40B4-BE49-F238E27FC236}">
                <a16:creationId xmlns:a16="http://schemas.microsoft.com/office/drawing/2014/main" id="{F4DF0A85-5422-6BC7-8EC8-4CF52DDFDBA7}"/>
              </a:ext>
            </a:extLst>
          </p:cNvPr>
          <p:cNvSpPr>
            <a:spLocks noGrp="1"/>
          </p:cNvSpPr>
          <p:nvPr>
            <p:ph type="sldNum" sz="quarter" idx="5"/>
          </p:nvPr>
        </p:nvSpPr>
        <p:spPr/>
        <p:txBody>
          <a:bodyPr/>
          <a:lstStyle/>
          <a:p>
            <a:fld id="{362CD335-F0CB-D347-B8A5-7AB70F34C34F}" type="slidenum">
              <a:rPr lang="en-US" smtClean="0"/>
              <a:t>7</a:t>
            </a:fld>
            <a:endParaRPr lang="en-US"/>
          </a:p>
        </p:txBody>
      </p:sp>
    </p:spTree>
    <p:extLst>
      <p:ext uri="{BB962C8B-B14F-4D97-AF65-F5344CB8AC3E}">
        <p14:creationId xmlns:p14="http://schemas.microsoft.com/office/powerpoint/2010/main" val="1899960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4139-E405-24A1-6ADB-B8C0C792C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5EE6C-C96B-E467-B295-71AF7EFD0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19A6C-6115-1B6B-C095-C9CD51A39809}"/>
              </a:ext>
            </a:extLst>
          </p:cNvPr>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Collect Labeled Data</a:t>
            </a:r>
          </a:p>
          <a:p>
            <a:pPr fontAlgn="base"/>
            <a:r>
              <a:rPr lang="en-US" sz="1200" b="0" i="0" kern="1200" dirty="0">
                <a:solidFill>
                  <a:schemeClr val="tx1"/>
                </a:solidFill>
                <a:effectLst/>
                <a:latin typeface="+mn-lt"/>
                <a:ea typeface="+mn-ea"/>
                <a:cs typeface="+mn-cs"/>
              </a:rPr>
              <a:t>Gather a dataset where each input has a known correct output (label).</a:t>
            </a:r>
          </a:p>
          <a:p>
            <a:pPr fontAlgn="base"/>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Images of handwritten digits with their actual numbers as labels.</a:t>
            </a:r>
          </a:p>
          <a:p>
            <a:pPr fontAlgn="base"/>
            <a:r>
              <a:rPr lang="en-US" sz="1200" b="1" i="0" kern="1200" dirty="0">
                <a:solidFill>
                  <a:schemeClr val="tx1"/>
                </a:solidFill>
                <a:effectLst/>
                <a:latin typeface="+mn-lt"/>
                <a:ea typeface="+mn-ea"/>
                <a:cs typeface="+mn-cs"/>
              </a:rPr>
              <a:t>2. Split the Dataset</a:t>
            </a:r>
          </a:p>
          <a:p>
            <a:pPr fontAlgn="base"/>
            <a:r>
              <a:rPr lang="en-US" sz="1200" b="0" i="0" kern="1200" dirty="0">
                <a:solidFill>
                  <a:schemeClr val="tx1"/>
                </a:solidFill>
                <a:effectLst/>
                <a:latin typeface="+mn-lt"/>
                <a:ea typeface="+mn-ea"/>
                <a:cs typeface="+mn-cs"/>
              </a:rPr>
              <a:t>Divide the data into training data (about 80%) and testing data (about 20%).</a:t>
            </a:r>
          </a:p>
          <a:p>
            <a:pPr fontAlgn="base"/>
            <a:r>
              <a:rPr lang="en-US" sz="1200" b="0" i="0" kern="1200" dirty="0">
                <a:solidFill>
                  <a:schemeClr val="tx1"/>
                </a:solidFill>
                <a:effectLst/>
                <a:latin typeface="+mn-lt"/>
                <a:ea typeface="+mn-ea"/>
                <a:cs typeface="+mn-cs"/>
              </a:rPr>
              <a:t>The model will learn from the training data and be evaluated on the testing data.</a:t>
            </a:r>
          </a:p>
          <a:p>
            <a:pPr fontAlgn="base"/>
            <a:r>
              <a:rPr lang="en-US" sz="1200" b="1" i="0" kern="1200" dirty="0">
                <a:solidFill>
                  <a:schemeClr val="tx1"/>
                </a:solidFill>
                <a:effectLst/>
                <a:latin typeface="+mn-lt"/>
                <a:ea typeface="+mn-ea"/>
                <a:cs typeface="+mn-cs"/>
              </a:rPr>
              <a:t>3. Train the Model</a:t>
            </a:r>
          </a:p>
          <a:p>
            <a:pPr fontAlgn="base"/>
            <a:r>
              <a:rPr lang="en-US" sz="1200" b="0" i="0" kern="1200" dirty="0">
                <a:solidFill>
                  <a:schemeClr val="tx1"/>
                </a:solidFill>
                <a:effectLst/>
                <a:latin typeface="+mn-lt"/>
                <a:ea typeface="+mn-ea"/>
                <a:cs typeface="+mn-cs"/>
              </a:rPr>
              <a:t>Feed the training data (inputs and their labels) to a suitable supervised learning algorithm (like Decision Trees, SVM or Linear Regression).</a:t>
            </a:r>
          </a:p>
          <a:p>
            <a:pPr fontAlgn="base"/>
            <a:r>
              <a:rPr lang="en-US" sz="1200" b="0" i="0" kern="1200" dirty="0">
                <a:solidFill>
                  <a:schemeClr val="tx1"/>
                </a:solidFill>
                <a:effectLst/>
                <a:latin typeface="+mn-lt"/>
                <a:ea typeface="+mn-ea"/>
                <a:cs typeface="+mn-cs"/>
              </a:rPr>
              <a:t>The model tries to find patterns that map inputs to correct outputs.</a:t>
            </a:r>
          </a:p>
          <a:p>
            <a:pPr fontAlgn="base"/>
            <a:r>
              <a:rPr lang="en-US" sz="1200" b="1" i="0" kern="1200" dirty="0">
                <a:solidFill>
                  <a:schemeClr val="tx1"/>
                </a:solidFill>
                <a:effectLst/>
                <a:latin typeface="+mn-lt"/>
                <a:ea typeface="+mn-ea"/>
                <a:cs typeface="+mn-cs"/>
              </a:rPr>
              <a:t>4. Validate and Test the Model</a:t>
            </a:r>
          </a:p>
          <a:p>
            <a:pPr fontAlgn="base"/>
            <a:r>
              <a:rPr lang="en-US" sz="1200" b="0" i="0" kern="1200" dirty="0">
                <a:solidFill>
                  <a:schemeClr val="tx1"/>
                </a:solidFill>
                <a:effectLst/>
                <a:latin typeface="+mn-lt"/>
                <a:ea typeface="+mn-ea"/>
                <a:cs typeface="+mn-cs"/>
              </a:rPr>
              <a:t>Evaluate the model using testing data it has never seen before.</a:t>
            </a:r>
          </a:p>
          <a:p>
            <a:pPr fontAlgn="base"/>
            <a:r>
              <a:rPr lang="en-US" sz="1200" b="0" i="0" kern="1200" dirty="0">
                <a:solidFill>
                  <a:schemeClr val="tx1"/>
                </a:solidFill>
                <a:effectLst/>
                <a:latin typeface="+mn-lt"/>
                <a:ea typeface="+mn-ea"/>
                <a:cs typeface="+mn-cs"/>
              </a:rPr>
              <a:t>The model predicts outputs and these predictions are compared with the actual labels to calculate accuracy or error.</a:t>
            </a:r>
          </a:p>
          <a:p>
            <a:pPr fontAlgn="base"/>
            <a:r>
              <a:rPr lang="en-US" sz="1200" b="1" i="0" kern="1200" dirty="0">
                <a:solidFill>
                  <a:schemeClr val="tx1"/>
                </a:solidFill>
                <a:effectLst/>
                <a:latin typeface="+mn-lt"/>
                <a:ea typeface="+mn-ea"/>
                <a:cs typeface="+mn-cs"/>
              </a:rPr>
              <a:t>5. Deploy and Predict on New Data</a:t>
            </a:r>
          </a:p>
          <a:p>
            <a:endParaRPr lang="en-US" dirty="0"/>
          </a:p>
        </p:txBody>
      </p:sp>
      <p:sp>
        <p:nvSpPr>
          <p:cNvPr id="4" name="Slide Number Placeholder 3">
            <a:extLst>
              <a:ext uri="{FF2B5EF4-FFF2-40B4-BE49-F238E27FC236}">
                <a16:creationId xmlns:a16="http://schemas.microsoft.com/office/drawing/2014/main" id="{EC03DA41-4810-E058-1E51-009D6E7B07CE}"/>
              </a:ext>
            </a:extLst>
          </p:cNvPr>
          <p:cNvSpPr>
            <a:spLocks noGrp="1"/>
          </p:cNvSpPr>
          <p:nvPr>
            <p:ph type="sldNum" sz="quarter" idx="5"/>
          </p:nvPr>
        </p:nvSpPr>
        <p:spPr/>
        <p:txBody>
          <a:bodyPr/>
          <a:lstStyle/>
          <a:p>
            <a:fld id="{362CD335-F0CB-D347-B8A5-7AB70F34C34F}" type="slidenum">
              <a:rPr lang="en-US" smtClean="0"/>
              <a:t>8</a:t>
            </a:fld>
            <a:endParaRPr lang="en-US"/>
          </a:p>
        </p:txBody>
      </p:sp>
    </p:spTree>
    <p:extLst>
      <p:ext uri="{BB962C8B-B14F-4D97-AF65-F5344CB8AC3E}">
        <p14:creationId xmlns:p14="http://schemas.microsoft.com/office/powerpoint/2010/main" val="347913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FA15B-8AFF-DBE0-7B6F-7050E56F0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F38E1-7558-3A86-73C5-03563F57D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05627-F09B-D16A-FADF-9842988BA5ED}"/>
              </a:ext>
            </a:extLst>
          </p:cNvPr>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Fraud Detection in Banking</a:t>
            </a:r>
            <a:r>
              <a:rPr lang="en-US" sz="1200" b="0" i="0" kern="1200" dirty="0">
                <a:solidFill>
                  <a:schemeClr val="tx1"/>
                </a:solidFill>
                <a:effectLst/>
                <a:latin typeface="+mn-lt"/>
                <a:ea typeface="+mn-ea"/>
                <a:cs typeface="+mn-cs"/>
              </a:rPr>
              <a:t>: Utilizes supervised learning algorithms on historical transaction data, training models with labeled datasets of legitimate and fraudulent transactions to accurately predict fraud patterns.</a:t>
            </a:r>
          </a:p>
          <a:p>
            <a:pPr fontAlgn="base"/>
            <a:r>
              <a:rPr lang="en-US" sz="1200" b="1" i="0" kern="1200" dirty="0">
                <a:solidFill>
                  <a:schemeClr val="tx1"/>
                </a:solidFill>
                <a:effectLst/>
                <a:latin typeface="+mn-lt"/>
                <a:ea typeface="+mn-ea"/>
                <a:cs typeface="+mn-cs"/>
              </a:rPr>
              <a:t>Parkinson Disease Prediction:</a:t>
            </a:r>
            <a:r>
              <a:rPr lang="en-US" sz="1200" b="0" i="0" kern="1200" dirty="0">
                <a:solidFill>
                  <a:schemeClr val="tx1"/>
                </a:solidFill>
                <a:effectLst/>
                <a:latin typeface="+mn-lt"/>
                <a:ea typeface="+mn-ea"/>
                <a:cs typeface="+mn-cs"/>
              </a:rPr>
              <a:t> Parkinson’s disease is a progressive disorder that affects the nervous system and the parts of the body controlled by the nerves.</a:t>
            </a:r>
          </a:p>
          <a:p>
            <a:pPr fontAlgn="base"/>
            <a:r>
              <a:rPr lang="en-US" sz="1200" b="1" i="0" kern="1200" dirty="0">
                <a:solidFill>
                  <a:schemeClr val="tx1"/>
                </a:solidFill>
                <a:effectLst/>
                <a:latin typeface="+mn-lt"/>
                <a:ea typeface="+mn-ea"/>
                <a:cs typeface="+mn-cs"/>
              </a:rPr>
              <a:t>Customer Churn Prediction:</a:t>
            </a:r>
            <a:r>
              <a:rPr lang="en-US" sz="1200" b="0" i="0" kern="1200" dirty="0">
                <a:solidFill>
                  <a:schemeClr val="tx1"/>
                </a:solidFill>
                <a:effectLst/>
                <a:latin typeface="+mn-lt"/>
                <a:ea typeface="+mn-ea"/>
                <a:cs typeface="+mn-cs"/>
              </a:rPr>
              <a:t> Uses supervised learning techniques to analyze historical customer data, identifying features associated with churn rates to predict customer retention effectively.</a:t>
            </a:r>
          </a:p>
          <a:p>
            <a:pPr fontAlgn="base"/>
            <a:r>
              <a:rPr lang="en-US" sz="1200" b="1" i="0" kern="1200" dirty="0">
                <a:solidFill>
                  <a:schemeClr val="tx1"/>
                </a:solidFill>
                <a:effectLst/>
                <a:latin typeface="+mn-lt"/>
                <a:ea typeface="+mn-ea"/>
                <a:cs typeface="+mn-cs"/>
              </a:rPr>
              <a:t>Cancer cell classification:</a:t>
            </a:r>
            <a:r>
              <a:rPr lang="en-US" sz="1200" b="0" i="0" kern="1200" dirty="0">
                <a:solidFill>
                  <a:schemeClr val="tx1"/>
                </a:solidFill>
                <a:effectLst/>
                <a:latin typeface="+mn-lt"/>
                <a:ea typeface="+mn-ea"/>
                <a:cs typeface="+mn-cs"/>
              </a:rPr>
              <a:t> Implements supervised learning for cancer cells based on their features and identifying them if they are ‘malignant’ or ‘benign.</a:t>
            </a:r>
          </a:p>
          <a:p>
            <a:pPr fontAlgn="base"/>
            <a:r>
              <a:rPr lang="en-US" sz="1200" b="1" i="0" kern="1200" dirty="0">
                <a:solidFill>
                  <a:schemeClr val="tx1"/>
                </a:solidFill>
                <a:effectLst/>
                <a:latin typeface="+mn-lt"/>
                <a:ea typeface="+mn-ea"/>
                <a:cs typeface="+mn-cs"/>
              </a:rPr>
              <a:t>Stock Price Prediction</a:t>
            </a:r>
            <a:r>
              <a:rPr lang="en-US" sz="1200" b="0" i="0" kern="1200" dirty="0">
                <a:solidFill>
                  <a:schemeClr val="tx1"/>
                </a:solidFill>
                <a:effectLst/>
                <a:latin typeface="+mn-lt"/>
                <a:ea typeface="+mn-ea"/>
                <a:cs typeface="+mn-cs"/>
              </a:rPr>
              <a:t>: Applies supervised learning to predict a signal that indicates whether buying a particular stock will be helpful or not.</a:t>
            </a:r>
          </a:p>
          <a:p>
            <a:endParaRPr lang="en-US" dirty="0"/>
          </a:p>
        </p:txBody>
      </p:sp>
      <p:sp>
        <p:nvSpPr>
          <p:cNvPr id="4" name="Slide Number Placeholder 3">
            <a:extLst>
              <a:ext uri="{FF2B5EF4-FFF2-40B4-BE49-F238E27FC236}">
                <a16:creationId xmlns:a16="http://schemas.microsoft.com/office/drawing/2014/main" id="{3933BCA1-93E9-3AD1-27C4-F6F4D5235F9F}"/>
              </a:ext>
            </a:extLst>
          </p:cNvPr>
          <p:cNvSpPr>
            <a:spLocks noGrp="1"/>
          </p:cNvSpPr>
          <p:nvPr>
            <p:ph type="sldNum" sz="quarter" idx="5"/>
          </p:nvPr>
        </p:nvSpPr>
        <p:spPr/>
        <p:txBody>
          <a:bodyPr/>
          <a:lstStyle/>
          <a:p>
            <a:fld id="{362CD335-F0CB-D347-B8A5-7AB70F34C34F}" type="slidenum">
              <a:rPr lang="en-US" smtClean="0"/>
              <a:t>9</a:t>
            </a:fld>
            <a:endParaRPr lang="en-US"/>
          </a:p>
        </p:txBody>
      </p:sp>
    </p:spTree>
    <p:extLst>
      <p:ext uri="{BB962C8B-B14F-4D97-AF65-F5344CB8AC3E}">
        <p14:creationId xmlns:p14="http://schemas.microsoft.com/office/powerpoint/2010/main" val="853114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1363-C4C2-BEB9-0EEF-A6BF4DEBF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20615-D0E9-038C-4AEB-E2ABF0C39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B36B2-CFA0-7B5C-BD30-26396F4F5EF7}"/>
              </a:ext>
            </a:extLst>
          </p:cNvPr>
          <p:cNvSpPr>
            <a:spLocks noGrp="1"/>
          </p:cNvSpPr>
          <p:nvPr>
            <p:ph type="body" idx="1"/>
          </p:nvPr>
        </p:nvSpPr>
        <p:spPr/>
        <p:txBody>
          <a:bodyPr/>
          <a:lstStyle/>
          <a:p>
            <a:pPr fontAlgn="base"/>
            <a:r>
              <a:rPr lang="en-US" sz="1200" b="0" i="0" u="sng" kern="1200" dirty="0">
                <a:solidFill>
                  <a:schemeClr val="tx1"/>
                </a:solidFill>
                <a:effectLst/>
                <a:latin typeface="+mn-lt"/>
                <a:ea typeface="+mn-ea"/>
                <a:cs typeface="+mn-cs"/>
                <a:hlinkClick r:id="rId3"/>
              </a:rPr>
              <a:t>Accuracy</a:t>
            </a:r>
            <a:r>
              <a:rPr lang="en-US" sz="1200" b="0" i="0" kern="1200" dirty="0">
                <a:solidFill>
                  <a:schemeClr val="tx1"/>
                </a:solidFill>
                <a:effectLst/>
                <a:latin typeface="+mn-lt"/>
                <a:ea typeface="+mn-ea"/>
                <a:cs typeface="+mn-cs"/>
              </a:rPr>
              <a:t> shows how many predictions the model got right out of all the predictions. It gives idea of overall performance but it can be misleading when one class is more dominant over the other. For example a model that predicts the majority class correctly most of the time might have high accuracy but still fail to capture important details about other classes.</a:t>
            </a:r>
          </a:p>
          <a:p>
            <a:pPr fontAlgn="base"/>
            <a:endParaRPr lang="en-US" sz="1200" b="0" i="0" kern="1200" dirty="0">
              <a:solidFill>
                <a:schemeClr val="tx1"/>
              </a:solidFill>
              <a:effectLst/>
              <a:latin typeface="+mn-lt"/>
              <a:ea typeface="+mn-ea"/>
              <a:cs typeface="+mn-cs"/>
            </a:endParaRPr>
          </a:p>
          <a:p>
            <a:pPr fontAlgn="base"/>
            <a:r>
              <a:rPr lang="en-US" sz="1200" b="0" i="0" u="sng" kern="1200" dirty="0">
                <a:solidFill>
                  <a:schemeClr val="tx1"/>
                </a:solidFill>
                <a:effectLst/>
                <a:latin typeface="+mn-lt"/>
                <a:ea typeface="+mn-ea"/>
                <a:cs typeface="+mn-cs"/>
                <a:hlinkClick r:id="rId4"/>
              </a:rPr>
              <a:t>Precision</a:t>
            </a:r>
            <a:r>
              <a:rPr lang="en-US" sz="1200" b="0" i="0" kern="1200" dirty="0">
                <a:solidFill>
                  <a:schemeClr val="tx1"/>
                </a:solidFill>
                <a:effectLst/>
                <a:latin typeface="+mn-lt"/>
                <a:ea typeface="+mn-ea"/>
                <a:cs typeface="+mn-cs"/>
              </a:rPr>
              <a:t> focus on the quality of the model’s positive predictions. It tells us how many of the "positive" predictions were actually correct. It is important in situations where false positives need to be minimized such as detecting spam emails or fraud</a:t>
            </a:r>
          </a:p>
          <a:p>
            <a:pPr fontAlgn="base"/>
            <a:endParaRPr lang="en-US" sz="1200" b="0" i="0" kern="1200" dirty="0">
              <a:solidFill>
                <a:schemeClr val="tx1"/>
              </a:solidFill>
              <a:effectLst/>
              <a:latin typeface="+mn-lt"/>
              <a:ea typeface="+mn-ea"/>
              <a:cs typeface="+mn-cs"/>
            </a:endParaRPr>
          </a:p>
          <a:p>
            <a:pPr fontAlgn="base"/>
            <a:r>
              <a:rPr lang="en-US" sz="1200" b="0" i="0" u="sng" kern="1200" dirty="0">
                <a:solidFill>
                  <a:schemeClr val="tx1"/>
                </a:solidFill>
                <a:effectLst/>
                <a:latin typeface="+mn-lt"/>
                <a:ea typeface="+mn-ea"/>
                <a:cs typeface="+mn-cs"/>
                <a:hlinkClick r:id="rId5"/>
              </a:rPr>
              <a:t>Recall</a:t>
            </a:r>
            <a:r>
              <a:rPr lang="en-US" sz="1200" b="0" i="0" kern="1200" dirty="0">
                <a:solidFill>
                  <a:schemeClr val="tx1"/>
                </a:solidFill>
                <a:effectLst/>
                <a:latin typeface="+mn-lt"/>
                <a:ea typeface="+mn-ea"/>
                <a:cs typeface="+mn-cs"/>
              </a:rPr>
              <a:t> measures how how good the model is at predicting positives. It shows the proportion of true positives detected out of all the actual positive instances. High recall is essential when missing positive cases has significant consequences like in medical tests </a:t>
            </a:r>
          </a:p>
          <a:p>
            <a:pPr fontAlgn="base"/>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F22C82E0-3C3C-AF09-1BCF-BACE75E37845}"/>
              </a:ext>
            </a:extLst>
          </p:cNvPr>
          <p:cNvSpPr>
            <a:spLocks noGrp="1"/>
          </p:cNvSpPr>
          <p:nvPr>
            <p:ph type="sldNum" sz="quarter" idx="5"/>
          </p:nvPr>
        </p:nvSpPr>
        <p:spPr/>
        <p:txBody>
          <a:bodyPr/>
          <a:lstStyle/>
          <a:p>
            <a:fld id="{362CD335-F0CB-D347-B8A5-7AB70F34C34F}" type="slidenum">
              <a:rPr lang="en-US" smtClean="0"/>
              <a:t>10</a:t>
            </a:fld>
            <a:endParaRPr lang="en-US"/>
          </a:p>
        </p:txBody>
      </p:sp>
    </p:spTree>
    <p:extLst>
      <p:ext uri="{BB962C8B-B14F-4D97-AF65-F5344CB8AC3E}">
        <p14:creationId xmlns:p14="http://schemas.microsoft.com/office/powerpoint/2010/main" val="4094270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A87F-868D-E934-F0A8-0620D66A6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5330A-159C-6B7B-159F-21CAA6F25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EB5E8-05C3-31B8-67C9-5CEEA03919C9}"/>
              </a:ext>
            </a:extLst>
          </p:cNvPr>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r>
              <a:rPr lang="en-US" sz="1200" b="0" i="0" u="sng" kern="1200" dirty="0">
                <a:solidFill>
                  <a:schemeClr val="tx1"/>
                </a:solidFill>
                <a:effectLst/>
                <a:latin typeface="+mn-lt"/>
                <a:ea typeface="+mn-ea"/>
                <a:cs typeface="+mn-cs"/>
                <a:hlinkClick r:id="rId3"/>
              </a:rPr>
              <a:t>MSE </a:t>
            </a:r>
            <a:r>
              <a:rPr lang="en-US" sz="1200" b="0" i="0" kern="1200" dirty="0">
                <a:solidFill>
                  <a:schemeClr val="tx1"/>
                </a:solidFill>
                <a:effectLst/>
                <a:latin typeface="+mn-lt"/>
                <a:ea typeface="+mn-ea"/>
                <a:cs typeface="+mn-cs"/>
              </a:rPr>
              <a:t>calculates the average of the squared differences between the predicted and actual values. Squaring the differences ensures that larger errors are penalized more heavily helps in making it sensitive to outliers. This is useful when large errors are undesirable but it can be problematic when outliers are not relevant to the model’s purpose.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hat == predicted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u="sng" kern="1200" dirty="0">
                <a:solidFill>
                  <a:schemeClr val="tx1"/>
                </a:solidFill>
                <a:effectLst/>
                <a:latin typeface="+mn-lt"/>
                <a:ea typeface="+mn-ea"/>
                <a:cs typeface="+mn-cs"/>
                <a:hlinkClick r:id="rId4"/>
              </a:rPr>
              <a:t>R2 score</a:t>
            </a:r>
            <a:r>
              <a:rPr lang="en-US" sz="1200" b="0" i="0" kern="1200" dirty="0">
                <a:solidFill>
                  <a:schemeClr val="tx1"/>
                </a:solidFill>
                <a:effectLst/>
                <a:latin typeface="+mn-lt"/>
                <a:ea typeface="+mn-ea"/>
                <a:cs typeface="+mn-cs"/>
              </a:rPr>
              <a:t> represents the proportion of the variance in the dependent variable that is predictable from the independent variables. An R² value close to 1 shows a model that explains most of the variance while a value close to 0 shows that the model does not explain much of the variability in the data. R² is used to assess the goodness-of-fit of regression models</a:t>
            </a:r>
            <a:endParaRPr lang="en-US" dirty="0"/>
          </a:p>
        </p:txBody>
      </p:sp>
      <p:sp>
        <p:nvSpPr>
          <p:cNvPr id="4" name="Slide Number Placeholder 3">
            <a:extLst>
              <a:ext uri="{FF2B5EF4-FFF2-40B4-BE49-F238E27FC236}">
                <a16:creationId xmlns:a16="http://schemas.microsoft.com/office/drawing/2014/main" id="{4210BD85-C47A-24BF-E35A-1110B55CEF21}"/>
              </a:ext>
            </a:extLst>
          </p:cNvPr>
          <p:cNvSpPr>
            <a:spLocks noGrp="1"/>
          </p:cNvSpPr>
          <p:nvPr>
            <p:ph type="sldNum" sz="quarter" idx="5"/>
          </p:nvPr>
        </p:nvSpPr>
        <p:spPr/>
        <p:txBody>
          <a:bodyPr/>
          <a:lstStyle/>
          <a:p>
            <a:fld id="{362CD335-F0CB-D347-B8A5-7AB70F34C34F}" type="slidenum">
              <a:rPr lang="en-US" smtClean="0"/>
              <a:t>11</a:t>
            </a:fld>
            <a:endParaRPr lang="en-US"/>
          </a:p>
        </p:txBody>
      </p:sp>
    </p:spTree>
    <p:extLst>
      <p:ext uri="{BB962C8B-B14F-4D97-AF65-F5344CB8AC3E}">
        <p14:creationId xmlns:p14="http://schemas.microsoft.com/office/powerpoint/2010/main" val="165711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FF2A-C74D-9259-B164-724E1EA17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9F360-A713-EA0F-0966-3EDB22B28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A99FB-85D7-AE30-45C3-429B0C09E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E2189C-4682-A850-8AB5-BDA5CE6DB37D}"/>
              </a:ext>
            </a:extLst>
          </p:cNvPr>
          <p:cNvSpPr>
            <a:spLocks noGrp="1"/>
          </p:cNvSpPr>
          <p:nvPr>
            <p:ph type="sldNum" sz="quarter" idx="5"/>
          </p:nvPr>
        </p:nvSpPr>
        <p:spPr/>
        <p:txBody>
          <a:bodyPr/>
          <a:lstStyle/>
          <a:p>
            <a:fld id="{362CD335-F0CB-D347-B8A5-7AB70F34C34F}" type="slidenum">
              <a:rPr lang="en-US" smtClean="0"/>
              <a:t>12</a:t>
            </a:fld>
            <a:endParaRPr lang="en-US"/>
          </a:p>
        </p:txBody>
      </p:sp>
    </p:spTree>
    <p:extLst>
      <p:ext uri="{BB962C8B-B14F-4D97-AF65-F5344CB8AC3E}">
        <p14:creationId xmlns:p14="http://schemas.microsoft.com/office/powerpoint/2010/main" val="93668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DA4F5-5260-9B25-33F7-6A2E714F0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8F3E8-E146-C38E-EC19-82C82B703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EC5C3-022D-BD7B-A502-D2BCEA3EFB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AF4B74-F37F-0455-090D-937334E29410}"/>
              </a:ext>
            </a:extLst>
          </p:cNvPr>
          <p:cNvSpPr>
            <a:spLocks noGrp="1"/>
          </p:cNvSpPr>
          <p:nvPr>
            <p:ph type="sldNum" sz="quarter" idx="5"/>
          </p:nvPr>
        </p:nvSpPr>
        <p:spPr/>
        <p:txBody>
          <a:bodyPr/>
          <a:lstStyle/>
          <a:p>
            <a:fld id="{362CD335-F0CB-D347-B8A5-7AB70F34C34F}" type="slidenum">
              <a:rPr lang="en-US" smtClean="0"/>
              <a:t>13</a:t>
            </a:fld>
            <a:endParaRPr lang="en-US"/>
          </a:p>
        </p:txBody>
      </p:sp>
    </p:spTree>
    <p:extLst>
      <p:ext uri="{BB962C8B-B14F-4D97-AF65-F5344CB8AC3E}">
        <p14:creationId xmlns:p14="http://schemas.microsoft.com/office/powerpoint/2010/main" val="1780613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E6F08-7568-1A19-8428-5C76ED30B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24D71-4449-EFD5-DBD1-328CAE6E3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71752-3DF2-1556-D57E-D07C267FF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4EFE0D-B2A1-6B5D-3FA5-4482D2875BCD}"/>
              </a:ext>
            </a:extLst>
          </p:cNvPr>
          <p:cNvSpPr>
            <a:spLocks noGrp="1"/>
          </p:cNvSpPr>
          <p:nvPr>
            <p:ph type="sldNum" sz="quarter" idx="5"/>
          </p:nvPr>
        </p:nvSpPr>
        <p:spPr/>
        <p:txBody>
          <a:bodyPr/>
          <a:lstStyle/>
          <a:p>
            <a:fld id="{362CD335-F0CB-D347-B8A5-7AB70F34C34F}" type="slidenum">
              <a:rPr lang="en-US" smtClean="0"/>
              <a:t>14</a:t>
            </a:fld>
            <a:endParaRPr lang="en-US"/>
          </a:p>
        </p:txBody>
      </p:sp>
    </p:spTree>
    <p:extLst>
      <p:ext uri="{BB962C8B-B14F-4D97-AF65-F5344CB8AC3E}">
        <p14:creationId xmlns:p14="http://schemas.microsoft.com/office/powerpoint/2010/main" val="3219376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ECCE-D7E2-F54D-6A47-8ABF9191A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7B23-DB7F-CB38-ABAE-B15046E66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BDC42-33C5-0600-BA83-57A88F0A7632}"/>
              </a:ext>
            </a:extLst>
          </p:cNvPr>
          <p:cNvSpPr>
            <a:spLocks noGrp="1"/>
          </p:cNvSpPr>
          <p:nvPr>
            <p:ph type="body" idx="1"/>
          </p:nvPr>
        </p:nvSpPr>
        <p:spPr/>
        <p:txBody>
          <a:bodyPr/>
          <a:lstStyle/>
          <a:p>
            <a:r>
              <a:rPr lang="en-US" sz="1200" b="1" dirty="0" err="1"/>
              <a:t>RNNbow</a:t>
            </a:r>
            <a:r>
              <a:rPr lang="en-US" sz="1200" b="1" dirty="0"/>
              <a:t> </a:t>
            </a:r>
            <a:r>
              <a:rPr lang="en-US" sz="1200" dirty="0"/>
              <a:t>is a visual analytics tool that illustrates if a </a:t>
            </a:r>
            <a:r>
              <a:rPr lang="en-US" sz="1200" b="1" dirty="0"/>
              <a:t>recurrent neural network</a:t>
            </a:r>
            <a:r>
              <a:rPr lang="en-US" sz="1200" dirty="0"/>
              <a:t> is </a:t>
            </a:r>
            <a:r>
              <a:rPr lang="en-US" sz="1200" b="1" dirty="0"/>
              <a:t>learning temporal dependencies</a:t>
            </a:r>
            <a:r>
              <a:rPr lang="en-US" sz="1200" dirty="0"/>
              <a:t> by inspecting </a:t>
            </a:r>
            <a:r>
              <a:rPr lang="en-US" sz="1200" b="1" dirty="0"/>
              <a:t>gradients</a:t>
            </a:r>
            <a:r>
              <a:rPr lang="en-US" sz="1200" dirty="0"/>
              <a:t> during training</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What is the insight </a:t>
            </a:r>
            <a:r>
              <a:rPr lang="mr-IN" baseline="0" dirty="0"/>
              <a:t>–</a:t>
            </a:r>
            <a:r>
              <a:rPr lang="en-US" baseline="0" dirty="0"/>
              <a:t> what is the key thing you would learn from this visualization.  What is the punchline.  Visualizing the gradient of the hidden state to show both what we’re learning from in the training set and how long term dependencies are being learned.</a:t>
            </a:r>
          </a:p>
          <a:p>
            <a:endParaRPr lang="en-US" dirty="0"/>
          </a:p>
          <a:p>
            <a:endParaRPr lang="en-US" dirty="0"/>
          </a:p>
          <a:p>
            <a:r>
              <a:rPr lang="en-US" dirty="0"/>
              <a:t>let’s you see memory </a:t>
            </a:r>
          </a:p>
          <a:p>
            <a:endParaRPr lang="en-US" dirty="0"/>
          </a:p>
          <a:p>
            <a:r>
              <a:rPr lang="en-US" dirty="0"/>
              <a:t>The </a:t>
            </a:r>
            <a:r>
              <a:rPr lang="en-US" b="1" dirty="0"/>
              <a:t>gradient</a:t>
            </a:r>
            <a:r>
              <a:rPr lang="en-US" dirty="0"/>
              <a:t> dictates </a:t>
            </a:r>
            <a:r>
              <a:rPr lang="en-US" b="1" dirty="0"/>
              <a:t>how much the network is changing</a:t>
            </a:r>
            <a:r>
              <a:rPr lang="en-US" dirty="0"/>
              <a:t> during training</a:t>
            </a:r>
          </a:p>
          <a:p>
            <a:r>
              <a:rPr lang="en-US" dirty="0"/>
              <a:t>The </a:t>
            </a:r>
            <a:r>
              <a:rPr lang="en-US" b="1" dirty="0"/>
              <a:t>propagation of the gradient </a:t>
            </a:r>
            <a:r>
              <a:rPr lang="en-US" dirty="0"/>
              <a:t>throughout the network is a proxy for </a:t>
            </a:r>
            <a:r>
              <a:rPr lang="en-US" b="1" dirty="0"/>
              <a:t>how long a memory </a:t>
            </a:r>
            <a:r>
              <a:rPr lang="en-US" dirty="0"/>
              <a:t>the network has learned</a:t>
            </a:r>
          </a:p>
          <a:p>
            <a:r>
              <a:rPr lang="en-US" dirty="0"/>
              <a:t>By visually exploring the evolution of the gradient in the context of training data, a model builder can tell </a:t>
            </a:r>
            <a:r>
              <a:rPr lang="en-US" b="1" dirty="0"/>
              <a:t>whether their model is learning temporal dependencies</a:t>
            </a:r>
            <a:r>
              <a:rPr lang="en-US" dirty="0"/>
              <a:t> and </a:t>
            </a:r>
            <a:r>
              <a:rPr lang="en-US" b="1" dirty="0"/>
              <a:t>what parts of the training set it learns from the most</a:t>
            </a:r>
            <a:endParaRPr lang="en-US" dirty="0"/>
          </a:p>
          <a:p>
            <a:endParaRPr lang="en-US" dirty="0"/>
          </a:p>
        </p:txBody>
      </p:sp>
      <p:sp>
        <p:nvSpPr>
          <p:cNvPr id="4" name="Slide Number Placeholder 3">
            <a:extLst>
              <a:ext uri="{FF2B5EF4-FFF2-40B4-BE49-F238E27FC236}">
                <a16:creationId xmlns:a16="http://schemas.microsoft.com/office/drawing/2014/main" id="{9E3AF32B-3A02-F7DD-BF4C-2754A9C5A1D7}"/>
              </a:ext>
            </a:extLst>
          </p:cNvPr>
          <p:cNvSpPr>
            <a:spLocks noGrp="1"/>
          </p:cNvSpPr>
          <p:nvPr>
            <p:ph type="sldNum" sz="quarter" idx="5"/>
          </p:nvPr>
        </p:nvSpPr>
        <p:spPr/>
        <p:txBody>
          <a:bodyPr/>
          <a:lstStyle/>
          <a:p>
            <a:fld id="{362CD335-F0CB-D347-B8A5-7AB70F34C34F}" type="slidenum">
              <a:rPr lang="en-US" smtClean="0"/>
              <a:t>15</a:t>
            </a:fld>
            <a:endParaRPr lang="en-US"/>
          </a:p>
        </p:txBody>
      </p:sp>
    </p:spTree>
    <p:extLst>
      <p:ext uri="{BB962C8B-B14F-4D97-AF65-F5344CB8AC3E}">
        <p14:creationId xmlns:p14="http://schemas.microsoft.com/office/powerpoint/2010/main" val="2567314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BE82-17E9-92B6-EFF9-E0F599353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8B6D1-6764-5892-85DD-070532A7F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D0387-4117-9B86-7833-BA915F23737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utility function in machine learning quantifies the desirability of different outcomes, guiding agents to maximize rewards, such as </a:t>
            </a:r>
            <a:r>
              <a:rPr lang="en-US" dirty="0"/>
              <a:t>a self-driving car maximizing safety and speed while minimizing energy</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EC52FD14-7F45-E847-BA73-97D4DF5F0AA0}"/>
              </a:ext>
            </a:extLst>
          </p:cNvPr>
          <p:cNvSpPr>
            <a:spLocks noGrp="1"/>
          </p:cNvSpPr>
          <p:nvPr>
            <p:ph type="sldNum" sz="quarter" idx="5"/>
          </p:nvPr>
        </p:nvSpPr>
        <p:spPr/>
        <p:txBody>
          <a:bodyPr/>
          <a:lstStyle/>
          <a:p>
            <a:fld id="{362CD335-F0CB-D347-B8A5-7AB70F34C34F}" type="slidenum">
              <a:rPr lang="en-US" smtClean="0"/>
              <a:t>16</a:t>
            </a:fld>
            <a:endParaRPr lang="en-US"/>
          </a:p>
        </p:txBody>
      </p:sp>
    </p:spTree>
    <p:extLst>
      <p:ext uri="{BB962C8B-B14F-4D97-AF65-F5344CB8AC3E}">
        <p14:creationId xmlns:p14="http://schemas.microsoft.com/office/powerpoint/2010/main" val="3242406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5679E-D073-1B85-8138-A75105CAB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8FF24-E9B1-7B52-9610-96132DAB5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E280B1-407C-9A45-E503-D0B414FC5544}"/>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r>
              <a:rPr lang="en-US" dirty="0" err="1"/>
              <a:t>Clustrophile</a:t>
            </a:r>
            <a:r>
              <a:rPr lang="en-US" dirty="0"/>
              <a:t> 2 is an interactive tool for guided exploratory clustering analysis. </a:t>
            </a:r>
          </a:p>
          <a:p>
            <a:r>
              <a:rPr lang="en-US" dirty="0"/>
              <a:t>Its interface includes two collapsible sidebars (a, e) and a main view where users can perform operations on the data. </a:t>
            </a:r>
          </a:p>
          <a:p>
            <a:r>
              <a:rPr lang="en-US" dirty="0" err="1"/>
              <a:t>Clustrophile</a:t>
            </a:r>
            <a:r>
              <a:rPr lang="en-US" dirty="0"/>
              <a:t> 2 tightly couples b) a dynamic data table that supports a rich set of filtering interactions and statistics and c) multiple resizable Clustering Views, which can be used to work simultaneously on different clustering instances. Each Clustering View provides several ways to guide users during their analysis, such as d) the Clustering Tour.</a:t>
            </a:r>
          </a:p>
        </p:txBody>
      </p:sp>
      <p:sp>
        <p:nvSpPr>
          <p:cNvPr id="4" name="Slide Number Placeholder 3">
            <a:extLst>
              <a:ext uri="{FF2B5EF4-FFF2-40B4-BE49-F238E27FC236}">
                <a16:creationId xmlns:a16="http://schemas.microsoft.com/office/drawing/2014/main" id="{01311D6C-E1C7-3E88-A40E-F28D929D02E4}"/>
              </a:ext>
            </a:extLst>
          </p:cNvPr>
          <p:cNvSpPr>
            <a:spLocks noGrp="1"/>
          </p:cNvSpPr>
          <p:nvPr>
            <p:ph type="sldNum" sz="quarter" idx="5"/>
          </p:nvPr>
        </p:nvSpPr>
        <p:spPr/>
        <p:txBody>
          <a:bodyPr/>
          <a:lstStyle/>
          <a:p>
            <a:fld id="{362CD335-F0CB-D347-B8A5-7AB70F34C34F}" type="slidenum">
              <a:rPr lang="en-US" smtClean="0"/>
              <a:t>17</a:t>
            </a:fld>
            <a:endParaRPr lang="en-US"/>
          </a:p>
        </p:txBody>
      </p:sp>
    </p:spTree>
    <p:extLst>
      <p:ext uri="{BB962C8B-B14F-4D97-AF65-F5344CB8AC3E}">
        <p14:creationId xmlns:p14="http://schemas.microsoft.com/office/powerpoint/2010/main" val="4070697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86802-C6B0-5BF6-F6B2-D6B441F2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6453A-B125-124D-4D47-ED9E4BF6FD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DF358-5CFC-98E6-5052-4E1F3B68FD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BBE964-F6DF-5339-F36A-31878FBA2BFC}"/>
              </a:ext>
            </a:extLst>
          </p:cNvPr>
          <p:cNvSpPr>
            <a:spLocks noGrp="1"/>
          </p:cNvSpPr>
          <p:nvPr>
            <p:ph type="sldNum" sz="quarter" idx="5"/>
          </p:nvPr>
        </p:nvSpPr>
        <p:spPr/>
        <p:txBody>
          <a:bodyPr/>
          <a:lstStyle/>
          <a:p>
            <a:fld id="{362CD335-F0CB-D347-B8A5-7AB70F34C34F}" type="slidenum">
              <a:rPr lang="en-US" smtClean="0"/>
              <a:t>18</a:t>
            </a:fld>
            <a:endParaRPr lang="en-US"/>
          </a:p>
        </p:txBody>
      </p:sp>
    </p:spTree>
    <p:extLst>
      <p:ext uri="{BB962C8B-B14F-4D97-AF65-F5344CB8AC3E}">
        <p14:creationId xmlns:p14="http://schemas.microsoft.com/office/powerpoint/2010/main" val="958881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C904C-3972-AE37-B8A2-A3A3153A3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BEA41-6174-C917-B35C-BA97F3911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4BB50-F7BF-3571-EDDD-421F61CF38CC}"/>
              </a:ext>
            </a:extLst>
          </p:cNvPr>
          <p:cNvSpPr>
            <a:spLocks noGrp="1"/>
          </p:cNvSpPr>
          <p:nvPr>
            <p:ph type="body" idx="1"/>
          </p:nvPr>
        </p:nvSpPr>
        <p:spPr/>
        <p:txBody>
          <a:bodyPr/>
          <a:lstStyle/>
          <a:p>
            <a:r>
              <a:rPr lang="en-US" dirty="0"/>
              <a:t>Selection of decision trees explaining marital status in the UCI Census Income 1994 dataset [21]. </a:t>
            </a:r>
          </a:p>
          <a:p>
            <a:pPr marL="228600" indent="-228600">
              <a:buAutoNum type="alphaLcParenBoth"/>
            </a:pPr>
            <a:r>
              <a:rPr lang="en-US" dirty="0"/>
              <a:t>Candidate trees are generated by sampling the parameters of decision tree algorithms. Linked visualizations guide the selection from this set by providing </a:t>
            </a:r>
          </a:p>
          <a:p>
            <a:pPr marL="228600" indent="-228600">
              <a:buAutoNum type="alphaLcParenBoth"/>
            </a:pPr>
            <a:r>
              <a:rPr lang="en-US" dirty="0"/>
              <a:t>a summary of tree candidates and parameter variations,</a:t>
            </a:r>
          </a:p>
          <a:p>
            <a:pPr marL="228600" indent="-228600">
              <a:buAutoNum type="alphaLcParenBoth"/>
            </a:pPr>
            <a:r>
              <a:rPr lang="en-US" dirty="0"/>
              <a:t>a sensitivity-aware overview of the trade-off between the conflicting objectives accuracy and number of nodes,</a:t>
            </a:r>
          </a:p>
          <a:p>
            <a:pPr marL="228600" indent="-228600">
              <a:buAutoNum type="alphaLcParenBoth"/>
            </a:pPr>
            <a:r>
              <a:rPr lang="en-US" dirty="0"/>
              <a:t> a qualitative comparison of Pareto-optimal trees, and </a:t>
            </a:r>
          </a:p>
          <a:p>
            <a:pPr marL="228600" indent="-228600">
              <a:buAutoNum type="alphaLcParenBoth"/>
            </a:pPr>
            <a:r>
              <a:rPr lang="en-US" dirty="0"/>
              <a:t>details of a selected decision tree. </a:t>
            </a:r>
          </a:p>
          <a:p>
            <a:pPr marL="228600" indent="-228600">
              <a:buAutoNum type="alphaLcParenBoth"/>
            </a:pPr>
            <a:r>
              <a:rPr lang="en-US" dirty="0"/>
              <a:t>Applying controlled parameter variations to every tree conveys the effect of parameter changes on tree characteristics, e.g., how rounding of decision boundaries affects accuracy </a:t>
            </a:r>
          </a:p>
          <a:p>
            <a:pPr marL="228600" indent="-228600">
              <a:buAutoNum type="alphaLcParenBoth"/>
            </a:pPr>
            <a:r>
              <a:rPr lang="en-US" dirty="0"/>
              <a:t>Users can extend the set of candidate trees at any time, </a:t>
            </a:r>
          </a:p>
          <a:p>
            <a:pPr marL="228600" indent="-228600">
              <a:buAutoNum type="alphaLcParenBoth"/>
            </a:pPr>
            <a:r>
              <a:rPr lang="en-US" dirty="0"/>
              <a:t>(h) and validate trees based on data using linked views.</a:t>
            </a:r>
          </a:p>
        </p:txBody>
      </p:sp>
      <p:sp>
        <p:nvSpPr>
          <p:cNvPr id="4" name="Slide Number Placeholder 3">
            <a:extLst>
              <a:ext uri="{FF2B5EF4-FFF2-40B4-BE49-F238E27FC236}">
                <a16:creationId xmlns:a16="http://schemas.microsoft.com/office/drawing/2014/main" id="{46B2CD87-F3C5-78D9-3D60-8CC8CF9B567D}"/>
              </a:ext>
            </a:extLst>
          </p:cNvPr>
          <p:cNvSpPr>
            <a:spLocks noGrp="1"/>
          </p:cNvSpPr>
          <p:nvPr>
            <p:ph type="sldNum" sz="quarter" idx="5"/>
          </p:nvPr>
        </p:nvSpPr>
        <p:spPr/>
        <p:txBody>
          <a:bodyPr/>
          <a:lstStyle/>
          <a:p>
            <a:fld id="{362CD335-F0CB-D347-B8A5-7AB70F34C34F}" type="slidenum">
              <a:rPr lang="en-US" smtClean="0"/>
              <a:t>19</a:t>
            </a:fld>
            <a:endParaRPr lang="en-US"/>
          </a:p>
        </p:txBody>
      </p:sp>
    </p:spTree>
    <p:extLst>
      <p:ext uri="{BB962C8B-B14F-4D97-AF65-F5344CB8AC3E}">
        <p14:creationId xmlns:p14="http://schemas.microsoft.com/office/powerpoint/2010/main" val="3566465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20</a:t>
            </a:fld>
            <a:endParaRPr lang="en-US"/>
          </a:p>
        </p:txBody>
      </p:sp>
    </p:spTree>
    <p:extLst>
      <p:ext uri="{BB962C8B-B14F-4D97-AF65-F5344CB8AC3E}">
        <p14:creationId xmlns:p14="http://schemas.microsoft.com/office/powerpoint/2010/main" val="877280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21</a:t>
            </a:fld>
            <a:endParaRPr lang="en-US"/>
          </a:p>
        </p:txBody>
      </p:sp>
    </p:spTree>
    <p:extLst>
      <p:ext uri="{BB962C8B-B14F-4D97-AF65-F5344CB8AC3E}">
        <p14:creationId xmlns:p14="http://schemas.microsoft.com/office/powerpoint/2010/main" val="2328990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782A-BDA2-023E-5DA0-AB575E99E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DE990-C7D4-1A11-90F7-817150D31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BCD1F-4B21-9509-4135-2708FA069ADD}"/>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1</a:t>
            </a:r>
            <a:r>
              <a:rPr lang="en-US" sz="1200" b="0" i="0" kern="1200" dirty="0">
                <a:solidFill>
                  <a:schemeClr val="tx1"/>
                </a:solidFill>
                <a:effectLst/>
                <a:latin typeface="+mn-lt"/>
                <a:ea typeface="+mn-ea"/>
                <a:cs typeface="+mn-cs"/>
              </a:rPr>
              <a:t>, the system uses interactive visualizations (such as histograms or graphs) to provide an initial data overview</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2 </a:t>
            </a:r>
            <a:r>
              <a:rPr lang="en-US" sz="1200" b="0" i="0" kern="1200" dirty="0">
                <a:solidFill>
                  <a:schemeClr val="tx1"/>
                </a:solidFill>
                <a:effectLst/>
                <a:latin typeface="+mn-lt"/>
                <a:ea typeface="+mn-ea"/>
                <a:cs typeface="+mn-cs"/>
              </a:rPr>
              <a:t>The system then generates a number of possible modeling problems based on analyzing the data set</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3</a:t>
            </a:r>
            <a:r>
              <a:rPr lang="en-US" sz="1200" b="0" i="0" kern="1200" dirty="0">
                <a:solidFill>
                  <a:schemeClr val="tx1"/>
                </a:solidFill>
                <a:effectLst/>
                <a:latin typeface="+mn-lt"/>
                <a:ea typeface="+mn-ea"/>
                <a:cs typeface="+mn-cs"/>
              </a:rPr>
              <a:t> the user analyzes and selects one possible model to try</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4</a:t>
            </a:r>
            <a:r>
              <a:rPr lang="en-US" sz="1200" b="0" i="0" kern="1200" dirty="0">
                <a:solidFill>
                  <a:schemeClr val="tx1"/>
                </a:solidFill>
                <a:effectLst/>
                <a:latin typeface="+mn-lt"/>
                <a:ea typeface="+mn-ea"/>
                <a:cs typeface="+mn-cs"/>
              </a:rPr>
              <a:t> an automated ML system trains and generates candidate models based on the data set and given problem</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5</a:t>
            </a:r>
            <a:r>
              <a:rPr lang="en-US" sz="1200" b="0" i="0" kern="1200" dirty="0">
                <a:solidFill>
                  <a:schemeClr val="tx1"/>
                </a:solidFill>
                <a:effectLst/>
                <a:latin typeface="+mn-lt"/>
                <a:ea typeface="+mn-ea"/>
                <a:cs typeface="+mn-cs"/>
              </a:rPr>
              <a:t>, the system shows comparisons of the generated prediction models through interactive visualizations of their predictions on a holdout set.</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6</a:t>
            </a:r>
            <a:r>
              <a:rPr lang="en-US" sz="1200" b="0" i="0" kern="1200" dirty="0">
                <a:solidFill>
                  <a:schemeClr val="tx1"/>
                </a:solidFill>
                <a:effectLst/>
                <a:latin typeface="+mn-lt"/>
                <a:ea typeface="+mn-ea"/>
                <a:cs typeface="+mn-cs"/>
              </a:rPr>
              <a:t>, users can select a number of preferable models, which are then exported by the system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step 7</a:t>
            </a:r>
            <a:r>
              <a:rPr lang="en-US" sz="1200" b="0" i="0" kern="1200" dirty="0">
                <a:solidFill>
                  <a:schemeClr val="tx1"/>
                </a:solidFill>
                <a:effectLst/>
                <a:latin typeface="+mn-lt"/>
                <a:ea typeface="+mn-ea"/>
                <a:cs typeface="+mn-cs"/>
              </a:rPr>
              <a:t> export models for predictions on unseen test data</a:t>
            </a:r>
            <a:endParaRPr lang="en-US" dirty="0"/>
          </a:p>
        </p:txBody>
      </p:sp>
      <p:sp>
        <p:nvSpPr>
          <p:cNvPr id="4" name="Slide Number Placeholder 3">
            <a:extLst>
              <a:ext uri="{FF2B5EF4-FFF2-40B4-BE49-F238E27FC236}">
                <a16:creationId xmlns:a16="http://schemas.microsoft.com/office/drawing/2014/main" id="{6017D58B-C278-A76C-049A-87250F2A652D}"/>
              </a:ext>
            </a:extLst>
          </p:cNvPr>
          <p:cNvSpPr>
            <a:spLocks noGrp="1"/>
          </p:cNvSpPr>
          <p:nvPr>
            <p:ph type="sldNum" sz="quarter" idx="5"/>
          </p:nvPr>
        </p:nvSpPr>
        <p:spPr/>
        <p:txBody>
          <a:bodyPr/>
          <a:lstStyle/>
          <a:p>
            <a:fld id="{362CD335-F0CB-D347-B8A5-7AB70F34C34F}" type="slidenum">
              <a:rPr lang="en-US" smtClean="0"/>
              <a:t>22</a:t>
            </a:fld>
            <a:endParaRPr lang="en-US"/>
          </a:p>
        </p:txBody>
      </p:sp>
    </p:spTree>
    <p:extLst>
      <p:ext uri="{BB962C8B-B14F-4D97-AF65-F5344CB8AC3E}">
        <p14:creationId xmlns:p14="http://schemas.microsoft.com/office/powerpoint/2010/main" val="3576756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60B4-E32D-8A68-55EC-72407FE5E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6D3C2-88CE-FA1B-80A8-D046ABAF4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D4363-7CBB-B0D9-5E53-F4E8937C125D}"/>
              </a:ext>
            </a:extLst>
          </p:cNvPr>
          <p:cNvSpPr>
            <a:spLocks noGrp="1"/>
          </p:cNvSpPr>
          <p:nvPr>
            <p:ph type="body" idx="1"/>
          </p:nvPr>
        </p:nvSpPr>
        <p:spPr/>
        <p:txBody>
          <a:bodyPr/>
          <a:lstStyle/>
          <a:p>
            <a:pPr marL="171450" indent="-171450">
              <a:buFont typeface="Arial" panose="020B0604020202020204" pitchFamily="34" charset="0"/>
              <a:buChar char="•"/>
            </a:pPr>
            <a:r>
              <a:rPr lang="en-US" dirty="0"/>
              <a:t>(Visualization for Model Sensemaking and Selection) VMS comparing four machine learning models. </a:t>
            </a:r>
          </a:p>
          <a:p>
            <a:pPr marL="171450" indent="-171450">
              <a:buFont typeface="Arial" panose="020B0604020202020204" pitchFamily="34" charset="0"/>
              <a:buChar char="•"/>
            </a:pPr>
            <a:r>
              <a:rPr lang="en-US" dirty="0"/>
              <a:t>(A) Model performance chart and prediction similarity matrix; </a:t>
            </a:r>
          </a:p>
          <a:p>
            <a:pPr marL="171450" indent="-171450">
              <a:buFont typeface="Arial" panose="020B0604020202020204" pitchFamily="34" charset="0"/>
              <a:buChar char="•"/>
            </a:pPr>
            <a:r>
              <a:rPr lang="en-US" dirty="0"/>
              <a:t>(B) Individual prediction errors and values by the two models selected from (A); </a:t>
            </a:r>
          </a:p>
          <a:p>
            <a:pPr marL="171450" indent="-171450">
              <a:buFont typeface="Arial" panose="020B0604020202020204" pitchFamily="34" charset="0"/>
              <a:buChar char="•"/>
            </a:pPr>
            <a:r>
              <a:rPr lang="en-US" dirty="0"/>
              <a:t>(C) Instance projection view; </a:t>
            </a:r>
          </a:p>
          <a:p>
            <a:pPr marL="171450" indent="-171450">
              <a:buFont typeface="Arial" panose="020B0604020202020204" pitchFamily="34" charset="0"/>
              <a:buChar char="•"/>
            </a:pPr>
            <a:r>
              <a:rPr lang="en-US" dirty="0"/>
              <a:t>(D) Feature value &amp; importance view on global/local scales; </a:t>
            </a:r>
          </a:p>
          <a:p>
            <a:pPr marL="171450" indent="-171450">
              <a:buFont typeface="Arial" panose="020B0604020202020204" pitchFamily="34" charset="0"/>
              <a:buChar char="•"/>
            </a:pPr>
            <a:r>
              <a:rPr lang="en-US" dirty="0"/>
              <a:t>(E) Instance attributes as filters. </a:t>
            </a:r>
          </a:p>
          <a:p>
            <a:pPr marL="171450" indent="-171450">
              <a:buFont typeface="Arial" panose="020B0604020202020204" pitchFamily="34" charset="0"/>
              <a:buChar char="•"/>
            </a:pPr>
            <a:r>
              <a:rPr lang="en-US" dirty="0"/>
              <a:t>(F) A tooltip on hovering indicates the feature information.</a:t>
            </a:r>
          </a:p>
        </p:txBody>
      </p:sp>
      <p:sp>
        <p:nvSpPr>
          <p:cNvPr id="4" name="Slide Number Placeholder 3">
            <a:extLst>
              <a:ext uri="{FF2B5EF4-FFF2-40B4-BE49-F238E27FC236}">
                <a16:creationId xmlns:a16="http://schemas.microsoft.com/office/drawing/2014/main" id="{8698DC25-2A5C-E6BF-374E-466C724FEC85}"/>
              </a:ext>
            </a:extLst>
          </p:cNvPr>
          <p:cNvSpPr>
            <a:spLocks noGrp="1"/>
          </p:cNvSpPr>
          <p:nvPr>
            <p:ph type="sldNum" sz="quarter" idx="5"/>
          </p:nvPr>
        </p:nvSpPr>
        <p:spPr/>
        <p:txBody>
          <a:bodyPr/>
          <a:lstStyle/>
          <a:p>
            <a:fld id="{362CD335-F0CB-D347-B8A5-7AB70F34C34F}" type="slidenum">
              <a:rPr lang="en-US" smtClean="0"/>
              <a:t>23</a:t>
            </a:fld>
            <a:endParaRPr lang="en-US"/>
          </a:p>
        </p:txBody>
      </p:sp>
    </p:spTree>
    <p:extLst>
      <p:ext uri="{BB962C8B-B14F-4D97-AF65-F5344CB8AC3E}">
        <p14:creationId xmlns:p14="http://schemas.microsoft.com/office/powerpoint/2010/main" val="2213294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6D735-3032-8608-3B6A-910A15DC6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24825-BB5C-528E-A274-C6E17EA45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36369-DD6A-DC9B-A747-C1E220DFAFD5}"/>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DAB8249-523F-5961-19F5-4782E0861A41}"/>
              </a:ext>
            </a:extLst>
          </p:cNvPr>
          <p:cNvSpPr>
            <a:spLocks noGrp="1"/>
          </p:cNvSpPr>
          <p:nvPr>
            <p:ph type="sldNum" sz="quarter" idx="5"/>
          </p:nvPr>
        </p:nvSpPr>
        <p:spPr/>
        <p:txBody>
          <a:bodyPr/>
          <a:lstStyle/>
          <a:p>
            <a:fld id="{362CD335-F0CB-D347-B8A5-7AB70F34C34F}" type="slidenum">
              <a:rPr lang="en-US" smtClean="0"/>
              <a:t>24</a:t>
            </a:fld>
            <a:endParaRPr lang="en-US"/>
          </a:p>
        </p:txBody>
      </p:sp>
    </p:spTree>
    <p:extLst>
      <p:ext uri="{BB962C8B-B14F-4D97-AF65-F5344CB8AC3E}">
        <p14:creationId xmlns:p14="http://schemas.microsoft.com/office/powerpoint/2010/main" val="2438550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2/26/26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23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616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2/26/26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6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455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2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7547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15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2/26/26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140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74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98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2/26/26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27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2/26/26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0543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icrosoft.com/en-us/research/video/squares-supporting-interactive-performance-analysis-multiclass-classifiers-2/"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UJzgrG1KMMI"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109/TVCG.2017.2745158"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11/cgf.13681"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145/3640543.364515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hyperlink" Target="https://trustmlvis.lnu.se/"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FC0-8BA3-DEDC-7E39-89EC7856846E}"/>
              </a:ext>
            </a:extLst>
          </p:cNvPr>
          <p:cNvSpPr>
            <a:spLocks noGrp="1"/>
          </p:cNvSpPr>
          <p:nvPr>
            <p:ph type="ctrTitle"/>
          </p:nvPr>
        </p:nvSpPr>
        <p:spPr/>
        <p:txBody>
          <a:bodyPr>
            <a:normAutofit/>
          </a:bodyPr>
          <a:lstStyle/>
          <a:p>
            <a:r>
              <a:rPr lang="en-US" dirty="0"/>
              <a:t>Visual </a:t>
            </a:r>
            <a:r>
              <a:rPr lang="en-US"/>
              <a:t>Analytics: systems </a:t>
            </a:r>
            <a:r>
              <a:rPr lang="en-US" dirty="0"/>
              <a:t>for modeling</a:t>
            </a:r>
          </a:p>
        </p:txBody>
      </p:sp>
      <p:sp>
        <p:nvSpPr>
          <p:cNvPr id="3" name="Subtitle 2">
            <a:extLst>
              <a:ext uri="{FF2B5EF4-FFF2-40B4-BE49-F238E27FC236}">
                <a16:creationId xmlns:a16="http://schemas.microsoft.com/office/drawing/2014/main" id="{EECBEFAC-62BD-EFDC-63B4-33E49BD33BA5}"/>
              </a:ext>
            </a:extLst>
          </p:cNvPr>
          <p:cNvSpPr>
            <a:spLocks noGrp="1"/>
          </p:cNvSpPr>
          <p:nvPr>
            <p:ph type="subTitle" idx="1"/>
          </p:nvPr>
        </p:nvSpPr>
        <p:spPr/>
        <p:txBody>
          <a:bodyPr/>
          <a:lstStyle/>
          <a:p>
            <a:r>
              <a:rPr lang="en-US" dirty="0"/>
              <a:t>Ab Mosca (they/them)</a:t>
            </a:r>
          </a:p>
        </p:txBody>
      </p:sp>
    </p:spTree>
    <p:extLst>
      <p:ext uri="{BB962C8B-B14F-4D97-AF65-F5344CB8AC3E}">
        <p14:creationId xmlns:p14="http://schemas.microsoft.com/office/powerpoint/2010/main" val="54738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EC-DA3B-FF6E-BAEB-9400A30851F6}"/>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C0A6356-47F4-DF13-CFDC-C996D4E40A01}"/>
              </a:ext>
            </a:extLst>
          </p:cNvPr>
          <p:cNvSpPr>
            <a:spLocks noGrp="1"/>
          </p:cNvSpPr>
          <p:nvPr>
            <p:ph idx="1"/>
          </p:nvPr>
        </p:nvSpPr>
        <p:spPr/>
        <p:txBody>
          <a:bodyPr anchor="t">
            <a:noAutofit/>
          </a:bodyPr>
          <a:lstStyle/>
          <a:p>
            <a:r>
              <a:rPr lang="en-US" sz="2000" dirty="0"/>
              <a:t>Modeling overview</a:t>
            </a:r>
          </a:p>
          <a:p>
            <a:r>
              <a:rPr lang="en-US" sz="2000" dirty="0"/>
              <a:t>VA systems for model:</a:t>
            </a:r>
          </a:p>
          <a:p>
            <a:pPr lvl="1"/>
            <a:r>
              <a:rPr lang="en-US" sz="2000" dirty="0"/>
              <a:t>Explanation</a:t>
            </a:r>
          </a:p>
          <a:p>
            <a:pPr lvl="1"/>
            <a:r>
              <a:rPr lang="en-US" sz="2000" dirty="0"/>
              <a:t>Debugging</a:t>
            </a:r>
          </a:p>
          <a:p>
            <a:pPr lvl="1"/>
            <a:r>
              <a:rPr lang="en-US" sz="2000" dirty="0"/>
              <a:t>Construction and steering</a:t>
            </a:r>
          </a:p>
          <a:p>
            <a:pPr lvl="1"/>
            <a:r>
              <a:rPr lang="en-US" sz="2000" dirty="0"/>
              <a:t>Comparison</a:t>
            </a:r>
          </a:p>
          <a:p>
            <a:r>
              <a:rPr lang="en-US" sz="2000" dirty="0"/>
              <a:t>Exploratory model analysis</a:t>
            </a:r>
          </a:p>
          <a:p>
            <a:pPr lvl="1"/>
            <a:r>
              <a:rPr lang="en-US" sz="2000" dirty="0"/>
              <a:t>Definition </a:t>
            </a:r>
          </a:p>
          <a:p>
            <a:pPr lvl="1"/>
            <a:r>
              <a:rPr lang="en-US" sz="2000" dirty="0"/>
              <a:t>Contrast with EDA</a:t>
            </a:r>
          </a:p>
          <a:p>
            <a:pPr lvl="1"/>
            <a:r>
              <a:rPr lang="en-US" sz="2000" dirty="0"/>
              <a:t>Workflow  </a:t>
            </a:r>
          </a:p>
          <a:p>
            <a:endParaRPr lang="en-US" sz="2000" dirty="0"/>
          </a:p>
          <a:p>
            <a:endParaRPr lang="en-US" sz="2000" dirty="0"/>
          </a:p>
        </p:txBody>
      </p:sp>
    </p:spTree>
    <p:extLst>
      <p:ext uri="{BB962C8B-B14F-4D97-AF65-F5344CB8AC3E}">
        <p14:creationId xmlns:p14="http://schemas.microsoft.com/office/powerpoint/2010/main" val="2057560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3E34E-8FCC-7ACD-4F93-3CE714340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D5A7B-E487-D575-F49D-A54A3BC8477D}"/>
              </a:ext>
            </a:extLst>
          </p:cNvPr>
          <p:cNvSpPr>
            <a:spLocks noGrp="1"/>
          </p:cNvSpPr>
          <p:nvPr>
            <p:ph type="title"/>
          </p:nvPr>
        </p:nvSpPr>
        <p:spPr/>
        <p:txBody>
          <a:bodyPr/>
          <a:lstStyle/>
          <a:p>
            <a:r>
              <a:rPr lang="en-US" dirty="0"/>
              <a:t>modeling overview: warm up</a:t>
            </a:r>
          </a:p>
        </p:txBody>
      </p:sp>
      <p:sp>
        <p:nvSpPr>
          <p:cNvPr id="3" name="Content Placeholder 2">
            <a:extLst>
              <a:ext uri="{FF2B5EF4-FFF2-40B4-BE49-F238E27FC236}">
                <a16:creationId xmlns:a16="http://schemas.microsoft.com/office/drawing/2014/main" id="{8BB783BB-AABC-D825-E9D3-F0FF362D0F63}"/>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54C6267F-3B42-C304-13EE-9746010544E5}"/>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Give an example of a predictive model </a:t>
            </a:r>
          </a:p>
          <a:p>
            <a:endParaRPr lang="en-US" sz="2200" dirty="0"/>
          </a:p>
          <a:p>
            <a:r>
              <a:rPr lang="en-US" sz="2200" dirty="0"/>
              <a:t>What is the goal of a predictive model? </a:t>
            </a:r>
          </a:p>
          <a:p>
            <a:endParaRPr lang="en-US" sz="2200" dirty="0"/>
          </a:p>
          <a:p>
            <a:r>
              <a:rPr lang="en-US" sz="2200" dirty="0"/>
              <a:t>How are predictive models generated?</a:t>
            </a:r>
          </a:p>
          <a:p>
            <a:endParaRPr lang="en-US" sz="2200" dirty="0"/>
          </a:p>
          <a:p>
            <a:r>
              <a:rPr lang="en-US" sz="2200" dirty="0"/>
              <a:t>How are predictive models evaluated?  </a:t>
            </a:r>
          </a:p>
          <a:p>
            <a:endParaRPr lang="en-US" sz="2200" dirty="0"/>
          </a:p>
        </p:txBody>
      </p:sp>
    </p:spTree>
    <p:extLst>
      <p:ext uri="{BB962C8B-B14F-4D97-AF65-F5344CB8AC3E}">
        <p14:creationId xmlns:p14="http://schemas.microsoft.com/office/powerpoint/2010/main" val="2492450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83FF-5238-7212-193C-1421FCFF8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96CAD-11B1-8B1D-B37C-B0AEAD40C305}"/>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60DA7065-AD38-F1AB-BEF8-B632D015953B}"/>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5462FA3E-E109-CEFD-E929-6745707E1A8E}"/>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E934757B-124B-CF5E-32F1-8EBF61654868}"/>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In machine learning, a </a:t>
            </a:r>
            <a:r>
              <a:rPr lang="en-US" sz="2200" dirty="0">
                <a:effectLst>
                  <a:glow rad="228600">
                    <a:schemeClr val="accent5">
                      <a:satMod val="175000"/>
                      <a:alpha val="40000"/>
                    </a:schemeClr>
                  </a:glow>
                </a:effectLst>
              </a:rPr>
              <a:t>model</a:t>
            </a:r>
            <a:r>
              <a:rPr lang="en-US" sz="2200" dirty="0"/>
              <a:t> is what is being learned from the data to solve a specific task</a:t>
            </a:r>
          </a:p>
          <a:p>
            <a:endParaRPr lang="en-US" sz="2200" dirty="0"/>
          </a:p>
          <a:p>
            <a:r>
              <a:rPr lang="en-US" sz="2200" dirty="0"/>
              <a:t>Tasks include:</a:t>
            </a:r>
          </a:p>
          <a:p>
            <a:pPr lvl="1"/>
            <a:r>
              <a:rPr lang="en-US" sz="2000" dirty="0"/>
              <a:t>Classification </a:t>
            </a:r>
          </a:p>
          <a:p>
            <a:pPr lvl="1"/>
            <a:r>
              <a:rPr lang="en-US" sz="2000" dirty="0"/>
              <a:t>Regression</a:t>
            </a:r>
          </a:p>
          <a:p>
            <a:pPr lvl="1"/>
            <a:r>
              <a:rPr lang="en-US" sz="2000" dirty="0"/>
              <a:t>Clustering</a:t>
            </a:r>
          </a:p>
          <a:p>
            <a:pPr lvl="1"/>
            <a:r>
              <a:rPr lang="en-US" sz="2000" dirty="0"/>
              <a:t>Association discovery </a:t>
            </a:r>
          </a:p>
        </p:txBody>
      </p:sp>
      <p:sp>
        <p:nvSpPr>
          <p:cNvPr id="8" name="TextBox 7">
            <a:extLst>
              <a:ext uri="{FF2B5EF4-FFF2-40B4-BE49-F238E27FC236}">
                <a16:creationId xmlns:a16="http://schemas.microsoft.com/office/drawing/2014/main" id="{A9137852-AF6A-AC7E-4A9B-C193BE09AC36}"/>
              </a:ext>
            </a:extLst>
          </p:cNvPr>
          <p:cNvSpPr txBox="1"/>
          <p:nvPr/>
        </p:nvSpPr>
        <p:spPr>
          <a:xfrm>
            <a:off x="6898341" y="6155844"/>
            <a:ext cx="5395631" cy="584775"/>
          </a:xfrm>
          <a:prstGeom prst="rect">
            <a:avLst/>
          </a:prstGeom>
          <a:noFill/>
        </p:spPr>
        <p:txBody>
          <a:bodyPr wrap="square">
            <a:spAutoFit/>
          </a:bodyPr>
          <a:lstStyle/>
          <a:p>
            <a:r>
              <a:rPr lang="en-US" sz="1600" dirty="0"/>
              <a:t>Flach P. Machine Learning: The Art and Science of Algorithms That Make Sense of Data. Cambridge University Press; 2012. </a:t>
            </a:r>
          </a:p>
        </p:txBody>
      </p:sp>
    </p:spTree>
    <p:extLst>
      <p:ext uri="{BB962C8B-B14F-4D97-AF65-F5344CB8AC3E}">
        <p14:creationId xmlns:p14="http://schemas.microsoft.com/office/powerpoint/2010/main" val="349337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DBB46-2794-0F15-DBF7-CC6912FDC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C9FD7-F075-D144-D14E-9B9EA2DBD0DC}"/>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4F5CEB31-303A-BE5D-40C6-320858D8E738}"/>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50D4D2FD-8D0E-E078-BF64-41CE06695BC5}"/>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655DBB47-8206-C3EB-F59E-512C3157D730}"/>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200" dirty="0"/>
              <a:t>Three general types of models</a:t>
            </a:r>
          </a:p>
          <a:p>
            <a:pPr marL="342900" indent="-342900">
              <a:buFont typeface="+mj-lt"/>
              <a:buAutoNum type="arabicPeriod"/>
            </a:pPr>
            <a:r>
              <a:rPr lang="en-US" dirty="0"/>
              <a:t>Geometric</a:t>
            </a:r>
          </a:p>
          <a:p>
            <a:pPr lvl="2"/>
            <a:r>
              <a:rPr lang="en-US" sz="1800" dirty="0"/>
              <a:t>Use geometric concepts (ex. lines, planes, distance) to classify input</a:t>
            </a:r>
          </a:p>
          <a:p>
            <a:pPr lvl="2"/>
            <a:r>
              <a:rPr lang="en-US" sz="1800" dirty="0"/>
              <a:t>Ex. Basic linear classifiers, Nearest-neighbor classifiers</a:t>
            </a:r>
          </a:p>
          <a:p>
            <a:pPr marL="457200" indent="-457200">
              <a:buFont typeface="+mj-lt"/>
              <a:buAutoNum type="arabicPeriod"/>
            </a:pPr>
            <a:r>
              <a:rPr lang="en-US" dirty="0"/>
              <a:t>Probabilistic</a:t>
            </a:r>
          </a:p>
          <a:p>
            <a:pPr lvl="2"/>
            <a:r>
              <a:rPr lang="en-US" sz="1800" dirty="0"/>
              <a:t>Attempts to uncover underlying probability distributions that determine how variables are related </a:t>
            </a:r>
          </a:p>
          <a:p>
            <a:pPr lvl="2"/>
            <a:r>
              <a:rPr lang="en-US" sz="1800" dirty="0"/>
              <a:t>Ex. Bayes classifier</a:t>
            </a:r>
          </a:p>
          <a:p>
            <a:pPr marL="457200" indent="-457200">
              <a:buFont typeface="+mj-lt"/>
              <a:buAutoNum type="arabicPeriod"/>
            </a:pPr>
            <a:r>
              <a:rPr lang="en-US" dirty="0"/>
              <a:t>Logical </a:t>
            </a:r>
          </a:p>
          <a:p>
            <a:pPr lvl="2"/>
            <a:r>
              <a:rPr lang="en-US" sz="1800" dirty="0"/>
              <a:t>Algorithmic in nature; a series of if-then statements</a:t>
            </a:r>
          </a:p>
          <a:p>
            <a:pPr lvl="2"/>
            <a:r>
              <a:rPr lang="en-US" sz="1800" dirty="0"/>
              <a:t>Ex. Decision tree</a:t>
            </a:r>
          </a:p>
        </p:txBody>
      </p:sp>
      <p:sp>
        <p:nvSpPr>
          <p:cNvPr id="4" name="TextBox 3">
            <a:extLst>
              <a:ext uri="{FF2B5EF4-FFF2-40B4-BE49-F238E27FC236}">
                <a16:creationId xmlns:a16="http://schemas.microsoft.com/office/drawing/2014/main" id="{19E79273-4609-731D-78E8-B0564345634E}"/>
              </a:ext>
            </a:extLst>
          </p:cNvPr>
          <p:cNvSpPr txBox="1"/>
          <p:nvPr/>
        </p:nvSpPr>
        <p:spPr>
          <a:xfrm>
            <a:off x="6898341" y="6155844"/>
            <a:ext cx="5395631" cy="584775"/>
          </a:xfrm>
          <a:prstGeom prst="rect">
            <a:avLst/>
          </a:prstGeom>
          <a:noFill/>
        </p:spPr>
        <p:txBody>
          <a:bodyPr wrap="square">
            <a:spAutoFit/>
          </a:bodyPr>
          <a:lstStyle/>
          <a:p>
            <a:r>
              <a:rPr lang="en-US" sz="1600" dirty="0"/>
              <a:t>Flach P. Machine Learning: The Art and Science of Algorithms That Make Sense of Data. Cambridge University Press; 2012. </a:t>
            </a:r>
          </a:p>
        </p:txBody>
      </p:sp>
    </p:spTree>
    <p:extLst>
      <p:ext uri="{BB962C8B-B14F-4D97-AF65-F5344CB8AC3E}">
        <p14:creationId xmlns:p14="http://schemas.microsoft.com/office/powerpoint/2010/main" val="284879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E1AF-9EED-5B32-3C01-17F9D82FE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B7C81-E62B-EA2F-AE50-F7B9D7950DF7}"/>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2A17D644-0527-4449-8E0B-A5DFF6456256}"/>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28D68222-0275-E98F-B051-AAE413EDDA85}"/>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A4AD74A1-E600-BD05-C7C4-4BACE4B61736}"/>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We will focus on supervised machine learning </a:t>
            </a:r>
            <a:endParaRPr lang="en-US" sz="1800" dirty="0"/>
          </a:p>
        </p:txBody>
      </p:sp>
      <p:pic>
        <p:nvPicPr>
          <p:cNvPr id="2050" name="Picture 2" descr="difff">
            <a:extLst>
              <a:ext uri="{FF2B5EF4-FFF2-40B4-BE49-F238E27FC236}">
                <a16:creationId xmlns:a16="http://schemas.microsoft.com/office/drawing/2014/main" id="{D7EDCB43-1168-7C75-217B-3278EC77C3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0" y="3429000"/>
            <a:ext cx="4876436" cy="178126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upervised-data">
            <a:extLst>
              <a:ext uri="{FF2B5EF4-FFF2-40B4-BE49-F238E27FC236}">
                <a16:creationId xmlns:a16="http://schemas.microsoft.com/office/drawing/2014/main" id="{E1E78505-6DEE-1134-D2AD-87CC3F9567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3125"/>
          <a:stretch>
            <a:fillRect/>
          </a:stretch>
        </p:blipFill>
        <p:spPr bwMode="auto">
          <a:xfrm>
            <a:off x="6317993" y="1715956"/>
            <a:ext cx="5448063" cy="49486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260681E-F883-2AE6-DF82-A8D4782A9001}"/>
              </a:ext>
            </a:extLst>
          </p:cNvPr>
          <p:cNvSpPr txBox="1"/>
          <p:nvPr/>
        </p:nvSpPr>
        <p:spPr>
          <a:xfrm>
            <a:off x="5593977" y="6519446"/>
            <a:ext cx="6896097" cy="338554"/>
          </a:xfrm>
          <a:prstGeom prst="rect">
            <a:avLst/>
          </a:prstGeom>
          <a:noFill/>
        </p:spPr>
        <p:txBody>
          <a:bodyPr wrap="square">
            <a:spAutoFit/>
          </a:bodyPr>
          <a:lstStyle/>
          <a:p>
            <a:r>
              <a:rPr lang="en-US" sz="1600" dirty="0"/>
              <a:t>https://</a:t>
            </a:r>
            <a:r>
              <a:rPr lang="en-US" sz="1600" dirty="0" err="1"/>
              <a:t>www.geeksforgeeks.org</a:t>
            </a:r>
            <a:r>
              <a:rPr lang="en-US" sz="1600" dirty="0"/>
              <a:t>/machine-learning/supervised-machine-learning/</a:t>
            </a:r>
          </a:p>
        </p:txBody>
      </p:sp>
    </p:spTree>
    <p:extLst>
      <p:ext uri="{BB962C8B-B14F-4D97-AF65-F5344CB8AC3E}">
        <p14:creationId xmlns:p14="http://schemas.microsoft.com/office/powerpoint/2010/main" val="425174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2BD7A-4EFB-C996-6BB9-EE351AAB0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80E99-F9FE-1813-D05E-6F4FCB1C9070}"/>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943A258E-6039-18C0-3BBB-AE991AD22569}"/>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6D29917E-6FDE-85DB-273F-022C87E65910}"/>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7D507BBE-0F6A-2426-D179-978F9786DB07}"/>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We will focus on supervised machine learning </a:t>
            </a:r>
            <a:endParaRPr lang="en-US" sz="1800" dirty="0"/>
          </a:p>
        </p:txBody>
      </p:sp>
      <p:pic>
        <p:nvPicPr>
          <p:cNvPr id="2050" name="Picture 2" descr="difff">
            <a:extLst>
              <a:ext uri="{FF2B5EF4-FFF2-40B4-BE49-F238E27FC236}">
                <a16:creationId xmlns:a16="http://schemas.microsoft.com/office/drawing/2014/main" id="{EEA9ECAA-FD44-39EE-62C1-365290BC5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0" y="3429000"/>
            <a:ext cx="4876436" cy="17812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upervised-data">
            <a:extLst>
              <a:ext uri="{FF2B5EF4-FFF2-40B4-BE49-F238E27FC236}">
                <a16:creationId xmlns:a16="http://schemas.microsoft.com/office/drawing/2014/main" id="{73B87FF4-06CD-AB23-72B0-2B94B0F91A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705" r="-418"/>
          <a:stretch>
            <a:fillRect/>
          </a:stretch>
        </p:blipFill>
        <p:spPr bwMode="auto">
          <a:xfrm>
            <a:off x="6152902" y="1828800"/>
            <a:ext cx="6039098" cy="47871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6DDD28A-80EF-F968-3484-32BF2144BF07}"/>
              </a:ext>
            </a:extLst>
          </p:cNvPr>
          <p:cNvSpPr txBox="1"/>
          <p:nvPr/>
        </p:nvSpPr>
        <p:spPr>
          <a:xfrm>
            <a:off x="5593977" y="6519446"/>
            <a:ext cx="6896097" cy="338554"/>
          </a:xfrm>
          <a:prstGeom prst="rect">
            <a:avLst/>
          </a:prstGeom>
          <a:noFill/>
        </p:spPr>
        <p:txBody>
          <a:bodyPr wrap="square">
            <a:spAutoFit/>
          </a:bodyPr>
          <a:lstStyle/>
          <a:p>
            <a:r>
              <a:rPr lang="en-US" sz="1600" dirty="0"/>
              <a:t>https://</a:t>
            </a:r>
            <a:r>
              <a:rPr lang="en-US" sz="1600" dirty="0" err="1"/>
              <a:t>www.geeksforgeeks.org</a:t>
            </a:r>
            <a:r>
              <a:rPr lang="en-US" sz="1600" dirty="0"/>
              <a:t>/machine-learning/supervised-machine-learning/</a:t>
            </a:r>
          </a:p>
        </p:txBody>
      </p:sp>
    </p:spTree>
    <p:extLst>
      <p:ext uri="{BB962C8B-B14F-4D97-AF65-F5344CB8AC3E}">
        <p14:creationId xmlns:p14="http://schemas.microsoft.com/office/powerpoint/2010/main" val="282354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8C3A-9DB9-FAB9-ED14-36CFC587E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11432-D2C7-316F-462F-034A117D3DE2}"/>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F3E8D712-98F1-22CC-BF92-10BF9894A166}"/>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96BC3EB3-76A2-173C-4215-3E2419E162DC}"/>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774FCCB3-67DC-44AE-3DEB-C51F30F99599}"/>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We will focus on supervised machine learning</a:t>
            </a:r>
          </a:p>
          <a:p>
            <a:r>
              <a:rPr lang="en-US" sz="2200" dirty="0"/>
              <a:t>Process:</a:t>
            </a:r>
          </a:p>
          <a:p>
            <a:pPr marL="781200" lvl="1" indent="-457200" fontAlgn="base">
              <a:buFont typeface="+mj-lt"/>
              <a:buAutoNum type="arabicPeriod"/>
            </a:pPr>
            <a:r>
              <a:rPr lang="en-US" sz="2200" dirty="0"/>
              <a:t>Collect Labeled Data</a:t>
            </a:r>
          </a:p>
          <a:p>
            <a:pPr marL="781200" lvl="1" indent="-457200" fontAlgn="base">
              <a:buFont typeface="+mj-lt"/>
              <a:buAutoNum type="arabicPeriod"/>
            </a:pPr>
            <a:r>
              <a:rPr lang="en-US" sz="2200" dirty="0"/>
              <a:t>Split the Dataset</a:t>
            </a:r>
          </a:p>
          <a:p>
            <a:pPr marL="781200" lvl="1" indent="-457200" fontAlgn="base">
              <a:buFont typeface="+mj-lt"/>
              <a:buAutoNum type="arabicPeriod"/>
            </a:pPr>
            <a:r>
              <a:rPr lang="en-US" sz="2200" dirty="0"/>
              <a:t>Train the Model</a:t>
            </a:r>
          </a:p>
          <a:p>
            <a:pPr marL="781200" lvl="1" indent="-457200" fontAlgn="base">
              <a:buFont typeface="+mj-lt"/>
              <a:buAutoNum type="arabicPeriod"/>
            </a:pPr>
            <a:r>
              <a:rPr lang="en-US" sz="2200" dirty="0"/>
              <a:t>Validate and Test the Model</a:t>
            </a:r>
          </a:p>
          <a:p>
            <a:pPr marL="781200" lvl="1" indent="-457200" fontAlgn="base">
              <a:buFont typeface="+mj-lt"/>
              <a:buAutoNum type="arabicPeriod"/>
            </a:pPr>
            <a:r>
              <a:rPr lang="en-US" sz="2200" dirty="0"/>
              <a:t>Deploy and Predict on New Data</a:t>
            </a:r>
          </a:p>
        </p:txBody>
      </p:sp>
      <p:sp>
        <p:nvSpPr>
          <p:cNvPr id="4" name="TextBox 3">
            <a:extLst>
              <a:ext uri="{FF2B5EF4-FFF2-40B4-BE49-F238E27FC236}">
                <a16:creationId xmlns:a16="http://schemas.microsoft.com/office/drawing/2014/main" id="{6C960FDE-9E3B-A3A2-7D43-AB774F3D8A14}"/>
              </a:ext>
            </a:extLst>
          </p:cNvPr>
          <p:cNvSpPr txBox="1"/>
          <p:nvPr/>
        </p:nvSpPr>
        <p:spPr>
          <a:xfrm>
            <a:off x="5593977" y="6519446"/>
            <a:ext cx="6896097" cy="338554"/>
          </a:xfrm>
          <a:prstGeom prst="rect">
            <a:avLst/>
          </a:prstGeom>
          <a:noFill/>
        </p:spPr>
        <p:txBody>
          <a:bodyPr wrap="square">
            <a:spAutoFit/>
          </a:bodyPr>
          <a:lstStyle/>
          <a:p>
            <a:r>
              <a:rPr lang="en-US" sz="1600" dirty="0"/>
              <a:t>https://</a:t>
            </a:r>
            <a:r>
              <a:rPr lang="en-US" sz="1600" dirty="0" err="1"/>
              <a:t>www.geeksforgeeks.org</a:t>
            </a:r>
            <a:r>
              <a:rPr lang="en-US" sz="1600" dirty="0"/>
              <a:t>/machine-learning/supervised-machine-learning/</a:t>
            </a:r>
          </a:p>
        </p:txBody>
      </p:sp>
    </p:spTree>
    <p:extLst>
      <p:ext uri="{BB962C8B-B14F-4D97-AF65-F5344CB8AC3E}">
        <p14:creationId xmlns:p14="http://schemas.microsoft.com/office/powerpoint/2010/main" val="3870254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27AC-5A24-536A-91B2-EC717C69D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C2AD7-5357-7756-30EB-BAEDF6216753}"/>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11E74FF2-EC36-3418-35B0-5D4E8DA835C4}"/>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39C5797D-5753-0785-DA46-84F732AA59A3}"/>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p:sp>
        <p:nvSpPr>
          <p:cNvPr id="6" name="Content Placeholder 2">
            <a:extLst>
              <a:ext uri="{FF2B5EF4-FFF2-40B4-BE49-F238E27FC236}">
                <a16:creationId xmlns:a16="http://schemas.microsoft.com/office/drawing/2014/main" id="{9477E5AD-4E3C-50D0-ABF3-414C2D5606BA}"/>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We will focus on supervised machine learning</a:t>
            </a:r>
          </a:p>
          <a:p>
            <a:r>
              <a:rPr lang="en-US" sz="2200" dirty="0"/>
              <a:t>Use cases:</a:t>
            </a:r>
          </a:p>
          <a:p>
            <a:pPr lvl="1" fontAlgn="base"/>
            <a:r>
              <a:rPr lang="en-US" sz="2200" dirty="0"/>
              <a:t>Fraud Detection in Banking</a:t>
            </a:r>
          </a:p>
          <a:p>
            <a:pPr lvl="1" fontAlgn="base"/>
            <a:r>
              <a:rPr lang="en-US" sz="2200" dirty="0"/>
              <a:t>Parkinson Disease Prediction</a:t>
            </a:r>
          </a:p>
          <a:p>
            <a:pPr lvl="1" fontAlgn="base"/>
            <a:r>
              <a:rPr lang="en-US" sz="2200" dirty="0"/>
              <a:t>Customer Churn Prediction</a:t>
            </a:r>
          </a:p>
          <a:p>
            <a:pPr lvl="1" fontAlgn="base"/>
            <a:r>
              <a:rPr lang="en-US" sz="2200" dirty="0"/>
              <a:t>Cancer cell classification</a:t>
            </a:r>
          </a:p>
          <a:p>
            <a:pPr lvl="1" fontAlgn="base"/>
            <a:r>
              <a:rPr lang="en-US" sz="2200" dirty="0"/>
              <a:t>Stock Price Prediction</a:t>
            </a:r>
          </a:p>
        </p:txBody>
      </p:sp>
      <p:sp>
        <p:nvSpPr>
          <p:cNvPr id="7" name="TextBox 6">
            <a:extLst>
              <a:ext uri="{FF2B5EF4-FFF2-40B4-BE49-F238E27FC236}">
                <a16:creationId xmlns:a16="http://schemas.microsoft.com/office/drawing/2014/main" id="{CEF33FFF-ED68-F30B-999C-8DA6F97F033C}"/>
              </a:ext>
            </a:extLst>
          </p:cNvPr>
          <p:cNvSpPr txBox="1"/>
          <p:nvPr/>
        </p:nvSpPr>
        <p:spPr>
          <a:xfrm>
            <a:off x="5593977" y="6519446"/>
            <a:ext cx="6896097" cy="338554"/>
          </a:xfrm>
          <a:prstGeom prst="rect">
            <a:avLst/>
          </a:prstGeom>
          <a:noFill/>
        </p:spPr>
        <p:txBody>
          <a:bodyPr wrap="square">
            <a:spAutoFit/>
          </a:bodyPr>
          <a:lstStyle/>
          <a:p>
            <a:r>
              <a:rPr lang="en-US" sz="1600" dirty="0"/>
              <a:t>https://</a:t>
            </a:r>
            <a:r>
              <a:rPr lang="en-US" sz="1600" dirty="0" err="1"/>
              <a:t>www.geeksforgeeks.org</a:t>
            </a:r>
            <a:r>
              <a:rPr lang="en-US" sz="1600" dirty="0"/>
              <a:t>/machine-learning/supervised-machine-learning/</a:t>
            </a:r>
          </a:p>
        </p:txBody>
      </p:sp>
    </p:spTree>
    <p:extLst>
      <p:ext uri="{BB962C8B-B14F-4D97-AF65-F5344CB8AC3E}">
        <p14:creationId xmlns:p14="http://schemas.microsoft.com/office/powerpoint/2010/main" val="25835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A8176-0DD0-7BBE-94BE-CC8387E2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299A6-D6B9-3F68-5E7F-236837D83932}"/>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3D891AC1-79DE-39A6-B193-D6314850DC47}"/>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5" name="Content Placeholder 2">
            <a:extLst>
              <a:ext uri="{FF2B5EF4-FFF2-40B4-BE49-F238E27FC236}">
                <a16:creationId xmlns:a16="http://schemas.microsoft.com/office/drawing/2014/main" id="{B5458373-6170-72A5-5FA8-565A76425630}"/>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89291177-2BBF-5CF8-C81E-EA701055000A}"/>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Evaluation of classification models</a:t>
                </a:r>
              </a:p>
              <a:p>
                <a:pPr lvl="1"/>
                <a:r>
                  <a:rPr lang="en-US" sz="2000" dirty="0"/>
                  <a:t>Confusion matrix:</a:t>
                </a:r>
              </a:p>
              <a:p>
                <a:pPr lvl="1"/>
                <a:endParaRPr lang="en-US" sz="2000" dirty="0"/>
              </a:p>
              <a:p>
                <a:pPr lvl="1"/>
                <a:endParaRPr lang="en-US" sz="2000" dirty="0"/>
              </a:p>
              <a:p>
                <a:pPr marL="324000" lvl="1" indent="0">
                  <a:buNone/>
                </a:pPr>
                <a:endParaRPr lang="en-US" sz="2000" dirty="0"/>
              </a:p>
              <a:p>
                <a:pPr lvl="1"/>
                <a:r>
                  <a:rPr lang="en-US" sz="2000" dirty="0"/>
                  <a:t>Accuracy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r>
                          <a:rPr lang="en-US" sz="2000" b="0" i="1" smtClean="0">
                            <a:latin typeface="Cambria Math" panose="02040503050406030204" pitchFamily="18" charset="0"/>
                          </a:rPr>
                          <m:t>+</m:t>
                        </m:r>
                        <m:r>
                          <a:rPr lang="en-US" sz="2000" b="0" i="1" smtClean="0">
                            <a:latin typeface="Cambria Math" panose="02040503050406030204" pitchFamily="18" charset="0"/>
                          </a:rPr>
                          <m:t>𝐹𝑃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oMath>
                </a14:m>
                <a:endParaRPr lang="en-US" sz="2000" dirty="0"/>
              </a:p>
              <a:p>
                <a:pPr lvl="1"/>
                <a:r>
                  <a:rPr lang="en-US" sz="2000" dirty="0"/>
                  <a:t>Precision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𝐹𝑃</m:t>
                        </m:r>
                      </m:den>
                    </m:f>
                  </m:oMath>
                </a14:m>
                <a:endParaRPr lang="en-US" sz="2000" dirty="0"/>
              </a:p>
              <a:p>
                <a:pPr lvl="1"/>
                <a:r>
                  <a:rPr lang="en-US" sz="2000" dirty="0"/>
                  <a:t>Recall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oMath>
                </a14:m>
                <a:endParaRPr lang="en-US" sz="2000" dirty="0"/>
              </a:p>
              <a:p>
                <a:endParaRPr lang="en-US" sz="2200" dirty="0"/>
              </a:p>
            </p:txBody>
          </p:sp>
        </mc:Choice>
        <mc:Fallback xmlns="">
          <p:sp>
            <p:nvSpPr>
              <p:cNvPr id="6" name="Content Placeholder 2">
                <a:extLst>
                  <a:ext uri="{FF2B5EF4-FFF2-40B4-BE49-F238E27FC236}">
                    <a16:creationId xmlns:a16="http://schemas.microsoft.com/office/drawing/2014/main" id="{89291177-2BBF-5CF8-C81E-EA701055000A}"/>
                  </a:ext>
                </a:extLst>
              </p:cNvPr>
              <p:cNvSpPr txBox="1">
                <a:spLocks noRot="1" noChangeAspect="1" noMove="1" noResize="1" noEditPoints="1" noAdjustHandles="1" noChangeArrowheads="1" noChangeShapeType="1" noTextEdit="1"/>
              </p:cNvSpPr>
              <p:nvPr/>
            </p:nvSpPr>
            <p:spPr>
              <a:xfrm>
                <a:off x="581191" y="2180495"/>
                <a:ext cx="11029615" cy="3678303"/>
              </a:xfrm>
              <a:prstGeom prst="rect">
                <a:avLst/>
              </a:prstGeom>
              <a:blipFill>
                <a:blip r:embed="rId3"/>
                <a:stretch>
                  <a:fillRect l="-345" t="-1031" b="-927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AEB0B69-FC5A-9D51-BFAE-5FE84AFD6B77}"/>
              </a:ext>
            </a:extLst>
          </p:cNvPr>
          <p:cNvSpPr txBox="1"/>
          <p:nvPr/>
        </p:nvSpPr>
        <p:spPr>
          <a:xfrm>
            <a:off x="8310281" y="6155844"/>
            <a:ext cx="4004981" cy="584775"/>
          </a:xfrm>
          <a:prstGeom prst="rect">
            <a:avLst/>
          </a:prstGeom>
          <a:noFill/>
        </p:spPr>
        <p:txBody>
          <a:bodyPr wrap="square">
            <a:spAutoFit/>
          </a:bodyPr>
          <a:lstStyle/>
          <a:p>
            <a:r>
              <a:rPr lang="en-US" sz="1600" dirty="0"/>
              <a:t>https://</a:t>
            </a:r>
            <a:r>
              <a:rPr lang="en-US" sz="1600" dirty="0" err="1"/>
              <a:t>www.geeksforgeeks.org</a:t>
            </a:r>
            <a:r>
              <a:rPr lang="en-US" sz="1600" dirty="0"/>
              <a:t>/machine-learning/confusion-matrix-machine-learning/</a:t>
            </a:r>
          </a:p>
        </p:txBody>
      </p:sp>
      <p:pic>
        <p:nvPicPr>
          <p:cNvPr id="6146" name="Picture 2" descr="predicted_condition_2_">
            <a:extLst>
              <a:ext uri="{FF2B5EF4-FFF2-40B4-BE49-F238E27FC236}">
                <a16:creationId xmlns:a16="http://schemas.microsoft.com/office/drawing/2014/main" id="{CB49118E-F824-5D6D-D7CE-1753A93A638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737" t="17738" r="9690" b="18732"/>
          <a:stretch>
            <a:fillRect/>
          </a:stretch>
        </p:blipFill>
        <p:spPr bwMode="auto">
          <a:xfrm>
            <a:off x="1288198" y="3100998"/>
            <a:ext cx="4381994" cy="111571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onfusion-Matrix">
            <a:extLst>
              <a:ext uri="{FF2B5EF4-FFF2-40B4-BE49-F238E27FC236}">
                <a16:creationId xmlns:a16="http://schemas.microsoft.com/office/drawing/2014/main" id="{12C0370A-AFB5-B08D-2167-FFA563C7AD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9286" y="1883450"/>
            <a:ext cx="4701990" cy="394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02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A7F7-31D5-8DAD-40E4-FFD435A26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0763F-4FB9-508D-7A00-C42427C78A72}"/>
              </a:ext>
            </a:extLst>
          </p:cNvPr>
          <p:cNvSpPr>
            <a:spLocks noGrp="1"/>
          </p:cNvSpPr>
          <p:nvPr>
            <p:ph type="title"/>
          </p:nvPr>
        </p:nvSpPr>
        <p:spPr/>
        <p:txBody>
          <a:bodyPr/>
          <a:lstStyle/>
          <a:p>
            <a:r>
              <a:rPr lang="en-US" dirty="0"/>
              <a:t>modeling overview</a:t>
            </a:r>
          </a:p>
        </p:txBody>
      </p:sp>
      <p:sp>
        <p:nvSpPr>
          <p:cNvPr id="3" name="Content Placeholder 2">
            <a:extLst>
              <a:ext uri="{FF2B5EF4-FFF2-40B4-BE49-F238E27FC236}">
                <a16:creationId xmlns:a16="http://schemas.microsoft.com/office/drawing/2014/main" id="{2417A19E-60AA-A332-109D-AB9CEDC17A81}"/>
              </a:ext>
            </a:extLst>
          </p:cNvPr>
          <p:cNvSpPr>
            <a:spLocks noGrp="1"/>
          </p:cNvSpPr>
          <p:nvPr>
            <p:ph idx="1"/>
          </p:nvPr>
        </p:nvSpPr>
        <p:spPr/>
        <p:txBody>
          <a:bodyPr anchor="t">
            <a:normAutofit/>
          </a:bodyPr>
          <a:lstStyle/>
          <a:p>
            <a:pPr marL="0" indent="0">
              <a:buNone/>
            </a:pPr>
            <a:endParaRPr lang="en-US" sz="2400" dirty="0"/>
          </a:p>
          <a:p>
            <a:endParaRPr lang="en-US" sz="2200" dirty="0"/>
          </a:p>
          <a:p>
            <a:endParaRPr lang="en-US" sz="2200" dirty="0"/>
          </a:p>
          <a:p>
            <a:endParaRPr lang="en-US" sz="2200" dirty="0"/>
          </a:p>
          <a:p>
            <a:endParaRPr lang="en-US" sz="2200" dirty="0"/>
          </a:p>
        </p:txBody>
      </p:sp>
      <p:sp>
        <p:nvSpPr>
          <p:cNvPr id="5" name="Content Placeholder 2">
            <a:extLst>
              <a:ext uri="{FF2B5EF4-FFF2-40B4-BE49-F238E27FC236}">
                <a16:creationId xmlns:a16="http://schemas.microsoft.com/office/drawing/2014/main" id="{6E8976E5-1809-3F88-61E4-5377A7049D62}"/>
              </a:ext>
            </a:extLst>
          </p:cNvPr>
          <p:cNvSpPr txBox="1">
            <a:spLocks/>
          </p:cNvSpPr>
          <p:nvPr/>
        </p:nvSpPr>
        <p:spPr>
          <a:xfrm>
            <a:off x="581191"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sz="220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ED7F43F-9FD5-CDB6-0ADD-CA886C0D7138}"/>
                  </a:ext>
                </a:extLst>
              </p:cNvPr>
              <p:cNvSpPr txBox="1">
                <a:spLocks/>
              </p:cNvSpPr>
              <p:nvPr/>
            </p:nvSpPr>
            <p:spPr>
              <a:xfrm>
                <a:off x="581191" y="2180495"/>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Evaluation of regression models</a:t>
                </a:r>
              </a:p>
              <a:p>
                <a:endParaRPr lang="en-US" sz="2200" dirty="0"/>
              </a:p>
              <a:p>
                <a:pPr lvl="1"/>
                <a:r>
                  <a:rPr lang="en-US" sz="2000" dirty="0"/>
                  <a:t>Mean Squared Error: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𝑛</m:t>
                        </m:r>
                      </m:den>
                    </m:f>
                    <m:nary>
                      <m:naryPr>
                        <m:chr m:val="∑"/>
                        <m:limLoc m:val="subSup"/>
                        <m:ctrlPr>
                          <a:rPr lang="en-US" sz="2000" i="1" smtClean="0">
                            <a:latin typeface="Cambria Math" panose="02040503050406030204" pitchFamily="18" charset="0"/>
                          </a:rPr>
                        </m:ctrlPr>
                      </m:naryPr>
                      <m:sub>
                        <m:r>
                          <m:rPr>
                            <m:brk m:alnAt="25"/>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acc>
                              </m:e>
                            </m:d>
                          </m:e>
                          <m:sup>
                            <m:r>
                              <a:rPr lang="en-US" sz="2000" b="0" i="1" smtClean="0">
                                <a:latin typeface="Cambria Math" panose="02040503050406030204" pitchFamily="18" charset="0"/>
                              </a:rPr>
                              <m:t>2</m:t>
                            </m:r>
                          </m:sup>
                        </m:sSup>
                      </m:e>
                    </m:nary>
                  </m:oMath>
                </a14:m>
                <a:endParaRPr lang="en-US" sz="2000" dirty="0"/>
              </a:p>
              <a:p>
                <a:pPr lvl="1"/>
                <a:endParaRPr lang="en-US" sz="2000" dirty="0"/>
              </a:p>
              <a:p>
                <a:pPr lvl="1"/>
                <a:r>
                  <a:rPr lang="en-US" sz="2000" dirty="0"/>
                  <a:t>R-Squared: </a:t>
                </a:r>
                <a14:m>
                  <m:oMath xmlns:m="http://schemas.openxmlformats.org/officeDocument/2006/math">
                    <m:r>
                      <a:rPr lang="en-US" sz="2000" b="0" i="1" smtClean="0">
                        <a:latin typeface="Cambria Math" panose="02040503050406030204" pitchFamily="18" charset="0"/>
                      </a:rPr>
                      <m:t>1 − </m:t>
                    </m:r>
                    <m:f>
                      <m:fPr>
                        <m:ctrlPr>
                          <a:rPr lang="en-US" sz="2000" b="0" i="1" smtClean="0">
                            <a:latin typeface="Cambria Math" panose="02040503050406030204" pitchFamily="18" charset="0"/>
                          </a:rPr>
                        </m:ctrlPr>
                      </m:fPr>
                      <m:num>
                        <m:nary>
                          <m:naryPr>
                            <m:chr m:val="∑"/>
                            <m:limLoc m:val="subSup"/>
                            <m:ctrlPr>
                              <a:rPr lang="en-US" sz="2000" b="0" i="1" smtClean="0">
                                <a:latin typeface="Cambria Math" panose="02040503050406030204" pitchFamily="18" charset="0"/>
                              </a:rPr>
                            </m:ctrlPr>
                          </m:naryPr>
                          <m:sub>
                            <m:r>
                              <m:rPr>
                                <m:brk m:alnAt="25"/>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acc>
                                  </m:e>
                                </m:d>
                              </m:e>
                              <m:sup>
                                <m:r>
                                  <a:rPr lang="en-US" sz="2000" b="0" i="1" smtClean="0">
                                    <a:latin typeface="Cambria Math" panose="02040503050406030204" pitchFamily="18" charset="0"/>
                                  </a:rPr>
                                  <m:t>2</m:t>
                                </m:r>
                              </m:sup>
                            </m:sSup>
                          </m:e>
                        </m:nary>
                      </m:num>
                      <m:den>
                        <m:nary>
                          <m:naryPr>
                            <m:chr m:val="∑"/>
                            <m:limLoc m:val="subSup"/>
                            <m:ctrlPr>
                              <a:rPr lang="en-US" sz="2000" i="1">
                                <a:latin typeface="Cambria Math" panose="02040503050406030204" pitchFamily="18" charset="0"/>
                              </a:rPr>
                            </m:ctrlPr>
                          </m:naryPr>
                          <m:sub>
                            <m:r>
                              <m:rPr>
                                <m:brk m:alnAt="25"/>
                              </m:rPr>
                              <a:rPr lang="en-US" sz="2000" i="1">
                                <a:latin typeface="Cambria Math" panose="02040503050406030204" pitchFamily="18" charset="0"/>
                              </a:rPr>
                              <m:t>𝑗</m:t>
                            </m:r>
                            <m:r>
                              <a:rPr lang="en-US" sz="2000" i="1">
                                <a:latin typeface="Cambria Math" panose="02040503050406030204" pitchFamily="18" charset="0"/>
                              </a:rPr>
                              <m:t>=1</m:t>
                            </m:r>
                          </m:sub>
                          <m:sup>
                            <m:r>
                              <a:rPr lang="en-US" sz="2000" i="1">
                                <a:latin typeface="Cambria Math" panose="02040503050406030204" pitchFamily="18" charset="0"/>
                              </a:rPr>
                              <m:t>𝑛</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𝑗</m:t>
                                        </m:r>
                                      </m:sub>
                                    </m:sSub>
                                    <m:r>
                                      <a:rPr lang="en-US" sz="2000" i="1">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e>
                              <m:sup>
                                <m:r>
                                  <a:rPr lang="en-US" sz="2000" i="1">
                                    <a:latin typeface="Cambria Math" panose="02040503050406030204" pitchFamily="18" charset="0"/>
                                  </a:rPr>
                                  <m:t>2</m:t>
                                </m:r>
                              </m:sup>
                            </m:sSup>
                          </m:e>
                        </m:nary>
                      </m:den>
                    </m:f>
                  </m:oMath>
                </a14:m>
                <a:endParaRPr lang="en-US" sz="2000" dirty="0"/>
              </a:p>
              <a:p>
                <a:pPr lvl="1"/>
                <a:endParaRPr lang="en-US" sz="2000" dirty="0"/>
              </a:p>
              <a:p>
                <a:pPr lvl="1"/>
                <a:endParaRPr lang="en-US" sz="2000" dirty="0"/>
              </a:p>
              <a:p>
                <a:pPr marL="324000" lvl="1" indent="0">
                  <a:buNone/>
                </a:pPr>
                <a:endParaRPr lang="en-US" sz="2000" dirty="0"/>
              </a:p>
              <a:p>
                <a:pPr lvl="1"/>
                <a:endParaRPr lang="en-US" sz="2000" dirty="0"/>
              </a:p>
              <a:p>
                <a:endParaRPr lang="en-US" sz="2200" dirty="0"/>
              </a:p>
            </p:txBody>
          </p:sp>
        </mc:Choice>
        <mc:Fallback xmlns="">
          <p:sp>
            <p:nvSpPr>
              <p:cNvPr id="6" name="Content Placeholder 2">
                <a:extLst>
                  <a:ext uri="{FF2B5EF4-FFF2-40B4-BE49-F238E27FC236}">
                    <a16:creationId xmlns:a16="http://schemas.microsoft.com/office/drawing/2014/main" id="{7ED7F43F-9FD5-CDB6-0ADD-CA886C0D7138}"/>
                  </a:ext>
                </a:extLst>
              </p:cNvPr>
              <p:cNvSpPr txBox="1">
                <a:spLocks noRot="1" noChangeAspect="1" noMove="1" noResize="1" noEditPoints="1" noAdjustHandles="1" noChangeArrowheads="1" noChangeShapeType="1" noTextEdit="1"/>
              </p:cNvSpPr>
              <p:nvPr/>
            </p:nvSpPr>
            <p:spPr>
              <a:xfrm>
                <a:off x="581191" y="2180495"/>
                <a:ext cx="11029615" cy="3678303"/>
              </a:xfrm>
              <a:prstGeom prst="rect">
                <a:avLst/>
              </a:prstGeom>
              <a:blipFill>
                <a:blip r:embed="rId3"/>
                <a:stretch>
                  <a:fillRect l="-345" t="-103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99811A4-F31F-AE29-1B16-1B05FD30B965}"/>
              </a:ext>
            </a:extLst>
          </p:cNvPr>
          <p:cNvSpPr txBox="1"/>
          <p:nvPr/>
        </p:nvSpPr>
        <p:spPr>
          <a:xfrm>
            <a:off x="8310281" y="6155844"/>
            <a:ext cx="4004981" cy="584775"/>
          </a:xfrm>
          <a:prstGeom prst="rect">
            <a:avLst/>
          </a:prstGeom>
          <a:noFill/>
        </p:spPr>
        <p:txBody>
          <a:bodyPr wrap="square">
            <a:spAutoFit/>
          </a:bodyPr>
          <a:lstStyle/>
          <a:p>
            <a:r>
              <a:rPr lang="en-US" sz="1600" dirty="0"/>
              <a:t>https://</a:t>
            </a:r>
            <a:r>
              <a:rPr lang="en-US" sz="1600" dirty="0" err="1"/>
              <a:t>www.geeksforgeeks.org</a:t>
            </a:r>
            <a:r>
              <a:rPr lang="en-US" sz="1600" dirty="0"/>
              <a:t>/machine-learning/metrics-for-machine-learning-model/</a:t>
            </a:r>
          </a:p>
        </p:txBody>
      </p:sp>
      <p:pic>
        <p:nvPicPr>
          <p:cNvPr id="8" name="Picture 7" descr="A graph of a line equation&#10;&#10;AI-generated content may be incorrect.">
            <a:extLst>
              <a:ext uri="{FF2B5EF4-FFF2-40B4-BE49-F238E27FC236}">
                <a16:creationId xmlns:a16="http://schemas.microsoft.com/office/drawing/2014/main" id="{8B809223-4772-1E29-FE03-E5942967233C}"/>
              </a:ext>
            </a:extLst>
          </p:cNvPr>
          <p:cNvPicPr>
            <a:picLocks noChangeAspect="1"/>
          </p:cNvPicPr>
          <p:nvPr/>
        </p:nvPicPr>
        <p:blipFill>
          <a:blip r:embed="rId4"/>
          <a:stretch>
            <a:fillRect/>
          </a:stretch>
        </p:blipFill>
        <p:spPr>
          <a:xfrm>
            <a:off x="5358279" y="1948225"/>
            <a:ext cx="6635193" cy="4142842"/>
          </a:xfrm>
          <a:prstGeom prst="rect">
            <a:avLst/>
          </a:prstGeom>
        </p:spPr>
      </p:pic>
    </p:spTree>
    <p:extLst>
      <p:ext uri="{BB962C8B-B14F-4D97-AF65-F5344CB8AC3E}">
        <p14:creationId xmlns:p14="http://schemas.microsoft.com/office/powerpoint/2010/main" val="2963659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CC06-3597-80AD-FEE7-D6E8E6412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7FA6D-E0A6-21B2-897D-6A147D101678}"/>
              </a:ext>
            </a:extLst>
          </p:cNvPr>
          <p:cNvSpPr>
            <a:spLocks noGrp="1"/>
          </p:cNvSpPr>
          <p:nvPr>
            <p:ph type="title"/>
          </p:nvPr>
        </p:nvSpPr>
        <p:spPr/>
        <p:txBody>
          <a:bodyPr/>
          <a:lstStyle/>
          <a:p>
            <a:r>
              <a:rPr lang="en-US" dirty="0"/>
              <a:t>Systems for model explanation</a:t>
            </a:r>
          </a:p>
        </p:txBody>
      </p:sp>
      <p:sp>
        <p:nvSpPr>
          <p:cNvPr id="3" name="Content Placeholder 2">
            <a:extLst>
              <a:ext uri="{FF2B5EF4-FFF2-40B4-BE49-F238E27FC236}">
                <a16:creationId xmlns:a16="http://schemas.microsoft.com/office/drawing/2014/main" id="{1F9E9B6A-C14C-54C9-219A-16AB7FE421C4}"/>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4FDA1981-FCAD-3C5F-45E8-89F58309A25B}"/>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
        <p:nvSpPr>
          <p:cNvPr id="7" name="Content Placeholder 2">
            <a:extLst>
              <a:ext uri="{FF2B5EF4-FFF2-40B4-BE49-F238E27FC236}">
                <a16:creationId xmlns:a16="http://schemas.microsoft.com/office/drawing/2014/main" id="{6DFC5CFC-5297-F31F-79AE-C0D5B211DDF7}"/>
              </a:ext>
            </a:extLst>
          </p:cNvPr>
          <p:cNvSpPr txBox="1">
            <a:spLocks/>
          </p:cNvSpPr>
          <p:nvPr/>
        </p:nvSpPr>
        <p:spPr>
          <a:xfrm>
            <a:off x="733592" y="23328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The explainability of a model is not only important to the model builder themselves, but to anyone else affected by that model, as required by ethical and legal guidelines such as the European Union's General Data Protection Regulation (GDPR) </a:t>
            </a:r>
          </a:p>
          <a:p>
            <a:r>
              <a:rPr lang="en-US" sz="2200" dirty="0"/>
              <a:t>Approaches:</a:t>
            </a:r>
          </a:p>
          <a:p>
            <a:pPr lvl="1"/>
            <a:r>
              <a:rPr lang="en-US" sz="2200" dirty="0"/>
              <a:t>Systems have been built to provide insight into how a machine learning model makes predictions by highlighting individual data instances that the model predicts poorly</a:t>
            </a:r>
          </a:p>
          <a:p>
            <a:pPr lvl="1"/>
            <a:r>
              <a:rPr lang="en-US" sz="2200" dirty="0"/>
              <a:t>Simplified classes of models could be used in a VA application to trade off some performance in exchange for a more explainable analysis</a:t>
            </a:r>
          </a:p>
          <a:p>
            <a:pPr lvl="1"/>
            <a:r>
              <a:rPr lang="en-US" sz="2200" dirty="0"/>
              <a:t>Instance-level explanations of output </a:t>
            </a:r>
          </a:p>
        </p:txBody>
      </p:sp>
    </p:spTree>
    <p:extLst>
      <p:ext uri="{BB962C8B-B14F-4D97-AF65-F5344CB8AC3E}">
        <p14:creationId xmlns:p14="http://schemas.microsoft.com/office/powerpoint/2010/main" val="486862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1D541-22DA-7D33-44E2-9E6E4BF67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D9E14-CA5B-725A-9133-D43B4C9BD5BD}"/>
              </a:ext>
            </a:extLst>
          </p:cNvPr>
          <p:cNvSpPr>
            <a:spLocks noGrp="1"/>
          </p:cNvSpPr>
          <p:nvPr>
            <p:ph type="title"/>
          </p:nvPr>
        </p:nvSpPr>
        <p:spPr/>
        <p:txBody>
          <a:bodyPr/>
          <a:lstStyle/>
          <a:p>
            <a:r>
              <a:rPr lang="en-US" dirty="0"/>
              <a:t>Systems for model explanation</a:t>
            </a:r>
          </a:p>
        </p:txBody>
      </p:sp>
      <p:sp>
        <p:nvSpPr>
          <p:cNvPr id="3" name="Content Placeholder 2">
            <a:extLst>
              <a:ext uri="{FF2B5EF4-FFF2-40B4-BE49-F238E27FC236}">
                <a16:creationId xmlns:a16="http://schemas.microsoft.com/office/drawing/2014/main" id="{AE4B4A12-DAC8-1EFA-802C-A8CD2A0D7985}"/>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2EB36CED-0F71-C5E3-1AC9-B286575DB3D7}"/>
              </a:ext>
            </a:extLst>
          </p:cNvPr>
          <p:cNvSpPr txBox="1"/>
          <p:nvPr/>
        </p:nvSpPr>
        <p:spPr>
          <a:xfrm>
            <a:off x="5486401" y="6155844"/>
            <a:ext cx="6553200" cy="646331"/>
          </a:xfrm>
          <a:prstGeom prst="rect">
            <a:avLst/>
          </a:prstGeom>
          <a:noFill/>
        </p:spPr>
        <p:txBody>
          <a:bodyPr wrap="square" rtlCol="0">
            <a:spAutoFit/>
          </a:bodyPr>
          <a:lstStyle/>
          <a:p>
            <a:r>
              <a:rPr lang="en-US" dirty="0"/>
              <a:t>D. Ren, et al.. "Squares: Supporting Interactive Performance Analysis for Multiclass Classifiers," 2017, </a:t>
            </a:r>
            <a:r>
              <a:rPr lang="en-US" dirty="0" err="1"/>
              <a:t>doi</a:t>
            </a:r>
            <a:r>
              <a:rPr lang="en-US" dirty="0"/>
              <a:t>: 10.1109/TVCG.2016.2598828</a:t>
            </a:r>
            <a:endParaRPr lang="en-US" sz="1600" dirty="0"/>
          </a:p>
        </p:txBody>
      </p:sp>
      <p:sp>
        <p:nvSpPr>
          <p:cNvPr id="7" name="Content Placeholder 2">
            <a:extLst>
              <a:ext uri="{FF2B5EF4-FFF2-40B4-BE49-F238E27FC236}">
                <a16:creationId xmlns:a16="http://schemas.microsoft.com/office/drawing/2014/main" id="{777B724C-05C9-CD1A-3F6A-700701FD91F9}"/>
              </a:ext>
            </a:extLst>
          </p:cNvPr>
          <p:cNvSpPr txBox="1">
            <a:spLocks/>
          </p:cNvSpPr>
          <p:nvPr/>
        </p:nvSpPr>
        <p:spPr>
          <a:xfrm>
            <a:off x="733593" y="2332896"/>
            <a:ext cx="3431270" cy="3693398"/>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Ex. Squares</a:t>
            </a:r>
          </a:p>
          <a:p>
            <a:r>
              <a:rPr lang="en-US" sz="2200" dirty="0">
                <a:hlinkClick r:id="rId3"/>
              </a:rPr>
              <a:t>https://www.microsoft.com/en-us/research/video/squares-supporting-interactive-performance-analysis-multiclass-classifiers-2/</a:t>
            </a:r>
            <a:r>
              <a:rPr lang="en-US" sz="2200" dirty="0"/>
              <a:t> </a:t>
            </a:r>
          </a:p>
        </p:txBody>
      </p:sp>
      <p:sp>
        <p:nvSpPr>
          <p:cNvPr id="5" name="AutoShape 2" descr="Fig. 1. - Squares displaying the performance of two digit recognition classifiers trained on the MNIST handwritten digits dataset [24]. These classifiers yield the same accuracy of 0.87 (top: Random forest, bottom: SVM), but show vastly different score distributions.">
            <a:extLst>
              <a:ext uri="{FF2B5EF4-FFF2-40B4-BE49-F238E27FC236}">
                <a16:creationId xmlns:a16="http://schemas.microsoft.com/office/drawing/2014/main" id="{2FEE7D09-0518-F4E7-1CAD-BB36D14DE58F}"/>
              </a:ext>
            </a:extLst>
          </p:cNvPr>
          <p:cNvSpPr>
            <a:spLocks noChangeAspect="1" noChangeArrowheads="1"/>
          </p:cNvSpPr>
          <p:nvPr/>
        </p:nvSpPr>
        <p:spPr bwMode="auto">
          <a:xfrm>
            <a:off x="5943600" y="3276600"/>
            <a:ext cx="3281082" cy="328108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group of different colored shapes&#10;&#10;AI-generated content may be incorrect.">
            <a:extLst>
              <a:ext uri="{FF2B5EF4-FFF2-40B4-BE49-F238E27FC236}">
                <a16:creationId xmlns:a16="http://schemas.microsoft.com/office/drawing/2014/main" id="{9DAF2A5A-EADB-6C61-A8A5-F998ECCF1216}"/>
              </a:ext>
            </a:extLst>
          </p:cNvPr>
          <p:cNvPicPr>
            <a:picLocks noChangeAspect="1"/>
          </p:cNvPicPr>
          <p:nvPr/>
        </p:nvPicPr>
        <p:blipFill>
          <a:blip r:embed="rId4"/>
          <a:stretch>
            <a:fillRect/>
          </a:stretch>
        </p:blipFill>
        <p:spPr>
          <a:xfrm>
            <a:off x="4164863" y="2013001"/>
            <a:ext cx="7772400" cy="3698762"/>
          </a:xfrm>
          <a:prstGeom prst="rect">
            <a:avLst/>
          </a:prstGeom>
        </p:spPr>
      </p:pic>
    </p:spTree>
    <p:extLst>
      <p:ext uri="{BB962C8B-B14F-4D97-AF65-F5344CB8AC3E}">
        <p14:creationId xmlns:p14="http://schemas.microsoft.com/office/powerpoint/2010/main" val="3512434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E7BF-1267-53F7-F997-DC8FAD798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B3147-94CC-116A-ADE8-3BF5F9AD67D5}"/>
              </a:ext>
            </a:extLst>
          </p:cNvPr>
          <p:cNvSpPr>
            <a:spLocks noGrp="1"/>
          </p:cNvSpPr>
          <p:nvPr>
            <p:ph type="title"/>
          </p:nvPr>
        </p:nvSpPr>
        <p:spPr/>
        <p:txBody>
          <a:bodyPr/>
          <a:lstStyle/>
          <a:p>
            <a:r>
              <a:rPr lang="en-US" dirty="0"/>
              <a:t>Systems for model debugging</a:t>
            </a:r>
          </a:p>
        </p:txBody>
      </p:sp>
      <p:sp>
        <p:nvSpPr>
          <p:cNvPr id="3" name="Content Placeholder 2">
            <a:extLst>
              <a:ext uri="{FF2B5EF4-FFF2-40B4-BE49-F238E27FC236}">
                <a16:creationId xmlns:a16="http://schemas.microsoft.com/office/drawing/2014/main" id="{8041B88C-D8F8-A0B7-0D8F-3F550552BFAB}"/>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EE973563-5FC3-B846-69E7-E3D81DD6C430}"/>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
        <p:nvSpPr>
          <p:cNvPr id="5" name="Content Placeholder 2">
            <a:extLst>
              <a:ext uri="{FF2B5EF4-FFF2-40B4-BE49-F238E27FC236}">
                <a16:creationId xmlns:a16="http://schemas.microsoft.com/office/drawing/2014/main" id="{D035B939-40F9-6B92-41A0-0CD7D933AC08}"/>
              </a:ext>
            </a:extLst>
          </p:cNvPr>
          <p:cNvSpPr txBox="1">
            <a:spLocks/>
          </p:cNvSpPr>
          <p:nvPr/>
        </p:nvSpPr>
        <p:spPr>
          <a:xfrm>
            <a:off x="733592" y="23328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While the calculations used in machine learning models can be excessively complicated, endemic properties of models that cause poor predictions can sometimes be diagnosed visually relatively easily</a:t>
            </a:r>
          </a:p>
          <a:p>
            <a:r>
              <a:rPr lang="en-US" sz="2200" dirty="0"/>
              <a:t>These tools allow a model builder to view </a:t>
            </a:r>
            <a:r>
              <a:rPr lang="en-US" sz="2200" i="1" dirty="0"/>
              <a:t>how</a:t>
            </a:r>
            <a:r>
              <a:rPr lang="en-US" sz="2200" dirty="0"/>
              <a:t> and </a:t>
            </a:r>
            <a:r>
              <a:rPr lang="en-US" sz="2200" i="1" dirty="0"/>
              <a:t>where</a:t>
            </a:r>
            <a:r>
              <a:rPr lang="en-US" sz="2200" dirty="0"/>
              <a:t> their model is breaking, on specified data instances </a:t>
            </a:r>
          </a:p>
        </p:txBody>
      </p:sp>
    </p:spTree>
    <p:extLst>
      <p:ext uri="{BB962C8B-B14F-4D97-AF65-F5344CB8AC3E}">
        <p14:creationId xmlns:p14="http://schemas.microsoft.com/office/powerpoint/2010/main" val="1126958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B5A46-CA34-0FF5-6421-9F1711430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8E58F-FC12-54B0-6024-A106D885C2DD}"/>
              </a:ext>
            </a:extLst>
          </p:cNvPr>
          <p:cNvSpPr>
            <a:spLocks noGrp="1"/>
          </p:cNvSpPr>
          <p:nvPr>
            <p:ph type="title"/>
          </p:nvPr>
        </p:nvSpPr>
        <p:spPr/>
        <p:txBody>
          <a:bodyPr/>
          <a:lstStyle/>
          <a:p>
            <a:r>
              <a:rPr lang="en-US" dirty="0"/>
              <a:t>Systems for model debugging</a:t>
            </a:r>
          </a:p>
        </p:txBody>
      </p:sp>
      <p:sp>
        <p:nvSpPr>
          <p:cNvPr id="3" name="Content Placeholder 2">
            <a:extLst>
              <a:ext uri="{FF2B5EF4-FFF2-40B4-BE49-F238E27FC236}">
                <a16:creationId xmlns:a16="http://schemas.microsoft.com/office/drawing/2014/main" id="{ABCBF849-6F26-7D98-5771-482399F69A6F}"/>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9F2DB16A-E024-7558-A347-3DA4EE90EA11}"/>
              </a:ext>
            </a:extLst>
          </p:cNvPr>
          <p:cNvSpPr txBox="1"/>
          <p:nvPr/>
        </p:nvSpPr>
        <p:spPr>
          <a:xfrm>
            <a:off x="4141694" y="6458862"/>
            <a:ext cx="8274424" cy="338554"/>
          </a:xfrm>
          <a:prstGeom prst="rect">
            <a:avLst/>
          </a:prstGeom>
          <a:noFill/>
        </p:spPr>
        <p:txBody>
          <a:bodyPr wrap="square" rtlCol="0">
            <a:spAutoFit/>
          </a:bodyPr>
          <a:lstStyle/>
          <a:p>
            <a:r>
              <a:rPr lang="en-US" sz="1600" dirty="0"/>
              <a:t>Cashman et al.. (2019), </a:t>
            </a:r>
            <a:r>
              <a:rPr lang="en-US" sz="1600" dirty="0" err="1"/>
              <a:t>RNNbow</a:t>
            </a:r>
            <a:r>
              <a:rPr lang="en-US" sz="1600" dirty="0"/>
              <a:t>: Visualizing Learning Via Backpropagation Gradients in RNNs. </a:t>
            </a:r>
          </a:p>
        </p:txBody>
      </p:sp>
      <p:sp>
        <p:nvSpPr>
          <p:cNvPr id="5" name="Content Placeholder 2">
            <a:extLst>
              <a:ext uri="{FF2B5EF4-FFF2-40B4-BE49-F238E27FC236}">
                <a16:creationId xmlns:a16="http://schemas.microsoft.com/office/drawing/2014/main" id="{81F7B7EF-99C7-0C91-C384-894C697004EF}"/>
              </a:ext>
            </a:extLst>
          </p:cNvPr>
          <p:cNvSpPr txBox="1">
            <a:spLocks/>
          </p:cNvSpPr>
          <p:nvPr/>
        </p:nvSpPr>
        <p:spPr>
          <a:xfrm>
            <a:off x="733592" y="23328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Ex. </a:t>
            </a:r>
            <a:r>
              <a:rPr lang="en-US" sz="2200" dirty="0" err="1"/>
              <a:t>RNNbow</a:t>
            </a:r>
            <a:r>
              <a:rPr lang="en-US" sz="2200" dirty="0"/>
              <a:t> </a:t>
            </a:r>
          </a:p>
        </p:txBody>
      </p:sp>
      <p:pic>
        <p:nvPicPr>
          <p:cNvPr id="6" name="Picture 5">
            <a:extLst>
              <a:ext uri="{FF2B5EF4-FFF2-40B4-BE49-F238E27FC236}">
                <a16:creationId xmlns:a16="http://schemas.microsoft.com/office/drawing/2014/main" id="{2EA8465A-07A1-FC6A-AC8D-63935393340D}"/>
              </a:ext>
            </a:extLst>
          </p:cNvPr>
          <p:cNvPicPr>
            <a:picLocks noChangeAspect="1"/>
          </p:cNvPicPr>
          <p:nvPr/>
        </p:nvPicPr>
        <p:blipFill rotWithShape="1">
          <a:blip r:embed="rId3"/>
          <a:srcRect l="731" t="12641" r="44058" b="23637"/>
          <a:stretch/>
        </p:blipFill>
        <p:spPr>
          <a:xfrm>
            <a:off x="2977375" y="1870443"/>
            <a:ext cx="7067578" cy="4588419"/>
          </a:xfrm>
          <a:prstGeom prst="rect">
            <a:avLst/>
          </a:prstGeom>
        </p:spPr>
      </p:pic>
    </p:spTree>
    <p:extLst>
      <p:ext uri="{BB962C8B-B14F-4D97-AF65-F5344CB8AC3E}">
        <p14:creationId xmlns:p14="http://schemas.microsoft.com/office/powerpoint/2010/main" val="1020638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6D6F4-9CF3-F314-E1C8-6B7CB8145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0D743-590D-0F2E-A0F2-E9F0AB5B86E3}"/>
              </a:ext>
            </a:extLst>
          </p:cNvPr>
          <p:cNvSpPr>
            <a:spLocks noGrp="1"/>
          </p:cNvSpPr>
          <p:nvPr>
            <p:ph type="title"/>
          </p:nvPr>
        </p:nvSpPr>
        <p:spPr/>
        <p:txBody>
          <a:bodyPr/>
          <a:lstStyle/>
          <a:p>
            <a:r>
              <a:rPr lang="en-US" dirty="0"/>
              <a:t>Systems for model construction and steering</a:t>
            </a:r>
          </a:p>
        </p:txBody>
      </p:sp>
      <p:sp>
        <p:nvSpPr>
          <p:cNvPr id="3" name="Content Placeholder 2">
            <a:extLst>
              <a:ext uri="{FF2B5EF4-FFF2-40B4-BE49-F238E27FC236}">
                <a16:creationId xmlns:a16="http://schemas.microsoft.com/office/drawing/2014/main" id="{D9A1306E-9A35-C6D9-E7F7-044354EC2AF5}"/>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DD9A065C-2EDD-A12D-CB5C-94887C482A11}"/>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
        <p:nvSpPr>
          <p:cNvPr id="5" name="Content Placeholder 2">
            <a:extLst>
              <a:ext uri="{FF2B5EF4-FFF2-40B4-BE49-F238E27FC236}">
                <a16:creationId xmlns:a16="http://schemas.microsoft.com/office/drawing/2014/main" id="{6D95C008-B93B-24A6-E6A0-0F693A4AA9AC}"/>
              </a:ext>
            </a:extLst>
          </p:cNvPr>
          <p:cNvSpPr txBox="1">
            <a:spLocks/>
          </p:cNvSpPr>
          <p:nvPr/>
        </p:nvSpPr>
        <p:spPr>
          <a:xfrm>
            <a:off x="581192"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When building a model, a modeling expert modifies various hyperparameters to maximize some utility function, whether explicitly or implicitly defined  </a:t>
            </a:r>
          </a:p>
          <a:p>
            <a:r>
              <a:rPr lang="en-US" sz="2200" dirty="0"/>
              <a:t>Visual analytics systems can assist domain experts to control the model fitting process by allowing the user to directly manipulate the model's hyperparameters or by inferring the model's hyperparameters through observing and analyzing the user's interactions with the visualization</a:t>
            </a:r>
          </a:p>
        </p:txBody>
      </p:sp>
    </p:spTree>
    <p:extLst>
      <p:ext uri="{BB962C8B-B14F-4D97-AF65-F5344CB8AC3E}">
        <p14:creationId xmlns:p14="http://schemas.microsoft.com/office/powerpoint/2010/main" val="1814361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6696-9092-1CE4-2077-DF08EAF23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477E8-2745-6FCB-3128-3B0D89A74641}"/>
              </a:ext>
            </a:extLst>
          </p:cNvPr>
          <p:cNvSpPr>
            <a:spLocks noGrp="1"/>
          </p:cNvSpPr>
          <p:nvPr>
            <p:ph type="title"/>
          </p:nvPr>
        </p:nvSpPr>
        <p:spPr/>
        <p:txBody>
          <a:bodyPr/>
          <a:lstStyle/>
          <a:p>
            <a:r>
              <a:rPr lang="en-US" dirty="0"/>
              <a:t>Systems for model construction and steering</a:t>
            </a:r>
          </a:p>
        </p:txBody>
      </p:sp>
      <p:sp>
        <p:nvSpPr>
          <p:cNvPr id="3" name="Content Placeholder 2">
            <a:extLst>
              <a:ext uri="{FF2B5EF4-FFF2-40B4-BE49-F238E27FC236}">
                <a16:creationId xmlns:a16="http://schemas.microsoft.com/office/drawing/2014/main" id="{3944A643-1EF9-C1B8-6BD1-DD4D806B3AD2}"/>
              </a:ext>
            </a:extLst>
          </p:cNvPr>
          <p:cNvSpPr>
            <a:spLocks noGrp="1"/>
          </p:cNvSpPr>
          <p:nvPr>
            <p:ph idx="1"/>
          </p:nvPr>
        </p:nvSpPr>
        <p:spPr>
          <a:xfrm>
            <a:off x="581192" y="2180496"/>
            <a:ext cx="2686443" cy="3678303"/>
          </a:xfrm>
        </p:spPr>
        <p:txBody>
          <a:bodyPr anchor="t">
            <a:normAutofit/>
          </a:bodyPr>
          <a:lstStyle/>
          <a:p>
            <a:pPr marL="0" indent="0">
              <a:buNone/>
            </a:pPr>
            <a:endParaRPr lang="en-US" sz="2400" dirty="0"/>
          </a:p>
          <a:p>
            <a:r>
              <a:rPr lang="en-US" sz="2200" dirty="0">
                <a:hlinkClick r:id="rId3"/>
              </a:rPr>
              <a:t>https://www.youtube.com/watch?v=UJzgrG1KMMI</a:t>
            </a:r>
            <a:r>
              <a:rPr lang="en-US" sz="2200" dirty="0"/>
              <a:t> </a:t>
            </a:r>
          </a:p>
        </p:txBody>
      </p:sp>
      <p:sp>
        <p:nvSpPr>
          <p:cNvPr id="4" name="TextBox 3">
            <a:extLst>
              <a:ext uri="{FF2B5EF4-FFF2-40B4-BE49-F238E27FC236}">
                <a16:creationId xmlns:a16="http://schemas.microsoft.com/office/drawing/2014/main" id="{34EC8B7B-1EF7-0A14-11F0-DE0553110FB0}"/>
              </a:ext>
            </a:extLst>
          </p:cNvPr>
          <p:cNvSpPr txBox="1"/>
          <p:nvPr/>
        </p:nvSpPr>
        <p:spPr>
          <a:xfrm>
            <a:off x="7059706" y="6155844"/>
            <a:ext cx="4979894" cy="584775"/>
          </a:xfrm>
          <a:prstGeom prst="rect">
            <a:avLst/>
          </a:prstGeom>
          <a:noFill/>
        </p:spPr>
        <p:txBody>
          <a:bodyPr wrap="square" rtlCol="0">
            <a:spAutoFit/>
          </a:bodyPr>
          <a:lstStyle/>
          <a:p>
            <a:r>
              <a:rPr lang="en-US" sz="1600" dirty="0"/>
              <a:t>Cavallo and Cagatay.. (2019), </a:t>
            </a:r>
            <a:r>
              <a:rPr lang="en-US" sz="1600" dirty="0" err="1"/>
              <a:t>Clustrophile</a:t>
            </a:r>
            <a:r>
              <a:rPr lang="en-US" sz="1600" dirty="0"/>
              <a:t> 2: Guided Visual Clustering Analysis. </a:t>
            </a:r>
            <a:r>
              <a:rPr lang="en-US" sz="1600" dirty="0" err="1"/>
              <a:t>doi</a:t>
            </a:r>
            <a:r>
              <a:rPr lang="en-US" sz="1600" dirty="0"/>
              <a:t>: 10.1109/TVCG.2018.2864477 </a:t>
            </a:r>
          </a:p>
        </p:txBody>
      </p:sp>
      <p:sp>
        <p:nvSpPr>
          <p:cNvPr id="5" name="Content Placeholder 2">
            <a:extLst>
              <a:ext uri="{FF2B5EF4-FFF2-40B4-BE49-F238E27FC236}">
                <a16:creationId xmlns:a16="http://schemas.microsoft.com/office/drawing/2014/main" id="{B23E9522-4BF4-8A4C-A21C-8D011146CC6D}"/>
              </a:ext>
            </a:extLst>
          </p:cNvPr>
          <p:cNvSpPr txBox="1">
            <a:spLocks/>
          </p:cNvSpPr>
          <p:nvPr/>
        </p:nvSpPr>
        <p:spPr>
          <a:xfrm>
            <a:off x="581192" y="21804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Ex. </a:t>
            </a:r>
            <a:r>
              <a:rPr lang="en-US" sz="2200" dirty="0" err="1"/>
              <a:t>Clustophile</a:t>
            </a:r>
            <a:r>
              <a:rPr lang="en-US" sz="2200" dirty="0"/>
              <a:t> </a:t>
            </a:r>
          </a:p>
        </p:txBody>
      </p:sp>
      <p:pic>
        <p:nvPicPr>
          <p:cNvPr id="7" name="Picture 6" descr="A screenshot of a computer&#10;&#10;AI-generated content may be incorrect.">
            <a:extLst>
              <a:ext uri="{FF2B5EF4-FFF2-40B4-BE49-F238E27FC236}">
                <a16:creationId xmlns:a16="http://schemas.microsoft.com/office/drawing/2014/main" id="{74DFD329-0856-3AD1-AA9B-DE2F96480C7D}"/>
              </a:ext>
            </a:extLst>
          </p:cNvPr>
          <p:cNvPicPr>
            <a:picLocks noChangeAspect="1"/>
          </p:cNvPicPr>
          <p:nvPr/>
        </p:nvPicPr>
        <p:blipFill>
          <a:blip r:embed="rId4"/>
          <a:stretch>
            <a:fillRect/>
          </a:stretch>
        </p:blipFill>
        <p:spPr>
          <a:xfrm>
            <a:off x="3267635" y="1814067"/>
            <a:ext cx="7772400" cy="4044732"/>
          </a:xfrm>
          <a:prstGeom prst="rect">
            <a:avLst/>
          </a:prstGeom>
        </p:spPr>
      </p:pic>
    </p:spTree>
    <p:extLst>
      <p:ext uri="{BB962C8B-B14F-4D97-AF65-F5344CB8AC3E}">
        <p14:creationId xmlns:p14="http://schemas.microsoft.com/office/powerpoint/2010/main" val="3191110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FA21E-0CAB-31CE-9130-78FB541F4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C28FA-6942-A425-F775-F27143B9B221}"/>
              </a:ext>
            </a:extLst>
          </p:cNvPr>
          <p:cNvSpPr>
            <a:spLocks noGrp="1"/>
          </p:cNvSpPr>
          <p:nvPr>
            <p:ph type="title"/>
          </p:nvPr>
        </p:nvSpPr>
        <p:spPr/>
        <p:txBody>
          <a:bodyPr/>
          <a:lstStyle/>
          <a:p>
            <a:r>
              <a:rPr lang="en-US" dirty="0"/>
              <a:t>Systems for model comparison</a:t>
            </a:r>
          </a:p>
        </p:txBody>
      </p:sp>
      <p:sp>
        <p:nvSpPr>
          <p:cNvPr id="3" name="Content Placeholder 2">
            <a:extLst>
              <a:ext uri="{FF2B5EF4-FFF2-40B4-BE49-F238E27FC236}">
                <a16:creationId xmlns:a16="http://schemas.microsoft.com/office/drawing/2014/main" id="{147E4C16-ECA5-00FE-FF4F-E9C0DBB7DCD5}"/>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6" name="TextBox 5">
            <a:extLst>
              <a:ext uri="{FF2B5EF4-FFF2-40B4-BE49-F238E27FC236}">
                <a16:creationId xmlns:a16="http://schemas.microsoft.com/office/drawing/2014/main" id="{0ACD4A50-271C-EA67-7F8A-2A57743F0140}"/>
              </a:ext>
            </a:extLst>
          </p:cNvPr>
          <p:cNvSpPr txBox="1"/>
          <p:nvPr/>
        </p:nvSpPr>
        <p:spPr>
          <a:xfrm>
            <a:off x="6578599" y="63082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
        <p:nvSpPr>
          <p:cNvPr id="7" name="Content Placeholder 2">
            <a:extLst>
              <a:ext uri="{FF2B5EF4-FFF2-40B4-BE49-F238E27FC236}">
                <a16:creationId xmlns:a16="http://schemas.microsoft.com/office/drawing/2014/main" id="{DE0B5068-9D07-47AA-6E23-0180BB707CF8}"/>
              </a:ext>
            </a:extLst>
          </p:cNvPr>
          <p:cNvSpPr txBox="1">
            <a:spLocks/>
          </p:cNvSpPr>
          <p:nvPr/>
        </p:nvSpPr>
        <p:spPr>
          <a:xfrm>
            <a:off x="733592" y="2332896"/>
            <a:ext cx="11029615" cy="36783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The choice of which model to use from a set of candidate models is highly dependent on the needs of the user and the deployment scenario of a model</a:t>
            </a:r>
          </a:p>
          <a:p>
            <a:r>
              <a:rPr lang="en-US" sz="2200" dirty="0"/>
              <a:t>For example, when might we want to minimize false positives vs false negatives?</a:t>
            </a:r>
          </a:p>
        </p:txBody>
      </p:sp>
    </p:spTree>
    <p:extLst>
      <p:ext uri="{BB962C8B-B14F-4D97-AF65-F5344CB8AC3E}">
        <p14:creationId xmlns:p14="http://schemas.microsoft.com/office/powerpoint/2010/main" val="3249429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6BEDA-E2EB-720C-39E2-197DE8B35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44192-26E2-940E-4E36-AA2EFFFECFBE}"/>
              </a:ext>
            </a:extLst>
          </p:cNvPr>
          <p:cNvSpPr>
            <a:spLocks noGrp="1"/>
          </p:cNvSpPr>
          <p:nvPr>
            <p:ph type="title"/>
          </p:nvPr>
        </p:nvSpPr>
        <p:spPr/>
        <p:txBody>
          <a:bodyPr/>
          <a:lstStyle/>
          <a:p>
            <a:r>
              <a:rPr lang="en-US" dirty="0"/>
              <a:t>Systems for model comparison</a:t>
            </a:r>
          </a:p>
        </p:txBody>
      </p:sp>
      <p:sp>
        <p:nvSpPr>
          <p:cNvPr id="3" name="Content Placeholder 2">
            <a:extLst>
              <a:ext uri="{FF2B5EF4-FFF2-40B4-BE49-F238E27FC236}">
                <a16:creationId xmlns:a16="http://schemas.microsoft.com/office/drawing/2014/main" id="{17B6F2BB-2D02-678C-DC41-3BD3DCE12356}"/>
              </a:ext>
            </a:extLst>
          </p:cNvPr>
          <p:cNvSpPr>
            <a:spLocks noGrp="1"/>
          </p:cNvSpPr>
          <p:nvPr>
            <p:ph idx="1"/>
          </p:nvPr>
        </p:nvSpPr>
        <p:spPr/>
        <p:txBody>
          <a:bodyPr anchor="t">
            <a:normAutofit/>
          </a:bodyPr>
          <a:lstStyle/>
          <a:p>
            <a:pPr marL="0" indent="0">
              <a:buNone/>
            </a:pPr>
            <a:endParaRPr lang="en-US" sz="2400" dirty="0"/>
          </a:p>
          <a:p>
            <a:endParaRPr lang="en-US" sz="2200" dirty="0"/>
          </a:p>
        </p:txBody>
      </p:sp>
      <p:sp>
        <p:nvSpPr>
          <p:cNvPr id="4" name="TextBox 3">
            <a:extLst>
              <a:ext uri="{FF2B5EF4-FFF2-40B4-BE49-F238E27FC236}">
                <a16:creationId xmlns:a16="http://schemas.microsoft.com/office/drawing/2014/main" id="{E02C54D4-60CF-DE28-7940-8A8035B4361E}"/>
              </a:ext>
            </a:extLst>
          </p:cNvPr>
          <p:cNvSpPr txBox="1"/>
          <p:nvPr/>
        </p:nvSpPr>
        <p:spPr>
          <a:xfrm>
            <a:off x="121025" y="6475739"/>
            <a:ext cx="12523694" cy="338554"/>
          </a:xfrm>
          <a:prstGeom prst="rect">
            <a:avLst/>
          </a:prstGeom>
          <a:noFill/>
        </p:spPr>
        <p:txBody>
          <a:bodyPr wrap="square" rtlCol="0">
            <a:spAutoFit/>
          </a:bodyPr>
          <a:lstStyle/>
          <a:p>
            <a:r>
              <a:rPr lang="en-US" sz="1600" dirty="0" err="1"/>
              <a:t>Muhlbacher</a:t>
            </a:r>
            <a:r>
              <a:rPr lang="en-US" sz="1600" dirty="0"/>
              <a:t> et al.. (2018), </a:t>
            </a:r>
            <a:r>
              <a:rPr lang="en-US" sz="1600" dirty="0" err="1"/>
              <a:t>TreePOD</a:t>
            </a:r>
            <a:r>
              <a:rPr lang="en-US" sz="1600" dirty="0"/>
              <a:t>: Sensitivity-Aware Selection of Pareto-Optimal Decision Trees. </a:t>
            </a:r>
            <a:r>
              <a:rPr lang="en-US" sz="1600" dirty="0">
                <a:hlinkClick r:id="rId3"/>
              </a:rPr>
              <a:t>https://doi.org/10.1109/TVCG.2017.2745158</a:t>
            </a:r>
            <a:r>
              <a:rPr lang="en-US" sz="1600" dirty="0"/>
              <a:t> </a:t>
            </a:r>
          </a:p>
        </p:txBody>
      </p:sp>
      <p:sp>
        <p:nvSpPr>
          <p:cNvPr id="5" name="Content Placeholder 2">
            <a:extLst>
              <a:ext uri="{FF2B5EF4-FFF2-40B4-BE49-F238E27FC236}">
                <a16:creationId xmlns:a16="http://schemas.microsoft.com/office/drawing/2014/main" id="{9AD966C9-FCA1-A68F-572D-008071CC6C81}"/>
              </a:ext>
            </a:extLst>
          </p:cNvPr>
          <p:cNvSpPr txBox="1">
            <a:spLocks/>
          </p:cNvSpPr>
          <p:nvPr/>
        </p:nvSpPr>
        <p:spPr>
          <a:xfrm>
            <a:off x="733592" y="1951897"/>
            <a:ext cx="11029615" cy="3830703"/>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dirty="0"/>
              <a:t>Ex. </a:t>
            </a:r>
            <a:r>
              <a:rPr lang="en-US" sz="2200" dirty="0" err="1"/>
              <a:t>TreePOD</a:t>
            </a:r>
            <a:endParaRPr lang="en-US" sz="2200" dirty="0"/>
          </a:p>
        </p:txBody>
      </p:sp>
      <p:pic>
        <p:nvPicPr>
          <p:cNvPr id="9" name="Picture 8" descr="A screenshot of a computer&#10;&#10;AI-generated content may be incorrect.">
            <a:extLst>
              <a:ext uri="{FF2B5EF4-FFF2-40B4-BE49-F238E27FC236}">
                <a16:creationId xmlns:a16="http://schemas.microsoft.com/office/drawing/2014/main" id="{C21DAAD5-716D-C869-1430-EE7BEAC237A4}"/>
              </a:ext>
            </a:extLst>
          </p:cNvPr>
          <p:cNvPicPr>
            <a:picLocks noChangeAspect="1"/>
          </p:cNvPicPr>
          <p:nvPr/>
        </p:nvPicPr>
        <p:blipFill>
          <a:blip r:embed="rId4"/>
          <a:stretch>
            <a:fillRect/>
          </a:stretch>
        </p:blipFill>
        <p:spPr>
          <a:xfrm>
            <a:off x="494932" y="2416437"/>
            <a:ext cx="11307105" cy="3830703"/>
          </a:xfrm>
          <a:prstGeom prst="rect">
            <a:avLst/>
          </a:prstGeom>
        </p:spPr>
      </p:pic>
    </p:spTree>
    <p:extLst>
      <p:ext uri="{BB962C8B-B14F-4D97-AF65-F5344CB8AC3E}">
        <p14:creationId xmlns:p14="http://schemas.microsoft.com/office/powerpoint/2010/main" val="3648418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6087-A4CB-99CB-84BD-7060009D1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FD65A-8ADC-C7D9-A45D-B4FD867EC435}"/>
              </a:ext>
            </a:extLst>
          </p:cNvPr>
          <p:cNvSpPr>
            <a:spLocks noGrp="1"/>
          </p:cNvSpPr>
          <p:nvPr>
            <p:ph type="title"/>
          </p:nvPr>
        </p:nvSpPr>
        <p:spPr/>
        <p:txBody>
          <a:bodyPr/>
          <a:lstStyle/>
          <a:p>
            <a:r>
              <a:rPr lang="en-US" dirty="0"/>
              <a:t>EMA: definition</a:t>
            </a:r>
          </a:p>
        </p:txBody>
      </p:sp>
      <p:sp>
        <p:nvSpPr>
          <p:cNvPr id="3" name="Content Placeholder 2">
            <a:extLst>
              <a:ext uri="{FF2B5EF4-FFF2-40B4-BE49-F238E27FC236}">
                <a16:creationId xmlns:a16="http://schemas.microsoft.com/office/drawing/2014/main" id="{5DF2248B-E3A7-2821-0E27-DBE6510A4B08}"/>
              </a:ext>
            </a:extLst>
          </p:cNvPr>
          <p:cNvSpPr>
            <a:spLocks noGrp="1"/>
          </p:cNvSpPr>
          <p:nvPr>
            <p:ph idx="1"/>
          </p:nvPr>
        </p:nvSpPr>
        <p:spPr/>
        <p:txBody>
          <a:bodyPr anchor="t">
            <a:normAutofit/>
          </a:bodyPr>
          <a:lstStyle/>
          <a:p>
            <a:r>
              <a:rPr lang="en-US" sz="2200" dirty="0"/>
              <a:t>In the modern era of big data, machine learning, and AI, visual analytics systems have begun to take on a new role: to help the user in refining machine learning models</a:t>
            </a:r>
          </a:p>
          <a:p>
            <a:r>
              <a:rPr lang="en-US" sz="2200" dirty="0">
                <a:effectLst>
                  <a:glow rad="228600">
                    <a:schemeClr val="accent5">
                      <a:satMod val="175000"/>
                      <a:alpha val="40000"/>
                    </a:schemeClr>
                  </a:glow>
                </a:effectLst>
              </a:rPr>
              <a:t>Exploratory Model Analysis (EMA)</a:t>
            </a:r>
            <a:r>
              <a:rPr lang="en-US" sz="2200" dirty="0"/>
              <a:t> is the process of exploring the set of potential models that can be trained on a given set of data</a:t>
            </a:r>
          </a:p>
          <a:p>
            <a:r>
              <a:rPr lang="en-US" sz="2200" dirty="0"/>
              <a:t>The goal of EMA is twofold: </a:t>
            </a:r>
          </a:p>
          <a:p>
            <a:pPr lvl="1"/>
            <a:r>
              <a:rPr lang="en-US" sz="2200" dirty="0"/>
              <a:t>Discover variables in the dataset on which reliable predictions can be made</a:t>
            </a:r>
          </a:p>
          <a:p>
            <a:pPr lvl="1"/>
            <a:r>
              <a:rPr lang="en-US" sz="2200" dirty="0"/>
              <a:t>Find the most suitable and robust types of models to predict these variables</a:t>
            </a:r>
          </a:p>
        </p:txBody>
      </p:sp>
      <p:sp>
        <p:nvSpPr>
          <p:cNvPr id="4" name="TextBox 3">
            <a:extLst>
              <a:ext uri="{FF2B5EF4-FFF2-40B4-BE49-F238E27FC236}">
                <a16:creationId xmlns:a16="http://schemas.microsoft.com/office/drawing/2014/main" id="{A5FF5EF4-B899-75A5-7CCF-FB2B5C6FB7CC}"/>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Tree>
    <p:extLst>
      <p:ext uri="{BB962C8B-B14F-4D97-AF65-F5344CB8AC3E}">
        <p14:creationId xmlns:p14="http://schemas.microsoft.com/office/powerpoint/2010/main" val="157861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28F20-0A63-ED21-540E-0B7F6FD3B3C2}"/>
              </a:ext>
            </a:extLst>
          </p:cNvPr>
          <p:cNvSpPr>
            <a:spLocks noGrp="1"/>
          </p:cNvSpPr>
          <p:nvPr>
            <p:ph type="title"/>
          </p:nvPr>
        </p:nvSpPr>
        <p:spPr/>
        <p:txBody>
          <a:bodyPr/>
          <a:lstStyle/>
          <a:p>
            <a:r>
              <a:rPr lang="en-US" dirty="0"/>
              <a:t>ema vs. </a:t>
            </a:r>
            <a:r>
              <a:rPr lang="en-US" dirty="0" err="1"/>
              <a:t>eda</a:t>
            </a:r>
            <a:endParaRPr lang="en-US" dirty="0"/>
          </a:p>
        </p:txBody>
      </p:sp>
      <p:sp>
        <p:nvSpPr>
          <p:cNvPr id="3" name="Content Placeholder 2">
            <a:extLst>
              <a:ext uri="{FF2B5EF4-FFF2-40B4-BE49-F238E27FC236}">
                <a16:creationId xmlns:a16="http://schemas.microsoft.com/office/drawing/2014/main" id="{B562AF89-BB46-BED3-6BE7-247D084C42ED}"/>
              </a:ext>
            </a:extLst>
          </p:cNvPr>
          <p:cNvSpPr>
            <a:spLocks noGrp="1"/>
          </p:cNvSpPr>
          <p:nvPr>
            <p:ph sz="half" idx="1"/>
          </p:nvPr>
        </p:nvSpPr>
        <p:spPr/>
        <p:txBody>
          <a:bodyPr>
            <a:noAutofit/>
          </a:bodyPr>
          <a:lstStyle/>
          <a:p>
            <a:r>
              <a:rPr lang="en-US" sz="2000" dirty="0"/>
              <a:t>Broker performing </a:t>
            </a:r>
            <a:r>
              <a:rPr lang="en-US" sz="2000" dirty="0">
                <a:effectLst>
                  <a:glow rad="228600">
                    <a:schemeClr val="accent5">
                      <a:satMod val="175000"/>
                      <a:alpha val="40000"/>
                    </a:schemeClr>
                  </a:glow>
                </a:effectLst>
              </a:rPr>
              <a:t>EDA</a:t>
            </a:r>
          </a:p>
          <a:p>
            <a:r>
              <a:rPr lang="en-US" sz="2000" dirty="0"/>
              <a:t>Goal: </a:t>
            </a:r>
          </a:p>
          <a:p>
            <a:pPr lvl="1"/>
            <a:r>
              <a:rPr lang="en-US" sz="2000" dirty="0"/>
              <a:t>Understand current patterns in financial data; i.e. current market landscape</a:t>
            </a:r>
          </a:p>
          <a:p>
            <a:r>
              <a:rPr lang="en-US" sz="2000" dirty="0"/>
              <a:t>Outcomes:</a:t>
            </a:r>
          </a:p>
          <a:p>
            <a:pPr lvl="1"/>
            <a:r>
              <a:rPr lang="en-US" sz="2000" dirty="0"/>
              <a:t>Decision</a:t>
            </a:r>
          </a:p>
          <a:p>
            <a:pPr lvl="1"/>
            <a:r>
              <a:rPr lang="en-US" sz="2000" dirty="0"/>
              <a:t>Data item (ex. an anomaly)</a:t>
            </a:r>
          </a:p>
          <a:p>
            <a:pPr lvl="1"/>
            <a:r>
              <a:rPr lang="en-US" sz="2000" dirty="0"/>
              <a:t>Interesting pattern in the data</a:t>
            </a:r>
          </a:p>
          <a:p>
            <a:r>
              <a:rPr lang="en-US" sz="2000" dirty="0">
                <a:effectLst>
                  <a:glow rad="228600">
                    <a:schemeClr val="accent5">
                      <a:satMod val="175000"/>
                      <a:alpha val="40000"/>
                    </a:schemeClr>
                  </a:glow>
                </a:effectLst>
              </a:rPr>
              <a:t>Data is the focus </a:t>
            </a:r>
          </a:p>
        </p:txBody>
      </p:sp>
      <p:sp>
        <p:nvSpPr>
          <p:cNvPr id="4" name="Content Placeholder 3">
            <a:extLst>
              <a:ext uri="{FF2B5EF4-FFF2-40B4-BE49-F238E27FC236}">
                <a16:creationId xmlns:a16="http://schemas.microsoft.com/office/drawing/2014/main" id="{3A231F33-DF93-793F-7ABA-9B4078ABDC44}"/>
              </a:ext>
            </a:extLst>
          </p:cNvPr>
          <p:cNvSpPr>
            <a:spLocks noGrp="1"/>
          </p:cNvSpPr>
          <p:nvPr>
            <p:ph sz="half" idx="2"/>
          </p:nvPr>
        </p:nvSpPr>
        <p:spPr/>
        <p:txBody>
          <a:bodyPr>
            <a:noAutofit/>
          </a:bodyPr>
          <a:lstStyle/>
          <a:p>
            <a:r>
              <a:rPr lang="en-US" sz="2000" dirty="0"/>
              <a:t>Quantitative analyst performing </a:t>
            </a:r>
            <a:r>
              <a:rPr lang="en-US" sz="2000" dirty="0">
                <a:effectLst>
                  <a:glow rad="228600">
                    <a:schemeClr val="accent5">
                      <a:satMod val="175000"/>
                      <a:alpha val="40000"/>
                    </a:schemeClr>
                  </a:glow>
                </a:effectLst>
              </a:rPr>
              <a:t>EMA</a:t>
            </a:r>
          </a:p>
          <a:p>
            <a:r>
              <a:rPr lang="en-US" sz="2000" dirty="0"/>
              <a:t>Goal: </a:t>
            </a:r>
          </a:p>
          <a:p>
            <a:pPr lvl="1"/>
            <a:r>
              <a:rPr lang="en-US" sz="2000" dirty="0"/>
              <a:t>Understand what types of predictions are possible given the collected financial data </a:t>
            </a:r>
          </a:p>
          <a:p>
            <a:r>
              <a:rPr lang="en-US" sz="2000" dirty="0"/>
              <a:t>Outcomes:</a:t>
            </a:r>
          </a:p>
          <a:p>
            <a:pPr lvl="1"/>
            <a:r>
              <a:rPr lang="en-US" sz="2000" dirty="0"/>
              <a:t>Model (or set of models)</a:t>
            </a:r>
          </a:p>
          <a:p>
            <a:pPr lvl="1"/>
            <a:r>
              <a:rPr lang="en-US" sz="2000" dirty="0"/>
              <a:t>Hyperparameters</a:t>
            </a:r>
          </a:p>
          <a:p>
            <a:pPr lvl="1"/>
            <a:r>
              <a:rPr lang="en-US" sz="2000" dirty="0"/>
              <a:t>Properties of predictions on hold out data  </a:t>
            </a:r>
          </a:p>
          <a:p>
            <a:r>
              <a:rPr lang="en-US" sz="2000" dirty="0">
                <a:effectLst>
                  <a:glow rad="228600">
                    <a:schemeClr val="accent5">
                      <a:satMod val="175000"/>
                      <a:alpha val="40000"/>
                    </a:schemeClr>
                  </a:glow>
                </a:effectLst>
              </a:rPr>
              <a:t>Model is the focus</a:t>
            </a:r>
          </a:p>
        </p:txBody>
      </p:sp>
      <p:sp>
        <p:nvSpPr>
          <p:cNvPr id="5" name="TextBox 4">
            <a:extLst>
              <a:ext uri="{FF2B5EF4-FFF2-40B4-BE49-F238E27FC236}">
                <a16:creationId xmlns:a16="http://schemas.microsoft.com/office/drawing/2014/main" id="{3791F704-DC22-7E68-F204-79B66B9798B8}"/>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spTree>
    <p:extLst>
      <p:ext uri="{BB962C8B-B14F-4D97-AF65-F5344CB8AC3E}">
        <p14:creationId xmlns:p14="http://schemas.microsoft.com/office/powerpoint/2010/main" val="163185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2238-1121-1F5D-3678-864106D17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64954-0298-F02F-509D-8284EC8B2544}"/>
              </a:ext>
            </a:extLst>
          </p:cNvPr>
          <p:cNvSpPr>
            <a:spLocks noGrp="1"/>
          </p:cNvSpPr>
          <p:nvPr>
            <p:ph type="title"/>
          </p:nvPr>
        </p:nvSpPr>
        <p:spPr/>
        <p:txBody>
          <a:bodyPr/>
          <a:lstStyle/>
          <a:p>
            <a:r>
              <a:rPr lang="en-US" dirty="0"/>
              <a:t>ema workflow</a:t>
            </a:r>
          </a:p>
        </p:txBody>
      </p:sp>
      <p:sp>
        <p:nvSpPr>
          <p:cNvPr id="4" name="TextBox 3">
            <a:extLst>
              <a:ext uri="{FF2B5EF4-FFF2-40B4-BE49-F238E27FC236}">
                <a16:creationId xmlns:a16="http://schemas.microsoft.com/office/drawing/2014/main" id="{663C133F-EF3A-98F3-AE09-FFDF9DAC5CDB}"/>
              </a:ext>
            </a:extLst>
          </p:cNvPr>
          <p:cNvSpPr txBox="1"/>
          <p:nvPr/>
        </p:nvSpPr>
        <p:spPr>
          <a:xfrm>
            <a:off x="6426199" y="6155844"/>
            <a:ext cx="5613401" cy="584775"/>
          </a:xfrm>
          <a:prstGeom prst="rect">
            <a:avLst/>
          </a:prstGeom>
          <a:noFill/>
        </p:spPr>
        <p:txBody>
          <a:bodyPr wrap="square" rtlCol="0">
            <a:spAutoFit/>
          </a:bodyPr>
          <a:lstStyle/>
          <a:p>
            <a:r>
              <a:rPr lang="en-US" sz="1600" dirty="0"/>
              <a:t>Cashman et al.. (2019), A User-based Visual Analytics Workflow for Exploratory Model Analysis. </a:t>
            </a:r>
            <a:r>
              <a:rPr lang="en-US" sz="1600" dirty="0">
                <a:hlinkClick r:id="rId3"/>
              </a:rPr>
              <a:t>https://doi.org/10.1111/cgf.13681</a:t>
            </a:r>
            <a:endParaRPr lang="en-US" sz="1600" dirty="0"/>
          </a:p>
        </p:txBody>
      </p:sp>
      <p:pic>
        <p:nvPicPr>
          <p:cNvPr id="7" name="Main graphic">
            <a:extLst>
              <a:ext uri="{FF2B5EF4-FFF2-40B4-BE49-F238E27FC236}">
                <a16:creationId xmlns:a16="http://schemas.microsoft.com/office/drawing/2014/main" id="{B9D16424-F43C-2229-EB22-B4747EBC5CDB}"/>
              </a:ext>
            </a:extLst>
          </p:cNvPr>
          <p:cNvPicPr/>
          <p:nvPr/>
        </p:nvPicPr>
        <p:blipFill>
          <a:blip r:embed="rId4"/>
          <a:stretch/>
        </p:blipFill>
        <p:spPr>
          <a:xfrm>
            <a:off x="1714480" y="1861138"/>
            <a:ext cx="8763040" cy="4149524"/>
          </a:xfrm>
          <a:prstGeom prst="rect">
            <a:avLst/>
          </a:prstGeom>
          <a:ln>
            <a:noFill/>
          </a:ln>
        </p:spPr>
      </p:pic>
    </p:spTree>
    <p:extLst>
      <p:ext uri="{BB962C8B-B14F-4D97-AF65-F5344CB8AC3E}">
        <p14:creationId xmlns:p14="http://schemas.microsoft.com/office/powerpoint/2010/main" val="254506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E384-0F43-FDAD-79E6-4B1796AE5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AD62C-D4AC-336A-BF1F-A83A2FD2A111}"/>
              </a:ext>
            </a:extLst>
          </p:cNvPr>
          <p:cNvSpPr>
            <a:spLocks noGrp="1"/>
          </p:cNvSpPr>
          <p:nvPr>
            <p:ph type="title"/>
          </p:nvPr>
        </p:nvSpPr>
        <p:spPr/>
        <p:txBody>
          <a:bodyPr/>
          <a:lstStyle/>
          <a:p>
            <a:r>
              <a:rPr lang="en-US" dirty="0"/>
              <a:t>ema: Ex.</a:t>
            </a:r>
          </a:p>
        </p:txBody>
      </p:sp>
      <p:sp>
        <p:nvSpPr>
          <p:cNvPr id="4" name="TextBox 3">
            <a:extLst>
              <a:ext uri="{FF2B5EF4-FFF2-40B4-BE49-F238E27FC236}">
                <a16:creationId xmlns:a16="http://schemas.microsoft.com/office/drawing/2014/main" id="{5951AA3B-6B58-7F47-132D-1448B318FA46}"/>
              </a:ext>
            </a:extLst>
          </p:cNvPr>
          <p:cNvSpPr txBox="1"/>
          <p:nvPr/>
        </p:nvSpPr>
        <p:spPr>
          <a:xfrm>
            <a:off x="1116184" y="6550223"/>
            <a:ext cx="13061655" cy="307777"/>
          </a:xfrm>
          <a:prstGeom prst="rect">
            <a:avLst/>
          </a:prstGeom>
          <a:noFill/>
        </p:spPr>
        <p:txBody>
          <a:bodyPr wrap="square" rtlCol="0">
            <a:spAutoFit/>
          </a:bodyPr>
          <a:lstStyle/>
          <a:p>
            <a:r>
              <a:rPr lang="en-US" sz="1400" dirty="0"/>
              <a:t>He et al.. (2024), VMS: Interactive Visualization to Support the Sensemaking and Selection of Predictive Models. </a:t>
            </a:r>
            <a:r>
              <a:rPr lang="en-US" sz="1400" dirty="0">
                <a:hlinkClick r:id="rId3"/>
              </a:rPr>
              <a:t>https://doi.org/10.1145/3640543.3645151</a:t>
            </a:r>
            <a:r>
              <a:rPr lang="en-US" sz="1400" dirty="0"/>
              <a:t> </a:t>
            </a:r>
          </a:p>
        </p:txBody>
      </p:sp>
      <p:pic>
        <p:nvPicPr>
          <p:cNvPr id="5" name="Picture 4" descr="A close-up of a graph&#10;&#10;AI-generated content may be incorrect.">
            <a:extLst>
              <a:ext uri="{FF2B5EF4-FFF2-40B4-BE49-F238E27FC236}">
                <a16:creationId xmlns:a16="http://schemas.microsoft.com/office/drawing/2014/main" id="{AB30AA37-956A-A2F3-CEC6-92844D27032B}"/>
              </a:ext>
            </a:extLst>
          </p:cNvPr>
          <p:cNvPicPr>
            <a:picLocks noChangeAspect="1"/>
          </p:cNvPicPr>
          <p:nvPr/>
        </p:nvPicPr>
        <p:blipFill>
          <a:blip r:embed="rId4"/>
          <a:stretch>
            <a:fillRect/>
          </a:stretch>
        </p:blipFill>
        <p:spPr>
          <a:xfrm>
            <a:off x="2059120" y="702156"/>
            <a:ext cx="10032833" cy="5541694"/>
          </a:xfrm>
          <a:prstGeom prst="rect">
            <a:avLst/>
          </a:prstGeom>
        </p:spPr>
      </p:pic>
      <p:sp>
        <p:nvSpPr>
          <p:cNvPr id="6" name="Rounded Rectangle 5">
            <a:extLst>
              <a:ext uri="{FF2B5EF4-FFF2-40B4-BE49-F238E27FC236}">
                <a16:creationId xmlns:a16="http://schemas.microsoft.com/office/drawing/2014/main" id="{C5D460A9-3700-D8F2-E72D-B37E01C3AE73}"/>
              </a:ext>
            </a:extLst>
          </p:cNvPr>
          <p:cNvSpPr/>
          <p:nvPr/>
        </p:nvSpPr>
        <p:spPr>
          <a:xfrm>
            <a:off x="581192" y="3285300"/>
            <a:ext cx="1196788" cy="375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VMS</a:t>
            </a:r>
          </a:p>
        </p:txBody>
      </p:sp>
    </p:spTree>
    <p:extLst>
      <p:ext uri="{BB962C8B-B14F-4D97-AF65-F5344CB8AC3E}">
        <p14:creationId xmlns:p14="http://schemas.microsoft.com/office/powerpoint/2010/main" val="329739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A4198-CB38-52E3-F688-96913F3AD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8B300-7419-BC72-C54B-4362B011EB28}"/>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F31FE134-61B1-6724-D8CE-32719F40C3F1}"/>
              </a:ext>
            </a:extLst>
          </p:cNvPr>
          <p:cNvSpPr>
            <a:spLocks noGrp="1"/>
          </p:cNvSpPr>
          <p:nvPr>
            <p:ph idx="1"/>
          </p:nvPr>
        </p:nvSpPr>
        <p:spPr>
          <a:xfrm>
            <a:off x="581192" y="2180496"/>
            <a:ext cx="11029615" cy="3678303"/>
          </a:xfrm>
        </p:spPr>
        <p:txBody>
          <a:bodyPr anchor="t">
            <a:normAutofit/>
          </a:bodyPr>
          <a:lstStyle/>
          <a:p>
            <a:r>
              <a:rPr lang="en-US" sz="2200" dirty="0"/>
              <a:t>Choose a system from this visual survey of VA+ML systems: </a:t>
            </a:r>
            <a:r>
              <a:rPr lang="en-US" sz="2200" dirty="0">
                <a:hlinkClick r:id="rId3"/>
              </a:rPr>
              <a:t>https://trustmlvis.lnu.se</a:t>
            </a:r>
            <a:r>
              <a:rPr lang="en-US" sz="2200">
                <a:hlinkClick r:id="rId3"/>
              </a:rPr>
              <a:t>/</a:t>
            </a:r>
            <a:r>
              <a:rPr lang="en-US" sz="2200"/>
              <a:t> </a:t>
            </a:r>
            <a:endParaRPr lang="en-US" sz="2200" dirty="0"/>
          </a:p>
          <a:p>
            <a:r>
              <a:rPr lang="en-US" sz="2200" dirty="0"/>
              <a:t>Dig more deeply into what the system visualizes</a:t>
            </a:r>
          </a:p>
          <a:p>
            <a:pPr lvl="1"/>
            <a:r>
              <a:rPr lang="en-US" sz="2000" dirty="0"/>
              <a:t>What model technique(s) is it build for?</a:t>
            </a:r>
          </a:p>
          <a:p>
            <a:pPr lvl="1"/>
            <a:r>
              <a:rPr lang="en-US" sz="2000" dirty="0"/>
              <a:t>What does it visualize and how?</a:t>
            </a:r>
          </a:p>
        </p:txBody>
      </p:sp>
    </p:spTree>
    <p:extLst>
      <p:ext uri="{BB962C8B-B14F-4D97-AF65-F5344CB8AC3E}">
        <p14:creationId xmlns:p14="http://schemas.microsoft.com/office/powerpoint/2010/main" val="237779442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2591</TotalTime>
  <Words>2589</Words>
  <Application>Microsoft Macintosh PowerPoint</Application>
  <PresentationFormat>Widescreen</PresentationFormat>
  <Paragraphs>265</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Cambria Math</vt:lpstr>
      <vt:lpstr>Gill Sans MT</vt:lpstr>
      <vt:lpstr>Wingdings 2</vt:lpstr>
      <vt:lpstr>Dividend</vt:lpstr>
      <vt:lpstr>Visual Analytics: systems for modeling</vt:lpstr>
      <vt:lpstr>Today’s plan</vt:lpstr>
      <vt:lpstr>modeling overview: warm up</vt:lpstr>
      <vt:lpstr>modeling overview</vt:lpstr>
      <vt:lpstr>modeling overview</vt:lpstr>
      <vt:lpstr>modeling overview</vt:lpstr>
      <vt:lpstr>modeling overview</vt:lpstr>
      <vt:lpstr>modeling overview</vt:lpstr>
      <vt:lpstr>modeling overview</vt:lpstr>
      <vt:lpstr>modeling overview</vt:lpstr>
      <vt:lpstr>modeling overview</vt:lpstr>
      <vt:lpstr>Systems for model explanation</vt:lpstr>
      <vt:lpstr>Systems for model explanation</vt:lpstr>
      <vt:lpstr>Systems for model debugging</vt:lpstr>
      <vt:lpstr>Systems for model debugging</vt:lpstr>
      <vt:lpstr>Systems for model construction and steering</vt:lpstr>
      <vt:lpstr>Systems for model construction and steering</vt:lpstr>
      <vt:lpstr>Systems for model comparison</vt:lpstr>
      <vt:lpstr>Systems for model comparison</vt:lpstr>
      <vt:lpstr>EMA: definition</vt:lpstr>
      <vt:lpstr>ema vs. eda</vt:lpstr>
      <vt:lpstr>ema workflow</vt:lpstr>
      <vt:lpstr>ema: Ex.</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78</cp:revision>
  <dcterms:created xsi:type="dcterms:W3CDTF">2025-11-19T17:12:35Z</dcterms:created>
  <dcterms:modified xsi:type="dcterms:W3CDTF">2026-02-26T16:01:40Z</dcterms:modified>
</cp:coreProperties>
</file>