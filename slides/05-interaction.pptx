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29"/>
  </p:notesMasterIdLst>
  <p:sldIdLst>
    <p:sldId id="256" r:id="rId2"/>
    <p:sldId id="257" r:id="rId3"/>
    <p:sldId id="269" r:id="rId4"/>
    <p:sldId id="270" r:id="rId5"/>
    <p:sldId id="271" r:id="rId6"/>
    <p:sldId id="272" r:id="rId7"/>
    <p:sldId id="273" r:id="rId8"/>
    <p:sldId id="275" r:id="rId9"/>
    <p:sldId id="274" r:id="rId10"/>
    <p:sldId id="276" r:id="rId11"/>
    <p:sldId id="277" r:id="rId12"/>
    <p:sldId id="278" r:id="rId13"/>
    <p:sldId id="279" r:id="rId14"/>
    <p:sldId id="280" r:id="rId15"/>
    <p:sldId id="281" r:id="rId16"/>
    <p:sldId id="282" r:id="rId17"/>
    <p:sldId id="283" r:id="rId18"/>
    <p:sldId id="284" r:id="rId19"/>
    <p:sldId id="285" r:id="rId20"/>
    <p:sldId id="286" r:id="rId21"/>
    <p:sldId id="292" r:id="rId22"/>
    <p:sldId id="288" r:id="rId23"/>
    <p:sldId id="293" r:id="rId24"/>
    <p:sldId id="289" r:id="rId25"/>
    <p:sldId id="290" r:id="rId26"/>
    <p:sldId id="291" r:id="rId27"/>
    <p:sldId id="29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99"/>
    <p:restoredTop sz="87177"/>
  </p:normalViewPr>
  <p:slideViewPr>
    <p:cSldViewPr snapToGrid="0">
      <p:cViewPr varScale="1">
        <p:scale>
          <a:sx n="88" d="100"/>
          <a:sy n="88" d="100"/>
        </p:scale>
        <p:origin x="208" y="1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D22518-F7FE-2E40-9C60-793856882CE6}" type="datetimeFigureOut">
              <a:rPr lang="en-US" smtClean="0"/>
              <a:t>2/12/26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2CD335-F0CB-D347-B8A5-7AB70F34C34F}" type="slidenum">
              <a:rPr lang="en-US" smtClean="0"/>
              <a:t>‹#›</a:t>
            </a:fld>
            <a:endParaRPr lang="en-US"/>
          </a:p>
        </p:txBody>
      </p:sp>
    </p:spTree>
    <p:extLst>
      <p:ext uri="{BB962C8B-B14F-4D97-AF65-F5344CB8AC3E}">
        <p14:creationId xmlns:p14="http://schemas.microsoft.com/office/powerpoint/2010/main" val="84406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generation model for visual analytics: The model consists of computer and human parts. The left hand side illustrates a visual analytics system, whereas the right hand side illustrates the knowledge generation process of the human. The latter is a reasoning process composed of exploration, verification, and knowledge generation loops. Visual analytics pursues a tight integration of human and machine by enabling the user to interact with the system. </a:t>
            </a:r>
          </a:p>
        </p:txBody>
      </p:sp>
      <p:sp>
        <p:nvSpPr>
          <p:cNvPr id="4" name="Slide Number Placeholder 3"/>
          <p:cNvSpPr>
            <a:spLocks noGrp="1"/>
          </p:cNvSpPr>
          <p:nvPr>
            <p:ph type="sldNum" sz="quarter" idx="5"/>
          </p:nvPr>
        </p:nvSpPr>
        <p:spPr/>
        <p:txBody>
          <a:bodyPr/>
          <a:lstStyle/>
          <a:p>
            <a:fld id="{362CD335-F0CB-D347-B8A5-7AB70F34C34F}" type="slidenum">
              <a:rPr lang="en-US" smtClean="0"/>
              <a:t>4</a:t>
            </a:fld>
            <a:endParaRPr lang="en-US"/>
          </a:p>
        </p:txBody>
      </p:sp>
    </p:spTree>
    <p:extLst>
      <p:ext uri="{BB962C8B-B14F-4D97-AF65-F5344CB8AC3E}">
        <p14:creationId xmlns:p14="http://schemas.microsoft.com/office/powerpoint/2010/main" val="2209446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2CD335-F0CB-D347-B8A5-7AB70F34C34F}" type="slidenum">
              <a:rPr lang="en-US" smtClean="0"/>
              <a:t>9</a:t>
            </a:fld>
            <a:endParaRPr lang="en-US"/>
          </a:p>
        </p:txBody>
      </p:sp>
    </p:spTree>
    <p:extLst>
      <p:ext uri="{BB962C8B-B14F-4D97-AF65-F5344CB8AC3E}">
        <p14:creationId xmlns:p14="http://schemas.microsoft.com/office/powerpoint/2010/main" val="2629356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40EA3-53FF-875D-2577-FCA8B0328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8D5E6-1BCD-01A6-4374-C5F04EFE8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510BC-3C24-1E24-708E-910E525565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B90EA0-5718-E198-0D89-0A5A03F34E29}"/>
              </a:ext>
            </a:extLst>
          </p:cNvPr>
          <p:cNvSpPr>
            <a:spLocks noGrp="1"/>
          </p:cNvSpPr>
          <p:nvPr>
            <p:ph type="sldNum" sz="quarter" idx="5"/>
          </p:nvPr>
        </p:nvSpPr>
        <p:spPr/>
        <p:txBody>
          <a:bodyPr/>
          <a:lstStyle/>
          <a:p>
            <a:fld id="{362CD335-F0CB-D347-B8A5-7AB70F34C34F}" type="slidenum">
              <a:rPr lang="en-US" smtClean="0"/>
              <a:t>10</a:t>
            </a:fld>
            <a:endParaRPr lang="en-US"/>
          </a:p>
        </p:txBody>
      </p:sp>
    </p:spTree>
    <p:extLst>
      <p:ext uri="{BB962C8B-B14F-4D97-AF65-F5344CB8AC3E}">
        <p14:creationId xmlns:p14="http://schemas.microsoft.com/office/powerpoint/2010/main" val="3556715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7946-1288-F5B8-08AA-00D699904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BF7B6-0473-5374-509D-96FE3C98C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FCF88-E787-D7AC-7AE9-3D8C411AD7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74A284-2702-FB14-828F-2284B76ABCAA}"/>
              </a:ext>
            </a:extLst>
          </p:cNvPr>
          <p:cNvSpPr>
            <a:spLocks noGrp="1"/>
          </p:cNvSpPr>
          <p:nvPr>
            <p:ph type="sldNum" sz="quarter" idx="5"/>
          </p:nvPr>
        </p:nvSpPr>
        <p:spPr/>
        <p:txBody>
          <a:bodyPr/>
          <a:lstStyle/>
          <a:p>
            <a:fld id="{362CD335-F0CB-D347-B8A5-7AB70F34C34F}" type="slidenum">
              <a:rPr lang="en-US" smtClean="0"/>
              <a:t>11</a:t>
            </a:fld>
            <a:endParaRPr lang="en-US"/>
          </a:p>
        </p:txBody>
      </p:sp>
    </p:spTree>
    <p:extLst>
      <p:ext uri="{BB962C8B-B14F-4D97-AF65-F5344CB8AC3E}">
        <p14:creationId xmlns:p14="http://schemas.microsoft.com/office/powerpoint/2010/main" val="360084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C35CA-5D8D-9779-3677-33273ECDF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68A55-F5A7-4142-0522-79DC0813CE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66104-1A66-6FD1-0143-639F9511F8E9}"/>
              </a:ext>
            </a:extLst>
          </p:cNvPr>
          <p:cNvSpPr>
            <a:spLocks noGrp="1"/>
          </p:cNvSpPr>
          <p:nvPr>
            <p:ph type="body" idx="1"/>
          </p:nvPr>
        </p:nvSpPr>
        <p:spPr/>
        <p:txBody>
          <a:bodyPr/>
          <a:lstStyle/>
          <a:p>
            <a:r>
              <a:rPr lang="en-US" sz="1200" i="1" kern="1200" dirty="0">
                <a:solidFill>
                  <a:schemeClr val="tx1"/>
                </a:solidFill>
                <a:effectLst/>
                <a:latin typeface="+mn-lt"/>
                <a:ea typeface="+mn-ea"/>
                <a:cs typeface="+mn-cs"/>
              </a:rPr>
              <a:t>INTERPLAY: We frame the definition via a dialogue metaphor as it is the</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common schema we observed in both visualization and HCI.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PERSON: We replace the commonly reported entity of human “user”</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with the term person.</a:t>
            </a:r>
            <a:endParaRPr lang="en-US" sz="1200"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DATA INTERFACE: The data interface</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is a system containing a set of controls that are perceivable by the</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person, and linked to a data entity. The data interface can contain other</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entities (e.g., a computer). The data entity itself is an abstracted intangible</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source that, like other abstracted notions such as “knowledge”,</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cannot physically constitute an actor in a two-way communication.</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Technically, the person interacts with the data interface (not the data</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entity), as the data interface is the one capable of providing a response.</a:t>
            </a:r>
            <a:endParaRPr lang="en-US" sz="1200"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ACTION: We include any action, physical or mental, and regardless of modality,</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that causes the reaction of the data interface.</a:t>
            </a:r>
            <a:endParaRPr lang="en-US" sz="1200"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ACTION-REACTION: Visualization and HCI agree that the interaction</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dialogue requires that the interface responds to a person’s action.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REACTION PERCEIVED AS SUCH: Visualization and HCI agree that</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the interaction dialogue requires that the person perceives the reaction</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of the data interface</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DATA-RELATED INTENT: Visualization and HCI agree that interaction</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involves a teleological determination (i.e. a norm or goal of interaction).</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What differs is that the visualization intent (Sect. 5.1) is tied to a data</a:t>
            </a:r>
            <a:r>
              <a:rPr lang="en-US" sz="1200" i="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source and is formed iteratively within the interaction cycle. </a:t>
            </a:r>
          </a:p>
          <a:p>
            <a:endParaRPr lang="en-US" sz="1200" i="1"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CB5CEBD6-7CF9-1E83-0D78-9A052B576892}"/>
              </a:ext>
            </a:extLst>
          </p:cNvPr>
          <p:cNvSpPr>
            <a:spLocks noGrp="1"/>
          </p:cNvSpPr>
          <p:nvPr>
            <p:ph type="sldNum" sz="quarter" idx="5"/>
          </p:nvPr>
        </p:nvSpPr>
        <p:spPr/>
        <p:txBody>
          <a:bodyPr/>
          <a:lstStyle/>
          <a:p>
            <a:fld id="{362CD335-F0CB-D347-B8A5-7AB70F34C34F}" type="slidenum">
              <a:rPr lang="en-US" smtClean="0"/>
              <a:t>12</a:t>
            </a:fld>
            <a:endParaRPr lang="en-US"/>
          </a:p>
        </p:txBody>
      </p:sp>
    </p:spTree>
    <p:extLst>
      <p:ext uri="{BB962C8B-B14F-4D97-AF65-F5344CB8AC3E}">
        <p14:creationId xmlns:p14="http://schemas.microsoft.com/office/powerpoint/2010/main" val="2105623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979D9-D3A0-07AB-A8EA-B3FD7EA11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D38D8-E6D9-A8E2-3D44-420B9D55B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81374-1480-1402-0D83-55333C539E31}"/>
              </a:ext>
            </a:extLst>
          </p:cNvPr>
          <p:cNvSpPr>
            <a:spLocks noGrp="1"/>
          </p:cNvSpPr>
          <p:nvPr>
            <p:ph type="body" idx="1"/>
          </p:nvPr>
        </p:nvSpPr>
        <p:spPr/>
        <p:txBody>
          <a:bodyPr/>
          <a:lstStyle/>
          <a:p>
            <a:r>
              <a:rPr lang="en-US" sz="1200" i="1" kern="1200">
                <a:solidFill>
                  <a:schemeClr val="tx1"/>
                </a:solidFill>
                <a:effectLst/>
                <a:latin typeface="+mn-lt"/>
                <a:ea typeface="+mn-ea"/>
                <a:cs typeface="+mn-cs"/>
              </a:rPr>
              <a:t>No</a:t>
            </a:r>
            <a:r>
              <a:rPr lang="en-US" sz="1200" i="1" kern="1200" dirty="0">
                <a:solidFill>
                  <a:schemeClr val="tx1"/>
                </a:solidFill>
                <a:effectLst/>
                <a:latin typeface="+mn-lt"/>
                <a:ea typeface="+mn-ea"/>
                <a:cs typeface="+mn-cs"/>
              </a:rPr>
              <a:t>. While there were several actions from the person, the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visualization did not return any reaction as a response to those actions.</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8E51272F-E86C-D2AC-31C8-A70AE17CE5BA}"/>
              </a:ext>
            </a:extLst>
          </p:cNvPr>
          <p:cNvSpPr>
            <a:spLocks noGrp="1"/>
          </p:cNvSpPr>
          <p:nvPr>
            <p:ph type="sldNum" sz="quarter" idx="5"/>
          </p:nvPr>
        </p:nvSpPr>
        <p:spPr/>
        <p:txBody>
          <a:bodyPr/>
          <a:lstStyle/>
          <a:p>
            <a:fld id="{362CD335-F0CB-D347-B8A5-7AB70F34C34F}" type="slidenum">
              <a:rPr lang="en-US" smtClean="0"/>
              <a:t>13</a:t>
            </a:fld>
            <a:endParaRPr lang="en-US"/>
          </a:p>
        </p:txBody>
      </p:sp>
    </p:spTree>
    <p:extLst>
      <p:ext uri="{BB962C8B-B14F-4D97-AF65-F5344CB8AC3E}">
        <p14:creationId xmlns:p14="http://schemas.microsoft.com/office/powerpoint/2010/main" val="260005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A1BE6-22CA-5926-D9E6-3EF7200FB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111EB-6079-9901-7AF9-79A19E2CC1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BD53C-6022-C00F-19DB-0527D6E1FDF2}"/>
              </a:ext>
            </a:extLst>
          </p:cNvPr>
          <p:cNvSpPr>
            <a:spLocks noGrp="1"/>
          </p:cNvSpPr>
          <p:nvPr>
            <p:ph type="body" idx="1"/>
          </p:nvPr>
        </p:nvSpPr>
        <p:spPr/>
        <p:txBody>
          <a:bodyPr/>
          <a:lstStyle/>
          <a:p>
            <a:r>
              <a:rPr lang="en-US" sz="1200" i="1" kern="1200" dirty="0">
                <a:solidFill>
                  <a:schemeClr val="tx1"/>
                </a:solidFill>
                <a:effectLst/>
                <a:latin typeface="+mn-lt"/>
                <a:ea typeface="+mn-ea"/>
                <a:cs typeface="+mn-cs"/>
              </a:rPr>
              <a:t>No. While there was an action-reaction, the reaction of the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system was not perceived by the person.</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8E01914A-9AF2-66B6-E222-6869A66DD789}"/>
              </a:ext>
            </a:extLst>
          </p:cNvPr>
          <p:cNvSpPr>
            <a:spLocks noGrp="1"/>
          </p:cNvSpPr>
          <p:nvPr>
            <p:ph type="sldNum" sz="quarter" idx="5"/>
          </p:nvPr>
        </p:nvSpPr>
        <p:spPr/>
        <p:txBody>
          <a:bodyPr/>
          <a:lstStyle/>
          <a:p>
            <a:fld id="{362CD335-F0CB-D347-B8A5-7AB70F34C34F}" type="slidenum">
              <a:rPr lang="en-US" smtClean="0"/>
              <a:t>14</a:t>
            </a:fld>
            <a:endParaRPr lang="en-US"/>
          </a:p>
        </p:txBody>
      </p:sp>
    </p:spTree>
    <p:extLst>
      <p:ext uri="{BB962C8B-B14F-4D97-AF65-F5344CB8AC3E}">
        <p14:creationId xmlns:p14="http://schemas.microsoft.com/office/powerpoint/2010/main" val="921113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342F-7398-6429-9D16-458CF4996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A784F-FE3A-BFE2-8EE2-CBDBFEB5F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CE2EF6-2585-8041-6A70-B8833505D176}"/>
              </a:ext>
            </a:extLst>
          </p:cNvPr>
          <p:cNvSpPr>
            <a:spLocks noGrp="1"/>
          </p:cNvSpPr>
          <p:nvPr>
            <p:ph type="body" idx="1"/>
          </p:nvPr>
        </p:nvSpPr>
        <p:spPr/>
        <p:txBody>
          <a:bodyPr/>
          <a:lstStyle/>
          <a:p>
            <a:r>
              <a:rPr lang="en-US" sz="1200" i="1" kern="1200" dirty="0">
                <a:solidFill>
                  <a:schemeClr val="tx1"/>
                </a:solidFill>
                <a:effectLst/>
                <a:latin typeface="+mn-lt"/>
                <a:ea typeface="+mn-ea"/>
                <a:cs typeface="+mn-cs"/>
              </a:rPr>
              <a:t>Yes. Because the reaction of the visualization (although not</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understood) was perceived by the person.</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6AA9292-128C-2220-BA4A-773705E93F01}"/>
              </a:ext>
            </a:extLst>
          </p:cNvPr>
          <p:cNvSpPr>
            <a:spLocks noGrp="1"/>
          </p:cNvSpPr>
          <p:nvPr>
            <p:ph type="sldNum" sz="quarter" idx="5"/>
          </p:nvPr>
        </p:nvSpPr>
        <p:spPr/>
        <p:txBody>
          <a:bodyPr/>
          <a:lstStyle/>
          <a:p>
            <a:fld id="{362CD335-F0CB-D347-B8A5-7AB70F34C34F}" type="slidenum">
              <a:rPr lang="en-US" smtClean="0"/>
              <a:t>15</a:t>
            </a:fld>
            <a:endParaRPr lang="en-US"/>
          </a:p>
        </p:txBody>
      </p:sp>
    </p:spTree>
    <p:extLst>
      <p:ext uri="{BB962C8B-B14F-4D97-AF65-F5344CB8AC3E}">
        <p14:creationId xmlns:p14="http://schemas.microsoft.com/office/powerpoint/2010/main" val="594252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0F638-1A34-5CE4-815E-5641D1E41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8AAD0-41FF-D21E-5F4F-405165C22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84412-A8FC-51B3-8441-10E31FC87FD7}"/>
              </a:ext>
            </a:extLst>
          </p:cNvPr>
          <p:cNvSpPr>
            <a:spLocks noGrp="1"/>
          </p:cNvSpPr>
          <p:nvPr>
            <p:ph type="body" idx="1"/>
          </p:nvPr>
        </p:nvSpPr>
        <p:spPr/>
        <p:txBody>
          <a:bodyPr/>
          <a:lstStyle/>
          <a:p>
            <a:r>
              <a:rPr lang="en-US" sz="1200" i="1" kern="1200" dirty="0">
                <a:solidFill>
                  <a:schemeClr val="tx1"/>
                </a:solidFill>
                <a:effectLst/>
                <a:latin typeface="+mn-lt"/>
                <a:ea typeface="+mn-ea"/>
                <a:cs typeface="+mn-cs"/>
              </a:rPr>
              <a:t>Yes. There was an action-reaction perceived by the person.</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Such gazing action was not interpretable by the interface in scenario 1.</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F784CD0E-41A1-DBDA-4DDE-F285F2CD034C}"/>
              </a:ext>
            </a:extLst>
          </p:cNvPr>
          <p:cNvSpPr>
            <a:spLocks noGrp="1"/>
          </p:cNvSpPr>
          <p:nvPr>
            <p:ph type="sldNum" sz="quarter" idx="5"/>
          </p:nvPr>
        </p:nvSpPr>
        <p:spPr/>
        <p:txBody>
          <a:bodyPr/>
          <a:lstStyle/>
          <a:p>
            <a:fld id="{362CD335-F0CB-D347-B8A5-7AB70F34C34F}" type="slidenum">
              <a:rPr lang="en-US" smtClean="0"/>
              <a:t>16</a:t>
            </a:fld>
            <a:endParaRPr lang="en-US"/>
          </a:p>
        </p:txBody>
      </p:sp>
    </p:spTree>
    <p:extLst>
      <p:ext uri="{BB962C8B-B14F-4D97-AF65-F5344CB8AC3E}">
        <p14:creationId xmlns:p14="http://schemas.microsoft.com/office/powerpoint/2010/main" val="2652731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59C2-33F0-9E09-1EE4-DF19BE081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3C091-E90A-9328-78D1-DED1008D9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5B91E-CCFF-E0C1-1DB2-49F34C7E3679}"/>
              </a:ext>
            </a:extLst>
          </p:cNvPr>
          <p:cNvSpPr>
            <a:spLocks noGrp="1"/>
          </p:cNvSpPr>
          <p:nvPr>
            <p:ph type="body" idx="1"/>
          </p:nvPr>
        </p:nvSpPr>
        <p:spPr/>
        <p:txBody>
          <a:bodyPr/>
          <a:lstStyle/>
          <a:p>
            <a:r>
              <a:rPr lang="en-US" sz="1200" i="1" kern="1200" dirty="0">
                <a:solidFill>
                  <a:schemeClr val="tx1"/>
                </a:solidFill>
                <a:effectLst/>
                <a:latin typeface="+mn-lt"/>
                <a:ea typeface="+mn-ea"/>
                <a:cs typeface="+mn-cs"/>
              </a:rPr>
              <a:t>No. While there was an action-reaction perceived by the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person, there was no data-related intent (unless the designer, having</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such intent, had caused Averell to non-consciously process some data).</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E77BDC16-8825-4134-23E7-DBC3C15846E4}"/>
              </a:ext>
            </a:extLst>
          </p:cNvPr>
          <p:cNvSpPr>
            <a:spLocks noGrp="1"/>
          </p:cNvSpPr>
          <p:nvPr>
            <p:ph type="sldNum" sz="quarter" idx="5"/>
          </p:nvPr>
        </p:nvSpPr>
        <p:spPr/>
        <p:txBody>
          <a:bodyPr/>
          <a:lstStyle/>
          <a:p>
            <a:fld id="{362CD335-F0CB-D347-B8A5-7AB70F34C34F}" type="slidenum">
              <a:rPr lang="en-US" smtClean="0"/>
              <a:t>17</a:t>
            </a:fld>
            <a:endParaRPr lang="en-US"/>
          </a:p>
        </p:txBody>
      </p:sp>
    </p:spTree>
    <p:extLst>
      <p:ext uri="{BB962C8B-B14F-4D97-AF65-F5344CB8AC3E}">
        <p14:creationId xmlns:p14="http://schemas.microsoft.com/office/powerpoint/2010/main" val="1673057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9ADC-F2D9-9916-5D78-2B8DB9796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0B6BA-5B2C-2692-AA64-CF4BB2123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6D6C4-8A12-0FEE-BB6D-3C734DA5F595}"/>
              </a:ext>
            </a:extLst>
          </p:cNvPr>
          <p:cNvSpPr>
            <a:spLocks noGrp="1"/>
          </p:cNvSpPr>
          <p:nvPr>
            <p:ph type="body" idx="1"/>
          </p:nvPr>
        </p:nvSpPr>
        <p:spPr/>
        <p:txBody>
          <a:bodyPr/>
          <a:lstStyle/>
          <a:p>
            <a:r>
              <a:rPr lang="en-US" sz="1200" i="1" kern="1200" dirty="0">
                <a:solidFill>
                  <a:schemeClr val="tx1"/>
                </a:solidFill>
                <a:effectLst/>
                <a:latin typeface="+mn-lt"/>
                <a:ea typeface="+mn-ea"/>
                <a:cs typeface="+mn-cs"/>
              </a:rPr>
              <a:t>Yes. Although the interaction was not initiated by an explicit</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intent, there was an implicit data-related intent involved in the process</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46D917C9-F6E2-8755-7BF5-235BC8203173}"/>
              </a:ext>
            </a:extLst>
          </p:cNvPr>
          <p:cNvSpPr>
            <a:spLocks noGrp="1"/>
          </p:cNvSpPr>
          <p:nvPr>
            <p:ph type="sldNum" sz="quarter" idx="5"/>
          </p:nvPr>
        </p:nvSpPr>
        <p:spPr/>
        <p:txBody>
          <a:bodyPr/>
          <a:lstStyle/>
          <a:p>
            <a:fld id="{362CD335-F0CB-D347-B8A5-7AB70F34C34F}" type="slidenum">
              <a:rPr lang="en-US" smtClean="0"/>
              <a:t>18</a:t>
            </a:fld>
            <a:endParaRPr lang="en-US"/>
          </a:p>
        </p:txBody>
      </p:sp>
    </p:spTree>
    <p:extLst>
      <p:ext uri="{BB962C8B-B14F-4D97-AF65-F5344CB8AC3E}">
        <p14:creationId xmlns:p14="http://schemas.microsoft.com/office/powerpoint/2010/main" val="3304086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CF22-BD10-A728-7123-BA0E6E84B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B37BE-3CD5-7C39-9192-BF46DDC11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24E56-A31E-35DE-97D7-9DC990AE6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08CCFD-3623-D484-95D1-A06FA6E959EC}"/>
              </a:ext>
            </a:extLst>
          </p:cNvPr>
          <p:cNvSpPr>
            <a:spLocks noGrp="1"/>
          </p:cNvSpPr>
          <p:nvPr>
            <p:ph type="sldNum" sz="quarter" idx="5"/>
          </p:nvPr>
        </p:nvSpPr>
        <p:spPr/>
        <p:txBody>
          <a:bodyPr/>
          <a:lstStyle/>
          <a:p>
            <a:fld id="{362CD335-F0CB-D347-B8A5-7AB70F34C34F}" type="slidenum">
              <a:rPr lang="en-US" smtClean="0"/>
              <a:t>19</a:t>
            </a:fld>
            <a:endParaRPr lang="en-US"/>
          </a:p>
        </p:txBody>
      </p:sp>
    </p:spTree>
    <p:extLst>
      <p:ext uri="{BB962C8B-B14F-4D97-AF65-F5344CB8AC3E}">
        <p14:creationId xmlns:p14="http://schemas.microsoft.com/office/powerpoint/2010/main" val="2450141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4170B-4A88-22BF-A40A-8C08E56BF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B3EF2-6CED-0E31-9E35-3F3E172E1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5E98F-E3FB-E675-1524-9EF1E440D5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FDFFD-0FDB-A893-A053-4A298ECC5B16}"/>
              </a:ext>
            </a:extLst>
          </p:cNvPr>
          <p:cNvSpPr>
            <a:spLocks noGrp="1"/>
          </p:cNvSpPr>
          <p:nvPr>
            <p:ph type="sldNum" sz="quarter" idx="5"/>
          </p:nvPr>
        </p:nvSpPr>
        <p:spPr/>
        <p:txBody>
          <a:bodyPr/>
          <a:lstStyle/>
          <a:p>
            <a:fld id="{362CD335-F0CB-D347-B8A5-7AB70F34C34F}" type="slidenum">
              <a:rPr lang="en-US" smtClean="0"/>
              <a:t>20</a:t>
            </a:fld>
            <a:endParaRPr lang="en-US"/>
          </a:p>
        </p:txBody>
      </p:sp>
    </p:spTree>
    <p:extLst>
      <p:ext uri="{BB962C8B-B14F-4D97-AF65-F5344CB8AC3E}">
        <p14:creationId xmlns:p14="http://schemas.microsoft.com/office/powerpoint/2010/main" val="3456534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F966-477A-5C14-E000-D391904A9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77689-B8E8-02CE-2E32-C741CFFD6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F55C0E-DAD2-7606-DB88-E57F220A6673}"/>
              </a:ext>
            </a:extLst>
          </p:cNvPr>
          <p:cNvSpPr>
            <a:spLocks noGrp="1"/>
          </p:cNvSpPr>
          <p:nvPr>
            <p:ph type="body" idx="1"/>
          </p:nvPr>
        </p:nvSpPr>
        <p:spPr/>
        <p:txBody>
          <a:bodyPr/>
          <a:lstStyle/>
          <a:p>
            <a:r>
              <a:rPr lang="en-US" dirty="0"/>
              <a:t>the machine can proactively perform tasks such as prefetching, calculation of summaries statistics, suggestion formation, bias or error identification, and target selection assistance for overcrowded interfaces.</a:t>
            </a:r>
          </a:p>
        </p:txBody>
      </p:sp>
      <p:sp>
        <p:nvSpPr>
          <p:cNvPr id="4" name="Slide Number Placeholder 3">
            <a:extLst>
              <a:ext uri="{FF2B5EF4-FFF2-40B4-BE49-F238E27FC236}">
                <a16:creationId xmlns:a16="http://schemas.microsoft.com/office/drawing/2014/main" id="{01B57058-4890-AA43-371A-22CC3C940570}"/>
              </a:ext>
            </a:extLst>
          </p:cNvPr>
          <p:cNvSpPr>
            <a:spLocks noGrp="1"/>
          </p:cNvSpPr>
          <p:nvPr>
            <p:ph type="sldNum" sz="quarter" idx="5"/>
          </p:nvPr>
        </p:nvSpPr>
        <p:spPr/>
        <p:txBody>
          <a:bodyPr/>
          <a:lstStyle/>
          <a:p>
            <a:fld id="{362CD335-F0CB-D347-B8A5-7AB70F34C34F}" type="slidenum">
              <a:rPr lang="en-US" smtClean="0"/>
              <a:t>21</a:t>
            </a:fld>
            <a:endParaRPr lang="en-US"/>
          </a:p>
        </p:txBody>
      </p:sp>
    </p:spTree>
    <p:extLst>
      <p:ext uri="{BB962C8B-B14F-4D97-AF65-F5344CB8AC3E}">
        <p14:creationId xmlns:p14="http://schemas.microsoft.com/office/powerpoint/2010/main" val="2248464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7315-C987-C06D-BA1C-1C38C9387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47CA2-692B-CC46-AEA5-185B8F09B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3B48C-C990-1D91-0E7B-7611F0FE9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ED743-0C1E-6E96-9C4A-670B017B6859}"/>
              </a:ext>
            </a:extLst>
          </p:cNvPr>
          <p:cNvSpPr>
            <a:spLocks noGrp="1"/>
          </p:cNvSpPr>
          <p:nvPr>
            <p:ph type="sldNum" sz="quarter" idx="5"/>
          </p:nvPr>
        </p:nvSpPr>
        <p:spPr/>
        <p:txBody>
          <a:bodyPr/>
          <a:lstStyle/>
          <a:p>
            <a:fld id="{362CD335-F0CB-D347-B8A5-7AB70F34C34F}" type="slidenum">
              <a:rPr lang="en-US" smtClean="0"/>
              <a:t>22</a:t>
            </a:fld>
            <a:endParaRPr lang="en-US"/>
          </a:p>
        </p:txBody>
      </p:sp>
    </p:spTree>
    <p:extLst>
      <p:ext uri="{BB962C8B-B14F-4D97-AF65-F5344CB8AC3E}">
        <p14:creationId xmlns:p14="http://schemas.microsoft.com/office/powerpoint/2010/main" val="1516762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0B848-29E3-DFAF-DC93-BE46EBE48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00295-9D1D-272D-D932-287299C37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FBCC2F-F1C5-CB41-1BAF-821F9FCE5D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619881-D32F-3003-6D25-83AD1411190A}"/>
              </a:ext>
            </a:extLst>
          </p:cNvPr>
          <p:cNvSpPr>
            <a:spLocks noGrp="1"/>
          </p:cNvSpPr>
          <p:nvPr>
            <p:ph type="sldNum" sz="quarter" idx="5"/>
          </p:nvPr>
        </p:nvSpPr>
        <p:spPr/>
        <p:txBody>
          <a:bodyPr/>
          <a:lstStyle/>
          <a:p>
            <a:fld id="{362CD335-F0CB-D347-B8A5-7AB70F34C34F}" type="slidenum">
              <a:rPr lang="en-US" smtClean="0"/>
              <a:t>23</a:t>
            </a:fld>
            <a:endParaRPr lang="en-US"/>
          </a:p>
        </p:txBody>
      </p:sp>
    </p:spTree>
    <p:extLst>
      <p:ext uri="{BB962C8B-B14F-4D97-AF65-F5344CB8AC3E}">
        <p14:creationId xmlns:p14="http://schemas.microsoft.com/office/powerpoint/2010/main" val="1202109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94283-6BFA-14E2-CB81-0626CD0FC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49B83-A567-CE47-5760-D8048879E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49A0C-E832-7BE2-F781-2B49E31B5E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9EF40A-1A46-17A6-E3D6-8A1DBE1A28BD}"/>
              </a:ext>
            </a:extLst>
          </p:cNvPr>
          <p:cNvSpPr>
            <a:spLocks noGrp="1"/>
          </p:cNvSpPr>
          <p:nvPr>
            <p:ph type="sldNum" sz="quarter" idx="5"/>
          </p:nvPr>
        </p:nvSpPr>
        <p:spPr/>
        <p:txBody>
          <a:bodyPr/>
          <a:lstStyle/>
          <a:p>
            <a:fld id="{362CD335-F0CB-D347-B8A5-7AB70F34C34F}" type="slidenum">
              <a:rPr lang="en-US" smtClean="0"/>
              <a:t>24</a:t>
            </a:fld>
            <a:endParaRPr lang="en-US"/>
          </a:p>
        </p:txBody>
      </p:sp>
    </p:spTree>
    <p:extLst>
      <p:ext uri="{BB962C8B-B14F-4D97-AF65-F5344CB8AC3E}">
        <p14:creationId xmlns:p14="http://schemas.microsoft.com/office/powerpoint/2010/main" val="3497193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E601D-BF6A-3E19-4BA9-7A3E30DD0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88CAA-6973-6CF3-B9C9-31EEDA04F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230D2-DAF0-350A-885E-9B415568C4CF}"/>
              </a:ext>
            </a:extLst>
          </p:cNvPr>
          <p:cNvSpPr>
            <a:spLocks noGrp="1"/>
          </p:cNvSpPr>
          <p:nvPr>
            <p:ph type="body" idx="1"/>
          </p:nvPr>
        </p:nvSpPr>
        <p:spPr/>
        <p:txBody>
          <a:bodyPr/>
          <a:lstStyle/>
          <a:p>
            <a:pPr marL="228600" indent="-228600">
              <a:buAutoNum type="alphaUcParenR"/>
            </a:pPr>
            <a:r>
              <a:rPr lang="en-US" dirty="0"/>
              <a:t>the MDS scatterplot visualization of the data; </a:t>
            </a:r>
          </a:p>
          <a:p>
            <a:pPr marL="228600" indent="-228600">
              <a:buAutoNum type="alphaUcParenR"/>
            </a:pPr>
            <a:r>
              <a:rPr lang="en-US" dirty="0"/>
              <a:t>the buttons for recalculating the projection, undoing unsatisfying input, loading custom distance functions and user input data, etc.; </a:t>
            </a:r>
          </a:p>
          <a:p>
            <a:pPr marL="228600" indent="-228600">
              <a:buAutoNum type="alphaUcParenR"/>
            </a:pPr>
            <a:r>
              <a:rPr lang="en-US" dirty="0"/>
              <a:t>the Parallel Bars visualization described in Section 4; </a:t>
            </a:r>
          </a:p>
          <a:p>
            <a:pPr marL="228600" indent="-228600">
              <a:buAutoNum type="alphaUcParenR"/>
            </a:pPr>
            <a:r>
              <a:rPr lang="en-US" dirty="0"/>
              <a:t>a bar graph of the current distance function (obscured ’Data Grid’ tab shows a tabular version); </a:t>
            </a:r>
          </a:p>
          <a:p>
            <a:pPr marL="228600" indent="-228600">
              <a:buAutoNum type="alphaUcParenR"/>
            </a:pPr>
            <a:r>
              <a:rPr lang="en-US" dirty="0"/>
              <a:t>the original data. </a:t>
            </a:r>
          </a:p>
          <a:p>
            <a:pPr marL="228600" indent="-228600">
              <a:buAutoNum type="alphaUcParenR"/>
            </a:pPr>
            <a:endParaRPr lang="en-US" dirty="0"/>
          </a:p>
          <a:p>
            <a:pPr marL="0" indent="0">
              <a:buNone/>
            </a:pPr>
            <a:r>
              <a:rPr lang="en-US" dirty="0"/>
              <a:t>All these views are tightly coordinated such that interactions with one view are immediately reflected on the others. For example, in the figure above, the mouse cursor is over a point in the scatterplot, and thus the corresponding point in the data table at the bottom is highlighted and the black lines on (C) highlight the values of the data point in each dimension as they relate to other data points.</a:t>
            </a:r>
          </a:p>
        </p:txBody>
      </p:sp>
      <p:sp>
        <p:nvSpPr>
          <p:cNvPr id="4" name="Slide Number Placeholder 3">
            <a:extLst>
              <a:ext uri="{FF2B5EF4-FFF2-40B4-BE49-F238E27FC236}">
                <a16:creationId xmlns:a16="http://schemas.microsoft.com/office/drawing/2014/main" id="{C2C851FB-39BC-F20F-0118-0234E3449C11}"/>
              </a:ext>
            </a:extLst>
          </p:cNvPr>
          <p:cNvSpPr>
            <a:spLocks noGrp="1"/>
          </p:cNvSpPr>
          <p:nvPr>
            <p:ph type="sldNum" sz="quarter" idx="5"/>
          </p:nvPr>
        </p:nvSpPr>
        <p:spPr/>
        <p:txBody>
          <a:bodyPr/>
          <a:lstStyle/>
          <a:p>
            <a:fld id="{362CD335-F0CB-D347-B8A5-7AB70F34C34F}" type="slidenum">
              <a:rPr lang="en-US" smtClean="0"/>
              <a:t>25</a:t>
            </a:fld>
            <a:endParaRPr lang="en-US"/>
          </a:p>
        </p:txBody>
      </p:sp>
    </p:spTree>
    <p:extLst>
      <p:ext uri="{BB962C8B-B14F-4D97-AF65-F5344CB8AC3E}">
        <p14:creationId xmlns:p14="http://schemas.microsoft.com/office/powerpoint/2010/main" val="562501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F064D-96B3-729C-4EB1-1C3C27596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D6CED-5081-6861-C2C7-DCF27CD8E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045F6-0DD2-746E-45EE-A55A66CEEDC3}"/>
              </a:ext>
            </a:extLst>
          </p:cNvPr>
          <p:cNvSpPr>
            <a:spLocks noGrp="1"/>
          </p:cNvSpPr>
          <p:nvPr>
            <p:ph type="body" idx="1"/>
          </p:nvPr>
        </p:nvSpPr>
        <p:spPr/>
        <p:txBody>
          <a:bodyPr/>
          <a:lstStyle/>
          <a:p>
            <a:pPr marL="0" indent="0">
              <a:buNone/>
            </a:pPr>
            <a:r>
              <a:rPr lang="en-US" dirty="0"/>
              <a:t>A handful of points have been marked in blue and dragged closer to another set of points, marked in red. After the update (on the right), the points in those groups are closer together, and the clustering with respect to different colors is more compact. The same red and blue points marked on the left are indicated in their new positions on the right with red and blue halos.</a:t>
            </a:r>
          </a:p>
        </p:txBody>
      </p:sp>
      <p:sp>
        <p:nvSpPr>
          <p:cNvPr id="4" name="Slide Number Placeholder 3">
            <a:extLst>
              <a:ext uri="{FF2B5EF4-FFF2-40B4-BE49-F238E27FC236}">
                <a16:creationId xmlns:a16="http://schemas.microsoft.com/office/drawing/2014/main" id="{3DBF61B6-A083-76AC-27FB-CD3D14563BAF}"/>
              </a:ext>
            </a:extLst>
          </p:cNvPr>
          <p:cNvSpPr>
            <a:spLocks noGrp="1"/>
          </p:cNvSpPr>
          <p:nvPr>
            <p:ph type="sldNum" sz="quarter" idx="5"/>
          </p:nvPr>
        </p:nvSpPr>
        <p:spPr/>
        <p:txBody>
          <a:bodyPr/>
          <a:lstStyle/>
          <a:p>
            <a:fld id="{362CD335-F0CB-D347-B8A5-7AB70F34C34F}" type="slidenum">
              <a:rPr lang="en-US" smtClean="0"/>
              <a:t>26</a:t>
            </a:fld>
            <a:endParaRPr lang="en-US"/>
          </a:p>
        </p:txBody>
      </p:sp>
    </p:spTree>
    <p:extLst>
      <p:ext uri="{BB962C8B-B14F-4D97-AF65-F5344CB8AC3E}">
        <p14:creationId xmlns:p14="http://schemas.microsoft.com/office/powerpoint/2010/main" val="2826344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56EB-A286-7C95-2266-1D694CEC6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9F547-F71B-D6A5-1B3C-4EE2B7089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ED2A0-651A-F78B-7283-A6C2F9BB8AD5}"/>
              </a:ext>
            </a:extLst>
          </p:cNvPr>
          <p:cNvSpPr>
            <a:spLocks noGrp="1"/>
          </p:cNvSpPr>
          <p:nvPr>
            <p:ph type="body"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68505F6D-28AF-45E0-F02E-AB42FFDC530A}"/>
              </a:ext>
            </a:extLst>
          </p:cNvPr>
          <p:cNvSpPr>
            <a:spLocks noGrp="1"/>
          </p:cNvSpPr>
          <p:nvPr>
            <p:ph type="sldNum" sz="quarter" idx="5"/>
          </p:nvPr>
        </p:nvSpPr>
        <p:spPr/>
        <p:txBody>
          <a:bodyPr/>
          <a:lstStyle/>
          <a:p>
            <a:fld id="{362CD335-F0CB-D347-B8A5-7AB70F34C34F}" type="slidenum">
              <a:rPr lang="en-US" smtClean="0"/>
              <a:t>27</a:t>
            </a:fld>
            <a:endParaRPr lang="en-US"/>
          </a:p>
        </p:txBody>
      </p:sp>
    </p:spTree>
    <p:extLst>
      <p:ext uri="{BB962C8B-B14F-4D97-AF65-F5344CB8AC3E}">
        <p14:creationId xmlns:p14="http://schemas.microsoft.com/office/powerpoint/2010/main" val="3639413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2/12/26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123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6169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2/12/26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966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7455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5422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75474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915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2/12/26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1401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9749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598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2/12/26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2279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2/12/26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505439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youtube.com/watch?v=hbeDn5D-GCg"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1057/ivs.2009.22"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vega.github.io/voyager/"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ublic.tableau.com/app/profile/harim.jung/viz/GlobalCODashboardPoweredbyTableauAgent/TableauAgentClimateDashboar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057/ivs.2009.22"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57/ivs.2009.2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1057/ivs.2009.2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doi.org/10.1111/cgf.13670"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BFC0-8BA3-DEDC-7E39-89EC7856846E}"/>
              </a:ext>
            </a:extLst>
          </p:cNvPr>
          <p:cNvSpPr>
            <a:spLocks noGrp="1"/>
          </p:cNvSpPr>
          <p:nvPr>
            <p:ph type="ctrTitle"/>
          </p:nvPr>
        </p:nvSpPr>
        <p:spPr/>
        <p:txBody>
          <a:bodyPr>
            <a:normAutofit/>
          </a:bodyPr>
          <a:lstStyle/>
          <a:p>
            <a:r>
              <a:rPr lang="en-US" dirty="0"/>
              <a:t>Visual Analytics:  </a:t>
            </a:r>
            <a:br>
              <a:rPr lang="en-US" dirty="0"/>
            </a:br>
            <a:r>
              <a:rPr lang="en-US" dirty="0"/>
              <a:t>interaction Science</a:t>
            </a:r>
          </a:p>
        </p:txBody>
      </p:sp>
      <p:sp>
        <p:nvSpPr>
          <p:cNvPr id="3" name="Subtitle 2">
            <a:extLst>
              <a:ext uri="{FF2B5EF4-FFF2-40B4-BE49-F238E27FC236}">
                <a16:creationId xmlns:a16="http://schemas.microsoft.com/office/drawing/2014/main" id="{EECBEFAC-62BD-EFDC-63B4-33E49BD33BA5}"/>
              </a:ext>
            </a:extLst>
          </p:cNvPr>
          <p:cNvSpPr>
            <a:spLocks noGrp="1"/>
          </p:cNvSpPr>
          <p:nvPr>
            <p:ph type="subTitle" idx="1"/>
          </p:nvPr>
        </p:nvSpPr>
        <p:spPr/>
        <p:txBody>
          <a:bodyPr/>
          <a:lstStyle/>
          <a:p>
            <a:r>
              <a:rPr lang="en-US" dirty="0"/>
              <a:t>Ab Mosca (they/them)</a:t>
            </a:r>
          </a:p>
        </p:txBody>
      </p:sp>
    </p:spTree>
    <p:extLst>
      <p:ext uri="{BB962C8B-B14F-4D97-AF65-F5344CB8AC3E}">
        <p14:creationId xmlns:p14="http://schemas.microsoft.com/office/powerpoint/2010/main" val="547388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CEEC-DA3B-FF6E-BAEB-9400A30851F6}"/>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2C0A6356-47F4-DF13-CFDC-C996D4E40A01}"/>
              </a:ext>
            </a:extLst>
          </p:cNvPr>
          <p:cNvSpPr>
            <a:spLocks noGrp="1"/>
          </p:cNvSpPr>
          <p:nvPr>
            <p:ph idx="1"/>
          </p:nvPr>
        </p:nvSpPr>
        <p:spPr/>
        <p:txBody>
          <a:bodyPr>
            <a:normAutofit/>
          </a:bodyPr>
          <a:lstStyle/>
          <a:p>
            <a:r>
              <a:rPr lang="en-US" sz="2400" dirty="0"/>
              <a:t>Science of interaction</a:t>
            </a:r>
          </a:p>
          <a:p>
            <a:r>
              <a:rPr lang="en-US" sz="2400" dirty="0"/>
              <a:t>Define interaction for visualization</a:t>
            </a:r>
          </a:p>
          <a:p>
            <a:r>
              <a:rPr lang="en-US" sz="2400" dirty="0"/>
              <a:t>Leveraging interaction </a:t>
            </a:r>
          </a:p>
          <a:p>
            <a:endParaRPr lang="en-US" sz="2400" dirty="0"/>
          </a:p>
        </p:txBody>
      </p:sp>
    </p:spTree>
    <p:extLst>
      <p:ext uri="{BB962C8B-B14F-4D97-AF65-F5344CB8AC3E}">
        <p14:creationId xmlns:p14="http://schemas.microsoft.com/office/powerpoint/2010/main" val="2057560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375E-5227-E742-5B5F-47EB92F8D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039A9-D31B-1CBB-4668-13E2556B7EF4}"/>
              </a:ext>
            </a:extLst>
          </p:cNvPr>
          <p:cNvSpPr>
            <a:spLocks noGrp="1"/>
          </p:cNvSpPr>
          <p:nvPr>
            <p:ph type="title"/>
          </p:nvPr>
        </p:nvSpPr>
        <p:spPr/>
        <p:txBody>
          <a:bodyPr/>
          <a:lstStyle/>
          <a:p>
            <a:r>
              <a:rPr lang="en-US" dirty="0"/>
              <a:t>Recall: What is visual analytics?</a:t>
            </a:r>
          </a:p>
        </p:txBody>
      </p:sp>
      <p:grpSp>
        <p:nvGrpSpPr>
          <p:cNvPr id="6" name="object 3">
            <a:extLst>
              <a:ext uri="{FF2B5EF4-FFF2-40B4-BE49-F238E27FC236}">
                <a16:creationId xmlns:a16="http://schemas.microsoft.com/office/drawing/2014/main" id="{3118BD2A-EFF0-C7CF-D171-B03311185A48}"/>
              </a:ext>
            </a:extLst>
          </p:cNvPr>
          <p:cNvGrpSpPr/>
          <p:nvPr/>
        </p:nvGrpSpPr>
        <p:grpSpPr>
          <a:xfrm>
            <a:off x="519574" y="2461449"/>
            <a:ext cx="5285232" cy="3337560"/>
            <a:chOff x="1133475" y="1362075"/>
            <a:chExt cx="6953250" cy="3904615"/>
          </a:xfrm>
        </p:grpSpPr>
        <p:pic>
          <p:nvPicPr>
            <p:cNvPr id="7" name="object 4">
              <a:extLst>
                <a:ext uri="{FF2B5EF4-FFF2-40B4-BE49-F238E27FC236}">
                  <a16:creationId xmlns:a16="http://schemas.microsoft.com/office/drawing/2014/main" id="{37740EE1-6ED1-79A8-0579-C25FA0AB7550}"/>
                </a:ext>
              </a:extLst>
            </p:cNvPr>
            <p:cNvPicPr/>
            <p:nvPr/>
          </p:nvPicPr>
          <p:blipFill>
            <a:blip r:embed="rId2" cstate="print"/>
            <a:stretch>
              <a:fillRect/>
            </a:stretch>
          </p:blipFill>
          <p:spPr>
            <a:xfrm>
              <a:off x="1142999" y="1371600"/>
              <a:ext cx="6934198" cy="3885369"/>
            </a:xfrm>
            <a:prstGeom prst="rect">
              <a:avLst/>
            </a:prstGeom>
          </p:spPr>
        </p:pic>
        <p:sp>
          <p:nvSpPr>
            <p:cNvPr id="8" name="object 5">
              <a:extLst>
                <a:ext uri="{FF2B5EF4-FFF2-40B4-BE49-F238E27FC236}">
                  <a16:creationId xmlns:a16="http://schemas.microsoft.com/office/drawing/2014/main" id="{A2DA5C5C-9F62-00D2-4DBF-CF8DCA81F137}"/>
                </a:ext>
              </a:extLst>
            </p:cNvPr>
            <p:cNvSpPr/>
            <p:nvPr/>
          </p:nvSpPr>
          <p:spPr>
            <a:xfrm>
              <a:off x="1138237" y="1366837"/>
              <a:ext cx="6943725" cy="3895090"/>
            </a:xfrm>
            <a:custGeom>
              <a:avLst/>
              <a:gdLst/>
              <a:ahLst/>
              <a:cxnLst/>
              <a:rect l="l" t="t" r="r" b="b"/>
              <a:pathLst>
                <a:path w="6943725" h="3895090">
                  <a:moveTo>
                    <a:pt x="0" y="0"/>
                  </a:moveTo>
                  <a:lnTo>
                    <a:pt x="6943724" y="0"/>
                  </a:lnTo>
                  <a:lnTo>
                    <a:pt x="6943724" y="3894894"/>
                  </a:lnTo>
                  <a:lnTo>
                    <a:pt x="0" y="3894894"/>
                  </a:lnTo>
                  <a:lnTo>
                    <a:pt x="0" y="0"/>
                  </a:lnTo>
                  <a:close/>
                </a:path>
              </a:pathLst>
            </a:custGeom>
            <a:ln w="9525">
              <a:solidFill>
                <a:srgbClr val="00539B"/>
              </a:solidFill>
            </a:ln>
          </p:spPr>
          <p:txBody>
            <a:bodyPr wrap="square" lIns="0" tIns="0" rIns="0" bIns="0" rtlCol="0"/>
            <a:lstStyle/>
            <a:p>
              <a:endParaRPr>
                <a:solidFill>
                  <a:schemeClr val="tx1">
                    <a:lumMod val="75000"/>
                    <a:lumOff val="25000"/>
                  </a:schemeClr>
                </a:solidFill>
              </a:endParaRPr>
            </a:p>
          </p:txBody>
        </p:sp>
      </p:grpSp>
      <p:sp>
        <p:nvSpPr>
          <p:cNvPr id="9" name="object 6">
            <a:extLst>
              <a:ext uri="{FF2B5EF4-FFF2-40B4-BE49-F238E27FC236}">
                <a16:creationId xmlns:a16="http://schemas.microsoft.com/office/drawing/2014/main" id="{32B9792C-C83F-3DF4-A3EC-61C3EE20B609}"/>
              </a:ext>
            </a:extLst>
          </p:cNvPr>
          <p:cNvSpPr txBox="1"/>
          <p:nvPr/>
        </p:nvSpPr>
        <p:spPr>
          <a:xfrm>
            <a:off x="5862170" y="3118414"/>
            <a:ext cx="5810256" cy="2023631"/>
          </a:xfrm>
          <a:prstGeom prst="rect">
            <a:avLst/>
          </a:prstGeom>
        </p:spPr>
        <p:txBody>
          <a:bodyPr vert="horz" wrap="square" lIns="0" tIns="12700" rIns="0" bIns="0" rtlCol="0">
            <a:spAutoFit/>
          </a:bodyPr>
          <a:lstStyle/>
          <a:p>
            <a:pPr marL="635" algn="ctr">
              <a:spcBef>
                <a:spcPts val="100"/>
              </a:spcBef>
            </a:pPr>
            <a:r>
              <a:rPr sz="2800" dirty="0">
                <a:solidFill>
                  <a:schemeClr val="tx1">
                    <a:lumMod val="75000"/>
                    <a:lumOff val="25000"/>
                  </a:schemeClr>
                </a:solidFill>
                <a:cs typeface="Arial"/>
              </a:rPr>
              <a:t>“The</a:t>
            </a:r>
            <a:r>
              <a:rPr sz="2800" spc="-70" dirty="0">
                <a:solidFill>
                  <a:schemeClr val="tx1">
                    <a:lumMod val="75000"/>
                    <a:lumOff val="25000"/>
                  </a:schemeClr>
                </a:solidFill>
                <a:cs typeface="Arial"/>
              </a:rPr>
              <a:t> </a:t>
            </a:r>
            <a:r>
              <a:rPr sz="2800" dirty="0">
                <a:solidFill>
                  <a:schemeClr val="tx1">
                    <a:lumMod val="75000"/>
                    <a:lumOff val="25000"/>
                  </a:schemeClr>
                </a:solidFill>
                <a:cs typeface="Arial"/>
              </a:rPr>
              <a:t>science</a:t>
            </a:r>
            <a:r>
              <a:rPr sz="2800" spc="-65" dirty="0">
                <a:solidFill>
                  <a:schemeClr val="tx1">
                    <a:lumMod val="75000"/>
                    <a:lumOff val="25000"/>
                  </a:schemeClr>
                </a:solidFill>
                <a:cs typeface="Arial"/>
              </a:rPr>
              <a:t> </a:t>
            </a:r>
            <a:r>
              <a:rPr sz="2800" dirty="0">
                <a:solidFill>
                  <a:schemeClr val="tx1">
                    <a:lumMod val="75000"/>
                    <a:lumOff val="25000"/>
                  </a:schemeClr>
                </a:solidFill>
                <a:cs typeface="Arial"/>
              </a:rPr>
              <a:t>of</a:t>
            </a:r>
            <a:r>
              <a:rPr sz="2800" spc="-70" dirty="0">
                <a:solidFill>
                  <a:schemeClr val="tx1">
                    <a:lumMod val="75000"/>
                    <a:lumOff val="25000"/>
                  </a:schemeClr>
                </a:solidFill>
                <a:cs typeface="Arial"/>
              </a:rPr>
              <a:t> </a:t>
            </a:r>
            <a:r>
              <a:rPr sz="2800" b="1" dirty="0">
                <a:solidFill>
                  <a:schemeClr val="tx1">
                    <a:lumMod val="75000"/>
                    <a:lumOff val="25000"/>
                  </a:schemeClr>
                </a:solidFill>
                <a:effectLst>
                  <a:glow rad="228600">
                    <a:schemeClr val="accent5">
                      <a:satMod val="175000"/>
                      <a:alpha val="40000"/>
                    </a:schemeClr>
                  </a:glow>
                </a:effectLst>
                <a:cs typeface="Arial"/>
              </a:rPr>
              <a:t>analytical</a:t>
            </a:r>
            <a:r>
              <a:rPr sz="2800" b="1" spc="-75" dirty="0">
                <a:solidFill>
                  <a:schemeClr val="tx1">
                    <a:lumMod val="75000"/>
                    <a:lumOff val="25000"/>
                  </a:schemeClr>
                </a:solidFill>
                <a:effectLst>
                  <a:glow rad="228600">
                    <a:schemeClr val="accent5">
                      <a:satMod val="175000"/>
                      <a:alpha val="40000"/>
                    </a:schemeClr>
                  </a:glow>
                </a:effectLst>
                <a:cs typeface="Arial"/>
              </a:rPr>
              <a:t> </a:t>
            </a:r>
            <a:r>
              <a:rPr sz="2800" b="1" spc="-10" dirty="0">
                <a:solidFill>
                  <a:schemeClr val="tx1">
                    <a:lumMod val="75000"/>
                    <a:lumOff val="25000"/>
                  </a:schemeClr>
                </a:solidFill>
                <a:effectLst>
                  <a:glow rad="228600">
                    <a:schemeClr val="accent5">
                      <a:satMod val="175000"/>
                      <a:alpha val="40000"/>
                    </a:schemeClr>
                  </a:glow>
                </a:effectLst>
                <a:cs typeface="Arial"/>
              </a:rPr>
              <a:t>reasoning</a:t>
            </a:r>
            <a:endParaRPr sz="2800" dirty="0">
              <a:solidFill>
                <a:schemeClr val="tx1">
                  <a:lumMod val="75000"/>
                  <a:lumOff val="25000"/>
                </a:schemeClr>
              </a:solidFill>
              <a:effectLst>
                <a:glow rad="228600">
                  <a:schemeClr val="accent5">
                    <a:satMod val="175000"/>
                    <a:alpha val="40000"/>
                  </a:schemeClr>
                </a:glow>
              </a:effectLst>
              <a:cs typeface="Arial"/>
            </a:endParaRPr>
          </a:p>
          <a:p>
            <a:pPr algn="ctr">
              <a:spcBef>
                <a:spcPts val="45"/>
              </a:spcBef>
            </a:pPr>
            <a:r>
              <a:rPr sz="2800" dirty="0">
                <a:solidFill>
                  <a:schemeClr val="tx1">
                    <a:lumMod val="75000"/>
                    <a:lumOff val="25000"/>
                  </a:schemeClr>
                </a:solidFill>
                <a:cs typeface="Arial"/>
              </a:rPr>
              <a:t>facilitated</a:t>
            </a:r>
            <a:r>
              <a:rPr sz="2800" spc="-75" dirty="0">
                <a:solidFill>
                  <a:schemeClr val="tx1">
                    <a:lumMod val="75000"/>
                    <a:lumOff val="25000"/>
                  </a:schemeClr>
                </a:solidFill>
                <a:cs typeface="Arial"/>
              </a:rPr>
              <a:t> </a:t>
            </a:r>
            <a:r>
              <a:rPr sz="2800" dirty="0">
                <a:solidFill>
                  <a:schemeClr val="tx1">
                    <a:lumMod val="75000"/>
                    <a:lumOff val="25000"/>
                  </a:schemeClr>
                </a:solidFill>
                <a:cs typeface="Arial"/>
              </a:rPr>
              <a:t>by</a:t>
            </a:r>
            <a:r>
              <a:rPr sz="2800" spc="-80" dirty="0">
                <a:solidFill>
                  <a:schemeClr val="tx1">
                    <a:lumMod val="75000"/>
                    <a:lumOff val="25000"/>
                  </a:schemeClr>
                </a:solidFill>
                <a:cs typeface="Arial"/>
              </a:rPr>
              <a:t> </a:t>
            </a:r>
            <a:r>
              <a:rPr sz="2800" b="1" dirty="0">
                <a:solidFill>
                  <a:schemeClr val="tx1">
                    <a:lumMod val="75000"/>
                    <a:lumOff val="25000"/>
                  </a:schemeClr>
                </a:solidFill>
                <a:effectLst>
                  <a:glow rad="228600">
                    <a:schemeClr val="accent5">
                      <a:satMod val="175000"/>
                      <a:alpha val="40000"/>
                    </a:schemeClr>
                  </a:glow>
                </a:effectLst>
                <a:cs typeface="Arial"/>
              </a:rPr>
              <a:t>interactive</a:t>
            </a:r>
            <a:r>
              <a:rPr sz="2800" b="1" spc="-75" dirty="0">
                <a:solidFill>
                  <a:schemeClr val="tx1">
                    <a:lumMod val="75000"/>
                    <a:lumOff val="25000"/>
                  </a:schemeClr>
                </a:solidFill>
                <a:effectLst>
                  <a:glow rad="228600">
                    <a:schemeClr val="accent5">
                      <a:satMod val="175000"/>
                      <a:alpha val="40000"/>
                    </a:schemeClr>
                  </a:glow>
                </a:effectLst>
                <a:cs typeface="Arial"/>
              </a:rPr>
              <a:t> </a:t>
            </a:r>
            <a:r>
              <a:rPr sz="2800" b="1" dirty="0">
                <a:solidFill>
                  <a:schemeClr val="tx1">
                    <a:lumMod val="75000"/>
                    <a:lumOff val="25000"/>
                  </a:schemeClr>
                </a:solidFill>
                <a:effectLst>
                  <a:glow rad="228600">
                    <a:schemeClr val="accent5">
                      <a:satMod val="175000"/>
                      <a:alpha val="40000"/>
                    </a:schemeClr>
                  </a:glow>
                </a:effectLst>
                <a:cs typeface="Arial"/>
              </a:rPr>
              <a:t>visual</a:t>
            </a:r>
            <a:r>
              <a:rPr sz="2800" b="1" spc="-85" dirty="0">
                <a:solidFill>
                  <a:schemeClr val="tx1">
                    <a:lumMod val="75000"/>
                    <a:lumOff val="25000"/>
                  </a:schemeClr>
                </a:solidFill>
                <a:effectLst>
                  <a:glow rad="228600">
                    <a:schemeClr val="accent5">
                      <a:satMod val="175000"/>
                      <a:alpha val="40000"/>
                    </a:schemeClr>
                  </a:glow>
                </a:effectLst>
                <a:cs typeface="Arial"/>
              </a:rPr>
              <a:t> </a:t>
            </a:r>
            <a:r>
              <a:rPr sz="2800" b="1" spc="-10" dirty="0">
                <a:solidFill>
                  <a:schemeClr val="tx1">
                    <a:lumMod val="75000"/>
                    <a:lumOff val="25000"/>
                  </a:schemeClr>
                </a:solidFill>
                <a:effectLst>
                  <a:glow rad="228600">
                    <a:schemeClr val="accent5">
                      <a:satMod val="175000"/>
                      <a:alpha val="40000"/>
                    </a:schemeClr>
                  </a:glow>
                </a:effectLst>
                <a:cs typeface="Arial"/>
              </a:rPr>
              <a:t>interfaces</a:t>
            </a:r>
            <a:r>
              <a:rPr sz="2800" spc="-10" dirty="0">
                <a:solidFill>
                  <a:schemeClr val="tx1">
                    <a:lumMod val="75000"/>
                    <a:lumOff val="25000"/>
                  </a:schemeClr>
                </a:solidFill>
                <a:cs typeface="Arial"/>
              </a:rPr>
              <a:t>”</a:t>
            </a:r>
            <a:r>
              <a:rPr spc="-15" baseline="23148" dirty="0">
                <a:solidFill>
                  <a:schemeClr val="tx1">
                    <a:lumMod val="75000"/>
                    <a:lumOff val="25000"/>
                  </a:schemeClr>
                </a:solidFill>
                <a:cs typeface="Arial"/>
              </a:rPr>
              <a:t>1</a:t>
            </a:r>
            <a:endParaRPr baseline="23148" dirty="0">
              <a:solidFill>
                <a:schemeClr val="tx1">
                  <a:lumMod val="75000"/>
                  <a:lumOff val="25000"/>
                </a:schemeClr>
              </a:solidFill>
              <a:cs typeface="Arial"/>
            </a:endParaRPr>
          </a:p>
          <a:p>
            <a:pPr marL="1092200" marR="828040">
              <a:spcBef>
                <a:spcPts val="2039"/>
              </a:spcBef>
            </a:pPr>
            <a:r>
              <a:rPr sz="1050" b="1" baseline="23809" dirty="0">
                <a:solidFill>
                  <a:schemeClr val="tx1">
                    <a:lumMod val="75000"/>
                    <a:lumOff val="25000"/>
                  </a:schemeClr>
                </a:solidFill>
                <a:cs typeface="Arial"/>
              </a:rPr>
              <a:t>1</a:t>
            </a:r>
            <a:r>
              <a:rPr sz="1000" b="1" dirty="0">
                <a:solidFill>
                  <a:schemeClr val="tx1">
                    <a:lumMod val="75000"/>
                    <a:lumOff val="25000"/>
                  </a:schemeClr>
                </a:solidFill>
                <a:cs typeface="Arial"/>
              </a:rPr>
              <a:t>Thomas,</a:t>
            </a:r>
            <a:r>
              <a:rPr sz="1000" b="1" spc="-35" dirty="0">
                <a:solidFill>
                  <a:schemeClr val="tx1">
                    <a:lumMod val="75000"/>
                    <a:lumOff val="25000"/>
                  </a:schemeClr>
                </a:solidFill>
                <a:cs typeface="Arial"/>
              </a:rPr>
              <a:t> </a:t>
            </a:r>
            <a:r>
              <a:rPr sz="1000" b="1" dirty="0">
                <a:solidFill>
                  <a:schemeClr val="tx1">
                    <a:lumMod val="75000"/>
                    <a:lumOff val="25000"/>
                  </a:schemeClr>
                </a:solidFill>
                <a:cs typeface="Arial"/>
              </a:rPr>
              <a:t>James</a:t>
            </a:r>
            <a:r>
              <a:rPr sz="1000" b="1" spc="-30" dirty="0">
                <a:solidFill>
                  <a:schemeClr val="tx1">
                    <a:lumMod val="75000"/>
                    <a:lumOff val="25000"/>
                  </a:schemeClr>
                </a:solidFill>
                <a:cs typeface="Arial"/>
              </a:rPr>
              <a:t> </a:t>
            </a:r>
            <a:r>
              <a:rPr sz="1000" b="1" dirty="0">
                <a:solidFill>
                  <a:schemeClr val="tx1">
                    <a:lumMod val="75000"/>
                    <a:lumOff val="25000"/>
                  </a:schemeClr>
                </a:solidFill>
                <a:cs typeface="Arial"/>
              </a:rPr>
              <a:t>J.,</a:t>
            </a:r>
            <a:r>
              <a:rPr sz="1000" b="1" spc="-30" dirty="0">
                <a:solidFill>
                  <a:schemeClr val="tx1">
                    <a:lumMod val="75000"/>
                    <a:lumOff val="25000"/>
                  </a:schemeClr>
                </a:solidFill>
                <a:cs typeface="Arial"/>
              </a:rPr>
              <a:t> </a:t>
            </a:r>
            <a:r>
              <a:rPr sz="1000" b="1" dirty="0">
                <a:solidFill>
                  <a:schemeClr val="tx1">
                    <a:lumMod val="75000"/>
                    <a:lumOff val="25000"/>
                  </a:schemeClr>
                </a:solidFill>
                <a:cs typeface="Arial"/>
              </a:rPr>
              <a:t>and</a:t>
            </a:r>
            <a:r>
              <a:rPr sz="1000" b="1" spc="-25" dirty="0">
                <a:solidFill>
                  <a:schemeClr val="tx1">
                    <a:lumMod val="75000"/>
                    <a:lumOff val="25000"/>
                  </a:schemeClr>
                </a:solidFill>
                <a:cs typeface="Arial"/>
              </a:rPr>
              <a:t> </a:t>
            </a:r>
            <a:r>
              <a:rPr sz="1000" b="1" dirty="0">
                <a:solidFill>
                  <a:schemeClr val="tx1">
                    <a:lumMod val="75000"/>
                    <a:lumOff val="25000"/>
                  </a:schemeClr>
                </a:solidFill>
                <a:cs typeface="Arial"/>
              </a:rPr>
              <a:t>Kristin</a:t>
            </a:r>
            <a:r>
              <a:rPr sz="1000" b="1" spc="-25" dirty="0">
                <a:solidFill>
                  <a:schemeClr val="tx1">
                    <a:lumMod val="75000"/>
                    <a:lumOff val="25000"/>
                  </a:schemeClr>
                </a:solidFill>
                <a:cs typeface="Arial"/>
              </a:rPr>
              <a:t> </a:t>
            </a:r>
            <a:r>
              <a:rPr sz="1000" b="1" dirty="0">
                <a:solidFill>
                  <a:schemeClr val="tx1">
                    <a:lumMod val="75000"/>
                    <a:lumOff val="25000"/>
                  </a:schemeClr>
                </a:solidFill>
                <a:cs typeface="Arial"/>
              </a:rPr>
              <a:t>A.</a:t>
            </a:r>
            <a:r>
              <a:rPr sz="1000" b="1" spc="-30" dirty="0">
                <a:solidFill>
                  <a:schemeClr val="tx1">
                    <a:lumMod val="75000"/>
                    <a:lumOff val="25000"/>
                  </a:schemeClr>
                </a:solidFill>
                <a:cs typeface="Arial"/>
              </a:rPr>
              <a:t> </a:t>
            </a:r>
            <a:r>
              <a:rPr sz="1000" b="1" dirty="0">
                <a:solidFill>
                  <a:schemeClr val="tx1">
                    <a:lumMod val="75000"/>
                    <a:lumOff val="25000"/>
                  </a:schemeClr>
                </a:solidFill>
                <a:cs typeface="Arial"/>
              </a:rPr>
              <a:t>Cook,</a:t>
            </a:r>
            <a:r>
              <a:rPr sz="1000" b="1" spc="-30" dirty="0">
                <a:solidFill>
                  <a:schemeClr val="tx1">
                    <a:lumMod val="75000"/>
                    <a:lumOff val="25000"/>
                  </a:schemeClr>
                </a:solidFill>
                <a:cs typeface="Arial"/>
              </a:rPr>
              <a:t> </a:t>
            </a:r>
            <a:r>
              <a:rPr sz="1000" b="1" dirty="0">
                <a:solidFill>
                  <a:schemeClr val="tx1">
                    <a:lumMod val="75000"/>
                    <a:lumOff val="25000"/>
                  </a:schemeClr>
                </a:solidFill>
                <a:cs typeface="Arial"/>
              </a:rPr>
              <a:t>eds.</a:t>
            </a:r>
            <a:r>
              <a:rPr sz="1000" b="1" spc="-15" dirty="0">
                <a:solidFill>
                  <a:schemeClr val="tx1">
                    <a:lumMod val="75000"/>
                    <a:lumOff val="25000"/>
                  </a:schemeClr>
                </a:solidFill>
                <a:cs typeface="Arial"/>
              </a:rPr>
              <a:t> </a:t>
            </a:r>
            <a:r>
              <a:rPr sz="1000" b="1" i="1" dirty="0">
                <a:solidFill>
                  <a:schemeClr val="tx1">
                    <a:lumMod val="75000"/>
                    <a:lumOff val="25000"/>
                  </a:schemeClr>
                </a:solidFill>
                <a:cs typeface="Arial"/>
              </a:rPr>
              <a:t>Illuminating</a:t>
            </a:r>
            <a:r>
              <a:rPr sz="1000" b="1" i="1" spc="-30" dirty="0">
                <a:solidFill>
                  <a:schemeClr val="tx1">
                    <a:lumMod val="75000"/>
                    <a:lumOff val="25000"/>
                  </a:schemeClr>
                </a:solidFill>
                <a:cs typeface="Arial"/>
              </a:rPr>
              <a:t> </a:t>
            </a:r>
            <a:r>
              <a:rPr sz="1000" b="1" i="1" dirty="0">
                <a:solidFill>
                  <a:schemeClr val="tx1">
                    <a:lumMod val="75000"/>
                    <a:lumOff val="25000"/>
                  </a:schemeClr>
                </a:solidFill>
                <a:cs typeface="Arial"/>
              </a:rPr>
              <a:t>the</a:t>
            </a:r>
            <a:r>
              <a:rPr sz="1000" b="1" i="1" spc="-30" dirty="0">
                <a:solidFill>
                  <a:schemeClr val="tx1">
                    <a:lumMod val="75000"/>
                    <a:lumOff val="25000"/>
                  </a:schemeClr>
                </a:solidFill>
                <a:cs typeface="Arial"/>
              </a:rPr>
              <a:t> </a:t>
            </a:r>
            <a:r>
              <a:rPr sz="1000" b="1" i="1" dirty="0">
                <a:solidFill>
                  <a:schemeClr val="tx1">
                    <a:lumMod val="75000"/>
                    <a:lumOff val="25000"/>
                  </a:schemeClr>
                </a:solidFill>
                <a:cs typeface="Arial"/>
              </a:rPr>
              <a:t>path:</a:t>
            </a:r>
            <a:r>
              <a:rPr sz="1000" b="1" i="1" spc="-20" dirty="0">
                <a:solidFill>
                  <a:schemeClr val="tx1">
                    <a:lumMod val="75000"/>
                    <a:lumOff val="25000"/>
                  </a:schemeClr>
                </a:solidFill>
                <a:cs typeface="Arial"/>
              </a:rPr>
              <a:t> </a:t>
            </a:r>
            <a:r>
              <a:rPr sz="1000" b="1" i="1" dirty="0">
                <a:solidFill>
                  <a:schemeClr val="tx1">
                    <a:lumMod val="75000"/>
                    <a:lumOff val="25000"/>
                  </a:schemeClr>
                </a:solidFill>
                <a:cs typeface="Arial"/>
              </a:rPr>
              <a:t>The</a:t>
            </a:r>
            <a:r>
              <a:rPr sz="1000" b="1" i="1" spc="-30" dirty="0">
                <a:solidFill>
                  <a:schemeClr val="tx1">
                    <a:lumMod val="75000"/>
                    <a:lumOff val="25000"/>
                  </a:schemeClr>
                </a:solidFill>
                <a:cs typeface="Arial"/>
              </a:rPr>
              <a:t> </a:t>
            </a:r>
            <a:r>
              <a:rPr sz="1000" b="1" i="1" dirty="0">
                <a:solidFill>
                  <a:schemeClr val="tx1">
                    <a:lumMod val="75000"/>
                    <a:lumOff val="25000"/>
                  </a:schemeClr>
                </a:solidFill>
                <a:cs typeface="Arial"/>
              </a:rPr>
              <a:t>research</a:t>
            </a:r>
            <a:r>
              <a:rPr sz="1000" b="1" i="1" spc="-25" dirty="0">
                <a:solidFill>
                  <a:schemeClr val="tx1">
                    <a:lumMod val="75000"/>
                    <a:lumOff val="25000"/>
                  </a:schemeClr>
                </a:solidFill>
                <a:cs typeface="Arial"/>
              </a:rPr>
              <a:t> and </a:t>
            </a:r>
            <a:r>
              <a:rPr sz="1000" b="1" i="1" dirty="0">
                <a:solidFill>
                  <a:schemeClr val="tx1">
                    <a:lumMod val="75000"/>
                    <a:lumOff val="25000"/>
                  </a:schemeClr>
                </a:solidFill>
                <a:cs typeface="Arial"/>
              </a:rPr>
              <a:t>development</a:t>
            </a:r>
            <a:r>
              <a:rPr sz="1000" b="1" i="1" spc="-25" dirty="0">
                <a:solidFill>
                  <a:schemeClr val="tx1">
                    <a:lumMod val="75000"/>
                    <a:lumOff val="25000"/>
                  </a:schemeClr>
                </a:solidFill>
                <a:cs typeface="Arial"/>
              </a:rPr>
              <a:t> </a:t>
            </a:r>
            <a:r>
              <a:rPr sz="1000" b="1" i="1" dirty="0">
                <a:solidFill>
                  <a:schemeClr val="tx1">
                    <a:lumMod val="75000"/>
                    <a:lumOff val="25000"/>
                  </a:schemeClr>
                </a:solidFill>
                <a:cs typeface="Arial"/>
              </a:rPr>
              <a:t>agenda</a:t>
            </a:r>
            <a:r>
              <a:rPr sz="1000" b="1" i="1" spc="-35" dirty="0">
                <a:solidFill>
                  <a:schemeClr val="tx1">
                    <a:lumMod val="75000"/>
                    <a:lumOff val="25000"/>
                  </a:schemeClr>
                </a:solidFill>
                <a:cs typeface="Arial"/>
              </a:rPr>
              <a:t> </a:t>
            </a:r>
            <a:r>
              <a:rPr sz="1000" b="1" i="1" dirty="0">
                <a:solidFill>
                  <a:schemeClr val="tx1">
                    <a:lumMod val="75000"/>
                    <a:lumOff val="25000"/>
                  </a:schemeClr>
                </a:solidFill>
                <a:cs typeface="Arial"/>
              </a:rPr>
              <a:t>for</a:t>
            </a:r>
            <a:r>
              <a:rPr sz="1000" b="1" i="1" spc="-30" dirty="0">
                <a:solidFill>
                  <a:schemeClr val="tx1">
                    <a:lumMod val="75000"/>
                    <a:lumOff val="25000"/>
                  </a:schemeClr>
                </a:solidFill>
                <a:cs typeface="Arial"/>
              </a:rPr>
              <a:t> </a:t>
            </a:r>
            <a:r>
              <a:rPr sz="1000" b="1" i="1" dirty="0">
                <a:solidFill>
                  <a:schemeClr val="tx1">
                    <a:lumMod val="75000"/>
                    <a:lumOff val="25000"/>
                  </a:schemeClr>
                </a:solidFill>
                <a:cs typeface="Arial"/>
              </a:rPr>
              <a:t>visual</a:t>
            </a:r>
            <a:r>
              <a:rPr sz="1000" b="1" i="1" spc="-35" dirty="0">
                <a:solidFill>
                  <a:schemeClr val="tx1">
                    <a:lumMod val="75000"/>
                    <a:lumOff val="25000"/>
                  </a:schemeClr>
                </a:solidFill>
                <a:cs typeface="Arial"/>
              </a:rPr>
              <a:t> </a:t>
            </a:r>
            <a:r>
              <a:rPr sz="1000" b="1" i="1" dirty="0">
                <a:solidFill>
                  <a:schemeClr val="tx1">
                    <a:lumMod val="75000"/>
                    <a:lumOff val="25000"/>
                  </a:schemeClr>
                </a:solidFill>
                <a:cs typeface="Arial"/>
              </a:rPr>
              <a:t>analytics</a:t>
            </a:r>
            <a:r>
              <a:rPr sz="1000" b="1" dirty="0">
                <a:solidFill>
                  <a:schemeClr val="tx1">
                    <a:lumMod val="75000"/>
                    <a:lumOff val="25000"/>
                  </a:schemeClr>
                </a:solidFill>
                <a:cs typeface="Arial"/>
              </a:rPr>
              <a:t>.</a:t>
            </a:r>
            <a:r>
              <a:rPr sz="1000" b="1" spc="-30" dirty="0">
                <a:solidFill>
                  <a:schemeClr val="tx1">
                    <a:lumMod val="75000"/>
                    <a:lumOff val="25000"/>
                  </a:schemeClr>
                </a:solidFill>
                <a:cs typeface="Arial"/>
              </a:rPr>
              <a:t> </a:t>
            </a:r>
            <a:r>
              <a:rPr sz="1000" b="1" dirty="0">
                <a:solidFill>
                  <a:schemeClr val="tx1">
                    <a:lumMod val="75000"/>
                    <a:lumOff val="25000"/>
                  </a:schemeClr>
                </a:solidFill>
                <a:cs typeface="Arial"/>
              </a:rPr>
              <a:t>IEEE</a:t>
            </a:r>
            <a:r>
              <a:rPr sz="1000" b="1" spc="-35" dirty="0">
                <a:solidFill>
                  <a:schemeClr val="tx1">
                    <a:lumMod val="75000"/>
                    <a:lumOff val="25000"/>
                  </a:schemeClr>
                </a:solidFill>
                <a:cs typeface="Arial"/>
              </a:rPr>
              <a:t> </a:t>
            </a:r>
            <a:r>
              <a:rPr sz="1000" b="1" dirty="0">
                <a:solidFill>
                  <a:schemeClr val="tx1">
                    <a:lumMod val="75000"/>
                    <a:lumOff val="25000"/>
                  </a:schemeClr>
                </a:solidFill>
                <a:cs typeface="Arial"/>
              </a:rPr>
              <a:t>Computer</a:t>
            </a:r>
            <a:r>
              <a:rPr sz="1000" b="1" spc="-30" dirty="0">
                <a:solidFill>
                  <a:schemeClr val="tx1">
                    <a:lumMod val="75000"/>
                    <a:lumOff val="25000"/>
                  </a:schemeClr>
                </a:solidFill>
                <a:cs typeface="Arial"/>
              </a:rPr>
              <a:t> </a:t>
            </a:r>
            <a:r>
              <a:rPr sz="1000" b="1" dirty="0">
                <a:solidFill>
                  <a:schemeClr val="tx1">
                    <a:lumMod val="75000"/>
                    <a:lumOff val="25000"/>
                  </a:schemeClr>
                </a:solidFill>
                <a:cs typeface="Arial"/>
              </a:rPr>
              <a:t>Society</a:t>
            </a:r>
            <a:r>
              <a:rPr sz="1000" b="1" spc="-35" dirty="0">
                <a:solidFill>
                  <a:schemeClr val="tx1">
                    <a:lumMod val="75000"/>
                    <a:lumOff val="25000"/>
                  </a:schemeClr>
                </a:solidFill>
                <a:cs typeface="Arial"/>
              </a:rPr>
              <a:t> </a:t>
            </a:r>
            <a:r>
              <a:rPr sz="1000" b="1" dirty="0">
                <a:solidFill>
                  <a:schemeClr val="tx1">
                    <a:lumMod val="75000"/>
                    <a:lumOff val="25000"/>
                  </a:schemeClr>
                </a:solidFill>
                <a:cs typeface="Arial"/>
              </a:rPr>
              <a:t>Press,</a:t>
            </a:r>
            <a:r>
              <a:rPr sz="1000" b="1" spc="-30" dirty="0">
                <a:solidFill>
                  <a:schemeClr val="tx1">
                    <a:lumMod val="75000"/>
                    <a:lumOff val="25000"/>
                  </a:schemeClr>
                </a:solidFill>
                <a:cs typeface="Arial"/>
              </a:rPr>
              <a:t> </a:t>
            </a:r>
            <a:r>
              <a:rPr sz="1000" b="1" spc="-10" dirty="0">
                <a:solidFill>
                  <a:schemeClr val="tx1">
                    <a:lumMod val="75000"/>
                    <a:lumOff val="25000"/>
                  </a:schemeClr>
                </a:solidFill>
                <a:cs typeface="Arial"/>
              </a:rPr>
              <a:t>2005.</a:t>
            </a:r>
            <a:endParaRPr sz="1000" dirty="0">
              <a:solidFill>
                <a:schemeClr val="tx1">
                  <a:lumMod val="75000"/>
                  <a:lumOff val="25000"/>
                </a:schemeClr>
              </a:solidFill>
              <a:cs typeface="Arial"/>
            </a:endParaRPr>
          </a:p>
        </p:txBody>
      </p:sp>
      <p:sp>
        <p:nvSpPr>
          <p:cNvPr id="3" name="Rounded Rectangular Callout 2">
            <a:extLst>
              <a:ext uri="{FF2B5EF4-FFF2-40B4-BE49-F238E27FC236}">
                <a16:creationId xmlns:a16="http://schemas.microsoft.com/office/drawing/2014/main" id="{9CBF502D-AD8B-3D40-362F-1F50204C04EB}"/>
              </a:ext>
            </a:extLst>
          </p:cNvPr>
          <p:cNvSpPr/>
          <p:nvPr/>
        </p:nvSpPr>
        <p:spPr>
          <a:xfrm>
            <a:off x="8098421" y="5295755"/>
            <a:ext cx="3512387" cy="1209612"/>
          </a:xfrm>
          <a:prstGeom prst="wedgeRoundRectCallout">
            <a:avLst>
              <a:gd name="adj1" fmla="val 7997"/>
              <a:gd name="adj2" fmla="val -15351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pc="-10" dirty="0">
                <a:solidFill>
                  <a:schemeClr val="bg1"/>
                </a:solidFill>
                <a:cs typeface="Arial"/>
              </a:rPr>
              <a:t>visual </a:t>
            </a:r>
            <a:r>
              <a:rPr lang="en-US" b="1" spc="-10" dirty="0">
                <a:solidFill>
                  <a:schemeClr val="bg1"/>
                </a:solidFill>
                <a:cs typeface="Arial"/>
              </a:rPr>
              <a:t>representations </a:t>
            </a:r>
            <a:r>
              <a:rPr lang="en-US" dirty="0">
                <a:solidFill>
                  <a:schemeClr val="bg1"/>
                </a:solidFill>
                <a:cs typeface="Arial"/>
              </a:rPr>
              <a:t>of</a:t>
            </a:r>
            <a:r>
              <a:rPr lang="en-US" spc="-40" dirty="0">
                <a:solidFill>
                  <a:schemeClr val="bg1"/>
                </a:solidFill>
                <a:cs typeface="Arial"/>
              </a:rPr>
              <a:t> </a:t>
            </a:r>
            <a:r>
              <a:rPr lang="en-US" dirty="0">
                <a:solidFill>
                  <a:schemeClr val="bg1"/>
                </a:solidFill>
                <a:cs typeface="Arial"/>
              </a:rPr>
              <a:t>data</a:t>
            </a:r>
            <a:r>
              <a:rPr lang="en-US" spc="-35" dirty="0">
                <a:solidFill>
                  <a:schemeClr val="bg1"/>
                </a:solidFill>
                <a:cs typeface="Arial"/>
              </a:rPr>
              <a:t> </a:t>
            </a:r>
            <a:r>
              <a:rPr lang="en-US" spc="-25" dirty="0">
                <a:solidFill>
                  <a:schemeClr val="bg1"/>
                </a:solidFill>
                <a:cs typeface="Arial"/>
              </a:rPr>
              <a:t>that </a:t>
            </a:r>
            <a:r>
              <a:rPr lang="en-US" dirty="0">
                <a:solidFill>
                  <a:schemeClr val="bg1"/>
                </a:solidFill>
                <a:cs typeface="Arial"/>
              </a:rPr>
              <a:t>reinforce</a:t>
            </a:r>
            <a:r>
              <a:rPr lang="en-US" spc="-90" dirty="0">
                <a:solidFill>
                  <a:schemeClr val="bg1"/>
                </a:solidFill>
                <a:cs typeface="Arial"/>
              </a:rPr>
              <a:t> </a:t>
            </a:r>
            <a:r>
              <a:rPr lang="en-US" spc="-20" dirty="0">
                <a:solidFill>
                  <a:schemeClr val="bg1"/>
                </a:solidFill>
                <a:cs typeface="Arial"/>
              </a:rPr>
              <a:t>human </a:t>
            </a:r>
            <a:r>
              <a:rPr lang="en-US" b="1" spc="-10" dirty="0">
                <a:solidFill>
                  <a:schemeClr val="bg1"/>
                </a:solidFill>
                <a:cs typeface="Arial"/>
              </a:rPr>
              <a:t>cognition</a:t>
            </a:r>
            <a:endParaRPr lang="en-US" dirty="0">
              <a:solidFill>
                <a:schemeClr val="bg1"/>
              </a:solidFill>
              <a:cs typeface="Arial"/>
            </a:endParaRPr>
          </a:p>
        </p:txBody>
      </p:sp>
      <p:sp>
        <p:nvSpPr>
          <p:cNvPr id="4" name="Rounded Rectangular Callout 3">
            <a:extLst>
              <a:ext uri="{FF2B5EF4-FFF2-40B4-BE49-F238E27FC236}">
                <a16:creationId xmlns:a16="http://schemas.microsoft.com/office/drawing/2014/main" id="{A4874E7E-91DB-BAE5-3284-4A0499A824C3}"/>
              </a:ext>
            </a:extLst>
          </p:cNvPr>
          <p:cNvSpPr/>
          <p:nvPr/>
        </p:nvSpPr>
        <p:spPr>
          <a:xfrm>
            <a:off x="6096000" y="1950904"/>
            <a:ext cx="3862682" cy="1013800"/>
          </a:xfrm>
          <a:prstGeom prst="wedgeRoundRectCallout">
            <a:avLst>
              <a:gd name="adj1" fmla="val 28778"/>
              <a:gd name="adj2" fmla="val 76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 marR="5080" indent="-183515" algn="ctr">
              <a:lnSpc>
                <a:spcPct val="100200"/>
              </a:lnSpc>
              <a:spcBef>
                <a:spcPts val="90"/>
              </a:spcBef>
            </a:pPr>
            <a:r>
              <a:rPr lang="en-US" b="1" dirty="0">
                <a:solidFill>
                  <a:schemeClr val="bg1"/>
                </a:solidFill>
                <a:cs typeface="Arial"/>
              </a:rPr>
              <a:t>discovery</a:t>
            </a:r>
            <a:r>
              <a:rPr lang="en-US" b="1" spc="-90" dirty="0">
                <a:solidFill>
                  <a:schemeClr val="bg1"/>
                </a:solidFill>
                <a:cs typeface="Arial"/>
              </a:rPr>
              <a:t> </a:t>
            </a:r>
            <a:r>
              <a:rPr lang="en-US" spc="-25" dirty="0">
                <a:solidFill>
                  <a:schemeClr val="bg1"/>
                </a:solidFill>
                <a:cs typeface="Arial"/>
              </a:rPr>
              <a:t>and </a:t>
            </a:r>
            <a:r>
              <a:rPr lang="en-US" b="1" spc="-10" dirty="0">
                <a:solidFill>
                  <a:schemeClr val="bg1"/>
                </a:solidFill>
                <a:cs typeface="Arial"/>
              </a:rPr>
              <a:t>communication </a:t>
            </a:r>
            <a:r>
              <a:rPr lang="en-US" dirty="0">
                <a:solidFill>
                  <a:schemeClr val="bg1"/>
                </a:solidFill>
                <a:cs typeface="Arial"/>
              </a:rPr>
              <a:t>of</a:t>
            </a:r>
            <a:r>
              <a:rPr lang="en-US" spc="-25" dirty="0">
                <a:solidFill>
                  <a:schemeClr val="bg1"/>
                </a:solidFill>
                <a:cs typeface="Arial"/>
              </a:rPr>
              <a:t> </a:t>
            </a:r>
            <a:r>
              <a:rPr lang="en-US" spc="-10" dirty="0">
                <a:solidFill>
                  <a:schemeClr val="bg1"/>
                </a:solidFill>
                <a:cs typeface="Arial"/>
              </a:rPr>
              <a:t>meaningful </a:t>
            </a:r>
            <a:r>
              <a:rPr lang="en-US" dirty="0">
                <a:solidFill>
                  <a:schemeClr val="bg1"/>
                </a:solidFill>
                <a:cs typeface="Arial"/>
              </a:rPr>
              <a:t>patterns</a:t>
            </a:r>
            <a:r>
              <a:rPr lang="en-US" spc="-45" dirty="0">
                <a:solidFill>
                  <a:schemeClr val="bg1"/>
                </a:solidFill>
                <a:cs typeface="Arial"/>
              </a:rPr>
              <a:t> </a:t>
            </a:r>
            <a:r>
              <a:rPr lang="en-US" dirty="0">
                <a:solidFill>
                  <a:schemeClr val="bg1"/>
                </a:solidFill>
                <a:cs typeface="Arial"/>
              </a:rPr>
              <a:t>in</a:t>
            </a:r>
            <a:r>
              <a:rPr lang="en-US" spc="-40" dirty="0">
                <a:solidFill>
                  <a:schemeClr val="bg1"/>
                </a:solidFill>
                <a:cs typeface="Arial"/>
              </a:rPr>
              <a:t> </a:t>
            </a:r>
            <a:r>
              <a:rPr lang="en-US" spc="-20" dirty="0">
                <a:solidFill>
                  <a:schemeClr val="bg1"/>
                </a:solidFill>
                <a:cs typeface="Arial"/>
              </a:rPr>
              <a:t>data</a:t>
            </a:r>
            <a:endParaRPr lang="en-US" dirty="0">
              <a:solidFill>
                <a:schemeClr val="bg1"/>
              </a:solidFill>
              <a:cs typeface="Arial"/>
            </a:endParaRPr>
          </a:p>
        </p:txBody>
      </p:sp>
    </p:spTree>
    <p:extLst>
      <p:ext uri="{BB962C8B-B14F-4D97-AF65-F5344CB8AC3E}">
        <p14:creationId xmlns:p14="http://schemas.microsoft.com/office/powerpoint/2010/main" val="3094995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51D1-66F5-1C78-88EC-D1B619C39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6519AC-3394-B56E-A29E-C9F755695428}"/>
              </a:ext>
            </a:extLst>
          </p:cNvPr>
          <p:cNvSpPr>
            <a:spLocks noGrp="1"/>
          </p:cNvSpPr>
          <p:nvPr>
            <p:ph type="title"/>
          </p:nvPr>
        </p:nvSpPr>
        <p:spPr/>
        <p:txBody>
          <a:bodyPr/>
          <a:lstStyle/>
          <a:p>
            <a:r>
              <a:rPr lang="en-US" dirty="0"/>
              <a:t>Recall: What is visual analytics?</a:t>
            </a:r>
          </a:p>
        </p:txBody>
      </p:sp>
      <p:pic>
        <p:nvPicPr>
          <p:cNvPr id="17" name="Picture 16" descr="A diagram of a model&#10;&#10;AI-generated content may be incorrect.">
            <a:extLst>
              <a:ext uri="{FF2B5EF4-FFF2-40B4-BE49-F238E27FC236}">
                <a16:creationId xmlns:a16="http://schemas.microsoft.com/office/drawing/2014/main" id="{7919B10C-F148-E2AC-2EE4-C2251F34037D}"/>
              </a:ext>
            </a:extLst>
          </p:cNvPr>
          <p:cNvPicPr>
            <a:picLocks noChangeAspect="1"/>
          </p:cNvPicPr>
          <p:nvPr/>
        </p:nvPicPr>
        <p:blipFill>
          <a:blip r:embed="rId3"/>
          <a:stretch>
            <a:fillRect/>
          </a:stretch>
        </p:blipFill>
        <p:spPr>
          <a:xfrm>
            <a:off x="964201" y="2359353"/>
            <a:ext cx="10263593" cy="3534061"/>
          </a:xfrm>
          <a:prstGeom prst="rect">
            <a:avLst/>
          </a:prstGeom>
        </p:spPr>
      </p:pic>
      <p:sp>
        <p:nvSpPr>
          <p:cNvPr id="18" name="TextBox 17">
            <a:extLst>
              <a:ext uri="{FF2B5EF4-FFF2-40B4-BE49-F238E27FC236}">
                <a16:creationId xmlns:a16="http://schemas.microsoft.com/office/drawing/2014/main" id="{8CD74357-4EDB-6EB8-82B2-E6A584B4358A}"/>
              </a:ext>
            </a:extLst>
          </p:cNvPr>
          <p:cNvSpPr txBox="1"/>
          <p:nvPr/>
        </p:nvSpPr>
        <p:spPr>
          <a:xfrm>
            <a:off x="342898" y="5893414"/>
            <a:ext cx="11506201" cy="923330"/>
          </a:xfrm>
          <a:prstGeom prst="rect">
            <a:avLst/>
          </a:prstGeom>
          <a:noFill/>
        </p:spPr>
        <p:txBody>
          <a:bodyPr wrap="square" rtlCol="0">
            <a:spAutoFit/>
          </a:bodyPr>
          <a:lstStyle/>
          <a:p>
            <a:r>
              <a:rPr lang="en-US" dirty="0"/>
              <a:t>D. Sacha, A. Stoffel, F. Stoffel, B. C. Kwon, G. Ellis and D. A. Keim, "Knowledge Generation Model for Visual Analytics," in IEEE Transactions on Visualization and Computer Graphics, vol. 20, no. 12, pp. 1604-1613, 31 Dec. 2014, </a:t>
            </a:r>
            <a:r>
              <a:rPr lang="en-US" dirty="0" err="1"/>
              <a:t>doi</a:t>
            </a:r>
            <a:r>
              <a:rPr lang="en-US" dirty="0"/>
              <a:t>: 10.1109/TVCG.2014.2346481.</a:t>
            </a:r>
          </a:p>
        </p:txBody>
      </p:sp>
      <p:sp>
        <p:nvSpPr>
          <p:cNvPr id="5" name="Content Placeholder 2">
            <a:extLst>
              <a:ext uri="{FF2B5EF4-FFF2-40B4-BE49-F238E27FC236}">
                <a16:creationId xmlns:a16="http://schemas.microsoft.com/office/drawing/2014/main" id="{C7E45DB2-9482-1AE6-3BDE-86E9BC35628F}"/>
              </a:ext>
            </a:extLst>
          </p:cNvPr>
          <p:cNvSpPr>
            <a:spLocks noGrp="1"/>
          </p:cNvSpPr>
          <p:nvPr>
            <p:ph idx="1"/>
          </p:nvPr>
        </p:nvSpPr>
        <p:spPr>
          <a:xfrm>
            <a:off x="581192" y="2180496"/>
            <a:ext cx="9413200" cy="4174584"/>
          </a:xfrm>
        </p:spPr>
        <p:txBody>
          <a:bodyPr anchor="t">
            <a:noAutofit/>
          </a:bodyPr>
          <a:lstStyle/>
          <a:p>
            <a:pPr marL="324000" lvl="1" indent="0">
              <a:buNone/>
            </a:pPr>
            <a:r>
              <a:rPr lang="en-US" sz="2200" b="1" dirty="0"/>
              <a:t>Big Idea</a:t>
            </a:r>
            <a:r>
              <a:rPr lang="en-US" sz="2200" dirty="0"/>
              <a:t>: Leverage complimentary strengths of humans and computers</a:t>
            </a:r>
            <a:endParaRPr lang="en-US" sz="2200" dirty="0">
              <a:hlinkClick r:id="rId4"/>
            </a:endParaRPr>
          </a:p>
        </p:txBody>
      </p:sp>
    </p:spTree>
    <p:extLst>
      <p:ext uri="{BB962C8B-B14F-4D97-AF65-F5344CB8AC3E}">
        <p14:creationId xmlns:p14="http://schemas.microsoft.com/office/powerpoint/2010/main" val="3048603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389F3-31A4-CDD1-78E4-5D68EB561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6C48B-9DB6-6A05-8123-5DB4701FF510}"/>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C5133A9D-1B29-BEFC-CC6D-912A18119D26}"/>
              </a:ext>
            </a:extLst>
          </p:cNvPr>
          <p:cNvSpPr>
            <a:spLocks noGrp="1"/>
          </p:cNvSpPr>
          <p:nvPr>
            <p:ph idx="1"/>
          </p:nvPr>
        </p:nvSpPr>
        <p:spPr>
          <a:effectLst>
            <a:glow rad="228600">
              <a:schemeClr val="accent5">
                <a:satMod val="175000"/>
                <a:alpha val="40000"/>
              </a:schemeClr>
            </a:glow>
          </a:effectLst>
        </p:spPr>
        <p:txBody>
          <a:bodyPr anchor="t">
            <a:normAutofit/>
          </a:bodyPr>
          <a:lstStyle/>
          <a:p>
            <a:r>
              <a:rPr lang="en-US" sz="2400" dirty="0">
                <a:effectLst>
                  <a:glow rad="228600">
                    <a:schemeClr val="accent5">
                      <a:satMod val="175000"/>
                      <a:alpha val="40000"/>
                    </a:schemeClr>
                  </a:glow>
                </a:effectLst>
              </a:rPr>
              <a:t>Science of interaction </a:t>
            </a:r>
            <a:r>
              <a:rPr lang="en-US" sz="2400" dirty="0"/>
              <a:t>is the study of methods by which humans create knowledge through manipulation of an interface </a:t>
            </a:r>
          </a:p>
          <a:p>
            <a:r>
              <a:rPr lang="en-US" sz="2400" dirty="0"/>
              <a:t>Interaction refers to:</a:t>
            </a:r>
          </a:p>
          <a:p>
            <a:pPr lvl="1"/>
            <a:r>
              <a:rPr lang="en-US" sz="2400" dirty="0"/>
              <a:t>Set of controls through which a user can manipulate an interface</a:t>
            </a:r>
          </a:p>
          <a:p>
            <a:pPr lvl="1"/>
            <a:r>
              <a:rPr lang="en-US" sz="2400" dirty="0"/>
              <a:t>Cognitive act between the user and the problem space facilitated by computational tools</a:t>
            </a:r>
          </a:p>
        </p:txBody>
      </p:sp>
      <p:sp>
        <p:nvSpPr>
          <p:cNvPr id="4" name="Rounded Rectangular Callout 3">
            <a:extLst>
              <a:ext uri="{FF2B5EF4-FFF2-40B4-BE49-F238E27FC236}">
                <a16:creationId xmlns:a16="http://schemas.microsoft.com/office/drawing/2014/main" id="{3AD061BA-4393-D9AC-A8B8-3FEE323AF205}"/>
              </a:ext>
            </a:extLst>
          </p:cNvPr>
          <p:cNvSpPr/>
          <p:nvPr/>
        </p:nvSpPr>
        <p:spPr>
          <a:xfrm>
            <a:off x="9248503" y="2821577"/>
            <a:ext cx="2220686" cy="953589"/>
          </a:xfrm>
          <a:prstGeom prst="wedgeRoundRectCallout">
            <a:avLst>
              <a:gd name="adj1" fmla="val -60974"/>
              <a:gd name="adj2" fmla="val 37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More concrete concept</a:t>
            </a:r>
          </a:p>
        </p:txBody>
      </p:sp>
      <p:sp>
        <p:nvSpPr>
          <p:cNvPr id="5" name="Rounded Rectangular Callout 4">
            <a:extLst>
              <a:ext uri="{FF2B5EF4-FFF2-40B4-BE49-F238E27FC236}">
                <a16:creationId xmlns:a16="http://schemas.microsoft.com/office/drawing/2014/main" id="{50AA8798-208D-ABED-A298-3EB990AD955F}"/>
              </a:ext>
            </a:extLst>
          </p:cNvPr>
          <p:cNvSpPr/>
          <p:nvPr/>
        </p:nvSpPr>
        <p:spPr>
          <a:xfrm>
            <a:off x="4423954" y="4839896"/>
            <a:ext cx="1672046" cy="953589"/>
          </a:xfrm>
          <a:prstGeom prst="wedgeRoundRectCallout">
            <a:avLst>
              <a:gd name="adj1" fmla="val -74503"/>
              <a:gd name="adj2" fmla="val -7482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Abstract concept</a:t>
            </a:r>
          </a:p>
        </p:txBody>
      </p:sp>
      <p:sp>
        <p:nvSpPr>
          <p:cNvPr id="7" name="TextBox 6">
            <a:extLst>
              <a:ext uri="{FF2B5EF4-FFF2-40B4-BE49-F238E27FC236}">
                <a16:creationId xmlns:a16="http://schemas.microsoft.com/office/drawing/2014/main" id="{FBDD0247-A3E0-BC2A-90EE-6A1AA5D7888B}"/>
              </a:ext>
            </a:extLst>
          </p:cNvPr>
          <p:cNvSpPr txBox="1"/>
          <p:nvPr/>
        </p:nvSpPr>
        <p:spPr>
          <a:xfrm>
            <a:off x="5904411" y="6323339"/>
            <a:ext cx="6786154" cy="523220"/>
          </a:xfrm>
          <a:prstGeom prst="rect">
            <a:avLst/>
          </a:prstGeom>
          <a:noFill/>
        </p:spPr>
        <p:txBody>
          <a:bodyPr wrap="square">
            <a:spAutoFit/>
          </a:bodyPr>
          <a:lstStyle/>
          <a:p>
            <a:r>
              <a:rPr lang="en-US" sz="1400" b="0" i="0" dirty="0">
                <a:solidFill>
                  <a:srgbClr val="333333"/>
                </a:solidFill>
                <a:effectLst/>
              </a:rPr>
              <a:t>Pike, W. A., Stasko, J., Chang, R., &amp; O’Connell, T. A. (2009). The Science of Interaction. </a:t>
            </a:r>
            <a:r>
              <a:rPr lang="en-US" sz="1400" b="0" i="1" dirty="0">
                <a:solidFill>
                  <a:srgbClr val="333333"/>
                </a:solidFill>
                <a:effectLst/>
              </a:rPr>
              <a:t>Information Visualization</a:t>
            </a:r>
            <a:r>
              <a:rPr lang="en-US" sz="1400" b="0" i="0" dirty="0">
                <a:solidFill>
                  <a:srgbClr val="333333"/>
                </a:solidFill>
                <a:effectLst/>
              </a:rPr>
              <a:t>, </a:t>
            </a:r>
            <a:r>
              <a:rPr lang="en-US" sz="1400" b="0" i="1" dirty="0">
                <a:solidFill>
                  <a:srgbClr val="333333"/>
                </a:solidFill>
                <a:effectLst/>
              </a:rPr>
              <a:t>8</a:t>
            </a:r>
            <a:r>
              <a:rPr lang="en-US" sz="1400" b="0" i="0" dirty="0">
                <a:solidFill>
                  <a:srgbClr val="333333"/>
                </a:solidFill>
                <a:effectLst/>
              </a:rPr>
              <a:t>(4), 263-274. </a:t>
            </a:r>
            <a:r>
              <a:rPr lang="en-US" sz="1400" b="0" i="0" u="sng" dirty="0">
                <a:solidFill>
                  <a:srgbClr val="1554B2"/>
                </a:solidFill>
                <a:effectLst/>
                <a:hlinkClick r:id="rId2"/>
              </a:rPr>
              <a:t>https://doi.org/10.1057/ivs.2009.22</a:t>
            </a:r>
            <a:endParaRPr lang="en-US" sz="1400" dirty="0"/>
          </a:p>
        </p:txBody>
      </p:sp>
    </p:spTree>
    <p:extLst>
      <p:ext uri="{BB962C8B-B14F-4D97-AF65-F5344CB8AC3E}">
        <p14:creationId xmlns:p14="http://schemas.microsoft.com/office/powerpoint/2010/main" val="1259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13118-3D03-DC35-1545-CA684EBBA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A0C6C-BF08-568C-5F5B-96B21C03E13E}"/>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A40B87A1-B826-37B1-21AA-2E2D93CC7135}"/>
              </a:ext>
            </a:extLst>
          </p:cNvPr>
          <p:cNvSpPr>
            <a:spLocks noGrp="1"/>
          </p:cNvSpPr>
          <p:nvPr>
            <p:ph idx="1"/>
          </p:nvPr>
        </p:nvSpPr>
        <p:spPr>
          <a:xfrm>
            <a:off x="581192" y="2180496"/>
            <a:ext cx="6695097" cy="4181393"/>
          </a:xfrm>
          <a:effectLst>
            <a:glow rad="228600">
              <a:schemeClr val="accent5">
                <a:satMod val="175000"/>
                <a:alpha val="40000"/>
              </a:schemeClr>
            </a:glow>
          </a:effectLst>
        </p:spPr>
        <p:txBody>
          <a:bodyPr anchor="t">
            <a:normAutofit/>
          </a:bodyPr>
          <a:lstStyle/>
          <a:p>
            <a:r>
              <a:rPr lang="en-US" sz="2400" dirty="0"/>
              <a:t>Ex. Suppose you implement a program that simulates solving a Rubik’s cube</a:t>
            </a:r>
          </a:p>
          <a:p>
            <a:r>
              <a:rPr lang="en-US" sz="2400" dirty="0"/>
              <a:t>When someone uses your program:</a:t>
            </a:r>
          </a:p>
          <a:p>
            <a:pPr lvl="1"/>
            <a:r>
              <a:rPr lang="en-US" sz="2400" dirty="0"/>
              <a:t>What abstract problem space are they interacting with? </a:t>
            </a:r>
          </a:p>
          <a:p>
            <a:pPr lvl="1"/>
            <a:r>
              <a:rPr lang="en-US" sz="2400" dirty="0"/>
              <a:t>What are the concrete ways they interact with the program?  </a:t>
            </a:r>
          </a:p>
        </p:txBody>
      </p:sp>
      <p:pic>
        <p:nvPicPr>
          <p:cNvPr id="6" name="Google Shape;127;p18">
            <a:extLst>
              <a:ext uri="{FF2B5EF4-FFF2-40B4-BE49-F238E27FC236}">
                <a16:creationId xmlns:a16="http://schemas.microsoft.com/office/drawing/2014/main" id="{6B2D8011-AE81-6D2C-4103-5382EB7E6579}"/>
              </a:ext>
            </a:extLst>
          </p:cNvPr>
          <p:cNvPicPr preferRelativeResize="0">
            <a:picLocks/>
          </p:cNvPicPr>
          <p:nvPr/>
        </p:nvPicPr>
        <p:blipFill rotWithShape="1">
          <a:blip r:embed="rId2">
            <a:alphaModFix/>
          </a:blip>
          <a:srcRect l="-37877" r="-37876"/>
          <a:stretch/>
        </p:blipFill>
        <p:spPr>
          <a:xfrm>
            <a:off x="5306585" y="1832792"/>
            <a:ext cx="8229600" cy="4876800"/>
          </a:xfrm>
          <a:prstGeom prst="rect">
            <a:avLst/>
          </a:prstGeom>
          <a:noFill/>
          <a:ln>
            <a:noFill/>
          </a:ln>
        </p:spPr>
      </p:pic>
    </p:spTree>
    <p:extLst>
      <p:ext uri="{BB962C8B-B14F-4D97-AF65-F5344CB8AC3E}">
        <p14:creationId xmlns:p14="http://schemas.microsoft.com/office/powerpoint/2010/main" val="1036810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5F6E0-9F58-2DD4-715F-05A120F616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5A1DD-6E9E-1C51-2FE0-96288ACF9265}"/>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61F173AA-F2EC-ADBB-E518-A81C382A3859}"/>
              </a:ext>
            </a:extLst>
          </p:cNvPr>
          <p:cNvSpPr>
            <a:spLocks noGrp="1"/>
          </p:cNvSpPr>
          <p:nvPr>
            <p:ph idx="1"/>
          </p:nvPr>
        </p:nvSpPr>
        <p:spPr>
          <a:xfrm>
            <a:off x="581193" y="2180496"/>
            <a:ext cx="5884922" cy="4181393"/>
          </a:xfrm>
          <a:effectLst>
            <a:glow rad="228600">
              <a:schemeClr val="accent5">
                <a:satMod val="175000"/>
                <a:alpha val="40000"/>
              </a:schemeClr>
            </a:glow>
          </a:effectLst>
        </p:spPr>
        <p:txBody>
          <a:bodyPr anchor="t">
            <a:normAutofit/>
          </a:bodyPr>
          <a:lstStyle/>
          <a:p>
            <a:r>
              <a:rPr lang="en-US" sz="2400" dirty="0"/>
              <a:t>Ex. Use </a:t>
            </a:r>
            <a:r>
              <a:rPr lang="en-US" sz="2400" dirty="0">
                <a:hlinkClick r:id="rId2"/>
              </a:rPr>
              <a:t>DataVoyager</a:t>
            </a:r>
            <a:r>
              <a:rPr lang="en-US" sz="2400" dirty="0"/>
              <a:t> to find two variables in the Movies dataset with a negative correlation</a:t>
            </a:r>
          </a:p>
          <a:p>
            <a:r>
              <a:rPr lang="en-US" sz="2400" dirty="0"/>
              <a:t>When you perform this task:</a:t>
            </a:r>
          </a:p>
          <a:p>
            <a:pPr lvl="1"/>
            <a:r>
              <a:rPr lang="en-US" sz="2400" dirty="0"/>
              <a:t>What abstract problem space are you interacting with? </a:t>
            </a:r>
          </a:p>
          <a:p>
            <a:pPr lvl="1"/>
            <a:r>
              <a:rPr lang="en-US" sz="2400" dirty="0"/>
              <a:t>What are the concrete ways you interact with </a:t>
            </a:r>
            <a:r>
              <a:rPr lang="en-US" sz="2400" dirty="0" err="1"/>
              <a:t>DataVoyager</a:t>
            </a:r>
            <a:r>
              <a:rPr lang="en-US" sz="2400" dirty="0"/>
              <a:t>?  </a:t>
            </a:r>
          </a:p>
        </p:txBody>
      </p:sp>
      <p:pic>
        <p:nvPicPr>
          <p:cNvPr id="10" name="Picture 9" descr="A screenshot of a computer&#10;&#10;AI-generated content may be incorrect.">
            <a:extLst>
              <a:ext uri="{FF2B5EF4-FFF2-40B4-BE49-F238E27FC236}">
                <a16:creationId xmlns:a16="http://schemas.microsoft.com/office/drawing/2014/main" id="{88665A96-1EC5-8DEF-3064-098060A3E2D1}"/>
              </a:ext>
            </a:extLst>
          </p:cNvPr>
          <p:cNvPicPr>
            <a:picLocks noChangeAspect="1"/>
          </p:cNvPicPr>
          <p:nvPr/>
        </p:nvPicPr>
        <p:blipFill>
          <a:blip r:embed="rId3"/>
          <a:stretch>
            <a:fillRect/>
          </a:stretch>
        </p:blipFill>
        <p:spPr>
          <a:xfrm>
            <a:off x="5968948" y="1826343"/>
            <a:ext cx="6223052" cy="4349095"/>
          </a:xfrm>
          <a:prstGeom prst="rect">
            <a:avLst/>
          </a:prstGeom>
        </p:spPr>
      </p:pic>
    </p:spTree>
    <p:extLst>
      <p:ext uri="{BB962C8B-B14F-4D97-AF65-F5344CB8AC3E}">
        <p14:creationId xmlns:p14="http://schemas.microsoft.com/office/powerpoint/2010/main" val="722718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3751-236F-FB7B-D160-E97467847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B2C29-3C1D-53A6-E2B6-D23D7655A1F0}"/>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9BC7B8F4-0440-34B3-AEE1-7F0928F626FD}"/>
              </a:ext>
            </a:extLst>
          </p:cNvPr>
          <p:cNvSpPr>
            <a:spLocks noGrp="1"/>
          </p:cNvSpPr>
          <p:nvPr>
            <p:ph idx="1"/>
          </p:nvPr>
        </p:nvSpPr>
        <p:spPr>
          <a:xfrm>
            <a:off x="581193" y="2180496"/>
            <a:ext cx="5884922" cy="4181393"/>
          </a:xfrm>
          <a:effectLst>
            <a:glow rad="228600">
              <a:schemeClr val="accent5">
                <a:satMod val="175000"/>
                <a:alpha val="40000"/>
              </a:schemeClr>
            </a:glow>
          </a:effectLst>
        </p:spPr>
        <p:txBody>
          <a:bodyPr anchor="t">
            <a:normAutofit/>
          </a:bodyPr>
          <a:lstStyle/>
          <a:p>
            <a:r>
              <a:rPr lang="en-US" sz="2400" dirty="0"/>
              <a:t>Ex. Use </a:t>
            </a:r>
            <a:r>
              <a:rPr lang="en-US" sz="2400" dirty="0">
                <a:hlinkClick r:id="rId2"/>
              </a:rPr>
              <a:t>Global CO2 Dashboard </a:t>
            </a:r>
            <a:r>
              <a:rPr lang="en-US" sz="2400" dirty="0"/>
              <a:t>to find an insight about CO2 emissions in China</a:t>
            </a:r>
          </a:p>
          <a:p>
            <a:r>
              <a:rPr lang="en-US" sz="2400" dirty="0"/>
              <a:t>When you perform this task:</a:t>
            </a:r>
          </a:p>
          <a:p>
            <a:pPr lvl="1"/>
            <a:r>
              <a:rPr lang="en-US" sz="2400" dirty="0"/>
              <a:t>What abstract problem space are you interacting with? </a:t>
            </a:r>
          </a:p>
          <a:p>
            <a:pPr lvl="1"/>
            <a:r>
              <a:rPr lang="en-US" sz="2400" dirty="0"/>
              <a:t>What are the concrete ways you interact with the dashboard?  </a:t>
            </a:r>
          </a:p>
        </p:txBody>
      </p:sp>
      <p:pic>
        <p:nvPicPr>
          <p:cNvPr id="8" name="Picture 7" descr="A screenshot of a computer&#10;&#10;AI-generated content may be incorrect.">
            <a:extLst>
              <a:ext uri="{FF2B5EF4-FFF2-40B4-BE49-F238E27FC236}">
                <a16:creationId xmlns:a16="http://schemas.microsoft.com/office/drawing/2014/main" id="{8DC1F4FE-E7F9-E362-095A-6D2F285A60B9}"/>
              </a:ext>
            </a:extLst>
          </p:cNvPr>
          <p:cNvPicPr>
            <a:picLocks noChangeAspect="1"/>
          </p:cNvPicPr>
          <p:nvPr/>
        </p:nvPicPr>
        <p:blipFill>
          <a:blip r:embed="rId3"/>
          <a:stretch>
            <a:fillRect/>
          </a:stretch>
        </p:blipFill>
        <p:spPr>
          <a:xfrm>
            <a:off x="6096000" y="2180496"/>
            <a:ext cx="5930298" cy="3880670"/>
          </a:xfrm>
          <a:prstGeom prst="rect">
            <a:avLst/>
          </a:prstGeom>
        </p:spPr>
      </p:pic>
    </p:spTree>
    <p:extLst>
      <p:ext uri="{BB962C8B-B14F-4D97-AF65-F5344CB8AC3E}">
        <p14:creationId xmlns:p14="http://schemas.microsoft.com/office/powerpoint/2010/main" val="1375412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8D385-0329-A27F-9A39-2BC77340D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61970-6B47-5F4D-CB5F-A81F4BE71B5F}"/>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E212F558-FA64-A32F-AA80-54A02565D36F}"/>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Interaction as a Reasoning Aid</a:t>
            </a:r>
          </a:p>
          <a:p>
            <a:pPr lvl="1"/>
            <a:r>
              <a:rPr lang="en-US" sz="2200" dirty="0"/>
              <a:t>Interactive manipulation of an interface happens in service of the abstract problem space</a:t>
            </a:r>
          </a:p>
          <a:p>
            <a:pPr lvl="2"/>
            <a:r>
              <a:rPr lang="en-US" sz="2000" dirty="0"/>
              <a:t>Ex. I need to rotate parts of a virtual Rubik’s Cube to solve it  </a:t>
            </a:r>
          </a:p>
          <a:p>
            <a:pPr lvl="2"/>
            <a:endParaRPr lang="en-US" sz="2000" dirty="0"/>
          </a:p>
          <a:p>
            <a:pPr lvl="2"/>
            <a:r>
              <a:rPr lang="en-US" sz="2000" dirty="0"/>
              <a:t>Ex. I need to select and drag variables in </a:t>
            </a:r>
            <a:r>
              <a:rPr lang="en-US" sz="2000" dirty="0" err="1"/>
              <a:t>DataVoyager</a:t>
            </a:r>
            <a:r>
              <a:rPr lang="en-US" sz="2000" dirty="0"/>
              <a:t> to analyze correlations </a:t>
            </a:r>
          </a:p>
          <a:p>
            <a:pPr lvl="2"/>
            <a:endParaRPr lang="en-US" sz="2000" dirty="0"/>
          </a:p>
          <a:p>
            <a:pPr lvl="2"/>
            <a:r>
              <a:rPr lang="en-US" sz="2000" dirty="0"/>
              <a:t>Ex. I need to hover over data points in Global CO2 Dashboard to find China’s emissions  </a:t>
            </a:r>
          </a:p>
        </p:txBody>
      </p:sp>
      <p:sp>
        <p:nvSpPr>
          <p:cNvPr id="4" name="TextBox 3">
            <a:extLst>
              <a:ext uri="{FF2B5EF4-FFF2-40B4-BE49-F238E27FC236}">
                <a16:creationId xmlns:a16="http://schemas.microsoft.com/office/drawing/2014/main" id="{4D9C01A5-B0FC-93C5-DEA2-42EED446EE81}"/>
              </a:ext>
            </a:extLst>
          </p:cNvPr>
          <p:cNvSpPr txBox="1"/>
          <p:nvPr/>
        </p:nvSpPr>
        <p:spPr>
          <a:xfrm>
            <a:off x="5904411" y="6323339"/>
            <a:ext cx="6786154" cy="523220"/>
          </a:xfrm>
          <a:prstGeom prst="rect">
            <a:avLst/>
          </a:prstGeom>
          <a:noFill/>
        </p:spPr>
        <p:txBody>
          <a:bodyPr wrap="square">
            <a:spAutoFit/>
          </a:bodyPr>
          <a:lstStyle/>
          <a:p>
            <a:r>
              <a:rPr lang="en-US" sz="1400" b="0" i="0" dirty="0">
                <a:solidFill>
                  <a:srgbClr val="333333"/>
                </a:solidFill>
                <a:effectLst/>
              </a:rPr>
              <a:t>Pike, W. A., Stasko, J., Chang, R., &amp; O’Connell, T. A. (2009). The Science of Interaction. </a:t>
            </a:r>
            <a:r>
              <a:rPr lang="en-US" sz="1400" b="0" i="1" dirty="0">
                <a:solidFill>
                  <a:srgbClr val="333333"/>
                </a:solidFill>
                <a:effectLst/>
              </a:rPr>
              <a:t>Information Visualization</a:t>
            </a:r>
            <a:r>
              <a:rPr lang="en-US" sz="1400" b="0" i="0" dirty="0">
                <a:solidFill>
                  <a:srgbClr val="333333"/>
                </a:solidFill>
                <a:effectLst/>
              </a:rPr>
              <a:t>, </a:t>
            </a:r>
            <a:r>
              <a:rPr lang="en-US" sz="1400" b="0" i="1" dirty="0">
                <a:solidFill>
                  <a:srgbClr val="333333"/>
                </a:solidFill>
                <a:effectLst/>
              </a:rPr>
              <a:t>8</a:t>
            </a:r>
            <a:r>
              <a:rPr lang="en-US" sz="1400" b="0" i="0" dirty="0">
                <a:solidFill>
                  <a:srgbClr val="333333"/>
                </a:solidFill>
                <a:effectLst/>
              </a:rPr>
              <a:t>(4), 263-274. </a:t>
            </a:r>
            <a:r>
              <a:rPr lang="en-US" sz="1400" b="0" i="0" u="sng" dirty="0">
                <a:solidFill>
                  <a:srgbClr val="1554B2"/>
                </a:solidFill>
                <a:effectLst/>
                <a:hlinkClick r:id="rId3"/>
              </a:rPr>
              <a:t>https://doi.org/10.1057/ivs.2009.22</a:t>
            </a:r>
            <a:endParaRPr lang="en-US" sz="1400" dirty="0"/>
          </a:p>
        </p:txBody>
      </p:sp>
      <p:sp>
        <p:nvSpPr>
          <p:cNvPr id="6" name="Rounded Rectangular Callout 5">
            <a:extLst>
              <a:ext uri="{FF2B5EF4-FFF2-40B4-BE49-F238E27FC236}">
                <a16:creationId xmlns:a16="http://schemas.microsoft.com/office/drawing/2014/main" id="{AA523112-DEC5-0A76-C851-E277E3B9A88B}"/>
              </a:ext>
            </a:extLst>
          </p:cNvPr>
          <p:cNvSpPr/>
          <p:nvPr/>
        </p:nvSpPr>
        <p:spPr>
          <a:xfrm>
            <a:off x="2860766" y="3618410"/>
            <a:ext cx="2377440" cy="326573"/>
          </a:xfrm>
          <a:prstGeom prst="wedgeRoundRectCallout">
            <a:avLst>
              <a:gd name="adj1" fmla="val -27400"/>
              <a:gd name="adj2" fmla="val -90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concrete action</a:t>
            </a:r>
          </a:p>
        </p:txBody>
      </p:sp>
      <p:sp>
        <p:nvSpPr>
          <p:cNvPr id="7" name="Rounded Rectangular Callout 6">
            <a:extLst>
              <a:ext uri="{FF2B5EF4-FFF2-40B4-BE49-F238E27FC236}">
                <a16:creationId xmlns:a16="http://schemas.microsoft.com/office/drawing/2014/main" id="{AD312264-AD42-3BF6-E2C6-3BFBEECBFB8D}"/>
              </a:ext>
            </a:extLst>
          </p:cNvPr>
          <p:cNvSpPr/>
          <p:nvPr/>
        </p:nvSpPr>
        <p:spPr>
          <a:xfrm>
            <a:off x="6736080" y="3618410"/>
            <a:ext cx="2377440" cy="326573"/>
          </a:xfrm>
          <a:prstGeom prst="wedgeRoundRectCallout">
            <a:avLst>
              <a:gd name="adj1" fmla="val -27400"/>
              <a:gd name="adj2" fmla="val -90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abstract problem</a:t>
            </a:r>
          </a:p>
        </p:txBody>
      </p:sp>
      <p:sp>
        <p:nvSpPr>
          <p:cNvPr id="8" name="Rounded Rectangular Callout 7">
            <a:extLst>
              <a:ext uri="{FF2B5EF4-FFF2-40B4-BE49-F238E27FC236}">
                <a16:creationId xmlns:a16="http://schemas.microsoft.com/office/drawing/2014/main" id="{880BD9CC-6352-BA0B-F4BE-8EF5331AB06A}"/>
              </a:ext>
            </a:extLst>
          </p:cNvPr>
          <p:cNvSpPr/>
          <p:nvPr/>
        </p:nvSpPr>
        <p:spPr>
          <a:xfrm>
            <a:off x="2860766" y="4546010"/>
            <a:ext cx="2377440" cy="326573"/>
          </a:xfrm>
          <a:prstGeom prst="wedgeRoundRectCallout">
            <a:avLst>
              <a:gd name="adj1" fmla="val -12015"/>
              <a:gd name="adj2" fmla="val -94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concrete action</a:t>
            </a:r>
          </a:p>
        </p:txBody>
      </p:sp>
      <p:sp>
        <p:nvSpPr>
          <p:cNvPr id="9" name="Rounded Rectangular Callout 8">
            <a:extLst>
              <a:ext uri="{FF2B5EF4-FFF2-40B4-BE49-F238E27FC236}">
                <a16:creationId xmlns:a16="http://schemas.microsoft.com/office/drawing/2014/main" id="{EDE7330D-C4CA-495B-B6A1-EA3E0FF6DBBF}"/>
              </a:ext>
            </a:extLst>
          </p:cNvPr>
          <p:cNvSpPr/>
          <p:nvPr/>
        </p:nvSpPr>
        <p:spPr>
          <a:xfrm>
            <a:off x="6953796" y="4546010"/>
            <a:ext cx="2377440" cy="326573"/>
          </a:xfrm>
          <a:prstGeom prst="wedgeRoundRectCallout">
            <a:avLst>
              <a:gd name="adj1" fmla="val -11466"/>
              <a:gd name="adj2" fmla="val -102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abstract problem</a:t>
            </a:r>
          </a:p>
        </p:txBody>
      </p:sp>
      <p:sp>
        <p:nvSpPr>
          <p:cNvPr id="10" name="Rounded Rectangular Callout 9">
            <a:extLst>
              <a:ext uri="{FF2B5EF4-FFF2-40B4-BE49-F238E27FC236}">
                <a16:creationId xmlns:a16="http://schemas.microsoft.com/office/drawing/2014/main" id="{1E90BA5C-F5E0-067B-68E7-A4581C0E4141}"/>
              </a:ext>
            </a:extLst>
          </p:cNvPr>
          <p:cNvSpPr/>
          <p:nvPr/>
        </p:nvSpPr>
        <p:spPr>
          <a:xfrm>
            <a:off x="2860766" y="5453949"/>
            <a:ext cx="2377440" cy="326573"/>
          </a:xfrm>
          <a:prstGeom prst="wedgeRoundRectCallout">
            <a:avLst>
              <a:gd name="adj1" fmla="val -31795"/>
              <a:gd name="adj2" fmla="val -110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concrete action</a:t>
            </a:r>
          </a:p>
        </p:txBody>
      </p:sp>
      <p:sp>
        <p:nvSpPr>
          <p:cNvPr id="11" name="Rounded Rectangular Callout 10">
            <a:extLst>
              <a:ext uri="{FF2B5EF4-FFF2-40B4-BE49-F238E27FC236}">
                <a16:creationId xmlns:a16="http://schemas.microsoft.com/office/drawing/2014/main" id="{32E8C86C-B5AA-53F7-F6CC-7544F2C0B370}"/>
              </a:ext>
            </a:extLst>
          </p:cNvPr>
          <p:cNvSpPr/>
          <p:nvPr/>
        </p:nvSpPr>
        <p:spPr>
          <a:xfrm>
            <a:off x="7772402" y="5473610"/>
            <a:ext cx="2377440" cy="326573"/>
          </a:xfrm>
          <a:prstGeom prst="wedgeRoundRectCallout">
            <a:avLst>
              <a:gd name="adj1" fmla="val -11466"/>
              <a:gd name="adj2" fmla="val -1023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abstract problem</a:t>
            </a:r>
          </a:p>
        </p:txBody>
      </p:sp>
    </p:spTree>
    <p:extLst>
      <p:ext uri="{BB962C8B-B14F-4D97-AF65-F5344CB8AC3E}">
        <p14:creationId xmlns:p14="http://schemas.microsoft.com/office/powerpoint/2010/main" val="6875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P spid="7" grpId="1" animBg="1"/>
      <p:bldP spid="8" grpId="1" animBg="1"/>
      <p:bldP spid="9" grpId="1" animBg="1"/>
      <p:bldP spid="10" grpId="1" animBg="1"/>
      <p:bldP spid="1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005F-C0E2-50A0-1EDF-8EB96D135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9455F-13CC-2CC9-9C8C-4D4F700924EC}"/>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6A5D06C7-68C3-D50C-9A2F-0A8EEF91AD33}"/>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Interaction as a Reasoning Aid</a:t>
            </a:r>
          </a:p>
          <a:p>
            <a:pPr lvl="1"/>
            <a:r>
              <a:rPr lang="en-US" sz="2200" dirty="0"/>
              <a:t>Interactive manipulation of an interface happens in service of the abstract problem space</a:t>
            </a:r>
          </a:p>
          <a:p>
            <a:pPr lvl="1"/>
            <a:r>
              <a:rPr lang="en-US" sz="2200" dirty="0"/>
              <a:t>Interaction is part of the reasoning process; it is an inquiry </a:t>
            </a:r>
          </a:p>
          <a:p>
            <a:pPr lvl="1"/>
            <a:r>
              <a:rPr lang="en-US" sz="2200" dirty="0"/>
              <a:t>Insight emerges out of the experience of manipulating information; the more ways a user can ‘hold’ their data (ex. exploring from different angles, changing the data’s form) the more insight will accumulate </a:t>
            </a:r>
          </a:p>
          <a:p>
            <a:pPr lvl="1"/>
            <a:r>
              <a:rPr lang="en-US" sz="2200" dirty="0"/>
              <a:t>Acts of conceptual manipulation are called </a:t>
            </a:r>
            <a:r>
              <a:rPr lang="en-US" sz="2200" dirty="0">
                <a:effectLst>
                  <a:glow rad="228600">
                    <a:schemeClr val="accent5">
                      <a:satMod val="175000"/>
                      <a:alpha val="40000"/>
                    </a:schemeClr>
                  </a:glow>
                </a:effectLst>
              </a:rPr>
              <a:t>situation</a:t>
            </a:r>
            <a:r>
              <a:rPr lang="en-US" sz="2200" dirty="0"/>
              <a:t>: the joining of background context and current observations, and analyses towards a goal </a:t>
            </a:r>
          </a:p>
        </p:txBody>
      </p:sp>
      <p:sp>
        <p:nvSpPr>
          <p:cNvPr id="4" name="TextBox 3">
            <a:extLst>
              <a:ext uri="{FF2B5EF4-FFF2-40B4-BE49-F238E27FC236}">
                <a16:creationId xmlns:a16="http://schemas.microsoft.com/office/drawing/2014/main" id="{670210D1-9FB0-C927-5E42-E87927F16D93}"/>
              </a:ext>
            </a:extLst>
          </p:cNvPr>
          <p:cNvSpPr txBox="1"/>
          <p:nvPr/>
        </p:nvSpPr>
        <p:spPr>
          <a:xfrm>
            <a:off x="5904411" y="6323339"/>
            <a:ext cx="6786154" cy="523220"/>
          </a:xfrm>
          <a:prstGeom prst="rect">
            <a:avLst/>
          </a:prstGeom>
          <a:noFill/>
        </p:spPr>
        <p:txBody>
          <a:bodyPr wrap="square">
            <a:spAutoFit/>
          </a:bodyPr>
          <a:lstStyle/>
          <a:p>
            <a:r>
              <a:rPr lang="en-US" sz="1400" b="0" i="0" dirty="0">
                <a:solidFill>
                  <a:srgbClr val="333333"/>
                </a:solidFill>
                <a:effectLst/>
              </a:rPr>
              <a:t>Pike, W. A., Stasko, J., Chang, R., &amp; O’Connell, T. A. (2009). The Science of Interaction. </a:t>
            </a:r>
            <a:r>
              <a:rPr lang="en-US" sz="1400" b="0" i="1" dirty="0">
                <a:solidFill>
                  <a:srgbClr val="333333"/>
                </a:solidFill>
                <a:effectLst/>
              </a:rPr>
              <a:t>Information Visualization</a:t>
            </a:r>
            <a:r>
              <a:rPr lang="en-US" sz="1400" b="0" i="0" dirty="0">
                <a:solidFill>
                  <a:srgbClr val="333333"/>
                </a:solidFill>
                <a:effectLst/>
              </a:rPr>
              <a:t>, </a:t>
            </a:r>
            <a:r>
              <a:rPr lang="en-US" sz="1400" b="0" i="1" dirty="0">
                <a:solidFill>
                  <a:srgbClr val="333333"/>
                </a:solidFill>
                <a:effectLst/>
              </a:rPr>
              <a:t>8</a:t>
            </a:r>
            <a:r>
              <a:rPr lang="en-US" sz="1400" b="0" i="0" dirty="0">
                <a:solidFill>
                  <a:srgbClr val="333333"/>
                </a:solidFill>
                <a:effectLst/>
              </a:rPr>
              <a:t>(4), 263-274. </a:t>
            </a:r>
            <a:r>
              <a:rPr lang="en-US" sz="1400" b="0" i="0" u="sng" dirty="0">
                <a:solidFill>
                  <a:srgbClr val="1554B2"/>
                </a:solidFill>
                <a:effectLst/>
                <a:hlinkClick r:id="rId3"/>
              </a:rPr>
              <a:t>https://doi.org/10.1057/ivs.2009.22</a:t>
            </a:r>
            <a:endParaRPr lang="en-US" sz="1400" dirty="0"/>
          </a:p>
        </p:txBody>
      </p:sp>
    </p:spTree>
    <p:extLst>
      <p:ext uri="{BB962C8B-B14F-4D97-AF65-F5344CB8AC3E}">
        <p14:creationId xmlns:p14="http://schemas.microsoft.com/office/powerpoint/2010/main" val="189852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1F9F-39BA-D7C4-B300-114A31F0D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459C1-3AFA-9E1E-46D8-D8B664D537C7}"/>
              </a:ext>
            </a:extLst>
          </p:cNvPr>
          <p:cNvSpPr>
            <a:spLocks noGrp="1"/>
          </p:cNvSpPr>
          <p:nvPr>
            <p:ph type="title"/>
          </p:nvPr>
        </p:nvSpPr>
        <p:spPr/>
        <p:txBody>
          <a:bodyPr/>
          <a:lstStyle/>
          <a:p>
            <a:r>
              <a:rPr lang="en-US" dirty="0"/>
              <a:t>Science of interaction</a:t>
            </a:r>
          </a:p>
        </p:txBody>
      </p:sp>
      <p:sp>
        <p:nvSpPr>
          <p:cNvPr id="3" name="Content Placeholder 2">
            <a:extLst>
              <a:ext uri="{FF2B5EF4-FFF2-40B4-BE49-F238E27FC236}">
                <a16:creationId xmlns:a16="http://schemas.microsoft.com/office/drawing/2014/main" id="{C9920AAA-3D59-03B5-2604-FCA4610D3E88}"/>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Interaction as a Reasoning Aid: situation</a:t>
            </a:r>
          </a:p>
          <a:p>
            <a:pPr lvl="1"/>
            <a:r>
              <a:rPr lang="en-US" sz="2200" dirty="0"/>
              <a:t>Lemke calls situation an ‘ecology’, evoking the dynamic interaction between concepts and thinkers in the process of knowledge construction</a:t>
            </a:r>
          </a:p>
          <a:p>
            <a:pPr lvl="1"/>
            <a:r>
              <a:rPr lang="en-US" sz="2200" dirty="0">
                <a:effectLst>
                  <a:glow rad="228600">
                    <a:schemeClr val="accent5">
                      <a:satMod val="175000"/>
                      <a:alpha val="40000"/>
                    </a:schemeClr>
                  </a:glow>
                </a:effectLst>
              </a:rPr>
              <a:t>Situated cognition </a:t>
            </a:r>
            <a:r>
              <a:rPr lang="en-US" sz="2200" dirty="0"/>
              <a:t>theorizes cognition as an emergent property of interactions between people and their environment through perception and action </a:t>
            </a:r>
          </a:p>
          <a:p>
            <a:pPr lvl="2"/>
            <a:r>
              <a:rPr lang="en-US" sz="2200" dirty="0"/>
              <a:t> In other words… cognition is not a purely mental activity; it requires interaction with artifacts </a:t>
            </a:r>
          </a:p>
          <a:p>
            <a:pPr lvl="1"/>
            <a:r>
              <a:rPr lang="en-US" sz="2200" dirty="0"/>
              <a:t>Interaction supports </a:t>
            </a:r>
            <a:r>
              <a:rPr lang="en-US" sz="2200" dirty="0">
                <a:effectLst>
                  <a:glow rad="228600">
                    <a:schemeClr val="accent5">
                      <a:satMod val="175000"/>
                      <a:alpha val="40000"/>
                    </a:schemeClr>
                  </a:glow>
                </a:effectLst>
              </a:rPr>
              <a:t>dialogical inquiry</a:t>
            </a:r>
            <a:r>
              <a:rPr lang="en-US" sz="2200" dirty="0"/>
              <a:t>; the user and tool each posses questions and answers, as the user interacts to answer one question, they may encounter new ones </a:t>
            </a:r>
          </a:p>
        </p:txBody>
      </p:sp>
      <p:sp>
        <p:nvSpPr>
          <p:cNvPr id="4" name="TextBox 3">
            <a:extLst>
              <a:ext uri="{FF2B5EF4-FFF2-40B4-BE49-F238E27FC236}">
                <a16:creationId xmlns:a16="http://schemas.microsoft.com/office/drawing/2014/main" id="{A639E223-7D7A-BFCD-225E-92C5C7BFCF6C}"/>
              </a:ext>
            </a:extLst>
          </p:cNvPr>
          <p:cNvSpPr txBox="1"/>
          <p:nvPr/>
        </p:nvSpPr>
        <p:spPr>
          <a:xfrm>
            <a:off x="5904411" y="6323339"/>
            <a:ext cx="6786154" cy="523220"/>
          </a:xfrm>
          <a:prstGeom prst="rect">
            <a:avLst/>
          </a:prstGeom>
          <a:noFill/>
        </p:spPr>
        <p:txBody>
          <a:bodyPr wrap="square">
            <a:spAutoFit/>
          </a:bodyPr>
          <a:lstStyle/>
          <a:p>
            <a:r>
              <a:rPr lang="en-US" sz="1400" b="0" i="0" dirty="0">
                <a:solidFill>
                  <a:srgbClr val="333333"/>
                </a:solidFill>
                <a:effectLst/>
              </a:rPr>
              <a:t>Pike, W. A., Stasko, J., Chang, R., &amp; O’Connell, T. A. (2009). The Science of Interaction. </a:t>
            </a:r>
            <a:r>
              <a:rPr lang="en-US" sz="1400" b="0" i="1" dirty="0">
                <a:solidFill>
                  <a:srgbClr val="333333"/>
                </a:solidFill>
                <a:effectLst/>
              </a:rPr>
              <a:t>Information Visualization</a:t>
            </a:r>
            <a:r>
              <a:rPr lang="en-US" sz="1400" b="0" i="0" dirty="0">
                <a:solidFill>
                  <a:srgbClr val="333333"/>
                </a:solidFill>
                <a:effectLst/>
              </a:rPr>
              <a:t>, </a:t>
            </a:r>
            <a:r>
              <a:rPr lang="en-US" sz="1400" b="0" i="1" dirty="0">
                <a:solidFill>
                  <a:srgbClr val="333333"/>
                </a:solidFill>
                <a:effectLst/>
              </a:rPr>
              <a:t>8</a:t>
            </a:r>
            <a:r>
              <a:rPr lang="en-US" sz="1400" b="0" i="0" dirty="0">
                <a:solidFill>
                  <a:srgbClr val="333333"/>
                </a:solidFill>
                <a:effectLst/>
              </a:rPr>
              <a:t>(4), 263-274. </a:t>
            </a:r>
            <a:r>
              <a:rPr lang="en-US" sz="1400" b="0" i="0" u="sng" dirty="0">
                <a:solidFill>
                  <a:srgbClr val="1554B2"/>
                </a:solidFill>
                <a:effectLst/>
                <a:hlinkClick r:id="rId3"/>
              </a:rPr>
              <a:t>https://doi.org/10.1057/ivs.2009.22</a:t>
            </a:r>
            <a:endParaRPr lang="en-US" sz="1400" dirty="0"/>
          </a:p>
        </p:txBody>
      </p:sp>
    </p:spTree>
    <p:extLst>
      <p:ext uri="{BB962C8B-B14F-4D97-AF65-F5344CB8AC3E}">
        <p14:creationId xmlns:p14="http://schemas.microsoft.com/office/powerpoint/2010/main" val="1971119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B8314-01F0-AE26-1119-7E8278781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A836A-63BB-18A0-881A-523933A63966}"/>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930C0F5B-AFBA-FCE6-A747-7E2EE52D8BA8}"/>
              </a:ext>
            </a:extLst>
          </p:cNvPr>
          <p:cNvSpPr>
            <a:spLocks noGrp="1"/>
          </p:cNvSpPr>
          <p:nvPr>
            <p:ph idx="1"/>
          </p:nvPr>
        </p:nvSpPr>
        <p:spPr>
          <a:xfrm>
            <a:off x="581192" y="2576945"/>
            <a:ext cx="11029615" cy="3784944"/>
          </a:xfrm>
          <a:effectLst>
            <a:glow rad="228600">
              <a:schemeClr val="accent5">
                <a:satMod val="175000"/>
                <a:alpha val="40000"/>
              </a:schemeClr>
            </a:glow>
          </a:effectLst>
        </p:spPr>
        <p:txBody>
          <a:bodyPr anchor="t">
            <a:normAutofit/>
          </a:bodyPr>
          <a:lstStyle/>
          <a:p>
            <a:pPr marL="0" indent="0" algn="ctr">
              <a:buNone/>
            </a:pPr>
            <a:r>
              <a:rPr lang="en-US" sz="36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p:txBody>
      </p:sp>
      <p:sp>
        <p:nvSpPr>
          <p:cNvPr id="4" name="TextBox 3">
            <a:extLst>
              <a:ext uri="{FF2B5EF4-FFF2-40B4-BE49-F238E27FC236}">
                <a16:creationId xmlns:a16="http://schemas.microsoft.com/office/drawing/2014/main" id="{488D74F3-BD62-2960-17F3-3A712B312506}"/>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Tree>
    <p:extLst>
      <p:ext uri="{BB962C8B-B14F-4D97-AF65-F5344CB8AC3E}">
        <p14:creationId xmlns:p14="http://schemas.microsoft.com/office/powerpoint/2010/main" val="2046576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DFCBE-0443-881F-EF77-8900602DD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CF773-EA5A-C8C9-BA0A-AF6BFF8AE370}"/>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186C832E-0E41-C730-3EFD-672FEBEC08B0}"/>
              </a:ext>
            </a:extLst>
          </p:cNvPr>
          <p:cNvSpPr>
            <a:spLocks noGrp="1"/>
          </p:cNvSpPr>
          <p:nvPr>
            <p:ph idx="1"/>
          </p:nvPr>
        </p:nvSpPr>
        <p:spPr>
          <a:xfrm>
            <a:off x="581192" y="2202873"/>
            <a:ext cx="11029615" cy="4159016"/>
          </a:xfrm>
          <a:effectLst>
            <a:glow rad="228600">
              <a:schemeClr val="accent5">
                <a:satMod val="175000"/>
                <a:alpha val="40000"/>
              </a:schemeClr>
            </a:glow>
          </a:effectLst>
        </p:spPr>
        <p:txBody>
          <a:bodyPr anchor="t">
            <a:normAutofit/>
          </a:bodyPr>
          <a:lstStyle/>
          <a:p>
            <a:pPr marL="0" indent="0">
              <a:buNone/>
            </a:pPr>
            <a:r>
              <a:rPr lang="en-US" sz="24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a:p>
            <a:pPr marL="0" indent="0">
              <a:buNone/>
            </a:pPr>
            <a:endParaRPr lang="en-US" sz="2200" dirty="0"/>
          </a:p>
        </p:txBody>
      </p:sp>
      <p:sp>
        <p:nvSpPr>
          <p:cNvPr id="4" name="TextBox 3">
            <a:extLst>
              <a:ext uri="{FF2B5EF4-FFF2-40B4-BE49-F238E27FC236}">
                <a16:creationId xmlns:a16="http://schemas.microsoft.com/office/drawing/2014/main" id="{8E2BA585-BB70-59D2-CBCA-75E84E029106}"/>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
        <p:nvSpPr>
          <p:cNvPr id="5" name="Rounded Rectangle 4">
            <a:extLst>
              <a:ext uri="{FF2B5EF4-FFF2-40B4-BE49-F238E27FC236}">
                <a16:creationId xmlns:a16="http://schemas.microsoft.com/office/drawing/2014/main" id="{4803CD60-8B5A-55E1-9A25-8DCEC0D3210E}"/>
              </a:ext>
            </a:extLst>
          </p:cNvPr>
          <p:cNvSpPr/>
          <p:nvPr/>
        </p:nvSpPr>
        <p:spPr>
          <a:xfrm>
            <a:off x="581191" y="3429000"/>
            <a:ext cx="11029615" cy="2443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t>Interaction?</a:t>
            </a:r>
          </a:p>
          <a:p>
            <a:endParaRPr lang="en-US" sz="2400" dirty="0"/>
          </a:p>
          <a:p>
            <a:r>
              <a:rPr lang="en-US" sz="2400" i="1" dirty="0"/>
              <a:t>Joe is staring at a visualization without performing any</a:t>
            </a:r>
            <a:r>
              <a:rPr lang="en-US" sz="2400" dirty="0"/>
              <a:t> </a:t>
            </a:r>
            <a:r>
              <a:rPr lang="en-US" sz="2400" i="1" dirty="0"/>
              <a:t>action that is interpretable by the visualization. He is reasoning (mentally)</a:t>
            </a:r>
            <a:r>
              <a:rPr lang="en-US" sz="2400" dirty="0"/>
              <a:t> </a:t>
            </a:r>
            <a:r>
              <a:rPr lang="en-US" sz="2400" i="1" dirty="0"/>
              <a:t>about the visualized data. There are further (computer initiated)</a:t>
            </a:r>
            <a:r>
              <a:rPr lang="en-US" sz="2400" dirty="0"/>
              <a:t> </a:t>
            </a:r>
            <a:r>
              <a:rPr lang="en-US" sz="2400" i="1" dirty="0"/>
              <a:t>animations, real time changes that show important information that Joe</a:t>
            </a:r>
            <a:r>
              <a:rPr lang="en-US" sz="2400" dirty="0"/>
              <a:t> </a:t>
            </a:r>
            <a:r>
              <a:rPr lang="en-US" sz="2400" i="1" dirty="0"/>
              <a:t>takes into account in his reasoning process.</a:t>
            </a:r>
            <a:endParaRPr lang="en-US" sz="2400" dirty="0"/>
          </a:p>
          <a:p>
            <a:endParaRPr lang="en-US" sz="2400" dirty="0"/>
          </a:p>
          <a:p>
            <a:r>
              <a:rPr lang="en-US" sz="2400" dirty="0"/>
              <a:t> </a:t>
            </a:r>
          </a:p>
        </p:txBody>
      </p:sp>
    </p:spTree>
    <p:extLst>
      <p:ext uri="{BB962C8B-B14F-4D97-AF65-F5344CB8AC3E}">
        <p14:creationId xmlns:p14="http://schemas.microsoft.com/office/powerpoint/2010/main" val="972984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90B36-2FCE-018F-77F4-C41C4EF8F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6FDB1-E1C4-73AB-4535-714CFB5E109D}"/>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7CBD2454-44A0-6441-3BA5-9F1271F4B650}"/>
              </a:ext>
            </a:extLst>
          </p:cNvPr>
          <p:cNvSpPr>
            <a:spLocks noGrp="1"/>
          </p:cNvSpPr>
          <p:nvPr>
            <p:ph idx="1"/>
          </p:nvPr>
        </p:nvSpPr>
        <p:spPr>
          <a:xfrm>
            <a:off x="581192" y="2202873"/>
            <a:ext cx="11029615" cy="4159016"/>
          </a:xfrm>
          <a:effectLst>
            <a:glow rad="228600">
              <a:schemeClr val="accent5">
                <a:satMod val="175000"/>
                <a:alpha val="40000"/>
              </a:schemeClr>
            </a:glow>
          </a:effectLst>
        </p:spPr>
        <p:txBody>
          <a:bodyPr anchor="t">
            <a:normAutofit/>
          </a:bodyPr>
          <a:lstStyle/>
          <a:p>
            <a:pPr marL="0" indent="0">
              <a:buNone/>
            </a:pPr>
            <a:r>
              <a:rPr lang="en-US" sz="24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a:p>
            <a:pPr marL="0" indent="0">
              <a:buNone/>
            </a:pPr>
            <a:endParaRPr lang="en-US" sz="2200" dirty="0"/>
          </a:p>
        </p:txBody>
      </p:sp>
      <p:sp>
        <p:nvSpPr>
          <p:cNvPr id="4" name="TextBox 3">
            <a:extLst>
              <a:ext uri="{FF2B5EF4-FFF2-40B4-BE49-F238E27FC236}">
                <a16:creationId xmlns:a16="http://schemas.microsoft.com/office/drawing/2014/main" id="{50977AB6-EB7B-4619-0C0E-63D7633A051B}"/>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
        <p:nvSpPr>
          <p:cNvPr id="5" name="Rounded Rectangle 4">
            <a:extLst>
              <a:ext uri="{FF2B5EF4-FFF2-40B4-BE49-F238E27FC236}">
                <a16:creationId xmlns:a16="http://schemas.microsoft.com/office/drawing/2014/main" id="{01C19BC4-B715-ECC0-F092-1D243E36AB29}"/>
              </a:ext>
            </a:extLst>
          </p:cNvPr>
          <p:cNvSpPr/>
          <p:nvPr/>
        </p:nvSpPr>
        <p:spPr>
          <a:xfrm>
            <a:off x="581191" y="3429000"/>
            <a:ext cx="11029615" cy="2443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t>Interaction?</a:t>
            </a:r>
          </a:p>
          <a:p>
            <a:endParaRPr lang="en-US" sz="2400" dirty="0"/>
          </a:p>
          <a:p>
            <a:r>
              <a:rPr lang="en-US" sz="2400" i="1" dirty="0"/>
              <a:t>Joe wants to focus on a cluster of data points. Using a</a:t>
            </a:r>
            <a:r>
              <a:rPr lang="en-US" sz="2400" dirty="0"/>
              <a:t> </a:t>
            </a:r>
            <a:r>
              <a:rPr lang="en-US" sz="2400" i="1" dirty="0"/>
              <a:t>mouse, he traces a lasso to select the data points. The visualization</a:t>
            </a:r>
            <a:r>
              <a:rPr lang="en-US" sz="2400" dirty="0"/>
              <a:t> </a:t>
            </a:r>
            <a:r>
              <a:rPr lang="en-US" sz="2400" i="1" dirty="0"/>
              <a:t>draws the lasso with the exact same color as the background.</a:t>
            </a:r>
            <a:endParaRPr lang="en-US" sz="2400" dirty="0"/>
          </a:p>
          <a:p>
            <a:endParaRPr lang="en-US" sz="2400" dirty="0"/>
          </a:p>
          <a:p>
            <a:r>
              <a:rPr lang="en-US" sz="2400" dirty="0"/>
              <a:t> </a:t>
            </a:r>
          </a:p>
        </p:txBody>
      </p:sp>
    </p:spTree>
    <p:extLst>
      <p:ext uri="{BB962C8B-B14F-4D97-AF65-F5344CB8AC3E}">
        <p14:creationId xmlns:p14="http://schemas.microsoft.com/office/powerpoint/2010/main" val="3084780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C3A48-D305-BF13-EA98-9C893670E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CFCC04-8614-23A6-917D-97174DB36E23}"/>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A462E051-1AE3-9522-9E45-858DA0DEE693}"/>
              </a:ext>
            </a:extLst>
          </p:cNvPr>
          <p:cNvSpPr>
            <a:spLocks noGrp="1"/>
          </p:cNvSpPr>
          <p:nvPr>
            <p:ph idx="1"/>
          </p:nvPr>
        </p:nvSpPr>
        <p:spPr>
          <a:xfrm>
            <a:off x="581192" y="2202873"/>
            <a:ext cx="11029615" cy="4159016"/>
          </a:xfrm>
          <a:effectLst>
            <a:glow rad="228600">
              <a:schemeClr val="accent5">
                <a:satMod val="175000"/>
                <a:alpha val="40000"/>
              </a:schemeClr>
            </a:glow>
          </a:effectLst>
        </p:spPr>
        <p:txBody>
          <a:bodyPr anchor="t">
            <a:normAutofit/>
          </a:bodyPr>
          <a:lstStyle/>
          <a:p>
            <a:pPr marL="0" indent="0">
              <a:buNone/>
            </a:pPr>
            <a:r>
              <a:rPr lang="en-US" sz="24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a:p>
            <a:pPr marL="0" indent="0">
              <a:buNone/>
            </a:pPr>
            <a:endParaRPr lang="en-US" sz="2200" dirty="0"/>
          </a:p>
        </p:txBody>
      </p:sp>
      <p:sp>
        <p:nvSpPr>
          <p:cNvPr id="4" name="TextBox 3">
            <a:extLst>
              <a:ext uri="{FF2B5EF4-FFF2-40B4-BE49-F238E27FC236}">
                <a16:creationId xmlns:a16="http://schemas.microsoft.com/office/drawing/2014/main" id="{5146296B-3FFF-E6A8-7BD4-8682036A8F7E}"/>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
        <p:nvSpPr>
          <p:cNvPr id="5" name="Rounded Rectangle 4">
            <a:extLst>
              <a:ext uri="{FF2B5EF4-FFF2-40B4-BE49-F238E27FC236}">
                <a16:creationId xmlns:a16="http://schemas.microsoft.com/office/drawing/2014/main" id="{D41EB2D4-1A16-2487-1190-8CB25A981A7A}"/>
              </a:ext>
            </a:extLst>
          </p:cNvPr>
          <p:cNvSpPr/>
          <p:nvPr/>
        </p:nvSpPr>
        <p:spPr>
          <a:xfrm>
            <a:off x="581191" y="3429000"/>
            <a:ext cx="11029615" cy="2443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t>Interaction?</a:t>
            </a:r>
          </a:p>
          <a:p>
            <a:endParaRPr lang="en-US" sz="2400" dirty="0"/>
          </a:p>
          <a:p>
            <a:r>
              <a:rPr lang="en-US" sz="2400" i="1" dirty="0"/>
              <a:t>Joe notices a slider widget. He intends to filter out some</a:t>
            </a:r>
            <a:r>
              <a:rPr lang="en-US" sz="2400" dirty="0"/>
              <a:t> </a:t>
            </a:r>
            <a:r>
              <a:rPr lang="en-US" sz="2400" i="1" dirty="0"/>
              <a:t>data points. He moves the slider and the visualization is zoomed-in. He</a:t>
            </a:r>
            <a:r>
              <a:rPr lang="en-US" sz="2400" dirty="0"/>
              <a:t> </a:t>
            </a:r>
            <a:r>
              <a:rPr lang="en-US" sz="2400" i="1" dirty="0"/>
              <a:t>does not understand what is going on.</a:t>
            </a:r>
            <a:endParaRPr lang="en-US" sz="2400" dirty="0"/>
          </a:p>
          <a:p>
            <a:endParaRPr lang="en-US" sz="2400" dirty="0"/>
          </a:p>
          <a:p>
            <a:r>
              <a:rPr lang="en-US" sz="2400" dirty="0"/>
              <a:t> </a:t>
            </a:r>
          </a:p>
        </p:txBody>
      </p:sp>
    </p:spTree>
    <p:extLst>
      <p:ext uri="{BB962C8B-B14F-4D97-AF65-F5344CB8AC3E}">
        <p14:creationId xmlns:p14="http://schemas.microsoft.com/office/powerpoint/2010/main" val="45078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42D37-68CC-7F53-1061-4C6E5BE62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74C74-AD5D-B0B3-2B55-B114444EAB30}"/>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BDEC558B-9E72-FD88-020B-D177B4C368AE}"/>
              </a:ext>
            </a:extLst>
          </p:cNvPr>
          <p:cNvSpPr>
            <a:spLocks noGrp="1"/>
          </p:cNvSpPr>
          <p:nvPr>
            <p:ph idx="1"/>
          </p:nvPr>
        </p:nvSpPr>
        <p:spPr>
          <a:xfrm>
            <a:off x="581192" y="2202873"/>
            <a:ext cx="11029615" cy="4159016"/>
          </a:xfrm>
          <a:effectLst>
            <a:glow rad="228600">
              <a:schemeClr val="accent5">
                <a:satMod val="175000"/>
                <a:alpha val="40000"/>
              </a:schemeClr>
            </a:glow>
          </a:effectLst>
        </p:spPr>
        <p:txBody>
          <a:bodyPr anchor="t">
            <a:normAutofit/>
          </a:bodyPr>
          <a:lstStyle/>
          <a:p>
            <a:pPr marL="0" indent="0">
              <a:buNone/>
            </a:pPr>
            <a:r>
              <a:rPr lang="en-US" sz="24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a:p>
            <a:pPr marL="0" indent="0">
              <a:buNone/>
            </a:pPr>
            <a:endParaRPr lang="en-US" sz="2200" dirty="0"/>
          </a:p>
        </p:txBody>
      </p:sp>
      <p:sp>
        <p:nvSpPr>
          <p:cNvPr id="4" name="TextBox 3">
            <a:extLst>
              <a:ext uri="{FF2B5EF4-FFF2-40B4-BE49-F238E27FC236}">
                <a16:creationId xmlns:a16="http://schemas.microsoft.com/office/drawing/2014/main" id="{3FAA30B5-5008-7F99-DDE6-02CD2BBE709C}"/>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
        <p:nvSpPr>
          <p:cNvPr id="5" name="Rounded Rectangle 4">
            <a:extLst>
              <a:ext uri="{FF2B5EF4-FFF2-40B4-BE49-F238E27FC236}">
                <a16:creationId xmlns:a16="http://schemas.microsoft.com/office/drawing/2014/main" id="{3F90F2C8-6976-5B13-D16D-A8F3DE05C302}"/>
              </a:ext>
            </a:extLst>
          </p:cNvPr>
          <p:cNvSpPr/>
          <p:nvPr/>
        </p:nvSpPr>
        <p:spPr>
          <a:xfrm>
            <a:off x="581191" y="3429000"/>
            <a:ext cx="11029615" cy="2443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t>Interaction?</a:t>
            </a:r>
          </a:p>
          <a:p>
            <a:endParaRPr lang="en-US" sz="2400" dirty="0"/>
          </a:p>
          <a:p>
            <a:r>
              <a:rPr lang="en-US" sz="2400" i="1" dirty="0"/>
              <a:t>An airport provides a visualization that updates automatically</a:t>
            </a:r>
            <a:r>
              <a:rPr lang="en-US" sz="2400" dirty="0"/>
              <a:t> </a:t>
            </a:r>
            <a:r>
              <a:rPr lang="en-US" sz="2400" i="1" dirty="0"/>
              <a:t>to show all departure gate data. Jack looks for his gate number,</a:t>
            </a:r>
            <a:r>
              <a:rPr lang="en-US" sz="2400" dirty="0"/>
              <a:t> </a:t>
            </a:r>
            <a:r>
              <a:rPr lang="en-US" sz="2400" i="1" dirty="0"/>
              <a:t>but the visualization changes too quickly.  A gaze detector tracks Jack’s</a:t>
            </a:r>
            <a:r>
              <a:rPr lang="en-US" sz="2400" dirty="0"/>
              <a:t> </a:t>
            </a:r>
            <a:r>
              <a:rPr lang="en-US" sz="2400" i="1" dirty="0"/>
              <a:t>unfocused gaze attempts and slows down the rate at which the visualization</a:t>
            </a:r>
            <a:r>
              <a:rPr lang="en-US" sz="2400" dirty="0"/>
              <a:t> </a:t>
            </a:r>
            <a:r>
              <a:rPr lang="en-US" sz="2400" i="1" dirty="0"/>
              <a:t>changes. Jack now locates his gate number.</a:t>
            </a:r>
            <a:endParaRPr lang="en-US" sz="2400" dirty="0"/>
          </a:p>
          <a:p>
            <a:endParaRPr lang="en-US" sz="2400" dirty="0"/>
          </a:p>
          <a:p>
            <a:r>
              <a:rPr lang="en-US" sz="2400" dirty="0"/>
              <a:t> </a:t>
            </a:r>
          </a:p>
        </p:txBody>
      </p:sp>
    </p:spTree>
    <p:extLst>
      <p:ext uri="{BB962C8B-B14F-4D97-AF65-F5344CB8AC3E}">
        <p14:creationId xmlns:p14="http://schemas.microsoft.com/office/powerpoint/2010/main" val="3441536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567E9-9821-B9E8-9775-C1D2935E0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8FFA5-F148-4BAB-5821-91296C3FFE0A}"/>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1D79AD44-389E-B67C-BDDD-4EC4E0A50132}"/>
              </a:ext>
            </a:extLst>
          </p:cNvPr>
          <p:cNvSpPr>
            <a:spLocks noGrp="1"/>
          </p:cNvSpPr>
          <p:nvPr>
            <p:ph idx="1"/>
          </p:nvPr>
        </p:nvSpPr>
        <p:spPr>
          <a:xfrm>
            <a:off x="581192" y="2202873"/>
            <a:ext cx="11029615" cy="4159016"/>
          </a:xfrm>
          <a:effectLst>
            <a:glow rad="228600">
              <a:schemeClr val="accent5">
                <a:satMod val="175000"/>
                <a:alpha val="40000"/>
              </a:schemeClr>
            </a:glow>
          </a:effectLst>
        </p:spPr>
        <p:txBody>
          <a:bodyPr anchor="t">
            <a:normAutofit/>
          </a:bodyPr>
          <a:lstStyle/>
          <a:p>
            <a:pPr marL="0" indent="0">
              <a:buNone/>
            </a:pPr>
            <a:r>
              <a:rPr lang="en-US" sz="24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a:p>
            <a:pPr marL="0" indent="0">
              <a:buNone/>
            </a:pPr>
            <a:endParaRPr lang="en-US" sz="2200" dirty="0"/>
          </a:p>
        </p:txBody>
      </p:sp>
      <p:sp>
        <p:nvSpPr>
          <p:cNvPr id="4" name="TextBox 3">
            <a:extLst>
              <a:ext uri="{FF2B5EF4-FFF2-40B4-BE49-F238E27FC236}">
                <a16:creationId xmlns:a16="http://schemas.microsoft.com/office/drawing/2014/main" id="{E4F0D3D4-25B0-DFF6-416E-620502E7A2E3}"/>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
        <p:nvSpPr>
          <p:cNvPr id="5" name="Rounded Rectangle 4">
            <a:extLst>
              <a:ext uri="{FF2B5EF4-FFF2-40B4-BE49-F238E27FC236}">
                <a16:creationId xmlns:a16="http://schemas.microsoft.com/office/drawing/2014/main" id="{06E5F1B6-E46A-918B-5CB9-09312C5FDD4E}"/>
              </a:ext>
            </a:extLst>
          </p:cNvPr>
          <p:cNvSpPr/>
          <p:nvPr/>
        </p:nvSpPr>
        <p:spPr>
          <a:xfrm>
            <a:off x="581191" y="3429000"/>
            <a:ext cx="11029615" cy="2443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t>Interaction?</a:t>
            </a:r>
          </a:p>
          <a:p>
            <a:endParaRPr lang="en-US" sz="300" dirty="0"/>
          </a:p>
          <a:p>
            <a:r>
              <a:rPr lang="en-US" sz="2400" i="1" dirty="0"/>
              <a:t>Averell cannot remember where he parked his car. In the</a:t>
            </a:r>
            <a:r>
              <a:rPr lang="en-US" sz="2400" dirty="0"/>
              <a:t> </a:t>
            </a:r>
            <a:r>
              <a:rPr lang="en-US" sz="2400" i="1" dirty="0"/>
              <a:t>parking a screen shows car CO2 emission data to motivate car drivers</a:t>
            </a:r>
            <a:r>
              <a:rPr lang="en-US" sz="2400" dirty="0"/>
              <a:t> </a:t>
            </a:r>
            <a:r>
              <a:rPr lang="en-US" sz="2400" i="1" dirty="0"/>
              <a:t>to use their car less.  Averell is not careful and he bumps his head on</a:t>
            </a:r>
            <a:r>
              <a:rPr lang="en-US" sz="2400" dirty="0"/>
              <a:t> </a:t>
            </a:r>
            <a:r>
              <a:rPr lang="en-US" sz="2400" i="1" dirty="0"/>
              <a:t>the screen. Because the screen is touch-enabled, this contact rearranges</a:t>
            </a:r>
            <a:r>
              <a:rPr lang="en-US" sz="2400" dirty="0"/>
              <a:t> </a:t>
            </a:r>
            <a:r>
              <a:rPr lang="en-US" sz="2400" i="1" dirty="0"/>
              <a:t>the data points.  Averell sees some graphics moving around but does</a:t>
            </a:r>
            <a:r>
              <a:rPr lang="en-US" sz="2400" dirty="0"/>
              <a:t> </a:t>
            </a:r>
            <a:r>
              <a:rPr lang="en-US" sz="2400" i="1" dirty="0"/>
              <a:t>not pay attention. He ignores the screen and continues his search.</a:t>
            </a:r>
            <a:endParaRPr lang="en-US" sz="2400" dirty="0"/>
          </a:p>
          <a:p>
            <a:endParaRPr lang="en-US" sz="2400" dirty="0"/>
          </a:p>
          <a:p>
            <a:r>
              <a:rPr lang="en-US" sz="2400" dirty="0"/>
              <a:t> </a:t>
            </a:r>
          </a:p>
        </p:txBody>
      </p:sp>
    </p:spTree>
    <p:extLst>
      <p:ext uri="{BB962C8B-B14F-4D97-AF65-F5344CB8AC3E}">
        <p14:creationId xmlns:p14="http://schemas.microsoft.com/office/powerpoint/2010/main" val="4166995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3AF4-7947-9E63-1B6B-70EB00997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67A67-1EBA-5987-5497-D42EEA0F5BA8}"/>
              </a:ext>
            </a:extLst>
          </p:cNvPr>
          <p:cNvSpPr>
            <a:spLocks noGrp="1"/>
          </p:cNvSpPr>
          <p:nvPr>
            <p:ph type="title"/>
          </p:nvPr>
        </p:nvSpPr>
        <p:spPr/>
        <p:txBody>
          <a:bodyPr/>
          <a:lstStyle/>
          <a:p>
            <a:r>
              <a:rPr lang="en-US" dirty="0"/>
              <a:t>Defining Interaction for Visualization </a:t>
            </a:r>
          </a:p>
        </p:txBody>
      </p:sp>
      <p:sp>
        <p:nvSpPr>
          <p:cNvPr id="3" name="Content Placeholder 2">
            <a:extLst>
              <a:ext uri="{FF2B5EF4-FFF2-40B4-BE49-F238E27FC236}">
                <a16:creationId xmlns:a16="http://schemas.microsoft.com/office/drawing/2014/main" id="{2A25C84A-EABE-3FC8-7040-CBAC1985AE85}"/>
              </a:ext>
            </a:extLst>
          </p:cNvPr>
          <p:cNvSpPr>
            <a:spLocks noGrp="1"/>
          </p:cNvSpPr>
          <p:nvPr>
            <p:ph idx="1"/>
          </p:nvPr>
        </p:nvSpPr>
        <p:spPr>
          <a:xfrm>
            <a:off x="581192" y="2202873"/>
            <a:ext cx="11029615" cy="4159016"/>
          </a:xfrm>
          <a:effectLst>
            <a:glow rad="228600">
              <a:schemeClr val="accent5">
                <a:satMod val="175000"/>
                <a:alpha val="40000"/>
              </a:schemeClr>
            </a:glow>
          </a:effectLst>
        </p:spPr>
        <p:txBody>
          <a:bodyPr anchor="t">
            <a:normAutofit/>
          </a:bodyPr>
          <a:lstStyle/>
          <a:p>
            <a:pPr marL="0" indent="0">
              <a:buNone/>
            </a:pPr>
            <a:r>
              <a:rPr lang="en-US" sz="2400" dirty="0"/>
              <a:t>Interaction for visualization is the interplay between a person and a data interface involving a data-related intent, at least one action from the person and an interface reaction that is perceived as such.</a:t>
            </a:r>
          </a:p>
          <a:p>
            <a:pPr marL="0" indent="0">
              <a:buNone/>
            </a:pPr>
            <a:endParaRPr lang="en-US" sz="2200" dirty="0"/>
          </a:p>
          <a:p>
            <a:pPr marL="0" indent="0">
              <a:buNone/>
            </a:pPr>
            <a:endParaRPr lang="en-US" sz="2200" dirty="0"/>
          </a:p>
        </p:txBody>
      </p:sp>
      <p:sp>
        <p:nvSpPr>
          <p:cNvPr id="4" name="TextBox 3">
            <a:extLst>
              <a:ext uri="{FF2B5EF4-FFF2-40B4-BE49-F238E27FC236}">
                <a16:creationId xmlns:a16="http://schemas.microsoft.com/office/drawing/2014/main" id="{7B314CE0-BDB0-FC29-B2DE-0B086CC25042}"/>
              </a:ext>
            </a:extLst>
          </p:cNvPr>
          <p:cNvSpPr txBox="1"/>
          <p:nvPr/>
        </p:nvSpPr>
        <p:spPr>
          <a:xfrm>
            <a:off x="7997125" y="5872322"/>
            <a:ext cx="4194875" cy="954107"/>
          </a:xfrm>
          <a:prstGeom prst="rect">
            <a:avLst/>
          </a:prstGeom>
          <a:noFill/>
        </p:spPr>
        <p:txBody>
          <a:bodyPr wrap="square">
            <a:spAutoFit/>
          </a:bodyPr>
          <a:lstStyle/>
          <a:p>
            <a:r>
              <a:rPr lang="en-US" sz="1400" dirty="0"/>
              <a:t>E. </a:t>
            </a:r>
            <a:r>
              <a:rPr lang="en-US" sz="1400" dirty="0" err="1"/>
              <a:t>Dimara</a:t>
            </a:r>
            <a:r>
              <a:rPr lang="en-US" sz="1400" dirty="0"/>
              <a:t> and C. Perin, "What is Interaction for Data Visualization?," in </a:t>
            </a:r>
            <a:r>
              <a:rPr lang="en-US" sz="1400" i="1" dirty="0"/>
              <a:t>IEEE Transactions on Visualization and Computer Graphics</a:t>
            </a:r>
            <a:r>
              <a:rPr lang="en-US" sz="1400" dirty="0"/>
              <a:t>, vol. 26, no. 1, pp. 119-129, Jan. 2020, </a:t>
            </a:r>
            <a:r>
              <a:rPr lang="en-US" sz="1400" dirty="0" err="1"/>
              <a:t>doi</a:t>
            </a:r>
            <a:r>
              <a:rPr lang="en-US" sz="1400" dirty="0"/>
              <a:t>: 10.1109/TVCG.2019.2934283. </a:t>
            </a:r>
            <a:endParaRPr lang="en-US" sz="1100" dirty="0"/>
          </a:p>
        </p:txBody>
      </p:sp>
      <p:sp>
        <p:nvSpPr>
          <p:cNvPr id="5" name="Rounded Rectangle 4">
            <a:extLst>
              <a:ext uri="{FF2B5EF4-FFF2-40B4-BE49-F238E27FC236}">
                <a16:creationId xmlns:a16="http://schemas.microsoft.com/office/drawing/2014/main" id="{52CABA95-9E3E-7238-BC14-E4F8B609C75D}"/>
              </a:ext>
            </a:extLst>
          </p:cNvPr>
          <p:cNvSpPr/>
          <p:nvPr/>
        </p:nvSpPr>
        <p:spPr>
          <a:xfrm>
            <a:off x="581191" y="3429000"/>
            <a:ext cx="11029615" cy="2443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dirty="0"/>
              <a:t>Interaction?</a:t>
            </a:r>
          </a:p>
          <a:p>
            <a:endParaRPr lang="en-US" sz="2400" dirty="0"/>
          </a:p>
          <a:p>
            <a:r>
              <a:rPr lang="en-US" sz="2400" i="1" dirty="0"/>
              <a:t>Like Averell, William bumps his head on the display.</a:t>
            </a:r>
            <a:r>
              <a:rPr lang="en-US" sz="2400" dirty="0"/>
              <a:t> </a:t>
            </a:r>
            <a:r>
              <a:rPr lang="en-US" sz="2400" i="1" dirty="0"/>
              <a:t>But when he sees the graphics move around he gets curious and starts</a:t>
            </a:r>
            <a:r>
              <a:rPr lang="en-US" sz="2400" dirty="0"/>
              <a:t> </a:t>
            </a:r>
            <a:r>
              <a:rPr lang="en-US" sz="2400" i="1" dirty="0"/>
              <a:t>touching the display to explore what these graphic things are about.</a:t>
            </a:r>
            <a:endParaRPr lang="en-US" sz="2400" dirty="0"/>
          </a:p>
          <a:p>
            <a:endParaRPr lang="en-US" sz="2400" dirty="0"/>
          </a:p>
          <a:p>
            <a:r>
              <a:rPr lang="en-US" sz="2400" dirty="0"/>
              <a:t> </a:t>
            </a:r>
          </a:p>
        </p:txBody>
      </p:sp>
    </p:spTree>
    <p:extLst>
      <p:ext uri="{BB962C8B-B14F-4D97-AF65-F5344CB8AC3E}">
        <p14:creationId xmlns:p14="http://schemas.microsoft.com/office/powerpoint/2010/main" val="3378648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40B36-C909-68D2-56CA-7F1D5538D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B8991-9D10-241F-1EE0-334C192D1906}"/>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4F0ED0C7-7BDA-AC1F-46BE-93F39929DDFC}"/>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Recall: Interaction is a reasoning aid to the user; it enables situated cognition </a:t>
            </a:r>
          </a:p>
          <a:p>
            <a:endParaRPr lang="en-US" sz="2400" dirty="0"/>
          </a:p>
          <a:p>
            <a:r>
              <a:rPr lang="en-US" sz="2400" dirty="0"/>
              <a:t>Question: Can interaction also benefit the visual interface? How?</a:t>
            </a:r>
          </a:p>
        </p:txBody>
      </p:sp>
    </p:spTree>
    <p:extLst>
      <p:ext uri="{BB962C8B-B14F-4D97-AF65-F5344CB8AC3E}">
        <p14:creationId xmlns:p14="http://schemas.microsoft.com/office/powerpoint/2010/main" val="167687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B9F3-30A8-A4B3-E2A5-DDAD58805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D7CCD-5E95-E296-2401-6A1D6EF313DF}"/>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B2852CE0-D5CC-67DD-00C5-E24D1A810DDD}"/>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Predicting User Intent</a:t>
            </a:r>
          </a:p>
          <a:p>
            <a:pPr lvl="1"/>
            <a:r>
              <a:rPr lang="en-US" sz="2200" dirty="0"/>
              <a:t>A visual interface can track user interactions and use that data to build predictive models of user goals and needs.</a:t>
            </a:r>
          </a:p>
          <a:p>
            <a:pPr lvl="1"/>
            <a:r>
              <a:rPr lang="en-US" sz="2200" dirty="0"/>
              <a:t>Given an accurate prediction or user goals and needs, an interface can proactively update to support them. </a:t>
            </a:r>
          </a:p>
        </p:txBody>
      </p:sp>
    </p:spTree>
    <p:extLst>
      <p:ext uri="{BB962C8B-B14F-4D97-AF65-F5344CB8AC3E}">
        <p14:creationId xmlns:p14="http://schemas.microsoft.com/office/powerpoint/2010/main" val="3418040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8B6F-34E0-E5B8-7764-6507507B8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4F0F2-34B2-F8E6-BC8A-7E41D0384AC6}"/>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993B8BFF-F3F8-8978-BDD1-BFF9E194A5C6}"/>
              </a:ext>
            </a:extLst>
          </p:cNvPr>
          <p:cNvSpPr>
            <a:spLocks noGrp="1"/>
          </p:cNvSpPr>
          <p:nvPr>
            <p:ph idx="1"/>
          </p:nvPr>
        </p:nvSpPr>
        <p:spPr>
          <a:xfrm>
            <a:off x="581193" y="2180496"/>
            <a:ext cx="3727572" cy="4181393"/>
          </a:xfrm>
          <a:effectLst>
            <a:glow rad="228600">
              <a:schemeClr val="accent5">
                <a:satMod val="175000"/>
                <a:alpha val="40000"/>
              </a:schemeClr>
            </a:glow>
          </a:effectLst>
        </p:spPr>
        <p:txBody>
          <a:bodyPr anchor="t">
            <a:normAutofit/>
          </a:bodyPr>
          <a:lstStyle/>
          <a:p>
            <a:r>
              <a:rPr lang="en-US" sz="2400" dirty="0"/>
              <a:t>Predicting User Intent:  Ex. Inferring Interest based on Clicks </a:t>
            </a:r>
            <a:endParaRPr lang="en-US" sz="2200" dirty="0"/>
          </a:p>
        </p:txBody>
      </p:sp>
      <p:pic>
        <p:nvPicPr>
          <p:cNvPr id="4" name="Picture 3" descr="A map of a city with many colored dots&#10;&#10;AI-generated content may be incorrect.">
            <a:extLst>
              <a:ext uri="{FF2B5EF4-FFF2-40B4-BE49-F238E27FC236}">
                <a16:creationId xmlns:a16="http://schemas.microsoft.com/office/drawing/2014/main" id="{B5F85256-207C-5BF9-CFC6-2702138548BC}"/>
              </a:ext>
            </a:extLst>
          </p:cNvPr>
          <p:cNvPicPr>
            <a:picLocks noChangeAspect="1"/>
          </p:cNvPicPr>
          <p:nvPr/>
        </p:nvPicPr>
        <p:blipFill>
          <a:blip r:embed="rId3"/>
          <a:stretch>
            <a:fillRect/>
          </a:stretch>
        </p:blipFill>
        <p:spPr>
          <a:xfrm>
            <a:off x="4714587" y="1712142"/>
            <a:ext cx="6337300" cy="5118100"/>
          </a:xfrm>
          <a:prstGeom prst="rect">
            <a:avLst/>
          </a:prstGeom>
        </p:spPr>
      </p:pic>
      <p:sp>
        <p:nvSpPr>
          <p:cNvPr id="5" name="TextBox 4">
            <a:extLst>
              <a:ext uri="{FF2B5EF4-FFF2-40B4-BE49-F238E27FC236}">
                <a16:creationId xmlns:a16="http://schemas.microsoft.com/office/drawing/2014/main" id="{AB487F00-52E1-98E8-DC29-34DCF3F6566B}"/>
              </a:ext>
            </a:extLst>
          </p:cNvPr>
          <p:cNvSpPr txBox="1"/>
          <p:nvPr/>
        </p:nvSpPr>
        <p:spPr>
          <a:xfrm>
            <a:off x="293112" y="3711866"/>
            <a:ext cx="3627724" cy="2553891"/>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Ottley, A., Garnett, R. and Wan, R. (2019), Follow The Clicks: Learning and Anticipating Mouse Interactions During Exploratory Data Analysis. Computer Graphics Forum, 38: 41-52. </a:t>
            </a:r>
            <a:r>
              <a:rPr lang="en-US" dirty="0">
                <a:hlinkClick r:id="rId4"/>
              </a:rPr>
              <a:t>https://doi.org/10.1111/cgf.13670</a:t>
            </a:r>
            <a:endParaRPr lang="en-US" dirty="0"/>
          </a:p>
        </p:txBody>
      </p:sp>
    </p:spTree>
    <p:extLst>
      <p:ext uri="{BB962C8B-B14F-4D97-AF65-F5344CB8AC3E}">
        <p14:creationId xmlns:p14="http://schemas.microsoft.com/office/powerpoint/2010/main" val="1797414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63FB5-F6E3-F376-F31E-FD989AE2F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ED738-0926-74CB-480B-B77630FFC5C8}"/>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1BBBAE80-0EA1-1153-45EC-7F48CC1FDD29}"/>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Illuminating Potential Bias</a:t>
            </a:r>
          </a:p>
          <a:p>
            <a:pPr lvl="1"/>
            <a:r>
              <a:rPr lang="en-US" sz="2200" dirty="0"/>
              <a:t>Bias in data analysis can look like over-analysis of some subset(s) of data and under-analysis of others.</a:t>
            </a:r>
          </a:p>
          <a:p>
            <a:pPr lvl="1"/>
            <a:r>
              <a:rPr lang="en-US" sz="2200" dirty="0"/>
              <a:t>Interaction can illuminate patters of exploration and highlight over-/under-analysis patterns. </a:t>
            </a:r>
          </a:p>
        </p:txBody>
      </p:sp>
    </p:spTree>
    <p:extLst>
      <p:ext uri="{BB962C8B-B14F-4D97-AF65-F5344CB8AC3E}">
        <p14:creationId xmlns:p14="http://schemas.microsoft.com/office/powerpoint/2010/main" val="4186964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C90FD-CA10-982A-F8AA-4CE06C41F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771AE-FD85-4891-B6E6-6246B69B2094}"/>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7E0491EC-2CED-74DF-CDB4-212612B7031D}"/>
              </a:ext>
            </a:extLst>
          </p:cNvPr>
          <p:cNvSpPr>
            <a:spLocks noGrp="1"/>
          </p:cNvSpPr>
          <p:nvPr>
            <p:ph idx="1"/>
          </p:nvPr>
        </p:nvSpPr>
        <p:spPr>
          <a:xfrm>
            <a:off x="581193" y="2180496"/>
            <a:ext cx="2620330" cy="4181393"/>
          </a:xfrm>
          <a:effectLst>
            <a:glow rad="228600">
              <a:schemeClr val="accent5">
                <a:satMod val="175000"/>
                <a:alpha val="40000"/>
              </a:schemeClr>
            </a:glow>
          </a:effectLst>
        </p:spPr>
        <p:txBody>
          <a:bodyPr anchor="t">
            <a:normAutofit/>
          </a:bodyPr>
          <a:lstStyle/>
          <a:p>
            <a:r>
              <a:rPr lang="en-US" sz="2400" dirty="0"/>
              <a:t>Illuminating Potential Bias: Ex. Lumos</a:t>
            </a:r>
          </a:p>
        </p:txBody>
      </p:sp>
      <p:pic>
        <p:nvPicPr>
          <p:cNvPr id="4" name="Picture 3" descr="A screenshot of a computer screen&#10;&#10;AI-generated content may be incorrect.">
            <a:extLst>
              <a:ext uri="{FF2B5EF4-FFF2-40B4-BE49-F238E27FC236}">
                <a16:creationId xmlns:a16="http://schemas.microsoft.com/office/drawing/2014/main" id="{0D0EA200-FA9D-524A-B087-458BC9CD88FF}"/>
              </a:ext>
            </a:extLst>
          </p:cNvPr>
          <p:cNvPicPr>
            <a:picLocks noChangeAspect="1"/>
          </p:cNvPicPr>
          <p:nvPr/>
        </p:nvPicPr>
        <p:blipFill>
          <a:blip r:embed="rId3"/>
          <a:stretch>
            <a:fillRect/>
          </a:stretch>
        </p:blipFill>
        <p:spPr>
          <a:xfrm>
            <a:off x="3489602" y="2180496"/>
            <a:ext cx="8492847" cy="4044212"/>
          </a:xfrm>
          <a:prstGeom prst="rect">
            <a:avLst/>
          </a:prstGeom>
        </p:spPr>
      </p:pic>
      <p:sp>
        <p:nvSpPr>
          <p:cNvPr id="5" name="TextBox 4">
            <a:extLst>
              <a:ext uri="{FF2B5EF4-FFF2-40B4-BE49-F238E27FC236}">
                <a16:creationId xmlns:a16="http://schemas.microsoft.com/office/drawing/2014/main" id="{83AB3B5C-A246-F557-83E1-7CD6AB11923F}"/>
              </a:ext>
            </a:extLst>
          </p:cNvPr>
          <p:cNvSpPr txBox="1"/>
          <p:nvPr/>
        </p:nvSpPr>
        <p:spPr>
          <a:xfrm>
            <a:off x="209551" y="3373581"/>
            <a:ext cx="3280051" cy="3442930"/>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Arpit </a:t>
            </a:r>
            <a:r>
              <a:rPr lang="en-US" dirty="0" err="1"/>
              <a:t>Narechania</a:t>
            </a:r>
            <a:r>
              <a:rPr lang="en-US" dirty="0"/>
              <a:t>, Adam Coscia, Emily Wall, and Alex Endert. 2022. Lumos: Increasing Awareness of Analytic Behavior during Visual Data Analysis. IEEE Transactions on Visualization and Computer Graphics 28, 1 (Jan. 2022), 1009–1018. https://</a:t>
            </a:r>
            <a:r>
              <a:rPr lang="en-US" dirty="0" err="1"/>
              <a:t>doi.org</a:t>
            </a:r>
            <a:r>
              <a:rPr lang="en-US" dirty="0"/>
              <a:t>/10.1109/TVCG.2021.3114827</a:t>
            </a:r>
          </a:p>
        </p:txBody>
      </p:sp>
    </p:spTree>
    <p:extLst>
      <p:ext uri="{BB962C8B-B14F-4D97-AF65-F5344CB8AC3E}">
        <p14:creationId xmlns:p14="http://schemas.microsoft.com/office/powerpoint/2010/main" val="3363519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B6756-7D2B-E076-5EA8-96901940F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13072-3F15-5314-A641-493916E10961}"/>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FFDA5B97-4792-C4FF-9E5B-45259FB97B15}"/>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t">
            <a:normAutofit/>
          </a:bodyPr>
          <a:lstStyle/>
          <a:p>
            <a:r>
              <a:rPr lang="en-US" sz="2400" dirty="0"/>
              <a:t>Update Underlying Models</a:t>
            </a:r>
          </a:p>
          <a:p>
            <a:pPr lvl="1"/>
            <a:r>
              <a:rPr lang="en-US" sz="2200" dirty="0"/>
              <a:t>Advanced modeling is used to analyze data, subject matter experts can evaluate analysis results for anomalies and mistakes, but may not have the technical skills to tune a model </a:t>
            </a:r>
          </a:p>
          <a:p>
            <a:pPr lvl="1"/>
            <a:r>
              <a:rPr lang="en-US" sz="2200" dirty="0"/>
              <a:t>Interaction can be used to allow subject matter experts to tune model parameters without requiring technical skills</a:t>
            </a:r>
          </a:p>
        </p:txBody>
      </p:sp>
    </p:spTree>
    <p:extLst>
      <p:ext uri="{BB962C8B-B14F-4D97-AF65-F5344CB8AC3E}">
        <p14:creationId xmlns:p14="http://schemas.microsoft.com/office/powerpoint/2010/main" val="3593646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788A-D5DA-E251-D0C8-3BA201B3B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F8364-AB4C-DADE-947E-74A68A57CD35}"/>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D32F2409-028F-6795-16C0-FFA13B63BA7F}"/>
              </a:ext>
            </a:extLst>
          </p:cNvPr>
          <p:cNvSpPr>
            <a:spLocks noGrp="1"/>
          </p:cNvSpPr>
          <p:nvPr>
            <p:ph idx="1"/>
          </p:nvPr>
        </p:nvSpPr>
        <p:spPr>
          <a:xfrm>
            <a:off x="581193" y="2180496"/>
            <a:ext cx="3147846" cy="4181393"/>
          </a:xfrm>
          <a:effectLst>
            <a:glow rad="228600">
              <a:schemeClr val="accent5">
                <a:satMod val="175000"/>
                <a:alpha val="40000"/>
              </a:schemeClr>
            </a:glow>
          </a:effectLst>
        </p:spPr>
        <p:txBody>
          <a:bodyPr anchor="t">
            <a:normAutofit/>
          </a:bodyPr>
          <a:lstStyle/>
          <a:p>
            <a:r>
              <a:rPr lang="en-US" sz="2400" dirty="0"/>
              <a:t>Update Underlying Models: Ex. Dis-Function </a:t>
            </a:r>
          </a:p>
        </p:txBody>
      </p:sp>
      <p:pic>
        <p:nvPicPr>
          <p:cNvPr id="4" name="Picture 3" descr="A screenshot of a computer&#10;&#10;AI-generated content may be incorrect.">
            <a:extLst>
              <a:ext uri="{FF2B5EF4-FFF2-40B4-BE49-F238E27FC236}">
                <a16:creationId xmlns:a16="http://schemas.microsoft.com/office/drawing/2014/main" id="{B937B18B-C941-8BF3-A134-ACF71A1714C2}"/>
              </a:ext>
            </a:extLst>
          </p:cNvPr>
          <p:cNvPicPr>
            <a:picLocks noChangeAspect="1"/>
          </p:cNvPicPr>
          <p:nvPr/>
        </p:nvPicPr>
        <p:blipFill>
          <a:blip r:embed="rId3"/>
          <a:stretch>
            <a:fillRect/>
          </a:stretch>
        </p:blipFill>
        <p:spPr>
          <a:xfrm>
            <a:off x="3838407" y="1715956"/>
            <a:ext cx="7772400" cy="5015858"/>
          </a:xfrm>
          <a:prstGeom prst="rect">
            <a:avLst/>
          </a:prstGeom>
        </p:spPr>
      </p:pic>
      <p:sp>
        <p:nvSpPr>
          <p:cNvPr id="5" name="TextBox 4">
            <a:extLst>
              <a:ext uri="{FF2B5EF4-FFF2-40B4-BE49-F238E27FC236}">
                <a16:creationId xmlns:a16="http://schemas.microsoft.com/office/drawing/2014/main" id="{219D0DC1-4EF9-8E0A-5C1A-1F178F961BEB}"/>
              </a:ext>
            </a:extLst>
          </p:cNvPr>
          <p:cNvSpPr txBox="1"/>
          <p:nvPr/>
        </p:nvSpPr>
        <p:spPr>
          <a:xfrm>
            <a:off x="293112" y="3711866"/>
            <a:ext cx="3435927" cy="2860358"/>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E. T. Brown, J. Liu, C. E. Brodley and R. Chang, "Dis-function: Learning distance functions interactively," </a:t>
            </a:r>
            <a:r>
              <a:rPr lang="en-US" i="1" dirty="0"/>
              <a:t>2012 IEEE Conference on Visual Analytics Science and Technology (VAST)</a:t>
            </a:r>
            <a:r>
              <a:rPr lang="en-US" dirty="0"/>
              <a:t>, Seattle, WA, USA, 2012, pp. 83-92, </a:t>
            </a:r>
            <a:r>
              <a:rPr lang="en-US" dirty="0" err="1"/>
              <a:t>doi</a:t>
            </a:r>
            <a:r>
              <a:rPr lang="en-US" dirty="0"/>
              <a:t>: 10.1109/VAST.2012.6400486.</a:t>
            </a:r>
          </a:p>
        </p:txBody>
      </p:sp>
    </p:spTree>
    <p:extLst>
      <p:ext uri="{BB962C8B-B14F-4D97-AF65-F5344CB8AC3E}">
        <p14:creationId xmlns:p14="http://schemas.microsoft.com/office/powerpoint/2010/main" val="3957439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DF9CF-660C-7A66-EAA9-4A3B958E7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97EB2-1353-1AE4-509A-5B3E486167D4}"/>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A3F54001-9CA2-B752-6E6C-3D9E3709CD8C}"/>
              </a:ext>
            </a:extLst>
          </p:cNvPr>
          <p:cNvSpPr>
            <a:spLocks noGrp="1"/>
          </p:cNvSpPr>
          <p:nvPr>
            <p:ph idx="1"/>
          </p:nvPr>
        </p:nvSpPr>
        <p:spPr>
          <a:xfrm>
            <a:off x="581193" y="2180496"/>
            <a:ext cx="3147846" cy="4181393"/>
          </a:xfrm>
          <a:effectLst>
            <a:glow rad="228600">
              <a:schemeClr val="accent5">
                <a:satMod val="175000"/>
                <a:alpha val="40000"/>
              </a:schemeClr>
            </a:glow>
          </a:effectLst>
        </p:spPr>
        <p:txBody>
          <a:bodyPr anchor="t">
            <a:normAutofit/>
          </a:bodyPr>
          <a:lstStyle/>
          <a:p>
            <a:r>
              <a:rPr lang="en-US" sz="2400" dirty="0"/>
              <a:t>Update Underlying Models: Ex. Dis-Function </a:t>
            </a:r>
          </a:p>
        </p:txBody>
      </p:sp>
      <p:pic>
        <p:nvPicPr>
          <p:cNvPr id="5" name="Picture 4" descr="A close-up of a fishing rod&#10;&#10;AI-generated content may be incorrect.">
            <a:extLst>
              <a:ext uri="{FF2B5EF4-FFF2-40B4-BE49-F238E27FC236}">
                <a16:creationId xmlns:a16="http://schemas.microsoft.com/office/drawing/2014/main" id="{588FA6A8-300A-B97E-6A61-7CF8DF0A375C}"/>
              </a:ext>
            </a:extLst>
          </p:cNvPr>
          <p:cNvPicPr>
            <a:picLocks noChangeAspect="1"/>
          </p:cNvPicPr>
          <p:nvPr/>
        </p:nvPicPr>
        <p:blipFill>
          <a:blip r:embed="rId3"/>
          <a:stretch>
            <a:fillRect/>
          </a:stretch>
        </p:blipFill>
        <p:spPr>
          <a:xfrm>
            <a:off x="3729039" y="2129697"/>
            <a:ext cx="7772400" cy="4282989"/>
          </a:xfrm>
          <a:prstGeom prst="rect">
            <a:avLst/>
          </a:prstGeom>
        </p:spPr>
      </p:pic>
      <p:sp>
        <p:nvSpPr>
          <p:cNvPr id="6" name="TextBox 5">
            <a:extLst>
              <a:ext uri="{FF2B5EF4-FFF2-40B4-BE49-F238E27FC236}">
                <a16:creationId xmlns:a16="http://schemas.microsoft.com/office/drawing/2014/main" id="{AC3EEE53-75C9-08FB-246B-0CFD40180A54}"/>
              </a:ext>
            </a:extLst>
          </p:cNvPr>
          <p:cNvSpPr txBox="1"/>
          <p:nvPr/>
        </p:nvSpPr>
        <p:spPr>
          <a:xfrm>
            <a:off x="293112" y="3711866"/>
            <a:ext cx="3435927" cy="2860358"/>
          </a:xfrm>
          <a:prstGeom prst="round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E. T. Brown, J. Liu, C. E. Brodley and R. Chang, "Dis-function: Learning distance functions interactively," </a:t>
            </a:r>
            <a:r>
              <a:rPr lang="en-US" i="1" dirty="0"/>
              <a:t>2012 IEEE Conference on Visual Analytics Science and Technology (VAST)</a:t>
            </a:r>
            <a:r>
              <a:rPr lang="en-US" dirty="0"/>
              <a:t>, Seattle, WA, USA, 2012, pp. 83-92, </a:t>
            </a:r>
            <a:r>
              <a:rPr lang="en-US" dirty="0" err="1"/>
              <a:t>doi</a:t>
            </a:r>
            <a:r>
              <a:rPr lang="en-US" dirty="0"/>
              <a:t>: 10.1109/VAST.2012.6400486.</a:t>
            </a:r>
          </a:p>
        </p:txBody>
      </p:sp>
    </p:spTree>
    <p:extLst>
      <p:ext uri="{BB962C8B-B14F-4D97-AF65-F5344CB8AC3E}">
        <p14:creationId xmlns:p14="http://schemas.microsoft.com/office/powerpoint/2010/main" val="4086825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BCCC-1E01-7501-F43C-9FF122651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359B4-AB76-1815-19D4-CA2050EE0949}"/>
              </a:ext>
            </a:extLst>
          </p:cNvPr>
          <p:cNvSpPr>
            <a:spLocks noGrp="1"/>
          </p:cNvSpPr>
          <p:nvPr>
            <p:ph type="title"/>
          </p:nvPr>
        </p:nvSpPr>
        <p:spPr/>
        <p:txBody>
          <a:bodyPr/>
          <a:lstStyle/>
          <a:p>
            <a:r>
              <a:rPr lang="en-US" dirty="0"/>
              <a:t>Leveraging Interaction</a:t>
            </a:r>
          </a:p>
        </p:txBody>
      </p:sp>
      <p:sp>
        <p:nvSpPr>
          <p:cNvPr id="11" name="Content Placeholder 2">
            <a:extLst>
              <a:ext uri="{FF2B5EF4-FFF2-40B4-BE49-F238E27FC236}">
                <a16:creationId xmlns:a16="http://schemas.microsoft.com/office/drawing/2014/main" id="{1E14975C-949C-4EA3-24FE-5F20E6503723}"/>
              </a:ext>
            </a:extLst>
          </p:cNvPr>
          <p:cNvSpPr>
            <a:spLocks noGrp="1"/>
          </p:cNvSpPr>
          <p:nvPr>
            <p:ph idx="1"/>
          </p:nvPr>
        </p:nvSpPr>
        <p:spPr>
          <a:xfrm>
            <a:off x="581192" y="2180496"/>
            <a:ext cx="11029615" cy="4181393"/>
          </a:xfrm>
          <a:effectLst>
            <a:glow rad="228600">
              <a:schemeClr val="accent5">
                <a:satMod val="175000"/>
                <a:alpha val="40000"/>
              </a:schemeClr>
            </a:glow>
          </a:effectLst>
        </p:spPr>
        <p:txBody>
          <a:bodyPr anchor="ctr">
            <a:normAutofit/>
          </a:bodyPr>
          <a:lstStyle/>
          <a:p>
            <a:r>
              <a:rPr lang="en-US" sz="2400" dirty="0"/>
              <a:t>Question: If you were to build a system that tracks user interactions, how might you do it? What data would you collect? </a:t>
            </a:r>
          </a:p>
        </p:txBody>
      </p:sp>
    </p:spTree>
    <p:extLst>
      <p:ext uri="{BB962C8B-B14F-4D97-AF65-F5344CB8AC3E}">
        <p14:creationId xmlns:p14="http://schemas.microsoft.com/office/powerpoint/2010/main" val="109296029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1149</TotalTime>
  <Words>2962</Words>
  <Application>Microsoft Macintosh PowerPoint</Application>
  <PresentationFormat>Widescreen</PresentationFormat>
  <Paragraphs>205</Paragraphs>
  <Slides>27</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Gill Sans MT</vt:lpstr>
      <vt:lpstr>Wingdings 2</vt:lpstr>
      <vt:lpstr>Dividend</vt:lpstr>
      <vt:lpstr>Visual Analytics:   interaction Science</vt:lpstr>
      <vt:lpstr>Today’s plan</vt:lpstr>
      <vt:lpstr>Recall: What is visual analytics?</vt:lpstr>
      <vt:lpstr>Recall: What is visual analytics?</vt:lpstr>
      <vt:lpstr>Science of interaction</vt:lpstr>
      <vt:lpstr>Science of interaction</vt:lpstr>
      <vt:lpstr>Science of interaction</vt:lpstr>
      <vt:lpstr>Science of interaction</vt:lpstr>
      <vt:lpstr>Science of interaction</vt:lpstr>
      <vt:lpstr>Science of interaction</vt:lpstr>
      <vt:lpstr>Science of interaction</vt:lpstr>
      <vt:lpstr>Defining Interaction for Visualization </vt:lpstr>
      <vt:lpstr>Defining Interaction for Visualization </vt:lpstr>
      <vt:lpstr>Defining Interaction for Visualization </vt:lpstr>
      <vt:lpstr>Defining Interaction for Visualization </vt:lpstr>
      <vt:lpstr>Defining Interaction for Visualization </vt:lpstr>
      <vt:lpstr>Defining Interaction for Visualization </vt:lpstr>
      <vt:lpstr>Defining Interaction for Visualization </vt:lpstr>
      <vt:lpstr>Leveraging Interaction</vt:lpstr>
      <vt:lpstr>Leveraging Interaction</vt:lpstr>
      <vt:lpstr>Leveraging Interaction</vt:lpstr>
      <vt:lpstr>Leveraging Interaction</vt:lpstr>
      <vt:lpstr>Leveraging Interaction</vt:lpstr>
      <vt:lpstr>Leveraging Interaction</vt:lpstr>
      <vt:lpstr>Leveraging Interaction</vt:lpstr>
      <vt:lpstr>Leveraging Interaction</vt:lpstr>
      <vt:lpstr>Leveraging Interaction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 Mosca</dc:creator>
  <cp:lastModifiedBy>Ab Mosca</cp:lastModifiedBy>
  <cp:revision>34</cp:revision>
  <dcterms:created xsi:type="dcterms:W3CDTF">2025-11-19T17:12:35Z</dcterms:created>
  <dcterms:modified xsi:type="dcterms:W3CDTF">2026-02-12T12:55:41Z</dcterms:modified>
</cp:coreProperties>
</file>