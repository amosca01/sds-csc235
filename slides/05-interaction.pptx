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69" r:id="rId4"/>
    <p:sldId id="270" r:id="rId5"/>
    <p:sldId id="271" r:id="rId6"/>
    <p:sldId id="272" r:id="rId7"/>
    <p:sldId id="273" r:id="rId8"/>
    <p:sldId id="275" r:id="rId9"/>
    <p:sldId id="274" r:id="rId10"/>
    <p:sldId id="276" r:id="rId11"/>
    <p:sldId id="277" r:id="rId12"/>
    <p:sldId id="278" r:id="rId13"/>
    <p:sldId id="27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01"/>
    <p:restoredTop sz="87217"/>
  </p:normalViewPr>
  <p:slideViewPr>
    <p:cSldViewPr snapToGrid="0">
      <p:cViewPr varScale="1">
        <p:scale>
          <a:sx n="92" d="100"/>
          <a:sy n="92" d="100"/>
        </p:scale>
        <p:origin x="13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1/6/26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Knowledge generation model for visual analytics: The model consists of computer and human parts. The left hand side illustrates a visual analytics system, whereas the right hand side illustrates the knowledge generation process of the human. The latter is a reasoning process composed of exploration, verification, and knowledge generation loops. Visual analytics pursues a tight integration of human and machine by enabling the user to interact with the system.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4468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3569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40EA3-53FF-875D-2577-FCA8B0328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C8D5E6-1BCD-01A6-4374-C5F04EFE8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7510BC-3C24-1E24-708E-910E525565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90EA0-5718-E198-0D89-0A5A03F34E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15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C7946-1288-F5B8-08AA-00D69990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BF7B6-0473-5374-509D-96FE3C98C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0FCF88-E787-D7AC-7AE9-3D8C411AD7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4A284-2702-FB14-828F-2284B76ABC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8449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C35CA-5D8D-9779-3677-33273ECDF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D68A55-F5A7-4142-0522-79DC0813CE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B66104-1A66-6FD1-0143-639F9511F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INTERPLAY: We frame the definition via a dialogue metaphor as it is the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common schema we observed in both visualization and HCI. </a:t>
            </a:r>
          </a:p>
          <a:p>
            <a:endParaRPr lang="en-US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PERSON: We replace the commonly reported entity of human “user”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the term person.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INTERFACE: The data interface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 a system containing a set of controls that are perceivable by the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person, and linked to a data entity. The data interface can contain other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entities (e.g., a computer). The data entity itself is an abstracted intangible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source that, like other abstracted notions such as “knowledge”,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cannot physically constitute an actor in a two-way communication.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Technically, the person interacts with the data interface (not the data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entity), as the data interface is the one capable of providing a response.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ACTION: We include any action, physical or mental, and regardless of modality,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causes the reaction of the data interface.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ACTION-REACTION: Visualization and HCI agree that the interaction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dialogue requires that the interface responds to a person’s action. </a:t>
            </a:r>
          </a:p>
          <a:p>
            <a:endParaRPr lang="en-US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REACTION PERCEIVED AS SUCH: Visualization and HCI agree that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interaction dialogue requires that the person perceives the reaction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 the data interface</a:t>
            </a:r>
          </a:p>
          <a:p>
            <a:endParaRPr lang="en-US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DATA-RELATED INTENT: Visualization and HCI agree that interaction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involves a teleological determination (i.e. a norm or goal of interaction).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differs is that the visualization intent (Sect. 5.1) is tied to a data</a:t>
            </a:r>
            <a:r>
              <a:rPr lang="en-US" sz="120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source and is formed iteratively within the interaction cycle. </a:t>
            </a:r>
          </a:p>
          <a:p>
            <a:endParaRPr lang="en-US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CEBD6-7CF9-1E83-0D78-9A052B576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6234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979D9-D3A0-07AB-A8EA-B3FD7EA11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5D38D8-E6D9-A8E2-3D44-420B9D55BC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81374-1480-1402-0D83-55333C539E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While there were several actions from the person, the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visualization did not return any reaction as a response to those actions.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1272F-E86C-D2AC-31C8-A70AE17CE5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05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1/6/26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hbeDn5D-GCg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57/ivs.2009.22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vega.github.io/voyager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public.tableau.com/app/profile/harim.jung/viz/GlobalCODashboardPoweredbyTableauAgent/TableauAgentClimateDashboard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57/ivs.2009.22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57/ivs.2009.22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57/ivs.2009.22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 </a:t>
            </a:r>
            <a:br>
              <a:rPr lang="en-US" dirty="0"/>
            </a:br>
            <a:r>
              <a:rPr lang="en-US" dirty="0"/>
              <a:t>interaction Science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Science of interaction</a:t>
            </a:r>
          </a:p>
          <a:p>
            <a:r>
              <a:rPr lang="en-US" sz="2400" dirty="0"/>
              <a:t>Define interaction within visualization</a:t>
            </a:r>
          </a:p>
          <a:p>
            <a:r>
              <a:rPr lang="en-US" sz="2400" dirty="0"/>
              <a:t>Leveraging interaction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9375E-5227-E742-5B5F-47EB92F8D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039A9-D31B-1CBB-4668-13E2556B7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is visual analytics?</a:t>
            </a:r>
          </a:p>
        </p:txBody>
      </p:sp>
      <p:grpSp>
        <p:nvGrpSpPr>
          <p:cNvPr id="6" name="object 3">
            <a:extLst>
              <a:ext uri="{FF2B5EF4-FFF2-40B4-BE49-F238E27FC236}">
                <a16:creationId xmlns:a16="http://schemas.microsoft.com/office/drawing/2014/main" id="{3118BD2A-EFF0-C7CF-D171-B03311185A48}"/>
              </a:ext>
            </a:extLst>
          </p:cNvPr>
          <p:cNvGrpSpPr/>
          <p:nvPr/>
        </p:nvGrpSpPr>
        <p:grpSpPr>
          <a:xfrm>
            <a:off x="519574" y="2461449"/>
            <a:ext cx="5285232" cy="3337560"/>
            <a:chOff x="1133475" y="1362075"/>
            <a:chExt cx="6953250" cy="3904615"/>
          </a:xfrm>
        </p:grpSpPr>
        <p:pic>
          <p:nvPicPr>
            <p:cNvPr id="7" name="object 4">
              <a:extLst>
                <a:ext uri="{FF2B5EF4-FFF2-40B4-BE49-F238E27FC236}">
                  <a16:creationId xmlns:a16="http://schemas.microsoft.com/office/drawing/2014/main" id="{37740EE1-6ED1-79A8-0579-C25FA0AB755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42999" y="1371600"/>
              <a:ext cx="6934198" cy="3885369"/>
            </a:xfrm>
            <a:prstGeom prst="rect">
              <a:avLst/>
            </a:prstGeom>
          </p:spPr>
        </p:pic>
        <p:sp>
          <p:nvSpPr>
            <p:cNvPr id="8" name="object 5">
              <a:extLst>
                <a:ext uri="{FF2B5EF4-FFF2-40B4-BE49-F238E27FC236}">
                  <a16:creationId xmlns:a16="http://schemas.microsoft.com/office/drawing/2014/main" id="{A2DA5C5C-9F62-00D2-4DBF-CF8DCA81F137}"/>
                </a:ext>
              </a:extLst>
            </p:cNvPr>
            <p:cNvSpPr/>
            <p:nvPr/>
          </p:nvSpPr>
          <p:spPr>
            <a:xfrm>
              <a:off x="1138237" y="1366837"/>
              <a:ext cx="6943725" cy="3895090"/>
            </a:xfrm>
            <a:custGeom>
              <a:avLst/>
              <a:gdLst/>
              <a:ahLst/>
              <a:cxnLst/>
              <a:rect l="l" t="t" r="r" b="b"/>
              <a:pathLst>
                <a:path w="6943725" h="3895090">
                  <a:moveTo>
                    <a:pt x="0" y="0"/>
                  </a:moveTo>
                  <a:lnTo>
                    <a:pt x="6943724" y="0"/>
                  </a:lnTo>
                  <a:lnTo>
                    <a:pt x="6943724" y="3894894"/>
                  </a:lnTo>
                  <a:lnTo>
                    <a:pt x="0" y="3894894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00539B"/>
              </a:solidFill>
            </a:ln>
          </p:spPr>
          <p:txBody>
            <a:bodyPr wrap="square" lIns="0" tIns="0" rIns="0" bIns="0" rtlCol="0"/>
            <a:lstStyle/>
            <a:p>
              <a:endParaRPr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sp>
        <p:nvSpPr>
          <p:cNvPr id="9" name="object 6">
            <a:extLst>
              <a:ext uri="{FF2B5EF4-FFF2-40B4-BE49-F238E27FC236}">
                <a16:creationId xmlns:a16="http://schemas.microsoft.com/office/drawing/2014/main" id="{32B9792C-C83F-3DF4-A3EC-61C3EE20B609}"/>
              </a:ext>
            </a:extLst>
          </p:cNvPr>
          <p:cNvSpPr txBox="1"/>
          <p:nvPr/>
        </p:nvSpPr>
        <p:spPr>
          <a:xfrm>
            <a:off x="5862170" y="3118414"/>
            <a:ext cx="5810256" cy="202363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" algn="ctr">
              <a:spcBef>
                <a:spcPts val="100"/>
              </a:spcBef>
            </a:pPr>
            <a:r>
              <a:rPr sz="280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“The</a:t>
            </a:r>
            <a:r>
              <a:rPr sz="2800" spc="-7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280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science</a:t>
            </a:r>
            <a:r>
              <a:rPr sz="2800" spc="-6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280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of</a:t>
            </a:r>
            <a:r>
              <a:rPr sz="2800" spc="-7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2800" b="1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analytical</a:t>
            </a:r>
            <a:r>
              <a:rPr sz="2800" b="1" spc="-75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 </a:t>
            </a:r>
            <a:r>
              <a:rPr sz="2800" b="1" spc="-1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reasoning</a:t>
            </a:r>
            <a:endParaRPr sz="2800" dirty="0">
              <a:solidFill>
                <a:schemeClr val="tx1">
                  <a:lumMod val="75000"/>
                  <a:lumOff val="25000"/>
                </a:schemeClr>
              </a:solid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  <a:cs typeface="Arial"/>
            </a:endParaRPr>
          </a:p>
          <a:p>
            <a:pPr algn="ctr">
              <a:spcBef>
                <a:spcPts val="45"/>
              </a:spcBef>
            </a:pPr>
            <a:r>
              <a:rPr sz="280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facilitated</a:t>
            </a:r>
            <a:r>
              <a:rPr sz="2800" spc="-7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280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by</a:t>
            </a:r>
            <a:r>
              <a:rPr sz="2800" spc="-8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2800" b="1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interactive</a:t>
            </a:r>
            <a:r>
              <a:rPr sz="2800" b="1" spc="-75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 </a:t>
            </a:r>
            <a:r>
              <a:rPr sz="2800" b="1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visual</a:t>
            </a:r>
            <a:r>
              <a:rPr sz="2800" b="1" spc="-85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 </a:t>
            </a:r>
            <a:r>
              <a:rPr sz="2800" b="1" spc="-1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Arial"/>
              </a:rPr>
              <a:t>interfaces</a:t>
            </a:r>
            <a:r>
              <a:rPr sz="2800" spc="-1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”</a:t>
            </a:r>
            <a:r>
              <a:rPr spc="-15" baseline="23148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1</a:t>
            </a:r>
            <a:endParaRPr baseline="23148" dirty="0">
              <a:solidFill>
                <a:schemeClr val="tx1">
                  <a:lumMod val="75000"/>
                  <a:lumOff val="25000"/>
                </a:schemeClr>
              </a:solidFill>
              <a:cs typeface="Arial"/>
            </a:endParaRPr>
          </a:p>
          <a:p>
            <a:pPr marL="1092200" marR="828040">
              <a:spcBef>
                <a:spcPts val="2039"/>
              </a:spcBef>
            </a:pPr>
            <a:r>
              <a:rPr sz="1050" b="1" baseline="23809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1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Thomas,</a:t>
            </a:r>
            <a:r>
              <a:rPr sz="1000" b="1" spc="-3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James</a:t>
            </a:r>
            <a:r>
              <a:rPr sz="1000" b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J.,</a:t>
            </a:r>
            <a:r>
              <a:rPr sz="1000" b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and</a:t>
            </a:r>
            <a:r>
              <a:rPr sz="1000" b="1" spc="-2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Kristin</a:t>
            </a:r>
            <a:r>
              <a:rPr sz="1000" b="1" spc="-2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A.</a:t>
            </a:r>
            <a:r>
              <a:rPr sz="1000" b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Cook,</a:t>
            </a:r>
            <a:r>
              <a:rPr sz="1000" b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eds.</a:t>
            </a:r>
            <a:r>
              <a:rPr sz="1000" b="1" spc="-1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Illuminating</a:t>
            </a:r>
            <a:r>
              <a:rPr sz="1000" b="1" i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the</a:t>
            </a:r>
            <a:r>
              <a:rPr sz="1000" b="1" i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path:</a:t>
            </a:r>
            <a:r>
              <a:rPr sz="1000" b="1" i="1" spc="-2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The</a:t>
            </a:r>
            <a:r>
              <a:rPr sz="1000" b="1" i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research</a:t>
            </a:r>
            <a:r>
              <a:rPr sz="1000" b="1" i="1" spc="-2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and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development</a:t>
            </a:r>
            <a:r>
              <a:rPr sz="1000" b="1" i="1" spc="-2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agenda</a:t>
            </a:r>
            <a:r>
              <a:rPr sz="1000" b="1" i="1" spc="-3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for</a:t>
            </a:r>
            <a:r>
              <a:rPr sz="1000" b="1" i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visual</a:t>
            </a:r>
            <a:r>
              <a:rPr sz="1000" b="1" i="1" spc="-3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i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analytics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.</a:t>
            </a:r>
            <a:r>
              <a:rPr sz="1000" b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IEEE</a:t>
            </a:r>
            <a:r>
              <a:rPr sz="1000" b="1" spc="-3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Computer</a:t>
            </a:r>
            <a:r>
              <a:rPr sz="1000" b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Society</a:t>
            </a:r>
            <a:r>
              <a:rPr sz="1000" b="1" spc="-35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Press,</a:t>
            </a:r>
            <a:r>
              <a:rPr sz="1000" b="1" spc="-3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 </a:t>
            </a:r>
            <a:r>
              <a:rPr sz="1000" b="1" spc="-10" dirty="0">
                <a:solidFill>
                  <a:schemeClr val="tx1">
                    <a:lumMod val="75000"/>
                    <a:lumOff val="25000"/>
                  </a:schemeClr>
                </a:solidFill>
                <a:cs typeface="Arial"/>
              </a:rPr>
              <a:t>2005.</a:t>
            </a:r>
            <a:endParaRPr sz="1000" dirty="0">
              <a:solidFill>
                <a:schemeClr val="tx1">
                  <a:lumMod val="75000"/>
                  <a:lumOff val="25000"/>
                </a:schemeClr>
              </a:solidFill>
              <a:cs typeface="Arial"/>
            </a:endParaRPr>
          </a:p>
        </p:txBody>
      </p:sp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9CBF502D-AD8B-3D40-362F-1F50204C04EB}"/>
              </a:ext>
            </a:extLst>
          </p:cNvPr>
          <p:cNvSpPr/>
          <p:nvPr/>
        </p:nvSpPr>
        <p:spPr>
          <a:xfrm>
            <a:off x="8098421" y="5295755"/>
            <a:ext cx="3512387" cy="1209612"/>
          </a:xfrm>
          <a:prstGeom prst="wedgeRoundRectCallout">
            <a:avLst>
              <a:gd name="adj1" fmla="val 7997"/>
              <a:gd name="adj2" fmla="val -15351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-10" dirty="0">
                <a:solidFill>
                  <a:schemeClr val="bg1"/>
                </a:solidFill>
                <a:cs typeface="Arial"/>
              </a:rPr>
              <a:t>visual </a:t>
            </a:r>
            <a:r>
              <a:rPr lang="en-US" b="1" spc="-10" dirty="0">
                <a:solidFill>
                  <a:schemeClr val="bg1"/>
                </a:solidFill>
                <a:cs typeface="Arial"/>
              </a:rPr>
              <a:t>representations </a:t>
            </a:r>
            <a:r>
              <a:rPr lang="en-US" dirty="0">
                <a:solidFill>
                  <a:schemeClr val="bg1"/>
                </a:solidFill>
                <a:cs typeface="Arial"/>
              </a:rPr>
              <a:t>of</a:t>
            </a:r>
            <a:r>
              <a:rPr lang="en-US" spc="-40" dirty="0">
                <a:solidFill>
                  <a:schemeClr val="bg1"/>
                </a:solidFill>
                <a:cs typeface="Arial"/>
              </a:rPr>
              <a:t> </a:t>
            </a:r>
            <a:r>
              <a:rPr lang="en-US" dirty="0">
                <a:solidFill>
                  <a:schemeClr val="bg1"/>
                </a:solidFill>
                <a:cs typeface="Arial"/>
              </a:rPr>
              <a:t>data</a:t>
            </a:r>
            <a:r>
              <a:rPr lang="en-US" spc="-35" dirty="0">
                <a:solidFill>
                  <a:schemeClr val="bg1"/>
                </a:solidFill>
                <a:cs typeface="Arial"/>
              </a:rPr>
              <a:t> </a:t>
            </a:r>
            <a:r>
              <a:rPr lang="en-US" spc="-25" dirty="0">
                <a:solidFill>
                  <a:schemeClr val="bg1"/>
                </a:solidFill>
                <a:cs typeface="Arial"/>
              </a:rPr>
              <a:t>that </a:t>
            </a:r>
            <a:r>
              <a:rPr lang="en-US" dirty="0">
                <a:solidFill>
                  <a:schemeClr val="bg1"/>
                </a:solidFill>
                <a:cs typeface="Arial"/>
              </a:rPr>
              <a:t>reinforce</a:t>
            </a:r>
            <a:r>
              <a:rPr lang="en-US" spc="-90" dirty="0">
                <a:solidFill>
                  <a:schemeClr val="bg1"/>
                </a:solidFill>
                <a:cs typeface="Arial"/>
              </a:rPr>
              <a:t> </a:t>
            </a:r>
            <a:r>
              <a:rPr lang="en-US" spc="-20" dirty="0">
                <a:solidFill>
                  <a:schemeClr val="bg1"/>
                </a:solidFill>
                <a:cs typeface="Arial"/>
              </a:rPr>
              <a:t>human </a:t>
            </a:r>
            <a:r>
              <a:rPr lang="en-US" b="1" spc="-10" dirty="0">
                <a:solidFill>
                  <a:schemeClr val="bg1"/>
                </a:solidFill>
                <a:cs typeface="Arial"/>
              </a:rPr>
              <a:t>cognition</a:t>
            </a:r>
            <a:endParaRPr lang="en-US" dirty="0">
              <a:solidFill>
                <a:schemeClr val="bg1"/>
              </a:solidFill>
              <a:cs typeface="Arial"/>
            </a:endParaRPr>
          </a:p>
        </p:txBody>
      </p:sp>
      <p:sp>
        <p:nvSpPr>
          <p:cNvPr id="4" name="Rounded Rectangular Callout 3">
            <a:extLst>
              <a:ext uri="{FF2B5EF4-FFF2-40B4-BE49-F238E27FC236}">
                <a16:creationId xmlns:a16="http://schemas.microsoft.com/office/drawing/2014/main" id="{A4874E7E-91DB-BAE5-3284-4A0499A824C3}"/>
              </a:ext>
            </a:extLst>
          </p:cNvPr>
          <p:cNvSpPr/>
          <p:nvPr/>
        </p:nvSpPr>
        <p:spPr>
          <a:xfrm>
            <a:off x="6096000" y="1950904"/>
            <a:ext cx="3862682" cy="1013800"/>
          </a:xfrm>
          <a:prstGeom prst="wedgeRoundRectCallout">
            <a:avLst>
              <a:gd name="adj1" fmla="val 28778"/>
              <a:gd name="adj2" fmla="val 763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 marR="5080" indent="-183515" algn="ctr">
              <a:lnSpc>
                <a:spcPct val="100200"/>
              </a:lnSpc>
              <a:spcBef>
                <a:spcPts val="90"/>
              </a:spcBef>
            </a:pPr>
            <a:r>
              <a:rPr lang="en-US" b="1" dirty="0">
                <a:solidFill>
                  <a:schemeClr val="bg1"/>
                </a:solidFill>
                <a:cs typeface="Arial"/>
              </a:rPr>
              <a:t>discovery</a:t>
            </a:r>
            <a:r>
              <a:rPr lang="en-US" b="1" spc="-90" dirty="0">
                <a:solidFill>
                  <a:schemeClr val="bg1"/>
                </a:solidFill>
                <a:cs typeface="Arial"/>
              </a:rPr>
              <a:t> </a:t>
            </a:r>
            <a:r>
              <a:rPr lang="en-US" spc="-25" dirty="0">
                <a:solidFill>
                  <a:schemeClr val="bg1"/>
                </a:solidFill>
                <a:cs typeface="Arial"/>
              </a:rPr>
              <a:t>and </a:t>
            </a:r>
            <a:r>
              <a:rPr lang="en-US" b="1" spc="-10" dirty="0">
                <a:solidFill>
                  <a:schemeClr val="bg1"/>
                </a:solidFill>
                <a:cs typeface="Arial"/>
              </a:rPr>
              <a:t>communication </a:t>
            </a:r>
            <a:r>
              <a:rPr lang="en-US" dirty="0">
                <a:solidFill>
                  <a:schemeClr val="bg1"/>
                </a:solidFill>
                <a:cs typeface="Arial"/>
              </a:rPr>
              <a:t>of</a:t>
            </a:r>
            <a:r>
              <a:rPr lang="en-US" spc="-25" dirty="0">
                <a:solidFill>
                  <a:schemeClr val="bg1"/>
                </a:solidFill>
                <a:cs typeface="Arial"/>
              </a:rPr>
              <a:t> </a:t>
            </a:r>
            <a:r>
              <a:rPr lang="en-US" spc="-10" dirty="0">
                <a:solidFill>
                  <a:schemeClr val="bg1"/>
                </a:solidFill>
                <a:cs typeface="Arial"/>
              </a:rPr>
              <a:t>meaningful </a:t>
            </a:r>
            <a:r>
              <a:rPr lang="en-US" dirty="0">
                <a:solidFill>
                  <a:schemeClr val="bg1"/>
                </a:solidFill>
                <a:cs typeface="Arial"/>
              </a:rPr>
              <a:t>patterns</a:t>
            </a:r>
            <a:r>
              <a:rPr lang="en-US" spc="-45" dirty="0">
                <a:solidFill>
                  <a:schemeClr val="bg1"/>
                </a:solidFill>
                <a:cs typeface="Arial"/>
              </a:rPr>
              <a:t> </a:t>
            </a:r>
            <a:r>
              <a:rPr lang="en-US" dirty="0">
                <a:solidFill>
                  <a:schemeClr val="bg1"/>
                </a:solidFill>
                <a:cs typeface="Arial"/>
              </a:rPr>
              <a:t>in</a:t>
            </a:r>
            <a:r>
              <a:rPr lang="en-US" spc="-40" dirty="0">
                <a:solidFill>
                  <a:schemeClr val="bg1"/>
                </a:solidFill>
                <a:cs typeface="Arial"/>
              </a:rPr>
              <a:t> </a:t>
            </a:r>
            <a:r>
              <a:rPr lang="en-US" spc="-20" dirty="0">
                <a:solidFill>
                  <a:schemeClr val="bg1"/>
                </a:solidFill>
                <a:cs typeface="Arial"/>
              </a:rPr>
              <a:t>data</a:t>
            </a:r>
            <a:endParaRPr lang="en-US" dirty="0">
              <a:solidFill>
                <a:schemeClr val="bg1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94995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351D1-66F5-1C78-88EC-D1B619C3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519AC-3394-B56E-A29E-C9F755695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is visual analytics?</a:t>
            </a:r>
          </a:p>
        </p:txBody>
      </p:sp>
      <p:pic>
        <p:nvPicPr>
          <p:cNvPr id="17" name="Picture 16" descr="A diagram of a model&#10;&#10;AI-generated content may be incorrect.">
            <a:extLst>
              <a:ext uri="{FF2B5EF4-FFF2-40B4-BE49-F238E27FC236}">
                <a16:creationId xmlns:a16="http://schemas.microsoft.com/office/drawing/2014/main" id="{7919B10C-F148-E2AC-2EE4-C2251F340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201" y="2359353"/>
            <a:ext cx="10263593" cy="3534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CD74357-4EDB-6EB8-82B2-E6A584B4358A}"/>
              </a:ext>
            </a:extLst>
          </p:cNvPr>
          <p:cNvSpPr txBox="1"/>
          <p:nvPr/>
        </p:nvSpPr>
        <p:spPr>
          <a:xfrm>
            <a:off x="342898" y="5893414"/>
            <a:ext cx="115062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D. Sacha, A. Stoffel, F. Stoffel, B. C. Kwon, G. Ellis and D. A. Keim, "Knowledge Generation Model for Visual Analytics," in IEEE Transactions on Visualization and Computer Graphics, vol. 20, no. 12, pp. 1604-1613, 31 Dec. 2014, </a:t>
            </a:r>
            <a:r>
              <a:rPr lang="en-US" dirty="0" err="1"/>
              <a:t>doi</a:t>
            </a:r>
            <a:r>
              <a:rPr lang="en-US" dirty="0"/>
              <a:t>: 10.1109/TVCG.2014.2346481.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E45DB2-9482-1AE6-3BDE-86E9BC356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9413200" cy="4174584"/>
          </a:xfrm>
        </p:spPr>
        <p:txBody>
          <a:bodyPr anchor="t">
            <a:noAutofit/>
          </a:bodyPr>
          <a:lstStyle/>
          <a:p>
            <a:pPr marL="324000" lvl="1" indent="0">
              <a:buNone/>
            </a:pPr>
            <a:r>
              <a:rPr lang="en-US" sz="2200" b="1" dirty="0"/>
              <a:t>Big Idea</a:t>
            </a:r>
            <a:r>
              <a:rPr lang="en-US" sz="2200" dirty="0"/>
              <a:t>: Leverage complimentary strengths of humans and computers</a:t>
            </a:r>
            <a:endParaRPr lang="en-US" sz="2200" dirty="0">
              <a:hlinkClick r:id="rId4"/>
            </a:endParaRPr>
          </a:p>
        </p:txBody>
      </p:sp>
    </p:spTree>
    <p:extLst>
      <p:ext uri="{BB962C8B-B14F-4D97-AF65-F5344CB8AC3E}">
        <p14:creationId xmlns:p14="http://schemas.microsoft.com/office/powerpoint/2010/main" val="3048603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389F3-31A4-CDD1-78E4-5D68EB561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6C48B-9DB6-6A05-8123-5DB4701FF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Science of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33A9D-1B29-BEFC-CC6D-912A18119D26}"/>
              </a:ext>
            </a:extLst>
          </p:cNvPr>
          <p:cNvSpPr>
            <a:spLocks noGrp="1"/>
          </p:cNvSpPr>
          <p:nvPr>
            <p:ph idx="1"/>
          </p:nvPr>
        </p:nvSpPr>
        <p:spPr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r>
              <a:rPr lang="en-US" sz="24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Science of interaction </a:t>
            </a:r>
            <a:r>
              <a:rPr lang="en-US" sz="2400" dirty="0"/>
              <a:t>is the study of methods by which humans create knowledge through manipulation of an interface </a:t>
            </a:r>
          </a:p>
          <a:p>
            <a:r>
              <a:rPr lang="en-US" sz="2400" dirty="0"/>
              <a:t>Interaction refers to:</a:t>
            </a:r>
          </a:p>
          <a:p>
            <a:pPr lvl="1"/>
            <a:r>
              <a:rPr lang="en-US" sz="2400" dirty="0"/>
              <a:t>Set of controls through which a user can manipulate an interface</a:t>
            </a:r>
          </a:p>
          <a:p>
            <a:pPr lvl="1"/>
            <a:r>
              <a:rPr lang="en-US" sz="2400" dirty="0"/>
              <a:t>Cognitive act between the user and the problem space facilitated by computational tools</a:t>
            </a:r>
          </a:p>
        </p:txBody>
      </p:sp>
      <p:sp>
        <p:nvSpPr>
          <p:cNvPr id="4" name="Rounded Rectangular Callout 3">
            <a:extLst>
              <a:ext uri="{FF2B5EF4-FFF2-40B4-BE49-F238E27FC236}">
                <a16:creationId xmlns:a16="http://schemas.microsoft.com/office/drawing/2014/main" id="{3AD061BA-4393-D9AC-A8B8-3FEE323AF205}"/>
              </a:ext>
            </a:extLst>
          </p:cNvPr>
          <p:cNvSpPr/>
          <p:nvPr/>
        </p:nvSpPr>
        <p:spPr>
          <a:xfrm>
            <a:off x="9248503" y="2821577"/>
            <a:ext cx="2220686" cy="953589"/>
          </a:xfrm>
          <a:prstGeom prst="wedgeRoundRectCallout">
            <a:avLst>
              <a:gd name="adj1" fmla="val -60974"/>
              <a:gd name="adj2" fmla="val 375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More concrete concept</a:t>
            </a:r>
          </a:p>
        </p:txBody>
      </p:sp>
      <p:sp>
        <p:nvSpPr>
          <p:cNvPr id="5" name="Rounded Rectangular Callout 4">
            <a:extLst>
              <a:ext uri="{FF2B5EF4-FFF2-40B4-BE49-F238E27FC236}">
                <a16:creationId xmlns:a16="http://schemas.microsoft.com/office/drawing/2014/main" id="{50AA8798-208D-ABED-A298-3EB990AD955F}"/>
              </a:ext>
            </a:extLst>
          </p:cNvPr>
          <p:cNvSpPr/>
          <p:nvPr/>
        </p:nvSpPr>
        <p:spPr>
          <a:xfrm>
            <a:off x="4423954" y="4839896"/>
            <a:ext cx="1672046" cy="953589"/>
          </a:xfrm>
          <a:prstGeom prst="wedgeRoundRectCallout">
            <a:avLst>
              <a:gd name="adj1" fmla="val -74503"/>
              <a:gd name="adj2" fmla="val -7482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Abstract concept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DD0247-A3E0-BC2A-90EE-6A1AA5D7888B}"/>
              </a:ext>
            </a:extLst>
          </p:cNvPr>
          <p:cNvSpPr txBox="1"/>
          <p:nvPr/>
        </p:nvSpPr>
        <p:spPr>
          <a:xfrm>
            <a:off x="5904411" y="6323339"/>
            <a:ext cx="67861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333333"/>
                </a:solidFill>
                <a:effectLst/>
              </a:rPr>
              <a:t>Pike, W. A., Stasko, J., Chang, R., &amp; O’Connell, T. A. (2009). The Science of Interaction.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Information Visualization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,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8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(4), 263-274. </a:t>
            </a:r>
            <a:r>
              <a:rPr lang="en-US" sz="1400" b="0" i="0" u="sng" dirty="0">
                <a:solidFill>
                  <a:srgbClr val="1554B2"/>
                </a:solidFill>
                <a:effectLst/>
                <a:hlinkClick r:id="rId2"/>
              </a:rPr>
              <a:t>https://doi.org/10.1057/ivs.2009.22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598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13118-3D03-DC35-1545-CA684EBBA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A0C6C-BF08-568C-5F5B-96B21C03E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Science of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B87A1-B826-37B1-21AA-2E2D93CC7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695097" cy="4181393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r>
              <a:rPr lang="en-US" sz="2400" dirty="0"/>
              <a:t>Ex. Suppose you implement a program that simulates solving a Rubik’s cube</a:t>
            </a:r>
          </a:p>
          <a:p>
            <a:r>
              <a:rPr lang="en-US" sz="2400" dirty="0"/>
              <a:t>When someone uses your program:</a:t>
            </a:r>
          </a:p>
          <a:p>
            <a:pPr lvl="1"/>
            <a:r>
              <a:rPr lang="en-US" sz="2400" dirty="0"/>
              <a:t>What abstract problem space are they interacting with? </a:t>
            </a:r>
          </a:p>
          <a:p>
            <a:pPr lvl="1"/>
            <a:r>
              <a:rPr lang="en-US" sz="2400" dirty="0"/>
              <a:t>What are the concrete ways they interact with the program?  </a:t>
            </a:r>
          </a:p>
        </p:txBody>
      </p:sp>
      <p:pic>
        <p:nvPicPr>
          <p:cNvPr id="6" name="Google Shape;127;p18">
            <a:extLst>
              <a:ext uri="{FF2B5EF4-FFF2-40B4-BE49-F238E27FC236}">
                <a16:creationId xmlns:a16="http://schemas.microsoft.com/office/drawing/2014/main" id="{6B2D8011-AE81-6D2C-4103-5382EB7E6579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alphaModFix/>
          </a:blip>
          <a:srcRect l="-37877" r="-37876"/>
          <a:stretch/>
        </p:blipFill>
        <p:spPr>
          <a:xfrm>
            <a:off x="5306585" y="1832792"/>
            <a:ext cx="8229600" cy="4876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6810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F6E0-9F58-2DD4-715F-05A120F61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5A1DD-6E9E-1C51-2FE0-96288ACF9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Science of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173AA-F2EC-ADBB-E518-A81C382A3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884922" cy="4181393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r>
              <a:rPr lang="en-US" sz="2400" dirty="0"/>
              <a:t>Ex. Use </a:t>
            </a:r>
            <a:r>
              <a:rPr lang="en-US" sz="2400" dirty="0">
                <a:hlinkClick r:id="rId2"/>
              </a:rPr>
              <a:t>DataVoyager</a:t>
            </a:r>
            <a:r>
              <a:rPr lang="en-US" sz="2400" dirty="0"/>
              <a:t> to find two variables in the Movies dataset with a negative correlation</a:t>
            </a:r>
          </a:p>
          <a:p>
            <a:r>
              <a:rPr lang="en-US" sz="2400" dirty="0"/>
              <a:t>When you perform this task:</a:t>
            </a:r>
          </a:p>
          <a:p>
            <a:pPr lvl="1"/>
            <a:r>
              <a:rPr lang="en-US" sz="2400" dirty="0"/>
              <a:t>What abstract problem space are you interacting with? </a:t>
            </a:r>
          </a:p>
          <a:p>
            <a:pPr lvl="1"/>
            <a:r>
              <a:rPr lang="en-US" sz="2400" dirty="0"/>
              <a:t>What are the concrete ways you interact with </a:t>
            </a:r>
            <a:r>
              <a:rPr lang="en-US" sz="2400" dirty="0" err="1"/>
              <a:t>DataVoyager</a:t>
            </a:r>
            <a:r>
              <a:rPr lang="en-US" sz="2400" dirty="0"/>
              <a:t>?  </a:t>
            </a: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8665A96-1EC5-8DEF-3064-098060A3E2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948" y="1826343"/>
            <a:ext cx="6223052" cy="434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718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53751-236F-FB7B-D160-E97467847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B2C29-3C1D-53A6-E2B6-D23D7655A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Science of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C7B8F4-0440-34B3-AEE1-7F0928F62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884922" cy="4181393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r>
              <a:rPr lang="en-US" sz="2400" dirty="0"/>
              <a:t>Ex. Use </a:t>
            </a:r>
            <a:r>
              <a:rPr lang="en-US" sz="2400" dirty="0">
                <a:hlinkClick r:id="rId2"/>
              </a:rPr>
              <a:t>Global CO2 Dashboard </a:t>
            </a:r>
            <a:r>
              <a:rPr lang="en-US" sz="2400" dirty="0"/>
              <a:t>to find an insight about CO2 emissions in China</a:t>
            </a:r>
          </a:p>
          <a:p>
            <a:r>
              <a:rPr lang="en-US" sz="2400" dirty="0"/>
              <a:t>When you perform this task:</a:t>
            </a:r>
          </a:p>
          <a:p>
            <a:pPr lvl="1"/>
            <a:r>
              <a:rPr lang="en-US" sz="2400" dirty="0"/>
              <a:t>What abstract problem space are you interacting with? </a:t>
            </a:r>
          </a:p>
          <a:p>
            <a:pPr lvl="1"/>
            <a:r>
              <a:rPr lang="en-US" sz="2400" dirty="0"/>
              <a:t>What are the concrete ways you interact with the dashboard?  </a:t>
            </a: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C1F4FE-E7F9-E362-095A-6D2F285A60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180496"/>
            <a:ext cx="5930298" cy="3880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412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8D385-0329-A27F-9A39-2BC77340D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1970-6B47-5F4D-CB5F-A81F4BE71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Science of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2F558-FA64-A32F-AA80-54A02565D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81393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r>
              <a:rPr lang="en-US" sz="2400" dirty="0"/>
              <a:t>Interaction as a Reasoning Aid</a:t>
            </a:r>
          </a:p>
          <a:p>
            <a:pPr lvl="1"/>
            <a:r>
              <a:rPr lang="en-US" sz="2200" dirty="0"/>
              <a:t>Interactive manipulation of an interface happens in service of the abstract problem space</a:t>
            </a:r>
          </a:p>
          <a:p>
            <a:pPr lvl="2"/>
            <a:r>
              <a:rPr lang="en-US" sz="2000" dirty="0"/>
              <a:t>Ex. I need to rotate parts of a virtual Rubik’s Cube to solve it  </a:t>
            </a:r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Ex. I need to select and drag variables in </a:t>
            </a:r>
            <a:r>
              <a:rPr lang="en-US" sz="2000" dirty="0" err="1"/>
              <a:t>DataVoyager</a:t>
            </a:r>
            <a:r>
              <a:rPr lang="en-US" sz="2000" dirty="0"/>
              <a:t> to analyze correlations </a:t>
            </a:r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Ex. I need to hover over data points in Global CO2 Dashboard to find China’s emissions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9C01A5-B0FC-93C5-DEA2-42EED446EE81}"/>
              </a:ext>
            </a:extLst>
          </p:cNvPr>
          <p:cNvSpPr txBox="1"/>
          <p:nvPr/>
        </p:nvSpPr>
        <p:spPr>
          <a:xfrm>
            <a:off x="5904411" y="6323339"/>
            <a:ext cx="67861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333333"/>
                </a:solidFill>
                <a:effectLst/>
              </a:rPr>
              <a:t>Pike, W. A., Stasko, J., Chang, R., &amp; O’Connell, T. A. (2009). The Science of Interaction.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Information Visualization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,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8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(4), 263-274. </a:t>
            </a:r>
            <a:r>
              <a:rPr lang="en-US" sz="1400" b="0" i="0" u="sng" dirty="0">
                <a:solidFill>
                  <a:srgbClr val="1554B2"/>
                </a:solidFill>
                <a:effectLst/>
                <a:hlinkClick r:id="rId3"/>
              </a:rPr>
              <a:t>https://doi.org/10.1057/ivs.2009.22</a:t>
            </a:r>
            <a:endParaRPr lang="en-US" sz="1400" dirty="0"/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AA523112-DEC5-0A76-C851-E277E3B9A88B}"/>
              </a:ext>
            </a:extLst>
          </p:cNvPr>
          <p:cNvSpPr/>
          <p:nvPr/>
        </p:nvSpPr>
        <p:spPr>
          <a:xfrm>
            <a:off x="2860766" y="3618410"/>
            <a:ext cx="2377440" cy="326573"/>
          </a:xfrm>
          <a:prstGeom prst="wedgeRoundRectCallout">
            <a:avLst>
              <a:gd name="adj1" fmla="val -27400"/>
              <a:gd name="adj2" fmla="val -903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concrete action</a:t>
            </a:r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AD312264-AD42-3BF6-E2C6-3BFBEECBFB8D}"/>
              </a:ext>
            </a:extLst>
          </p:cNvPr>
          <p:cNvSpPr/>
          <p:nvPr/>
        </p:nvSpPr>
        <p:spPr>
          <a:xfrm>
            <a:off x="6736080" y="3618410"/>
            <a:ext cx="2377440" cy="326573"/>
          </a:xfrm>
          <a:prstGeom prst="wedgeRoundRectCallout">
            <a:avLst>
              <a:gd name="adj1" fmla="val -27400"/>
              <a:gd name="adj2" fmla="val -903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abstract problem</a:t>
            </a:r>
          </a:p>
        </p:txBody>
      </p:sp>
      <p:sp>
        <p:nvSpPr>
          <p:cNvPr id="8" name="Rounded Rectangular Callout 7">
            <a:extLst>
              <a:ext uri="{FF2B5EF4-FFF2-40B4-BE49-F238E27FC236}">
                <a16:creationId xmlns:a16="http://schemas.microsoft.com/office/drawing/2014/main" id="{880BD9CC-6352-BA0B-F4BE-8EF5331AB06A}"/>
              </a:ext>
            </a:extLst>
          </p:cNvPr>
          <p:cNvSpPr/>
          <p:nvPr/>
        </p:nvSpPr>
        <p:spPr>
          <a:xfrm>
            <a:off x="2860766" y="4546010"/>
            <a:ext cx="2377440" cy="326573"/>
          </a:xfrm>
          <a:prstGeom prst="wedgeRoundRectCallout">
            <a:avLst>
              <a:gd name="adj1" fmla="val -12015"/>
              <a:gd name="adj2" fmla="val -943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concrete action</a:t>
            </a:r>
          </a:p>
        </p:txBody>
      </p:sp>
      <p:sp>
        <p:nvSpPr>
          <p:cNvPr id="9" name="Rounded Rectangular Callout 8">
            <a:extLst>
              <a:ext uri="{FF2B5EF4-FFF2-40B4-BE49-F238E27FC236}">
                <a16:creationId xmlns:a16="http://schemas.microsoft.com/office/drawing/2014/main" id="{EDE7330D-C4CA-495B-B6A1-EA3E0FF6DBBF}"/>
              </a:ext>
            </a:extLst>
          </p:cNvPr>
          <p:cNvSpPr/>
          <p:nvPr/>
        </p:nvSpPr>
        <p:spPr>
          <a:xfrm>
            <a:off x="6953796" y="4546010"/>
            <a:ext cx="2377440" cy="326573"/>
          </a:xfrm>
          <a:prstGeom prst="wedgeRoundRectCallout">
            <a:avLst>
              <a:gd name="adj1" fmla="val -11466"/>
              <a:gd name="adj2" fmla="val -1023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abstract problem</a:t>
            </a:r>
          </a:p>
        </p:txBody>
      </p:sp>
      <p:sp>
        <p:nvSpPr>
          <p:cNvPr id="10" name="Rounded Rectangular Callout 9">
            <a:extLst>
              <a:ext uri="{FF2B5EF4-FFF2-40B4-BE49-F238E27FC236}">
                <a16:creationId xmlns:a16="http://schemas.microsoft.com/office/drawing/2014/main" id="{1E90BA5C-F5E0-067B-68E7-A4581C0E4141}"/>
              </a:ext>
            </a:extLst>
          </p:cNvPr>
          <p:cNvSpPr/>
          <p:nvPr/>
        </p:nvSpPr>
        <p:spPr>
          <a:xfrm>
            <a:off x="2860766" y="5453949"/>
            <a:ext cx="2377440" cy="326573"/>
          </a:xfrm>
          <a:prstGeom prst="wedgeRoundRectCallout">
            <a:avLst>
              <a:gd name="adj1" fmla="val -31795"/>
              <a:gd name="adj2" fmla="val -1103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concrete action</a:t>
            </a:r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32E8C86C-B5AA-53F7-F6CC-7544F2C0B370}"/>
              </a:ext>
            </a:extLst>
          </p:cNvPr>
          <p:cNvSpPr/>
          <p:nvPr/>
        </p:nvSpPr>
        <p:spPr>
          <a:xfrm>
            <a:off x="7772402" y="5473610"/>
            <a:ext cx="2377440" cy="326573"/>
          </a:xfrm>
          <a:prstGeom prst="wedgeRoundRectCallout">
            <a:avLst>
              <a:gd name="adj1" fmla="val -11466"/>
              <a:gd name="adj2" fmla="val -1023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abstract problem</a:t>
            </a:r>
          </a:p>
        </p:txBody>
      </p:sp>
    </p:spTree>
    <p:extLst>
      <p:ext uri="{BB962C8B-B14F-4D97-AF65-F5344CB8AC3E}">
        <p14:creationId xmlns:p14="http://schemas.microsoft.com/office/powerpoint/2010/main" val="68754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1" animBg="1"/>
      <p:bldP spid="7" grpId="1" animBg="1"/>
      <p:bldP spid="8" grpId="1" animBg="1"/>
      <p:bldP spid="9" grpId="1" animBg="1"/>
      <p:bldP spid="10" grpId="1" animBg="1"/>
      <p:bldP spid="11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C005F-C0E2-50A0-1EDF-8EB96D135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9455F-13CC-2CC9-9C8C-4D4F70092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Science of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D06C7-68C3-D50C-9A2F-0A8EEF91A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81393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r>
              <a:rPr lang="en-US" sz="2400" dirty="0"/>
              <a:t>Interaction as a Reasoning Aid</a:t>
            </a:r>
          </a:p>
          <a:p>
            <a:pPr lvl="1"/>
            <a:r>
              <a:rPr lang="en-US" sz="2200" dirty="0"/>
              <a:t>Interactive manipulation of an interface happens in service of the abstract problem space</a:t>
            </a:r>
          </a:p>
          <a:p>
            <a:pPr lvl="1"/>
            <a:r>
              <a:rPr lang="en-US" sz="2200" dirty="0"/>
              <a:t>Interaction is part of the reasoning process; it is an inquiry </a:t>
            </a:r>
          </a:p>
          <a:p>
            <a:pPr lvl="1"/>
            <a:r>
              <a:rPr lang="en-US" sz="2200" dirty="0"/>
              <a:t>Insight emerges out of the experience of manipulating information; the more ways a user can ‘hold’ their data (ex. exploring from different angles, changing the data’s form) the more insight will accumulate </a:t>
            </a:r>
          </a:p>
          <a:p>
            <a:pPr lvl="1"/>
            <a:r>
              <a:rPr lang="en-US" sz="2200" dirty="0"/>
              <a:t>Acts of conceptual manipulation are called </a:t>
            </a:r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situation</a:t>
            </a:r>
            <a:r>
              <a:rPr lang="en-US" sz="2200" dirty="0"/>
              <a:t>: the joining of background context and current observations, and analyses towards a goal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0210D1-9FB0-C927-5E42-E87927F16D93}"/>
              </a:ext>
            </a:extLst>
          </p:cNvPr>
          <p:cNvSpPr txBox="1"/>
          <p:nvPr/>
        </p:nvSpPr>
        <p:spPr>
          <a:xfrm>
            <a:off x="5904411" y="6323339"/>
            <a:ext cx="67861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333333"/>
                </a:solidFill>
                <a:effectLst/>
              </a:rPr>
              <a:t>Pike, W. A., Stasko, J., Chang, R., &amp; O’Connell, T. A. (2009). The Science of Interaction.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Information Visualization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,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8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(4), 263-274. </a:t>
            </a:r>
            <a:r>
              <a:rPr lang="en-US" sz="1400" b="0" i="0" u="sng" dirty="0">
                <a:solidFill>
                  <a:srgbClr val="1554B2"/>
                </a:solidFill>
                <a:effectLst/>
                <a:hlinkClick r:id="rId3"/>
              </a:rPr>
              <a:t>https://doi.org/10.1057/ivs.2009.22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98528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81F9F-39BA-D7C4-B300-114A31F0D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459C1-3AFA-9E1E-46D8-D8B664D53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Science of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20AAA-3D59-03B5-2604-FCA4610D3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81393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r>
              <a:rPr lang="en-US" sz="2400" dirty="0"/>
              <a:t>Interaction as a Reasoning Aid: situation</a:t>
            </a:r>
          </a:p>
          <a:p>
            <a:pPr lvl="1"/>
            <a:r>
              <a:rPr lang="en-US" sz="2200" dirty="0"/>
              <a:t>Lemke calls situation an ‘ecology’, evoking the dynamic interaction between concepts and thinkers in the process of knowledge construction</a:t>
            </a:r>
          </a:p>
          <a:p>
            <a:pPr lvl="1"/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Situated cognition </a:t>
            </a:r>
            <a:r>
              <a:rPr lang="en-US" sz="2200" dirty="0"/>
              <a:t>theorizes cognition as an emergent property of interactions between people and their environment through perception and action </a:t>
            </a:r>
          </a:p>
          <a:p>
            <a:pPr lvl="2"/>
            <a:r>
              <a:rPr lang="en-US" sz="2200" dirty="0"/>
              <a:t> In other words… cognition is not a purely mental activity; it requires interaction with artifacts </a:t>
            </a:r>
          </a:p>
          <a:p>
            <a:pPr lvl="1"/>
            <a:r>
              <a:rPr lang="en-US" sz="2200" dirty="0"/>
              <a:t>Interaction supports </a:t>
            </a:r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dialogical inquiry</a:t>
            </a:r>
            <a:r>
              <a:rPr lang="en-US" sz="2200" dirty="0"/>
              <a:t>; the user and tool each posses questions and answers, as the user interacts to answer one question, they may encounter new ones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39E223-7D7A-BFCD-225E-92C5C7BFCF6C}"/>
              </a:ext>
            </a:extLst>
          </p:cNvPr>
          <p:cNvSpPr txBox="1"/>
          <p:nvPr/>
        </p:nvSpPr>
        <p:spPr>
          <a:xfrm>
            <a:off x="5904411" y="6323339"/>
            <a:ext cx="67861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333333"/>
                </a:solidFill>
                <a:effectLst/>
              </a:rPr>
              <a:t>Pike, W. A., Stasko, J., Chang, R., &amp; O’Connell, T. A. (2009). The Science of Interaction.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Information Visualization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, </a:t>
            </a:r>
            <a:r>
              <a:rPr lang="en-US" sz="1400" b="0" i="1" dirty="0">
                <a:solidFill>
                  <a:srgbClr val="333333"/>
                </a:solidFill>
                <a:effectLst/>
              </a:rPr>
              <a:t>8</a:t>
            </a:r>
            <a:r>
              <a:rPr lang="en-US" sz="1400" b="0" i="0" dirty="0">
                <a:solidFill>
                  <a:srgbClr val="333333"/>
                </a:solidFill>
                <a:effectLst/>
              </a:rPr>
              <a:t>(4), 263-274. </a:t>
            </a:r>
            <a:r>
              <a:rPr lang="en-US" sz="1400" b="0" i="0" u="sng" dirty="0">
                <a:solidFill>
                  <a:srgbClr val="1554B2"/>
                </a:solidFill>
                <a:effectLst/>
                <a:hlinkClick r:id="rId3"/>
              </a:rPr>
              <a:t>https://doi.org/10.1057/ivs.2009.22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71119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B8314-01F0-AE26-1119-7E8278781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A836A-63BB-18A0-881A-523933A63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Interaction for Visualization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C0F5B-AFBA-FCE6-A747-7E2EE52D8B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576945"/>
            <a:ext cx="11029615" cy="3784944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pPr marL="0" indent="0" algn="ctr">
              <a:buNone/>
            </a:pPr>
            <a:r>
              <a:rPr lang="en-US" sz="3600" dirty="0"/>
              <a:t>Interaction for visualization is the interplay between a person and a data interface involving a data-related intent, at least one action from the person and an interface reaction that is perceived as such.</a:t>
            </a:r>
          </a:p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8D74F3-BD62-2960-17F3-3A712B312506}"/>
              </a:ext>
            </a:extLst>
          </p:cNvPr>
          <p:cNvSpPr txBox="1"/>
          <p:nvPr/>
        </p:nvSpPr>
        <p:spPr>
          <a:xfrm>
            <a:off x="7997125" y="5872322"/>
            <a:ext cx="419487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E. </a:t>
            </a:r>
            <a:r>
              <a:rPr lang="en-US" sz="1400" dirty="0" err="1"/>
              <a:t>Dimara</a:t>
            </a:r>
            <a:r>
              <a:rPr lang="en-US" sz="1400" dirty="0"/>
              <a:t> and C. Perin, "What is Interaction for Data Visualization?," in </a:t>
            </a:r>
            <a:r>
              <a:rPr lang="en-US" sz="1400" i="1" dirty="0"/>
              <a:t>IEEE Transactions on Visualization and Computer Graphics</a:t>
            </a:r>
            <a:r>
              <a:rPr lang="en-US" sz="1400" dirty="0"/>
              <a:t>, vol. 26, no. 1, pp. 119-129, Jan. 2020, </a:t>
            </a:r>
            <a:r>
              <a:rPr lang="en-US" sz="1400" dirty="0" err="1"/>
              <a:t>doi</a:t>
            </a:r>
            <a:r>
              <a:rPr lang="en-US" sz="1400" dirty="0"/>
              <a:t>: 10.1109/TVCG.2019.2934283. 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46576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DFCBE-0443-881F-EF77-8900602D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CF773-EA5A-C8C9-BA0A-AF6BFF8AE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Interaction for Visualization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C832E-0E41-C730-3EFD-672FEBEC08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02873"/>
            <a:ext cx="11029615" cy="4159016"/>
          </a:xfr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dirty="0"/>
              <a:t>Interaction for visualization is the interplay between a person and a data interface involving a data-related intent, at least one action from the person and an interface reaction that is perceived as such.</a:t>
            </a:r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2BA585-BB70-59D2-CBCA-75E84E029106}"/>
              </a:ext>
            </a:extLst>
          </p:cNvPr>
          <p:cNvSpPr txBox="1"/>
          <p:nvPr/>
        </p:nvSpPr>
        <p:spPr>
          <a:xfrm>
            <a:off x="7997125" y="5872322"/>
            <a:ext cx="419487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E. </a:t>
            </a:r>
            <a:r>
              <a:rPr lang="en-US" sz="1400" dirty="0" err="1"/>
              <a:t>Dimara</a:t>
            </a:r>
            <a:r>
              <a:rPr lang="en-US" sz="1400" dirty="0"/>
              <a:t> and C. Perin, "What is Interaction for Data Visualization?," in </a:t>
            </a:r>
            <a:r>
              <a:rPr lang="en-US" sz="1400" i="1" dirty="0"/>
              <a:t>IEEE Transactions on Visualization and Computer Graphics</a:t>
            </a:r>
            <a:r>
              <a:rPr lang="en-US" sz="1400" dirty="0"/>
              <a:t>, vol. 26, no. 1, pp. 119-129, Jan. 2020, </a:t>
            </a:r>
            <a:r>
              <a:rPr lang="en-US" sz="1400" dirty="0" err="1"/>
              <a:t>doi</a:t>
            </a:r>
            <a:r>
              <a:rPr lang="en-US" sz="1400" dirty="0"/>
              <a:t>: 10.1109/TVCG.2019.2934283. </a:t>
            </a:r>
            <a:endParaRPr lang="en-US" sz="11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803CD60-8B5A-55E1-9A25-8DCEC0D3210E}"/>
              </a:ext>
            </a:extLst>
          </p:cNvPr>
          <p:cNvSpPr/>
          <p:nvPr/>
        </p:nvSpPr>
        <p:spPr>
          <a:xfrm>
            <a:off x="581191" y="3429000"/>
            <a:ext cx="11029615" cy="24433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/>
              <a:t>Interaction?</a:t>
            </a:r>
          </a:p>
          <a:p>
            <a:endParaRPr lang="en-US" sz="2400" dirty="0"/>
          </a:p>
          <a:p>
            <a:r>
              <a:rPr lang="en-US" sz="2400" i="1" dirty="0"/>
              <a:t>Joe is staring at a visualization without performing any</a:t>
            </a:r>
            <a:r>
              <a:rPr lang="en-US" sz="2400" dirty="0"/>
              <a:t> </a:t>
            </a:r>
            <a:r>
              <a:rPr lang="en-US" sz="2400" i="1" dirty="0"/>
              <a:t>action that is interpretable by the visualization. He is reasoning (mentally)</a:t>
            </a:r>
            <a:r>
              <a:rPr lang="en-US" sz="2400" dirty="0"/>
              <a:t> </a:t>
            </a:r>
            <a:r>
              <a:rPr lang="en-US" sz="2400" i="1" dirty="0"/>
              <a:t>about the visualized data. There are further (computer initiated)</a:t>
            </a:r>
            <a:r>
              <a:rPr lang="en-US" sz="2400" dirty="0"/>
              <a:t> </a:t>
            </a:r>
            <a:r>
              <a:rPr lang="en-US" sz="2400" i="1" dirty="0"/>
              <a:t>animations, real time changes that show important information that Joe</a:t>
            </a:r>
            <a:r>
              <a:rPr lang="en-US" sz="2400" dirty="0"/>
              <a:t> </a:t>
            </a:r>
            <a:r>
              <a:rPr lang="en-US" sz="2400" i="1" dirty="0"/>
              <a:t>takes into account in his reasoning process.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298442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1079</TotalTime>
  <Words>1427</Words>
  <Application>Microsoft Macintosh PowerPoint</Application>
  <PresentationFormat>Widescreen</PresentationFormat>
  <Paragraphs>101</Paragraphs>
  <Slides>13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Gill Sans MT</vt:lpstr>
      <vt:lpstr>Wingdings 2</vt:lpstr>
      <vt:lpstr>Dividend</vt:lpstr>
      <vt:lpstr>Visual Analytics:   interaction Science</vt:lpstr>
      <vt:lpstr>Today’s plan</vt:lpstr>
      <vt:lpstr>Recall: What is visual analytics?</vt:lpstr>
      <vt:lpstr>Recall: What is visual analytics?</vt:lpstr>
      <vt:lpstr>Science of interaction</vt:lpstr>
      <vt:lpstr>Science of interaction</vt:lpstr>
      <vt:lpstr>Science of interaction</vt:lpstr>
      <vt:lpstr>Science of interaction</vt:lpstr>
      <vt:lpstr>Science of interaction</vt:lpstr>
      <vt:lpstr>Science of interaction</vt:lpstr>
      <vt:lpstr>Science of interaction</vt:lpstr>
      <vt:lpstr>Defining Interaction for Visualization </vt:lpstr>
      <vt:lpstr>Defining Interaction for Visualization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31</cp:revision>
  <dcterms:created xsi:type="dcterms:W3CDTF">2025-11-19T17:12:35Z</dcterms:created>
  <dcterms:modified xsi:type="dcterms:W3CDTF">2026-01-06T20:52:21Z</dcterms:modified>
</cp:coreProperties>
</file>