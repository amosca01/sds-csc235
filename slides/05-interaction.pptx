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69" r:id="rId4"/>
    <p:sldId id="270" r:id="rId5"/>
    <p:sldId id="271" r:id="rId6"/>
    <p:sldId id="272" r:id="rId7"/>
    <p:sldId id="273" r:id="rId8"/>
    <p:sldId id="275" r:id="rId9"/>
    <p:sldId id="274" r:id="rId10"/>
    <p:sldId id="276" r:id="rId11"/>
    <p:sldId id="27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05"/>
    <p:restoredTop sz="78645"/>
  </p:normalViewPr>
  <p:slideViewPr>
    <p:cSldViewPr snapToGrid="0">
      <p:cViewPr varScale="1">
        <p:scale>
          <a:sx n="98" d="100"/>
          <a:sy n="98" d="100"/>
        </p:scale>
        <p:origin x="168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Knowledge generation model for visual analytics: The model consists of computer and human parts. The left hand side illustrates a visual analytics system, whereas the right hand side illustrates the knowledge generation process of the human. The latter is a reasoning process composed of exploration, verification, and knowledge generation loops. Visual analytics pursues a tight integration of human and machine by enabling the user to interact with the system.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44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356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40EA3-53FF-875D-2577-FCA8B0328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8D5E6-1BCD-01A6-4374-C5F04EFE8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7510BC-3C24-1E24-708E-910E52556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90EA0-5718-E198-0D89-0A5A03F34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15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7946-1288-F5B8-08AA-00D69990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BF7B6-0473-5374-509D-96FE3C98C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FCF88-E787-D7AC-7AE9-3D8C411AD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4A284-2702-FB14-828F-2284B76ABC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44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hbeDn5D-GCg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57/ivs.2009.22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vega.github.io/voyager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public.tableau.com/app/profile/harim.jung/viz/GlobalCODashboardPoweredbyTableauAgent/TableauAgentClimateDashboar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57/ivs.2009.2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57/ivs.2009.22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57/ivs.2009.22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interaction Science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Science of interaction</a:t>
            </a:r>
          </a:p>
          <a:p>
            <a:r>
              <a:rPr lang="en-US" sz="2400" dirty="0"/>
              <a:t>Define interaction within visualization</a:t>
            </a:r>
          </a:p>
          <a:p>
            <a:r>
              <a:rPr lang="en-US" sz="2400" dirty="0"/>
              <a:t>Leveraging interaction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9375E-5227-E742-5B5F-47EB92F8D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039A9-D31B-1CBB-4668-13E2556B7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is visual analytics?</a:t>
            </a:r>
          </a:p>
        </p:txBody>
      </p:sp>
      <p:grpSp>
        <p:nvGrpSpPr>
          <p:cNvPr id="6" name="object 3">
            <a:extLst>
              <a:ext uri="{FF2B5EF4-FFF2-40B4-BE49-F238E27FC236}">
                <a16:creationId xmlns:a16="http://schemas.microsoft.com/office/drawing/2014/main" id="{3118BD2A-EFF0-C7CF-D171-B03311185A48}"/>
              </a:ext>
            </a:extLst>
          </p:cNvPr>
          <p:cNvGrpSpPr/>
          <p:nvPr/>
        </p:nvGrpSpPr>
        <p:grpSpPr>
          <a:xfrm>
            <a:off x="519574" y="2461449"/>
            <a:ext cx="5285232" cy="3337560"/>
            <a:chOff x="1133475" y="1362075"/>
            <a:chExt cx="6953250" cy="3904615"/>
          </a:xfrm>
        </p:grpSpPr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37740EE1-6ED1-79A8-0579-C25FA0AB755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2999" y="1371600"/>
              <a:ext cx="6934198" cy="3885369"/>
            </a:xfrm>
            <a:prstGeom prst="rect">
              <a:avLst/>
            </a:prstGeom>
          </p:spPr>
        </p:pic>
        <p:sp>
          <p:nvSpPr>
            <p:cNvPr id="8" name="object 5">
              <a:extLst>
                <a:ext uri="{FF2B5EF4-FFF2-40B4-BE49-F238E27FC236}">
                  <a16:creationId xmlns:a16="http://schemas.microsoft.com/office/drawing/2014/main" id="{A2DA5C5C-9F62-00D2-4DBF-CF8DCA81F137}"/>
                </a:ext>
              </a:extLst>
            </p:cNvPr>
            <p:cNvSpPr/>
            <p:nvPr/>
          </p:nvSpPr>
          <p:spPr>
            <a:xfrm>
              <a:off x="1138237" y="1366837"/>
              <a:ext cx="6943725" cy="3895090"/>
            </a:xfrm>
            <a:custGeom>
              <a:avLst/>
              <a:gdLst/>
              <a:ahLst/>
              <a:cxnLst/>
              <a:rect l="l" t="t" r="r" b="b"/>
              <a:pathLst>
                <a:path w="6943725" h="3895090">
                  <a:moveTo>
                    <a:pt x="0" y="0"/>
                  </a:moveTo>
                  <a:lnTo>
                    <a:pt x="6943724" y="0"/>
                  </a:lnTo>
                  <a:lnTo>
                    <a:pt x="6943724" y="3894894"/>
                  </a:lnTo>
                  <a:lnTo>
                    <a:pt x="0" y="389489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539B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9" name="object 6">
            <a:extLst>
              <a:ext uri="{FF2B5EF4-FFF2-40B4-BE49-F238E27FC236}">
                <a16:creationId xmlns:a16="http://schemas.microsoft.com/office/drawing/2014/main" id="{32B9792C-C83F-3DF4-A3EC-61C3EE20B609}"/>
              </a:ext>
            </a:extLst>
          </p:cNvPr>
          <p:cNvSpPr txBox="1"/>
          <p:nvPr/>
        </p:nvSpPr>
        <p:spPr>
          <a:xfrm>
            <a:off x="5862170" y="3118414"/>
            <a:ext cx="5810256" cy="20236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" algn="ctr">
              <a:spcBef>
                <a:spcPts val="100"/>
              </a:spcBef>
            </a:pP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“The</a:t>
            </a:r>
            <a:r>
              <a:rPr sz="2800" spc="-7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science</a:t>
            </a:r>
            <a:r>
              <a:rPr sz="2800" spc="-6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of</a:t>
            </a:r>
            <a:r>
              <a:rPr sz="2800" spc="-7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analytical</a:t>
            </a:r>
            <a:r>
              <a:rPr sz="2800" b="1" spc="-75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 </a:t>
            </a:r>
            <a:r>
              <a:rPr sz="2800" b="1" spc="-1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reasoning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  <a:cs typeface="Arial"/>
            </a:endParaRPr>
          </a:p>
          <a:p>
            <a:pPr algn="ctr">
              <a:spcBef>
                <a:spcPts val="45"/>
              </a:spcBef>
            </a:pP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facilitated</a:t>
            </a:r>
            <a:r>
              <a:rPr sz="2800" spc="-7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by</a:t>
            </a:r>
            <a:r>
              <a:rPr sz="2800" spc="-8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interactive</a:t>
            </a:r>
            <a:r>
              <a:rPr sz="2800" b="1" spc="-75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 </a:t>
            </a:r>
            <a:r>
              <a:rPr sz="28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visual</a:t>
            </a:r>
            <a:r>
              <a:rPr sz="2800" b="1" spc="-85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 </a:t>
            </a:r>
            <a:r>
              <a:rPr sz="2800" b="1" spc="-1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interfaces</a:t>
            </a:r>
            <a:r>
              <a:rPr sz="2800" spc="-1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”</a:t>
            </a:r>
            <a:r>
              <a:rPr spc="-15" baseline="23148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1</a:t>
            </a:r>
            <a:endParaRPr baseline="23148" dirty="0">
              <a:solidFill>
                <a:schemeClr val="tx1">
                  <a:lumMod val="75000"/>
                  <a:lumOff val="25000"/>
                </a:schemeClr>
              </a:solidFill>
              <a:cs typeface="Arial"/>
            </a:endParaRPr>
          </a:p>
          <a:p>
            <a:pPr marL="1092200" marR="828040">
              <a:spcBef>
                <a:spcPts val="2039"/>
              </a:spcBef>
            </a:pPr>
            <a:r>
              <a:rPr sz="1050" b="1" baseline="23809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1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Thomas,</a:t>
            </a:r>
            <a:r>
              <a:rPr sz="1000" b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James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J.,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and</a:t>
            </a:r>
            <a:r>
              <a:rPr sz="1000" b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Kristin</a:t>
            </a:r>
            <a:r>
              <a:rPr sz="1000" b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A.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Cook,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eds.</a:t>
            </a:r>
            <a:r>
              <a:rPr sz="1000" b="1" spc="-1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Illuminating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the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path:</a:t>
            </a:r>
            <a:r>
              <a:rPr sz="1000" b="1" i="1" spc="-2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The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research</a:t>
            </a:r>
            <a:r>
              <a:rPr sz="1000" b="1" i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and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development</a:t>
            </a:r>
            <a:r>
              <a:rPr sz="1000" b="1" i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agenda</a:t>
            </a:r>
            <a:r>
              <a:rPr sz="1000" b="1" i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for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visual</a:t>
            </a:r>
            <a:r>
              <a:rPr sz="1000" b="1" i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analytics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.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IEEE</a:t>
            </a:r>
            <a:r>
              <a:rPr sz="1000" b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Computer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Society</a:t>
            </a:r>
            <a:r>
              <a:rPr sz="1000" b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Press,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spc="-1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2005.</a:t>
            </a:r>
            <a:endParaRPr sz="1000" dirty="0">
              <a:solidFill>
                <a:schemeClr val="tx1">
                  <a:lumMod val="75000"/>
                  <a:lumOff val="25000"/>
                </a:schemeClr>
              </a:solidFill>
              <a:cs typeface="Arial"/>
            </a:endParaRP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9CBF502D-AD8B-3D40-362F-1F50204C04EB}"/>
              </a:ext>
            </a:extLst>
          </p:cNvPr>
          <p:cNvSpPr/>
          <p:nvPr/>
        </p:nvSpPr>
        <p:spPr>
          <a:xfrm>
            <a:off x="8098421" y="5295755"/>
            <a:ext cx="3512387" cy="1209612"/>
          </a:xfrm>
          <a:prstGeom prst="wedgeRoundRectCallout">
            <a:avLst>
              <a:gd name="adj1" fmla="val 7997"/>
              <a:gd name="adj2" fmla="val -15351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-10" dirty="0">
                <a:solidFill>
                  <a:schemeClr val="bg1"/>
                </a:solidFill>
                <a:cs typeface="Arial"/>
              </a:rPr>
              <a:t>visual </a:t>
            </a:r>
            <a:r>
              <a:rPr lang="en-US" b="1" spc="-10" dirty="0">
                <a:solidFill>
                  <a:schemeClr val="bg1"/>
                </a:solidFill>
                <a:cs typeface="Arial"/>
              </a:rPr>
              <a:t>representations </a:t>
            </a:r>
            <a:r>
              <a:rPr lang="en-US" dirty="0">
                <a:solidFill>
                  <a:schemeClr val="bg1"/>
                </a:solidFill>
                <a:cs typeface="Arial"/>
              </a:rPr>
              <a:t>of</a:t>
            </a:r>
            <a:r>
              <a:rPr lang="en-US" spc="-4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dirty="0">
                <a:solidFill>
                  <a:schemeClr val="bg1"/>
                </a:solidFill>
                <a:cs typeface="Arial"/>
              </a:rPr>
              <a:t>data</a:t>
            </a:r>
            <a:r>
              <a:rPr lang="en-US" spc="-35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5" dirty="0">
                <a:solidFill>
                  <a:schemeClr val="bg1"/>
                </a:solidFill>
                <a:cs typeface="Arial"/>
              </a:rPr>
              <a:t>that </a:t>
            </a:r>
            <a:r>
              <a:rPr lang="en-US" dirty="0">
                <a:solidFill>
                  <a:schemeClr val="bg1"/>
                </a:solidFill>
                <a:cs typeface="Arial"/>
              </a:rPr>
              <a:t>reinforce</a:t>
            </a:r>
            <a:r>
              <a:rPr lang="en-US" spc="-9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0" dirty="0">
                <a:solidFill>
                  <a:schemeClr val="bg1"/>
                </a:solidFill>
                <a:cs typeface="Arial"/>
              </a:rPr>
              <a:t>human </a:t>
            </a:r>
            <a:r>
              <a:rPr lang="en-US" b="1" spc="-10" dirty="0">
                <a:solidFill>
                  <a:schemeClr val="bg1"/>
                </a:solidFill>
                <a:cs typeface="Arial"/>
              </a:rPr>
              <a:t>cognition</a:t>
            </a:r>
            <a:endParaRPr lang="en-US" dirty="0">
              <a:solidFill>
                <a:schemeClr val="bg1"/>
              </a:solidFill>
              <a:cs typeface="Arial"/>
            </a:endParaRPr>
          </a:p>
        </p:txBody>
      </p:sp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A4874E7E-91DB-BAE5-3284-4A0499A824C3}"/>
              </a:ext>
            </a:extLst>
          </p:cNvPr>
          <p:cNvSpPr/>
          <p:nvPr/>
        </p:nvSpPr>
        <p:spPr>
          <a:xfrm>
            <a:off x="6096000" y="1950904"/>
            <a:ext cx="3862682" cy="1013800"/>
          </a:xfrm>
          <a:prstGeom prst="wedgeRoundRectCallout">
            <a:avLst>
              <a:gd name="adj1" fmla="val 28778"/>
              <a:gd name="adj2" fmla="val 76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 marR="5080" indent="-183515" algn="ctr">
              <a:lnSpc>
                <a:spcPct val="100200"/>
              </a:lnSpc>
              <a:spcBef>
                <a:spcPts val="90"/>
              </a:spcBef>
            </a:pPr>
            <a:r>
              <a:rPr lang="en-US" b="1" dirty="0">
                <a:solidFill>
                  <a:schemeClr val="bg1"/>
                </a:solidFill>
                <a:cs typeface="Arial"/>
              </a:rPr>
              <a:t>discovery</a:t>
            </a:r>
            <a:r>
              <a:rPr lang="en-US" b="1" spc="-9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5" dirty="0">
                <a:solidFill>
                  <a:schemeClr val="bg1"/>
                </a:solidFill>
                <a:cs typeface="Arial"/>
              </a:rPr>
              <a:t>and </a:t>
            </a:r>
            <a:r>
              <a:rPr lang="en-US" b="1" spc="-10" dirty="0">
                <a:solidFill>
                  <a:schemeClr val="bg1"/>
                </a:solidFill>
                <a:cs typeface="Arial"/>
              </a:rPr>
              <a:t>communication </a:t>
            </a:r>
            <a:r>
              <a:rPr lang="en-US" dirty="0">
                <a:solidFill>
                  <a:schemeClr val="bg1"/>
                </a:solidFill>
                <a:cs typeface="Arial"/>
              </a:rPr>
              <a:t>of</a:t>
            </a:r>
            <a:r>
              <a:rPr lang="en-US" spc="-25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10" dirty="0">
                <a:solidFill>
                  <a:schemeClr val="bg1"/>
                </a:solidFill>
                <a:cs typeface="Arial"/>
              </a:rPr>
              <a:t>meaningful </a:t>
            </a:r>
            <a:r>
              <a:rPr lang="en-US" dirty="0">
                <a:solidFill>
                  <a:schemeClr val="bg1"/>
                </a:solidFill>
                <a:cs typeface="Arial"/>
              </a:rPr>
              <a:t>patterns</a:t>
            </a:r>
            <a:r>
              <a:rPr lang="en-US" spc="-45" dirty="0">
                <a:solidFill>
                  <a:schemeClr val="bg1"/>
                </a:solidFill>
                <a:cs typeface="Arial"/>
              </a:rPr>
              <a:t> </a:t>
            </a:r>
            <a:r>
              <a:rPr lang="en-US" dirty="0">
                <a:solidFill>
                  <a:schemeClr val="bg1"/>
                </a:solidFill>
                <a:cs typeface="Arial"/>
              </a:rPr>
              <a:t>in</a:t>
            </a:r>
            <a:r>
              <a:rPr lang="en-US" spc="-4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0" dirty="0">
                <a:solidFill>
                  <a:schemeClr val="bg1"/>
                </a:solidFill>
                <a:cs typeface="Arial"/>
              </a:rPr>
              <a:t>data</a:t>
            </a:r>
            <a:endParaRPr lang="en-US" dirty="0">
              <a:solidFill>
                <a:schemeClr val="bg1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94995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51D1-66F5-1C78-88EC-D1B619C3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519AC-3394-B56E-A29E-C9F755695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is visual analytics?</a:t>
            </a:r>
          </a:p>
        </p:txBody>
      </p:sp>
      <p:pic>
        <p:nvPicPr>
          <p:cNvPr id="17" name="Picture 16" descr="A diagram of a model&#10;&#10;AI-generated content may be incorrect.">
            <a:extLst>
              <a:ext uri="{FF2B5EF4-FFF2-40B4-BE49-F238E27FC236}">
                <a16:creationId xmlns:a16="http://schemas.microsoft.com/office/drawing/2014/main" id="{7919B10C-F148-E2AC-2EE4-C2251F340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201" y="2359353"/>
            <a:ext cx="10263593" cy="3534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CD74357-4EDB-6EB8-82B2-E6A584B4358A}"/>
              </a:ext>
            </a:extLst>
          </p:cNvPr>
          <p:cNvSpPr txBox="1"/>
          <p:nvPr/>
        </p:nvSpPr>
        <p:spPr>
          <a:xfrm>
            <a:off x="342898" y="5893414"/>
            <a:ext cx="11506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D. Sacha, A. Stoffel, F. Stoffel, B. C. Kwon, G. Ellis and D. A. Keim, "Knowledge Generation Model for Visual Analytics," in IEEE Transactions on Visualization and Computer Graphics, vol. 20, no. 12, pp. 1604-1613, 31 Dec. 2014, </a:t>
            </a:r>
            <a:r>
              <a:rPr lang="en-US" dirty="0" err="1"/>
              <a:t>doi</a:t>
            </a:r>
            <a:r>
              <a:rPr lang="en-US" dirty="0"/>
              <a:t>: 10.1109/TVCG.2014.2346481.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E45DB2-9482-1AE6-3BDE-86E9BC356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9413200" cy="4174584"/>
          </a:xfrm>
        </p:spPr>
        <p:txBody>
          <a:bodyPr anchor="t">
            <a:noAutofit/>
          </a:bodyPr>
          <a:lstStyle/>
          <a:p>
            <a:pPr marL="324000" lvl="1" indent="0">
              <a:buNone/>
            </a:pPr>
            <a:r>
              <a:rPr lang="en-US" sz="2200" b="1" dirty="0"/>
              <a:t>Big Idea</a:t>
            </a:r>
            <a:r>
              <a:rPr lang="en-US" sz="2200" dirty="0"/>
              <a:t>: Leverage complimentary strengths of humans and computers</a:t>
            </a:r>
            <a:endParaRPr lang="en-US" sz="2200" dirty="0"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3048603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89F3-31A4-CDD1-78E4-5D68EB561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C48B-9DB6-6A05-8123-5DB4701FF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33A9D-1B29-BEFC-CC6D-912A18119D26}"/>
              </a:ext>
            </a:extLst>
          </p:cNvPr>
          <p:cNvSpPr>
            <a:spLocks noGrp="1"/>
          </p:cNvSpPr>
          <p:nvPr>
            <p:ph idx="1"/>
          </p:nvPr>
        </p:nvSpPr>
        <p:spPr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Science of interaction </a:t>
            </a:r>
            <a:r>
              <a:rPr lang="en-US" sz="2400" dirty="0"/>
              <a:t>is the study of methods by which humans create knowledge through manipulation of an interface </a:t>
            </a:r>
          </a:p>
          <a:p>
            <a:r>
              <a:rPr lang="en-US" sz="2400" dirty="0"/>
              <a:t>Interaction refers to:</a:t>
            </a:r>
          </a:p>
          <a:p>
            <a:pPr lvl="1"/>
            <a:r>
              <a:rPr lang="en-US" sz="2400" dirty="0"/>
              <a:t>Set of controls through which a user can manipulate an interface</a:t>
            </a:r>
          </a:p>
          <a:p>
            <a:pPr lvl="1"/>
            <a:r>
              <a:rPr lang="en-US" sz="2400" dirty="0"/>
              <a:t>Cognitive act between the user and the problem space facilitated by computational tools</a:t>
            </a:r>
          </a:p>
        </p:txBody>
      </p:sp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3AD061BA-4393-D9AC-A8B8-3FEE323AF205}"/>
              </a:ext>
            </a:extLst>
          </p:cNvPr>
          <p:cNvSpPr/>
          <p:nvPr/>
        </p:nvSpPr>
        <p:spPr>
          <a:xfrm>
            <a:off x="9248503" y="2821577"/>
            <a:ext cx="2220686" cy="953589"/>
          </a:xfrm>
          <a:prstGeom prst="wedgeRoundRectCallout">
            <a:avLst>
              <a:gd name="adj1" fmla="val -60974"/>
              <a:gd name="adj2" fmla="val 375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More concrete concept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50AA8798-208D-ABED-A298-3EB990AD955F}"/>
              </a:ext>
            </a:extLst>
          </p:cNvPr>
          <p:cNvSpPr/>
          <p:nvPr/>
        </p:nvSpPr>
        <p:spPr>
          <a:xfrm>
            <a:off x="4423954" y="4839896"/>
            <a:ext cx="1672046" cy="953589"/>
          </a:xfrm>
          <a:prstGeom prst="wedgeRoundRectCallout">
            <a:avLst>
              <a:gd name="adj1" fmla="val -74503"/>
              <a:gd name="adj2" fmla="val -7482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concept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D0247-A3E0-BC2A-90EE-6A1AA5D7888B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2"/>
              </a:rPr>
              <a:t>https://doi.org/10.1057/ivs.2009.22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59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13118-3D03-DC35-1545-CA684EBB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A0C6C-BF08-568C-5F5B-96B21C03E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87A1-B826-37B1-21AA-2E2D93CC7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695097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Ex. Suppose you implement a program that simulates solving a Rubik’s cube</a:t>
            </a:r>
          </a:p>
          <a:p>
            <a:r>
              <a:rPr lang="en-US" sz="2400" dirty="0"/>
              <a:t>When someone uses your program:</a:t>
            </a:r>
          </a:p>
          <a:p>
            <a:pPr lvl="1"/>
            <a:r>
              <a:rPr lang="en-US" sz="2400" dirty="0"/>
              <a:t>What abstract problem space are they interacting with? </a:t>
            </a:r>
          </a:p>
          <a:p>
            <a:pPr lvl="1"/>
            <a:r>
              <a:rPr lang="en-US" sz="2400" dirty="0"/>
              <a:t>What are the concrete ways they interact with the program?  </a:t>
            </a:r>
          </a:p>
        </p:txBody>
      </p:sp>
      <p:pic>
        <p:nvPicPr>
          <p:cNvPr id="6" name="Google Shape;127;p18">
            <a:extLst>
              <a:ext uri="{FF2B5EF4-FFF2-40B4-BE49-F238E27FC236}">
                <a16:creationId xmlns:a16="http://schemas.microsoft.com/office/drawing/2014/main" id="{6B2D8011-AE81-6D2C-4103-5382EB7E6579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 l="-37877" r="-37876"/>
          <a:stretch/>
        </p:blipFill>
        <p:spPr>
          <a:xfrm>
            <a:off x="5306585" y="1832792"/>
            <a:ext cx="8229600" cy="4876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681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F6E0-9F58-2DD4-715F-05A120F61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5A1DD-6E9E-1C51-2FE0-96288ACF9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173AA-F2EC-ADBB-E518-A81C382A3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884922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Ex. Use </a:t>
            </a:r>
            <a:r>
              <a:rPr lang="en-US" sz="2400" dirty="0">
                <a:hlinkClick r:id="rId2"/>
              </a:rPr>
              <a:t>DataVoyager</a:t>
            </a:r>
            <a:r>
              <a:rPr lang="en-US" sz="2400" dirty="0"/>
              <a:t> to find two variables in the Movies dataset with a negative correlation</a:t>
            </a:r>
          </a:p>
          <a:p>
            <a:r>
              <a:rPr lang="en-US" sz="2400" dirty="0"/>
              <a:t>When you perform this task:</a:t>
            </a:r>
          </a:p>
          <a:p>
            <a:pPr lvl="1"/>
            <a:r>
              <a:rPr lang="en-US" sz="2400" dirty="0"/>
              <a:t>What abstract problem space are you interacting with? </a:t>
            </a:r>
          </a:p>
          <a:p>
            <a:pPr lvl="1"/>
            <a:r>
              <a:rPr lang="en-US" sz="2400" dirty="0"/>
              <a:t>What are the concrete ways you interact with </a:t>
            </a:r>
            <a:r>
              <a:rPr lang="en-US" sz="2400" dirty="0" err="1"/>
              <a:t>DataVoyager</a:t>
            </a:r>
            <a:r>
              <a:rPr lang="en-US" sz="2400" dirty="0"/>
              <a:t>?  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665A96-1EC5-8DEF-3064-098060A3E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948" y="1826343"/>
            <a:ext cx="6223052" cy="434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718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53751-236F-FB7B-D160-E97467847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2C29-3C1D-53A6-E2B6-D23D7655A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7B8F4-0440-34B3-AEE1-7F0928F62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884922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Ex. Use </a:t>
            </a:r>
            <a:r>
              <a:rPr lang="en-US" sz="2400" dirty="0">
                <a:hlinkClick r:id="rId2"/>
              </a:rPr>
              <a:t>Global CO2 Dashboard </a:t>
            </a:r>
            <a:r>
              <a:rPr lang="en-US" sz="2400" dirty="0"/>
              <a:t>to find an insight about CO2 emissions in China</a:t>
            </a:r>
          </a:p>
          <a:p>
            <a:r>
              <a:rPr lang="en-US" sz="2400" dirty="0"/>
              <a:t>When you perform this task:</a:t>
            </a:r>
          </a:p>
          <a:p>
            <a:pPr lvl="1"/>
            <a:r>
              <a:rPr lang="en-US" sz="2400" dirty="0"/>
              <a:t>What abstract problem space are you interacting with? </a:t>
            </a:r>
          </a:p>
          <a:p>
            <a:pPr lvl="1"/>
            <a:r>
              <a:rPr lang="en-US" sz="2400" dirty="0"/>
              <a:t>What are the concrete ways you interact with the dashboard?  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C1F4FE-E7F9-E362-095A-6D2F285A6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80496"/>
            <a:ext cx="5930298" cy="3880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41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8D385-0329-A27F-9A39-2BC77340D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1970-6B47-5F4D-CB5F-A81F4BE71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2F558-FA64-A32F-AA80-54A02565D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Interaction as a Reasoning Aid</a:t>
            </a:r>
          </a:p>
          <a:p>
            <a:pPr lvl="1"/>
            <a:r>
              <a:rPr lang="en-US" sz="2200" dirty="0"/>
              <a:t>Interactive manipulation of an interface happens in service of the abstract problem space</a:t>
            </a:r>
          </a:p>
          <a:p>
            <a:pPr lvl="2"/>
            <a:r>
              <a:rPr lang="en-US" sz="2000" dirty="0"/>
              <a:t>Ex. I need to rotate parts of a virtual Rubik’s Cube to solve it  </a:t>
            </a:r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Ex. I need to select and drag variables in </a:t>
            </a:r>
            <a:r>
              <a:rPr lang="en-US" sz="2000" dirty="0" err="1"/>
              <a:t>DataVoyager</a:t>
            </a:r>
            <a:r>
              <a:rPr lang="en-US" sz="2000" dirty="0"/>
              <a:t> to analyze correlations </a:t>
            </a:r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Ex. I need to hover over data points in Global CO2 Dashboard to find China’s emissions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9C01A5-B0FC-93C5-DEA2-42EED446EE81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3"/>
              </a:rPr>
              <a:t>https://doi.org/10.1057/ivs.2009.22</a:t>
            </a:r>
            <a:endParaRPr lang="en-US" sz="1400" dirty="0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AA523112-DEC5-0A76-C851-E277E3B9A88B}"/>
              </a:ext>
            </a:extLst>
          </p:cNvPr>
          <p:cNvSpPr/>
          <p:nvPr/>
        </p:nvSpPr>
        <p:spPr>
          <a:xfrm>
            <a:off x="2860766" y="3618410"/>
            <a:ext cx="2377440" cy="326573"/>
          </a:xfrm>
          <a:prstGeom prst="wedgeRoundRectCallout">
            <a:avLst>
              <a:gd name="adj1" fmla="val -27400"/>
              <a:gd name="adj2" fmla="val -90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concrete action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AD312264-AD42-3BF6-E2C6-3BFBEECBFB8D}"/>
              </a:ext>
            </a:extLst>
          </p:cNvPr>
          <p:cNvSpPr/>
          <p:nvPr/>
        </p:nvSpPr>
        <p:spPr>
          <a:xfrm>
            <a:off x="6736080" y="3618410"/>
            <a:ext cx="2377440" cy="326573"/>
          </a:xfrm>
          <a:prstGeom prst="wedgeRoundRectCallout">
            <a:avLst>
              <a:gd name="adj1" fmla="val -27400"/>
              <a:gd name="adj2" fmla="val -90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problem</a:t>
            </a:r>
          </a:p>
        </p:txBody>
      </p:sp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880BD9CC-6352-BA0B-F4BE-8EF5331AB06A}"/>
              </a:ext>
            </a:extLst>
          </p:cNvPr>
          <p:cNvSpPr/>
          <p:nvPr/>
        </p:nvSpPr>
        <p:spPr>
          <a:xfrm>
            <a:off x="2860766" y="4546010"/>
            <a:ext cx="2377440" cy="326573"/>
          </a:xfrm>
          <a:prstGeom prst="wedgeRoundRectCallout">
            <a:avLst>
              <a:gd name="adj1" fmla="val -12015"/>
              <a:gd name="adj2" fmla="val -94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concrete action</a:t>
            </a: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EDE7330D-C4CA-495B-B6A1-EA3E0FF6DBBF}"/>
              </a:ext>
            </a:extLst>
          </p:cNvPr>
          <p:cNvSpPr/>
          <p:nvPr/>
        </p:nvSpPr>
        <p:spPr>
          <a:xfrm>
            <a:off x="6953796" y="4546010"/>
            <a:ext cx="2377440" cy="326573"/>
          </a:xfrm>
          <a:prstGeom prst="wedgeRoundRectCallout">
            <a:avLst>
              <a:gd name="adj1" fmla="val -11466"/>
              <a:gd name="adj2" fmla="val -102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problem</a:t>
            </a:r>
          </a:p>
        </p:txBody>
      </p:sp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1E90BA5C-F5E0-067B-68E7-A4581C0E4141}"/>
              </a:ext>
            </a:extLst>
          </p:cNvPr>
          <p:cNvSpPr/>
          <p:nvPr/>
        </p:nvSpPr>
        <p:spPr>
          <a:xfrm>
            <a:off x="2860766" y="5453949"/>
            <a:ext cx="2377440" cy="326573"/>
          </a:xfrm>
          <a:prstGeom prst="wedgeRoundRectCallout">
            <a:avLst>
              <a:gd name="adj1" fmla="val -31795"/>
              <a:gd name="adj2" fmla="val -110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concrete action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32E8C86C-B5AA-53F7-F6CC-7544F2C0B370}"/>
              </a:ext>
            </a:extLst>
          </p:cNvPr>
          <p:cNvSpPr/>
          <p:nvPr/>
        </p:nvSpPr>
        <p:spPr>
          <a:xfrm>
            <a:off x="7772402" y="5473610"/>
            <a:ext cx="2377440" cy="326573"/>
          </a:xfrm>
          <a:prstGeom prst="wedgeRoundRectCallout">
            <a:avLst>
              <a:gd name="adj1" fmla="val -11466"/>
              <a:gd name="adj2" fmla="val -102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problem</a:t>
            </a:r>
          </a:p>
        </p:txBody>
      </p:sp>
    </p:spTree>
    <p:extLst>
      <p:ext uri="{BB962C8B-B14F-4D97-AF65-F5344CB8AC3E}">
        <p14:creationId xmlns:p14="http://schemas.microsoft.com/office/powerpoint/2010/main" val="68754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7" grpId="1" animBg="1"/>
      <p:bldP spid="8" grpId="1" animBg="1"/>
      <p:bldP spid="9" grpId="1" animBg="1"/>
      <p:bldP spid="10" grpId="1" animBg="1"/>
      <p:bldP spid="11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C005F-C0E2-50A0-1EDF-8EB96D135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9455F-13CC-2CC9-9C8C-4D4F7009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D06C7-68C3-D50C-9A2F-0A8EEF91A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Interaction as a Reasoning Aid</a:t>
            </a:r>
          </a:p>
          <a:p>
            <a:pPr lvl="1"/>
            <a:r>
              <a:rPr lang="en-US" sz="2200" dirty="0"/>
              <a:t>Interactive manipulation of an interface happens in service of the abstract problem space</a:t>
            </a:r>
          </a:p>
          <a:p>
            <a:pPr lvl="1"/>
            <a:r>
              <a:rPr lang="en-US" sz="2200" dirty="0"/>
              <a:t>Interaction is part of the reasoning process; it is an inquiry </a:t>
            </a:r>
          </a:p>
          <a:p>
            <a:pPr lvl="1"/>
            <a:r>
              <a:rPr lang="en-US" sz="2200" dirty="0"/>
              <a:t>Insight emerges out of the experience of manipulating information; the more ways a user can ‘hold’ their data (ex. exploring from different angles, changing the data’s form) the more insight will accumulate </a:t>
            </a:r>
          </a:p>
          <a:p>
            <a:pPr lvl="1"/>
            <a:r>
              <a:rPr lang="en-US" sz="2200" dirty="0"/>
              <a:t>Acts of conceptual manipulation are called 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situation</a:t>
            </a:r>
            <a:r>
              <a:rPr lang="en-US" sz="2200" dirty="0"/>
              <a:t>: the joining of background context and current observations, and analyses towards a goal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210D1-9FB0-C927-5E42-E87927F16D93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3"/>
              </a:rPr>
              <a:t>https://doi.org/10.1057/ivs.2009.22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98528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81F9F-39BA-D7C4-B300-114A31F0D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459C1-3AFA-9E1E-46D8-D8B664D53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20AAA-3D59-03B5-2604-FCA4610D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Interaction as a Reasoning Aid</a:t>
            </a:r>
          </a:p>
          <a:p>
            <a:pPr lvl="1"/>
            <a:r>
              <a:rPr lang="en-US" sz="2200" dirty="0"/>
              <a:t>Situated </a:t>
            </a:r>
            <a:r>
              <a:rPr lang="en-US" sz="2200"/>
              <a:t>Cognition  </a:t>
            </a: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39E223-7D7A-BFCD-225E-92C5C7BFCF6C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3"/>
              </a:rPr>
              <a:t>https://doi.org/10.1057/ivs.2009.22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7111925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1049</TotalTime>
  <Words>816</Words>
  <Application>Microsoft Macintosh PowerPoint</Application>
  <PresentationFormat>Widescreen</PresentationFormat>
  <Paragraphs>69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Gill Sans MT</vt:lpstr>
      <vt:lpstr>Wingdings 2</vt:lpstr>
      <vt:lpstr>Dividend</vt:lpstr>
      <vt:lpstr>Visual Analytics:   interaction Science</vt:lpstr>
      <vt:lpstr>Today’s plan</vt:lpstr>
      <vt:lpstr>Recall: What is visual analytics?</vt:lpstr>
      <vt:lpstr>Recall: What is visual analytics?</vt:lpstr>
      <vt:lpstr>Science of interaction</vt:lpstr>
      <vt:lpstr>Science of interaction</vt:lpstr>
      <vt:lpstr>Science of interaction</vt:lpstr>
      <vt:lpstr>Science of interaction</vt:lpstr>
      <vt:lpstr>Science of interaction</vt:lpstr>
      <vt:lpstr>Science of interaction</vt:lpstr>
      <vt:lpstr>Science of interaction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30</cp:revision>
  <dcterms:created xsi:type="dcterms:W3CDTF">2025-11-19T17:12:35Z</dcterms:created>
  <dcterms:modified xsi:type="dcterms:W3CDTF">2025-12-16T17:54:13Z</dcterms:modified>
</cp:coreProperties>
</file>