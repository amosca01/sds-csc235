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notesMasterIdLst>
    <p:notesMasterId r:id="rId34"/>
  </p:notesMasterIdLst>
  <p:sldIdLst>
    <p:sldId id="256" r:id="rId2"/>
    <p:sldId id="257" r:id="rId3"/>
    <p:sldId id="429" r:id="rId4"/>
    <p:sldId id="430" r:id="rId5"/>
    <p:sldId id="431" r:id="rId6"/>
    <p:sldId id="432" r:id="rId7"/>
    <p:sldId id="433" r:id="rId8"/>
    <p:sldId id="435" r:id="rId9"/>
    <p:sldId id="436" r:id="rId10"/>
    <p:sldId id="437" r:id="rId11"/>
    <p:sldId id="439" r:id="rId12"/>
    <p:sldId id="440" r:id="rId13"/>
    <p:sldId id="441" r:id="rId14"/>
    <p:sldId id="442" r:id="rId15"/>
    <p:sldId id="443" r:id="rId16"/>
    <p:sldId id="444" r:id="rId17"/>
    <p:sldId id="445" r:id="rId18"/>
    <p:sldId id="446" r:id="rId19"/>
    <p:sldId id="447" r:id="rId20"/>
    <p:sldId id="448" r:id="rId21"/>
    <p:sldId id="449" r:id="rId22"/>
    <p:sldId id="450" r:id="rId23"/>
    <p:sldId id="455" r:id="rId24"/>
    <p:sldId id="451" r:id="rId25"/>
    <p:sldId id="452" r:id="rId26"/>
    <p:sldId id="453" r:id="rId27"/>
    <p:sldId id="454" r:id="rId28"/>
    <p:sldId id="456" r:id="rId29"/>
    <p:sldId id="457" r:id="rId30"/>
    <p:sldId id="458" r:id="rId31"/>
    <p:sldId id="459" r:id="rId32"/>
    <p:sldId id="46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533"/>
    <p:restoredTop sz="87192"/>
  </p:normalViewPr>
  <p:slideViewPr>
    <p:cSldViewPr snapToGrid="0">
      <p:cViewPr varScale="1">
        <p:scale>
          <a:sx n="110" d="100"/>
          <a:sy n="110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D22518-F7FE-2E40-9C60-793856882CE6}" type="datetimeFigureOut">
              <a:rPr lang="en-US" smtClean="0"/>
              <a:t>2/19/26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2CD335-F0CB-D347-B8A5-7AB70F34C3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0672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1237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61698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9665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558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422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7456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15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401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749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989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279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2/19/26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543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bl.ocks.org/mbostock/4339184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hyperlink" Target="https://bl.ocks.org/mbostock/4063550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DBFC0-8BA3-DEDC-7E39-89EC785684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Visual Analytics:  </a:t>
            </a:r>
            <a:br>
              <a:rPr lang="en-US" dirty="0"/>
            </a:br>
            <a:r>
              <a:rPr lang="en-US" dirty="0"/>
              <a:t>network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BEFAC-62BD-EFDC-63B4-33E49BD33B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Ab Mosca (they/them)</a:t>
            </a:r>
          </a:p>
        </p:txBody>
      </p:sp>
    </p:spTree>
    <p:extLst>
      <p:ext uri="{BB962C8B-B14F-4D97-AF65-F5344CB8AC3E}">
        <p14:creationId xmlns:p14="http://schemas.microsoft.com/office/powerpoint/2010/main" val="547388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CEEC-DA3B-FF6E-BAEB-9400A3085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A6356-47F4-DF13-CFDC-C996D4E40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400" dirty="0"/>
              <a:t>Mathematical intuition</a:t>
            </a:r>
          </a:p>
          <a:p>
            <a:r>
              <a:rPr lang="en-US" sz="2400" dirty="0"/>
              <a:t>Modeling with graphs </a:t>
            </a:r>
          </a:p>
          <a:p>
            <a:r>
              <a:rPr lang="en-US" sz="2400" dirty="0"/>
              <a:t>Visual analysis of networks </a:t>
            </a:r>
          </a:p>
        </p:txBody>
      </p:sp>
    </p:spTree>
    <p:extLst>
      <p:ext uri="{BB962C8B-B14F-4D97-AF65-F5344CB8AC3E}">
        <p14:creationId xmlns:p14="http://schemas.microsoft.com/office/powerpoint/2010/main" val="20575609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617566-B7BB-47D8-F17D-6122EB5D8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91812-598A-9E58-469C-FAE470B8D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Definition: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F974F8-1D6D-E990-AD54-95CE57196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In the mathematical sense a graph is a model for representing items and the relationships between those items. Ex: </a:t>
            </a:r>
          </a:p>
          <a:p>
            <a:pPr lvl="1"/>
            <a:r>
              <a:rPr lang="en-US" sz="2200" dirty="0"/>
              <a:t>Social / friendship networks</a:t>
            </a:r>
          </a:p>
          <a:p>
            <a:pPr lvl="1"/>
            <a:r>
              <a:rPr lang="en-US" sz="2200" dirty="0"/>
              <a:t>Computer networks</a:t>
            </a:r>
          </a:p>
          <a:p>
            <a:pPr lvl="1"/>
            <a:r>
              <a:rPr lang="en-US" sz="2200" dirty="0"/>
              <a:t>Energy or transportation grids</a:t>
            </a:r>
          </a:p>
          <a:p>
            <a:pPr lvl="1"/>
            <a:r>
              <a:rPr lang="en-US" sz="2200" dirty="0"/>
              <a:t>Organizational structures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1F546DB9-03C4-2935-D784-D786E474668C}"/>
              </a:ext>
            </a:extLst>
          </p:cNvPr>
          <p:cNvGrpSpPr/>
          <p:nvPr/>
        </p:nvGrpSpPr>
        <p:grpSpPr>
          <a:xfrm>
            <a:off x="5818909" y="2760412"/>
            <a:ext cx="6299286" cy="3928727"/>
            <a:chOff x="5336211" y="1583359"/>
            <a:chExt cx="7516511" cy="4929526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D2748832-8AA7-46A4-E9D7-FBCC1680FBC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5951" y="3597473"/>
              <a:ext cx="3256771" cy="2915412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5409182C-FD9E-36FB-10E2-94E4317E517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1755" y="1583359"/>
              <a:ext cx="3562502" cy="1164056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83E5CDB0-4DAD-2716-ADA1-63C9B36C18DE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1441" y="1591743"/>
              <a:ext cx="1762662" cy="1162901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E0641DCF-BC77-EC91-BB63-729FB8481925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065" y="2762018"/>
              <a:ext cx="3566159" cy="1151917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189B2473-BBF2-34C0-CA01-2FC4C46EA8CD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6211" y="2738549"/>
              <a:ext cx="1795272" cy="1176527"/>
            </a:xfrm>
            <a:prstGeom prst="rect">
              <a:avLst/>
            </a:prstGeom>
          </p:spPr>
        </p:pic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57D3602D-24CB-BEAC-228A-64D3E35BABD2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0998" y="4127032"/>
              <a:ext cx="1920143" cy="1487382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EA1D5F0F-1CFA-4CCA-BC9B-EDCABCBC250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8744" y="5131096"/>
              <a:ext cx="1159605" cy="1118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604004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CD5C6-7E05-F8C7-27CC-F7DF2C296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20FF1F-A0DA-934E-A406-F2B594E14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629B97-93AE-5DBD-5AA8-1DC73BFFC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Are any of the graphs below the same? If you said yes, which ones and why?</a:t>
            </a:r>
          </a:p>
        </p:txBody>
      </p:sp>
      <p:pic>
        <p:nvPicPr>
          <p:cNvPr id="12" name="Picture 11" descr="A black and white image of a diamond&#10;&#10;Description automatically generated">
            <a:extLst>
              <a:ext uri="{FF2B5EF4-FFF2-40B4-BE49-F238E27FC236}">
                <a16:creationId xmlns:a16="http://schemas.microsoft.com/office/drawing/2014/main" id="{2F0A5215-04F3-581B-45F6-D88B089C50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346" y="3115273"/>
            <a:ext cx="7773306" cy="180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381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85F62-196C-272E-467D-9CA2BCF7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0D289-ECD8-9D8A-E0EC-DC12EF6C7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E8293D-69D1-250B-D387-FC3195F84E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How about these with labels? 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tx1"/>
                </a:solidFill>
              </a:rPr>
              <a:t>Are any of the graphs below the same? If you said yes, which ones and why?</a:t>
            </a:r>
          </a:p>
        </p:txBody>
      </p:sp>
      <p:pic>
        <p:nvPicPr>
          <p:cNvPr id="4" name="Picture 3" descr="A diagram of a square and a square&#10;&#10;Description automatically generated with medium confidence">
            <a:extLst>
              <a:ext uri="{FF2B5EF4-FFF2-40B4-BE49-F238E27FC236}">
                <a16:creationId xmlns:a16="http://schemas.microsoft.com/office/drawing/2014/main" id="{7518DE99-28CF-BD58-187C-B1C8C67AA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958" y="3429000"/>
            <a:ext cx="8801283" cy="1667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952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B588D-6118-D767-2ECA-7263C6A4D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C30776-B2C1-757F-A3EC-7810EC39FB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4190D9-1F2B-C348-485A-3F42020D2D9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 fontScale="85000" lnSpcReduction="20000"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These examples are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drawings</a:t>
                </a:r>
                <a:r>
                  <a:rPr lang="en-US" sz="2400" dirty="0">
                    <a:solidFill>
                      <a:schemeClr val="tx1"/>
                    </a:solidFill>
                  </a:rPr>
                  <a:t> of graphs.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Mathematically, a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graph</a:t>
                </a:r>
                <a:r>
                  <a:rPr lang="en-US" sz="2400" dirty="0">
                    <a:solidFill>
                      <a:schemeClr val="tx1"/>
                    </a:solidFill>
                  </a:rPr>
                  <a:t> is an ordered pair,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consisting of a nonempty set,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vertices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), and a 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edges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 of two-elements subsets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(Vertices are also called nodes.)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04190D9-1F2B-C348-485A-3F42020D2D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575" t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diagram of a square and a square&#10;&#10;Description automatically generated with medium confidence">
            <a:extLst>
              <a:ext uri="{FF2B5EF4-FFF2-40B4-BE49-F238E27FC236}">
                <a16:creationId xmlns:a16="http://schemas.microsoft.com/office/drawing/2014/main" id="{11550A6D-3DAF-096C-31BE-A3E41D1E9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6145" y="3701579"/>
            <a:ext cx="7814663" cy="1480214"/>
          </a:xfrm>
          <a:prstGeom prst="rect">
            <a:avLst/>
          </a:prstGeom>
        </p:spPr>
      </p:pic>
      <p:pic>
        <p:nvPicPr>
          <p:cNvPr id="5" name="Picture 4" descr="A black and white image of a diamond&#10;&#10;Description automatically generated">
            <a:extLst>
              <a:ext uri="{FF2B5EF4-FFF2-40B4-BE49-F238E27FC236}">
                <a16:creationId xmlns:a16="http://schemas.microsoft.com/office/drawing/2014/main" id="{5FD80D55-C06D-8050-09E7-5EB2AD29C5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192" y="2478796"/>
            <a:ext cx="6556846" cy="152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1774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D1A38-A3DD-5CAE-C236-C85339EDD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1DB42-F810-A990-AAD2-499749BBE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99A68-979C-1225-8524-C4F410BEE89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Mathematically, a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graph</a:t>
                </a:r>
                <a:r>
                  <a:rPr lang="en-US" sz="2400" dirty="0">
                    <a:solidFill>
                      <a:schemeClr val="tx1"/>
                    </a:solidFill>
                  </a:rPr>
                  <a:t> is an ordered pair,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consisting of a nonempty set,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vertices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), and a 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edges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 of two-elements subsets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Ex. 	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={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To visualize this graph we might draw it: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3999A68-979C-1225-8524-C4F410BEE89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805" t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 diagram of a network&#10;&#10;Description automatically generated">
            <a:extLst>
              <a:ext uri="{FF2B5EF4-FFF2-40B4-BE49-F238E27FC236}">
                <a16:creationId xmlns:a16="http://schemas.microsoft.com/office/drawing/2014/main" id="{9AC0722D-1E0E-67C4-960A-06301965351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26" t="14523" r="3510" b="13123"/>
          <a:stretch>
            <a:fillRect/>
          </a:stretch>
        </p:blipFill>
        <p:spPr>
          <a:xfrm>
            <a:off x="6096001" y="4679423"/>
            <a:ext cx="2798618" cy="211664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2B0F624-5CB3-EFAC-094D-8364CAD5A919}"/>
                  </a:ext>
                </a:extLst>
              </p:cNvPr>
              <p:cNvSpPr/>
              <p:nvPr/>
            </p:nvSpPr>
            <p:spPr>
              <a:xfrm>
                <a:off x="7384473" y="2964873"/>
                <a:ext cx="4493171" cy="1714550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Draw this graph: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={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2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7" name="Rounded Rectangle 6">
                <a:extLst>
                  <a:ext uri="{FF2B5EF4-FFF2-40B4-BE49-F238E27FC236}">
                    <a16:creationId xmlns:a16="http://schemas.microsoft.com/office/drawing/2014/main" id="{22B0F624-5CB3-EFAC-094D-8364CAD5A91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84473" y="2964873"/>
                <a:ext cx="4493171" cy="171455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79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E66940-1C0D-91C8-303E-75671549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592DF-5EBA-829C-0B99-A6F3737D2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E3F9F-5325-A83A-28F1-0F3C5A7DB8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/>
              </a:bodyPr>
              <a:lstStyle/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Mathematically, a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graph</a:t>
                </a:r>
                <a:r>
                  <a:rPr lang="en-US" sz="2400" dirty="0">
                    <a:solidFill>
                      <a:schemeClr val="tx1"/>
                    </a:solidFill>
                  </a:rPr>
                  <a:t> is an ordered pair,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consisting of a nonempty set,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vertices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), and a set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(called </a:t>
                </a:r>
                <a:r>
                  <a:rPr lang="en-US" sz="2400" b="1" i="1" dirty="0">
                    <a:solidFill>
                      <a:schemeClr val="tx1"/>
                    </a:solidFill>
                  </a:rPr>
                  <a:t>edges</a:t>
                </a:r>
                <a:r>
                  <a:rPr lang="en-US" sz="2400" dirty="0">
                    <a:solidFill>
                      <a:schemeClr val="tx1"/>
                    </a:solidFill>
                  </a:rPr>
                  <a:t>) of two-elements subsets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chemeClr val="tx1"/>
                    </a:solidFill>
                  </a:rPr>
                  <a:t>We can also represent a graph using an adjacency matrix: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FCE3F9F-5325-A83A-28F1-0F3C5A7DB8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805" t="-9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close up of a number&#10;&#10;Description automatically generated">
            <a:extLst>
              <a:ext uri="{FF2B5EF4-FFF2-40B4-BE49-F238E27FC236}">
                <a16:creationId xmlns:a16="http://schemas.microsoft.com/office/drawing/2014/main" id="{1C8654EF-1A68-459B-E4DC-95C0AB670E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192" y="4076721"/>
            <a:ext cx="7227401" cy="29371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3E75E16-7FC0-D685-B830-90A81210E29D}"/>
                  </a:ext>
                </a:extLst>
              </p:cNvPr>
              <p:cNvSpPr/>
              <p:nvPr/>
            </p:nvSpPr>
            <p:spPr>
              <a:xfrm>
                <a:off x="7808593" y="2926641"/>
                <a:ext cx="4096536" cy="3869425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What is the adjacency matrix for this graph? </a:t>
                </a: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𝑉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𝐸</m:t>
                      </m:r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={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1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4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  <m:d>
                        <m:dPr>
                          <m:begChr m:val="{"/>
                          <m:endChr m:val="}"/>
                          <m:ctrlP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2</m:t>
                              </m:r>
                            </m:sub>
                          </m:sSub>
                          <m:r>
                            <a:rPr kumimoji="0" lang="en-US" sz="24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srgbClr val="FFFFFF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+mn-ea"/>
                              <a:cs typeface="+mn-cs"/>
                            </a:rPr>
                            <m:t>, </m:t>
                          </m:r>
                          <m:sSub>
                            <m:sSubPr>
                              <m:ctrlP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</m:ctrlPr>
                            </m:sSubPr>
                            <m:e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0" lang="en-US" sz="2400" b="0" i="1" u="none" strike="noStrike" kern="120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FFFFFF"/>
                                  </a:solidFill>
                                  <a:effectLst/>
                                  <a:uLnTx/>
                                  <a:uFillTx/>
                                  <a:latin typeface="Cambria Math" panose="02040503050406030204" pitchFamily="18" charset="0"/>
                                  <a:ea typeface="+mn-ea"/>
                                  <a:cs typeface="+mn-cs"/>
                                </a:rPr>
                                <m:t>5</m:t>
                              </m:r>
                            </m:sub>
                          </m:sSub>
                        </m:e>
                      </m:d>
                      <m:r>
                        <a:rPr kumimoji="0" lang="en-US" sz="24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+mn-ea"/>
                          <a:cs typeface="+mn-cs"/>
                        </a:rPr>
                        <m:t>, </m:t>
                      </m:r>
                    </m:oMath>
                  </m:oMathPara>
                </a14:m>
                <a:endParaRPr kumimoji="0" lang="en-US" sz="2400" b="0" i="1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ea typeface="+mn-ea"/>
                  <a:cs typeface="+mn-cs"/>
                </a:endParaRPr>
              </a:p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3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d>
                      <m:dPr>
                        <m:begChr m:val="{"/>
                        <m:endChr m:val="}"/>
                        <m:ctrlP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4</m:t>
                            </m:r>
                          </m:sub>
                        </m:sSub>
                        <m:r>
                          <a:rPr kumimoji="0" lang="en-US" sz="2400" b="0" i="1" u="none" strike="noStrike" kern="1200" cap="none" spc="0" normalizeH="0" baseline="0" noProof="0" smtClean="0">
                            <a:ln>
                              <a:noFill/>
                            </a:ln>
                            <a:solidFill>
                              <a:srgbClr val="FFFFFF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, </m:t>
                        </m:r>
                        <m:sSub>
                          <m:sSubPr>
                            <m:ctrlP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</m:ctrlPr>
                          </m:sSubPr>
                          <m:e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𝑣</m:t>
                            </m:r>
                          </m:e>
                          <m:sub>
                            <m:r>
                              <a:rPr kumimoji="0" lang="en-US" sz="2400" b="0" i="1" u="none" strike="noStrike" kern="1200" cap="none" spc="0" normalizeH="0" baseline="0" noProof="0" smtClean="0">
                                <a:ln>
                                  <a:noFill/>
                                </a:ln>
                                <a:solidFill>
                                  <a:srgbClr val="FFFFFF"/>
                                </a:solidFill>
                                <a:effectLst/>
                                <a:uLnTx/>
                                <a:uFillTx/>
                                <a:latin typeface="Cambria Math" panose="02040503050406030204" pitchFamily="18" charset="0"/>
                                <a:ea typeface="+mn-ea"/>
                                <a:cs typeface="+mn-cs"/>
                              </a:rPr>
                              <m:t>5</m:t>
                            </m:r>
                          </m:sub>
                        </m:sSub>
                      </m:e>
                    </m:d>
                    <m:r>
                      <a:rPr kumimoji="0" lang="en-US" sz="2400" b="0" i="1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}</m:t>
                    </m:r>
                  </m:oMath>
                </a14:m>
                <a:r>
                  <a: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ea typeface="+mn-ea"/>
                    <a:cs typeface="+mn-cs"/>
                  </a:rPr>
                  <a:t> 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3E75E16-7FC0-D685-B830-90A81210E29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08593" y="2926641"/>
                <a:ext cx="4096536" cy="3869425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1104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FA4E5-6932-3DC3-64C4-8819640AA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20FF7-4877-9F39-75AC-E049DB2E30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B6939-88BC-716A-CE65-BE304B7DF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4151031"/>
          </a:xfrm>
        </p:spPr>
        <p:txBody>
          <a:bodyPr anchor="t">
            <a:normAutofit/>
          </a:bodyPr>
          <a:lstStyle/>
          <a:p>
            <a:pPr marL="0" lvl="0" indent="0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9A57C"/>
              </a:buClr>
              <a:buSzTx/>
              <a:buNone/>
              <a:defRPr/>
            </a:pPr>
            <a:r>
              <a:rPr lang="en-US" sz="2400" dirty="0">
                <a:solidFill>
                  <a:srgbClr val="2F2B20"/>
                </a:solidFill>
              </a:rPr>
              <a:t>A </a:t>
            </a:r>
            <a:r>
              <a:rPr lang="en-US" sz="2400" b="1" i="1" dirty="0">
                <a:solidFill>
                  <a:srgbClr val="2F2B20"/>
                </a:solidFill>
              </a:rPr>
              <a:t>tree</a:t>
            </a:r>
            <a:r>
              <a:rPr lang="en-US" sz="2400" dirty="0">
                <a:solidFill>
                  <a:srgbClr val="2F2B20"/>
                </a:solidFill>
              </a:rPr>
              <a:t> is a connected graph containing no cycles. </a:t>
            </a:r>
          </a:p>
          <a:p>
            <a:pPr marL="0" lvl="0" indent="0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9A57C"/>
              </a:buClr>
              <a:buSzTx/>
              <a:buNone/>
              <a:defRPr/>
            </a:pPr>
            <a:r>
              <a:rPr lang="en-US" sz="2400" dirty="0">
                <a:solidFill>
                  <a:srgbClr val="2F2B20"/>
                </a:solidFill>
              </a:rPr>
              <a:t>A </a:t>
            </a:r>
            <a:r>
              <a:rPr lang="en-US" sz="2400" b="1" i="1" dirty="0">
                <a:solidFill>
                  <a:srgbClr val="2F2B20"/>
                </a:solidFill>
              </a:rPr>
              <a:t>forest</a:t>
            </a:r>
            <a:r>
              <a:rPr lang="en-US" sz="2400" dirty="0">
                <a:solidFill>
                  <a:srgbClr val="2F2B20"/>
                </a:solidFill>
              </a:rPr>
              <a:t> is a graph containing no cycles. </a:t>
            </a:r>
          </a:p>
          <a:p>
            <a:pPr marL="0" lvl="0" indent="0" defTabSz="91440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A9A57C"/>
              </a:buClr>
              <a:buSzTx/>
              <a:buNone/>
              <a:defRPr/>
            </a:pPr>
            <a:r>
              <a:rPr lang="en-US" sz="2400" dirty="0">
                <a:solidFill>
                  <a:srgbClr val="2F2B20"/>
                </a:solidFill>
              </a:rPr>
              <a:t>	</a:t>
            </a: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 sz="2400" dirty="0">
              <a:solidFill>
                <a:schemeClr val="tx1"/>
              </a:solidFill>
            </a:endParaRPr>
          </a:p>
        </p:txBody>
      </p:sp>
      <p:pic>
        <p:nvPicPr>
          <p:cNvPr id="6" name="Picture 5" descr="A black and white drawing of a tree&#10;&#10;Description automatically generated">
            <a:extLst>
              <a:ext uri="{FF2B5EF4-FFF2-40B4-BE49-F238E27FC236}">
                <a16:creationId xmlns:a16="http://schemas.microsoft.com/office/drawing/2014/main" id="{DD1F791F-88EE-D318-E811-944F80D065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503" y="3429000"/>
            <a:ext cx="8441581" cy="24201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5CD53FC-707F-780D-4267-D7E0F268BC71}"/>
              </a:ext>
            </a:extLst>
          </p:cNvPr>
          <p:cNvSpPr txBox="1"/>
          <p:nvPr/>
        </p:nvSpPr>
        <p:spPr>
          <a:xfrm>
            <a:off x="5663294" y="6425361"/>
            <a:ext cx="66872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https://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ptwiddle.github.io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/Graph-Theory-Notes/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s_intro_trees.html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57708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1F71E-517B-8149-6DB0-A9D4D1C17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EF84B-3DCB-FE4A-140A-002B02D22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3DA65-5DCC-4A97-EC5D-0C7E6C2920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</p:spPr>
            <p:txBody>
              <a:bodyPr anchor="t">
                <a:normAutofit/>
              </a:bodyPr>
              <a:lstStyle/>
              <a:p>
                <a:pPr marL="0" lvl="0" indent="0" defTabSz="914400">
                  <a:lnSpc>
                    <a:spcPct val="90000"/>
                  </a:lnSpc>
                  <a:spcBef>
                    <a:spcPts val="1200"/>
                  </a:spcBef>
                  <a:spcAft>
                    <a:spcPts val="0"/>
                  </a:spcAft>
                  <a:buClr>
                    <a:srgbClr val="A9A57C"/>
                  </a:buClr>
                  <a:buSzTx/>
                  <a:buNone/>
                  <a:defRPr/>
                </a:pPr>
                <a:r>
                  <a:rPr lang="en-US" sz="2400" dirty="0">
                    <a:solidFill>
                      <a:srgbClr val="2F2B20"/>
                    </a:solidFill>
                  </a:rPr>
                  <a:t>We identify one vertex in a tree as the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root</a:t>
                </a:r>
                <a:r>
                  <a:rPr lang="en-US" sz="2400" dirty="0">
                    <a:solidFill>
                      <a:srgbClr val="2F2B20"/>
                    </a:solidFill>
                  </a:rPr>
                  <a:t>. Then, every other vertex on the tree can be characterized by its position relative to the root.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If two vertices are adjacent, we say the one closer to the root is the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parent</a:t>
                </a:r>
                <a:r>
                  <a:rPr lang="en-US" sz="2400" dirty="0">
                    <a:solidFill>
                      <a:srgbClr val="2F2B20"/>
                    </a:solidFill>
                  </a:rPr>
                  <a:t>, and the other is the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child</a:t>
                </a:r>
                <a:r>
                  <a:rPr lang="en-US" sz="2400" dirty="0">
                    <a:solidFill>
                      <a:srgbClr val="2F2B2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Vertices with the same parent are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siblings</a:t>
                </a:r>
                <a:r>
                  <a:rPr lang="en-US" sz="2400" dirty="0">
                    <a:solidFill>
                      <a:srgbClr val="2F2B20"/>
                    </a:solidFill>
                  </a:rPr>
                  <a:t>. </a:t>
                </a:r>
              </a:p>
              <a:p>
                <a:pPr marL="0" indent="0">
                  <a:spcBef>
                    <a:spcPts val="60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In general, we say a vertex,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, is a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descendent</a:t>
                </a:r>
                <a:r>
                  <a:rPr lang="en-US" sz="2400" dirty="0">
                    <a:solidFill>
                      <a:srgbClr val="2F2B20"/>
                    </a:solidFill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of a vertex,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, provided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 is a vertex on the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 dirty="0">
                    <a:solidFill>
                      <a:srgbClr val="2F2B20"/>
                    </a:solidFill>
                  </a:rPr>
                  <a:t>path from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 to the root. Then, we would call </a:t>
                </a:r>
              </a:p>
              <a:p>
                <a:pPr marL="0" indent="0">
                  <a:spcBef>
                    <a:spcPts val="0"/>
                  </a:spcBef>
                  <a:spcAft>
                    <a:spcPts val="0"/>
                  </a:spcAft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 an </a:t>
                </a:r>
                <a:r>
                  <a:rPr lang="en-US" sz="2400" b="1" i="1" dirty="0">
                    <a:solidFill>
                      <a:srgbClr val="2F2B20"/>
                    </a:solidFill>
                  </a:rPr>
                  <a:t>ancestor</a:t>
                </a:r>
                <a:r>
                  <a:rPr lang="en-US" sz="2400" dirty="0">
                    <a:solidFill>
                      <a:srgbClr val="2F2B20"/>
                    </a:solidFill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2F2B20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>
                    <a:solidFill>
                      <a:srgbClr val="2F2B20"/>
                    </a:solidFill>
                  </a:rPr>
                  <a:t>. </a:t>
                </a:r>
              </a:p>
              <a:p>
                <a:pPr marL="0" indent="0">
                  <a:buNone/>
                </a:pPr>
                <a:endParaRPr lang="en-US" sz="2400" dirty="0">
                  <a:solidFill>
                    <a:srgbClr val="2F2B20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973DA65-5DCC-4A97-EC5D-0C7E6C2920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1192" y="2180496"/>
                <a:ext cx="11029616" cy="4151031"/>
              </a:xfrm>
              <a:blipFill>
                <a:blip r:embed="rId2"/>
                <a:stretch>
                  <a:fillRect l="-805" t="-21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 descr="A black and white drawing of a tree&#10;&#10;Description automatically generated">
            <a:extLst>
              <a:ext uri="{FF2B5EF4-FFF2-40B4-BE49-F238E27FC236}">
                <a16:creationId xmlns:a16="http://schemas.microsoft.com/office/drawing/2014/main" id="{C0BED7B1-A962-7E32-1C0B-B8FA4EEAD62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8583" r="3445"/>
          <a:stretch/>
        </p:blipFill>
        <p:spPr>
          <a:xfrm>
            <a:off x="7964054" y="4375955"/>
            <a:ext cx="2361294" cy="2420112"/>
          </a:xfrm>
          <a:prstGeom prst="rect">
            <a:avLst/>
          </a:prstGeom>
        </p:spPr>
      </p:pic>
      <p:sp>
        <p:nvSpPr>
          <p:cNvPr id="5" name="Rounded Rectangular Callout 4">
            <a:extLst>
              <a:ext uri="{FF2B5EF4-FFF2-40B4-BE49-F238E27FC236}">
                <a16:creationId xmlns:a16="http://schemas.microsoft.com/office/drawing/2014/main" id="{13A38C48-B338-E7B4-F6A0-598C90630A2B}"/>
              </a:ext>
            </a:extLst>
          </p:cNvPr>
          <p:cNvSpPr/>
          <p:nvPr/>
        </p:nvSpPr>
        <p:spPr>
          <a:xfrm>
            <a:off x="10581070" y="4535467"/>
            <a:ext cx="1270000" cy="508000"/>
          </a:xfrm>
          <a:prstGeom prst="wedgeRoundRectCallout">
            <a:avLst>
              <a:gd name="adj1" fmla="val -159833"/>
              <a:gd name="adj2" fmla="val 17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dirty="0">
                <a:solidFill>
                  <a:srgbClr val="FFFFFF"/>
                </a:solidFill>
                <a:latin typeface="Corbel" panose="020B0503020204020204"/>
              </a:rPr>
              <a:t>r</a:t>
            </a: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oot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8" name="Donut 7">
            <a:extLst>
              <a:ext uri="{FF2B5EF4-FFF2-40B4-BE49-F238E27FC236}">
                <a16:creationId xmlns:a16="http://schemas.microsoft.com/office/drawing/2014/main" id="{9C37B4FB-ECFC-D2DE-0A69-B17A22F9E4F6}"/>
              </a:ext>
            </a:extLst>
          </p:cNvPr>
          <p:cNvSpPr/>
          <p:nvPr/>
        </p:nvSpPr>
        <p:spPr>
          <a:xfrm>
            <a:off x="8929253" y="4774087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9" name="Rounded Rectangular Callout 8">
            <a:extLst>
              <a:ext uri="{FF2B5EF4-FFF2-40B4-BE49-F238E27FC236}">
                <a16:creationId xmlns:a16="http://schemas.microsoft.com/office/drawing/2014/main" id="{A9CB99E2-9770-5627-BE86-33BB60FDDF05}"/>
              </a:ext>
            </a:extLst>
          </p:cNvPr>
          <p:cNvSpPr/>
          <p:nvPr/>
        </p:nvSpPr>
        <p:spPr>
          <a:xfrm>
            <a:off x="10581070" y="5189032"/>
            <a:ext cx="1270000" cy="508000"/>
          </a:xfrm>
          <a:prstGeom prst="wedgeRoundRectCallout">
            <a:avLst>
              <a:gd name="adj1" fmla="val -120560"/>
              <a:gd name="adj2" fmla="val -12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parent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0" name="Rounded Rectangular Callout 9">
            <a:extLst>
              <a:ext uri="{FF2B5EF4-FFF2-40B4-BE49-F238E27FC236}">
                <a16:creationId xmlns:a16="http://schemas.microsoft.com/office/drawing/2014/main" id="{3F4A02F8-8971-7DFE-68D3-948F92E1BACC}"/>
              </a:ext>
            </a:extLst>
          </p:cNvPr>
          <p:cNvSpPr/>
          <p:nvPr/>
        </p:nvSpPr>
        <p:spPr>
          <a:xfrm>
            <a:off x="10831625" y="5795076"/>
            <a:ext cx="1270000" cy="508000"/>
          </a:xfrm>
          <a:prstGeom prst="wedgeRoundRectCallout">
            <a:avLst>
              <a:gd name="adj1" fmla="val -120742"/>
              <a:gd name="adj2" fmla="val -37500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child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1" name="Donut 10">
            <a:extLst>
              <a:ext uri="{FF2B5EF4-FFF2-40B4-BE49-F238E27FC236}">
                <a16:creationId xmlns:a16="http://schemas.microsoft.com/office/drawing/2014/main" id="{5F60806A-9C1C-1F1A-754C-36642570B348}"/>
              </a:ext>
            </a:extLst>
          </p:cNvPr>
          <p:cNvSpPr/>
          <p:nvPr/>
        </p:nvSpPr>
        <p:spPr>
          <a:xfrm>
            <a:off x="9386451" y="5218864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Donut 11">
            <a:extLst>
              <a:ext uri="{FF2B5EF4-FFF2-40B4-BE49-F238E27FC236}">
                <a16:creationId xmlns:a16="http://schemas.microsoft.com/office/drawing/2014/main" id="{486CA560-1A47-A162-09F3-D452478F11E0}"/>
              </a:ext>
            </a:extLst>
          </p:cNvPr>
          <p:cNvSpPr/>
          <p:nvPr/>
        </p:nvSpPr>
        <p:spPr>
          <a:xfrm>
            <a:off x="9663544" y="5689921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3" name="Rounded Rectangular Callout 12">
            <a:extLst>
              <a:ext uri="{FF2B5EF4-FFF2-40B4-BE49-F238E27FC236}">
                <a16:creationId xmlns:a16="http://schemas.microsoft.com/office/drawing/2014/main" id="{5775BB1B-908F-91B8-51E6-A27736E87091}"/>
              </a:ext>
            </a:extLst>
          </p:cNvPr>
          <p:cNvSpPr/>
          <p:nvPr/>
        </p:nvSpPr>
        <p:spPr>
          <a:xfrm>
            <a:off x="7418991" y="4575134"/>
            <a:ext cx="1270000" cy="508000"/>
          </a:xfrm>
          <a:prstGeom prst="wedgeRoundRectCallout">
            <a:avLst>
              <a:gd name="adj1" fmla="val 29803"/>
              <a:gd name="adj2" fmla="val 150682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siblings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Donut 13">
            <a:extLst>
              <a:ext uri="{FF2B5EF4-FFF2-40B4-BE49-F238E27FC236}">
                <a16:creationId xmlns:a16="http://schemas.microsoft.com/office/drawing/2014/main" id="{8339633B-D8F7-5B6F-3680-EAA6FB4AAA2C}"/>
              </a:ext>
            </a:extLst>
          </p:cNvPr>
          <p:cNvSpPr/>
          <p:nvPr/>
        </p:nvSpPr>
        <p:spPr>
          <a:xfrm>
            <a:off x="8224401" y="5657014"/>
            <a:ext cx="932866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Rounded Rectangular Callout 14">
            <a:extLst>
              <a:ext uri="{FF2B5EF4-FFF2-40B4-BE49-F238E27FC236}">
                <a16:creationId xmlns:a16="http://schemas.microsoft.com/office/drawing/2014/main" id="{C4ADCC96-E2D7-8F91-1E43-470A64D41BC0}"/>
              </a:ext>
            </a:extLst>
          </p:cNvPr>
          <p:cNvSpPr/>
          <p:nvPr/>
        </p:nvSpPr>
        <p:spPr>
          <a:xfrm>
            <a:off x="6096000" y="5393498"/>
            <a:ext cx="1595320" cy="508000"/>
          </a:xfrm>
          <a:prstGeom prst="wedgeRoundRectCallout">
            <a:avLst>
              <a:gd name="adj1" fmla="val 104250"/>
              <a:gd name="adj2" fmla="val -5556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ancestor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Rounded Rectangular Callout 15">
            <a:extLst>
              <a:ext uri="{FF2B5EF4-FFF2-40B4-BE49-F238E27FC236}">
                <a16:creationId xmlns:a16="http://schemas.microsoft.com/office/drawing/2014/main" id="{908C1314-8636-D643-6211-214BEE234738}"/>
              </a:ext>
            </a:extLst>
          </p:cNvPr>
          <p:cNvSpPr/>
          <p:nvPr/>
        </p:nvSpPr>
        <p:spPr>
          <a:xfrm>
            <a:off x="5886450" y="6059302"/>
            <a:ext cx="1804870" cy="508000"/>
          </a:xfrm>
          <a:prstGeom prst="wedgeRoundRectCallout">
            <a:avLst>
              <a:gd name="adj1" fmla="val 74582"/>
              <a:gd name="adj2" fmla="val -29318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descendant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Donut 17">
            <a:extLst>
              <a:ext uri="{FF2B5EF4-FFF2-40B4-BE49-F238E27FC236}">
                <a16:creationId xmlns:a16="http://schemas.microsoft.com/office/drawing/2014/main" id="{FD26DCC3-4FA9-C698-7BF2-DA18D1ECC4CA}"/>
              </a:ext>
            </a:extLst>
          </p:cNvPr>
          <p:cNvSpPr/>
          <p:nvPr/>
        </p:nvSpPr>
        <p:spPr>
          <a:xfrm>
            <a:off x="8087796" y="6048240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9" name="Donut 18">
            <a:extLst>
              <a:ext uri="{FF2B5EF4-FFF2-40B4-BE49-F238E27FC236}">
                <a16:creationId xmlns:a16="http://schemas.microsoft.com/office/drawing/2014/main" id="{49A02A9B-8C15-F973-1145-A048C1F493A9}"/>
              </a:ext>
            </a:extLst>
          </p:cNvPr>
          <p:cNvSpPr/>
          <p:nvPr/>
        </p:nvSpPr>
        <p:spPr>
          <a:xfrm>
            <a:off x="8489233" y="5229034"/>
            <a:ext cx="406401" cy="282080"/>
          </a:xfrm>
          <a:prstGeom prst="donut">
            <a:avLst>
              <a:gd name="adj" fmla="val 12960"/>
            </a:avLst>
          </a:prstGeom>
          <a:solidFill>
            <a:schemeClr val="accent2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83207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1" grpId="1" animBg="1"/>
      <p:bldP spid="12" grpId="0" animBg="1"/>
      <p:bldP spid="13" grpId="0" animBg="1"/>
      <p:bldP spid="14" grpId="0" animBg="1"/>
      <p:bldP spid="15" grpId="0" animBg="1"/>
      <p:bldP spid="16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CC6D3-1C29-94E6-68E6-CC5319D4F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11005-CEBC-413C-A9CD-65FEC0324F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 -- Definition: graph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E7585-6CD7-F83C-4685-6E7FC39B9E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200" dirty="0"/>
              <a:t>In the mathematical sense </a:t>
            </a:r>
            <a:r>
              <a:rPr lang="en-US" sz="2200" dirty="0">
                <a:effectLst>
                  <a:glow rad="228600">
                    <a:schemeClr val="accent5">
                      <a:satMod val="175000"/>
                      <a:alpha val="40000"/>
                    </a:schemeClr>
                  </a:glow>
                </a:effectLst>
              </a:rPr>
              <a:t>a graph is a model for representing items and the relationships between those items.</a:t>
            </a:r>
            <a:r>
              <a:rPr lang="en-US" sz="2200" dirty="0"/>
              <a:t> Ex: </a:t>
            </a:r>
          </a:p>
          <a:p>
            <a:pPr lvl="1"/>
            <a:r>
              <a:rPr lang="en-US" sz="2200" dirty="0"/>
              <a:t>Social / friendship networks</a:t>
            </a:r>
          </a:p>
          <a:p>
            <a:pPr lvl="1"/>
            <a:r>
              <a:rPr lang="en-US" sz="2200" dirty="0"/>
              <a:t>Computer networks</a:t>
            </a:r>
          </a:p>
          <a:p>
            <a:pPr lvl="1"/>
            <a:r>
              <a:rPr lang="en-US" sz="2200" dirty="0"/>
              <a:t>Energy or transportation grids</a:t>
            </a:r>
          </a:p>
          <a:p>
            <a:pPr lvl="1"/>
            <a:r>
              <a:rPr lang="en-US" sz="2200" dirty="0"/>
              <a:t>Organizational structures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7BFD4E65-5316-AC63-29F1-AB8B22E81FD8}"/>
              </a:ext>
            </a:extLst>
          </p:cNvPr>
          <p:cNvGrpSpPr/>
          <p:nvPr/>
        </p:nvGrpSpPr>
        <p:grpSpPr>
          <a:xfrm>
            <a:off x="5818909" y="2760412"/>
            <a:ext cx="6299286" cy="3928727"/>
            <a:chOff x="5336211" y="1583359"/>
            <a:chExt cx="7516511" cy="4929526"/>
          </a:xfrm>
        </p:grpSpPr>
        <p:pic>
          <p:nvPicPr>
            <p:cNvPr id="5" name="object 4">
              <a:extLst>
                <a:ext uri="{FF2B5EF4-FFF2-40B4-BE49-F238E27FC236}">
                  <a16:creationId xmlns:a16="http://schemas.microsoft.com/office/drawing/2014/main" id="{552EC538-045E-B618-6F4D-908A72990CB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95951" y="3597473"/>
              <a:ext cx="3256771" cy="2915412"/>
            </a:xfrm>
            <a:prstGeom prst="rect">
              <a:avLst/>
            </a:prstGeom>
          </p:spPr>
        </p:pic>
        <p:pic>
          <p:nvPicPr>
            <p:cNvPr id="6" name="object 5">
              <a:extLst>
                <a:ext uri="{FF2B5EF4-FFF2-40B4-BE49-F238E27FC236}">
                  <a16:creationId xmlns:a16="http://schemas.microsoft.com/office/drawing/2014/main" id="{9FF97F6E-D8F1-5B6F-643D-89826F68D6C6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51755" y="1583359"/>
              <a:ext cx="3562502" cy="1164056"/>
            </a:xfrm>
            <a:prstGeom prst="rect">
              <a:avLst/>
            </a:prstGeom>
          </p:spPr>
        </p:pic>
        <p:pic>
          <p:nvPicPr>
            <p:cNvPr id="7" name="object 6">
              <a:extLst>
                <a:ext uri="{FF2B5EF4-FFF2-40B4-BE49-F238E27FC236}">
                  <a16:creationId xmlns:a16="http://schemas.microsoft.com/office/drawing/2014/main" id="{F691512D-07C3-6B34-FD5A-E4ED4935CF89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1441" y="1591743"/>
              <a:ext cx="1762662" cy="1162901"/>
            </a:xfrm>
            <a:prstGeom prst="rect">
              <a:avLst/>
            </a:prstGeom>
          </p:spPr>
        </p:pic>
        <p:pic>
          <p:nvPicPr>
            <p:cNvPr id="8" name="object 7">
              <a:extLst>
                <a:ext uri="{FF2B5EF4-FFF2-40B4-BE49-F238E27FC236}">
                  <a16:creationId xmlns:a16="http://schemas.microsoft.com/office/drawing/2014/main" id="{A617922A-96A2-4EBF-CE91-844448CA93F4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3065" y="2762018"/>
              <a:ext cx="3566159" cy="1151917"/>
            </a:xfrm>
            <a:prstGeom prst="rect">
              <a:avLst/>
            </a:prstGeom>
          </p:spPr>
        </p:pic>
        <p:pic>
          <p:nvPicPr>
            <p:cNvPr id="9" name="object 8">
              <a:extLst>
                <a:ext uri="{FF2B5EF4-FFF2-40B4-BE49-F238E27FC236}">
                  <a16:creationId xmlns:a16="http://schemas.microsoft.com/office/drawing/2014/main" id="{5AEBB64C-2FDF-3852-3F30-FF627BE070CB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336211" y="2738549"/>
              <a:ext cx="1795272" cy="1176527"/>
            </a:xfrm>
            <a:prstGeom prst="rect">
              <a:avLst/>
            </a:prstGeom>
          </p:spPr>
        </p:pic>
        <p:pic>
          <p:nvPicPr>
            <p:cNvPr id="10" name="object 9">
              <a:extLst>
                <a:ext uri="{FF2B5EF4-FFF2-40B4-BE49-F238E27FC236}">
                  <a16:creationId xmlns:a16="http://schemas.microsoft.com/office/drawing/2014/main" id="{42228E28-E217-6A52-AD13-F19520205AB0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0998" y="4127032"/>
              <a:ext cx="1920143" cy="1487382"/>
            </a:xfrm>
            <a:prstGeom prst="rect">
              <a:avLst/>
            </a:prstGeom>
          </p:spPr>
        </p:pic>
        <p:pic>
          <p:nvPicPr>
            <p:cNvPr id="11" name="object 10">
              <a:extLst>
                <a:ext uri="{FF2B5EF4-FFF2-40B4-BE49-F238E27FC236}">
                  <a16:creationId xmlns:a16="http://schemas.microsoft.com/office/drawing/2014/main" id="{80FFB667-CF50-9607-86DB-9984DB3C8A4D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68744" y="5131096"/>
              <a:ext cx="1159605" cy="111847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99420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B95F3-D447-3200-B9B0-C4C9BEA4E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B0AB4-D6B1-19E1-043F-EA1CDB4D5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with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022F63-3A16-D78E-1646-8ECAD5EF59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Node </a:t>
            </a:r>
            <a:r>
              <a:rPr lang="en-US" sz="2200" b="1" dirty="0">
                <a:solidFill>
                  <a:schemeClr val="tx1"/>
                </a:solidFill>
              </a:rPr>
              <a:t>data:  </a:t>
            </a:r>
            <a:r>
              <a:rPr lang="en-US" sz="2200" dirty="0">
                <a:solidFill>
                  <a:schemeClr val="tx1"/>
                </a:solidFill>
                <a:cs typeface="Arial"/>
              </a:rPr>
              <a:t>There may be many attributes associated with each node</a:t>
            </a:r>
            <a:endParaRPr lang="en-US" sz="2200" dirty="0"/>
          </a:p>
          <a:p>
            <a:endParaRPr lang="en-US" sz="2200" dirty="0"/>
          </a:p>
        </p:txBody>
      </p:sp>
      <p:grpSp>
        <p:nvGrpSpPr>
          <p:cNvPr id="14" name="object 7">
            <a:extLst>
              <a:ext uri="{FF2B5EF4-FFF2-40B4-BE49-F238E27FC236}">
                <a16:creationId xmlns:a16="http://schemas.microsoft.com/office/drawing/2014/main" id="{DAA51CEF-5679-543F-6C18-D01E33B57EE7}"/>
              </a:ext>
            </a:extLst>
          </p:cNvPr>
          <p:cNvGrpSpPr>
            <a:grpSpLocks noChangeAspect="1"/>
          </p:cNvGrpSpPr>
          <p:nvPr/>
        </p:nvGrpSpPr>
        <p:grpSpPr>
          <a:xfrm>
            <a:off x="714038" y="3116711"/>
            <a:ext cx="4072869" cy="3200400"/>
            <a:chOff x="7257288" y="765048"/>
            <a:chExt cx="2519680" cy="1979930"/>
          </a:xfrm>
        </p:grpSpPr>
        <p:sp>
          <p:nvSpPr>
            <p:cNvPr id="15" name="object 8">
              <a:extLst>
                <a:ext uri="{FF2B5EF4-FFF2-40B4-BE49-F238E27FC236}">
                  <a16:creationId xmlns:a16="http://schemas.microsoft.com/office/drawing/2014/main" id="{F7F1E3BF-4530-4669-AB5A-859C9E0C2EAE}"/>
                </a:ext>
              </a:extLst>
            </p:cNvPr>
            <p:cNvSpPr/>
            <p:nvPr/>
          </p:nvSpPr>
          <p:spPr>
            <a:xfrm>
              <a:off x="7433310" y="938022"/>
              <a:ext cx="2168525" cy="1644014"/>
            </a:xfrm>
            <a:custGeom>
              <a:avLst/>
              <a:gdLst/>
              <a:ahLst/>
              <a:cxnLst/>
              <a:rect l="l" t="t" r="r" b="b"/>
              <a:pathLst>
                <a:path w="2168525" h="1644014">
                  <a:moveTo>
                    <a:pt x="2168525" y="1278636"/>
                  </a:moveTo>
                  <a:lnTo>
                    <a:pt x="1208532" y="1643888"/>
                  </a:lnTo>
                </a:path>
                <a:path w="2168525" h="1644014">
                  <a:moveTo>
                    <a:pt x="765048" y="914400"/>
                  </a:moveTo>
                  <a:lnTo>
                    <a:pt x="1208786" y="1632457"/>
                  </a:lnTo>
                </a:path>
                <a:path w="2168525" h="1644014">
                  <a:moveTo>
                    <a:pt x="1188593" y="298703"/>
                  </a:moveTo>
                  <a:lnTo>
                    <a:pt x="769620" y="930020"/>
                  </a:lnTo>
                </a:path>
                <a:path w="2168525" h="1644014">
                  <a:moveTo>
                    <a:pt x="0" y="598931"/>
                  </a:moveTo>
                  <a:lnTo>
                    <a:pt x="769366" y="921892"/>
                  </a:lnTo>
                </a:path>
                <a:path w="2168525" h="1644014">
                  <a:moveTo>
                    <a:pt x="175260" y="0"/>
                  </a:moveTo>
                  <a:lnTo>
                    <a:pt x="1208786" y="256793"/>
                  </a:lnTo>
                </a:path>
                <a:path w="2168525" h="1644014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38100">
              <a:solidFill>
                <a:srgbClr val="C5DFB4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13DC215C-2EDF-63FC-19B7-20D38FCB336B}"/>
                </a:ext>
              </a:extLst>
            </p:cNvPr>
            <p:cNvSpPr/>
            <p:nvPr/>
          </p:nvSpPr>
          <p:spPr>
            <a:xfrm>
              <a:off x="7257288" y="765047"/>
              <a:ext cx="2519680" cy="1979930"/>
            </a:xfrm>
            <a:custGeom>
              <a:avLst/>
              <a:gdLst/>
              <a:ahLst/>
              <a:cxnLst/>
              <a:rect l="l" t="t" r="r" b="b"/>
              <a:pathLst>
                <a:path w="2519679" h="1979930">
                  <a:moveTo>
                    <a:pt x="350520" y="770382"/>
                  </a:moveTo>
                  <a:lnTo>
                    <a:pt x="344246" y="724789"/>
                  </a:lnTo>
                  <a:lnTo>
                    <a:pt x="326580" y="683831"/>
                  </a:lnTo>
                  <a:lnTo>
                    <a:pt x="299173" y="649135"/>
                  </a:lnTo>
                  <a:lnTo>
                    <a:pt x="263702" y="622338"/>
                  </a:lnTo>
                  <a:lnTo>
                    <a:pt x="221843" y="605053"/>
                  </a:lnTo>
                  <a:lnTo>
                    <a:pt x="175260" y="598932"/>
                  </a:lnTo>
                  <a:lnTo>
                    <a:pt x="128663" y="605053"/>
                  </a:lnTo>
                  <a:lnTo>
                    <a:pt x="86804" y="622338"/>
                  </a:lnTo>
                  <a:lnTo>
                    <a:pt x="51333" y="649135"/>
                  </a:lnTo>
                  <a:lnTo>
                    <a:pt x="23926" y="683831"/>
                  </a:lnTo>
                  <a:lnTo>
                    <a:pt x="6261" y="724789"/>
                  </a:lnTo>
                  <a:lnTo>
                    <a:pt x="0" y="770382"/>
                  </a:lnTo>
                  <a:lnTo>
                    <a:pt x="6261" y="815987"/>
                  </a:lnTo>
                  <a:lnTo>
                    <a:pt x="23926" y="856945"/>
                  </a:lnTo>
                  <a:lnTo>
                    <a:pt x="51333" y="891641"/>
                  </a:lnTo>
                  <a:lnTo>
                    <a:pt x="86804" y="918438"/>
                  </a:lnTo>
                  <a:lnTo>
                    <a:pt x="128663" y="935723"/>
                  </a:lnTo>
                  <a:lnTo>
                    <a:pt x="175260" y="941832"/>
                  </a:lnTo>
                  <a:lnTo>
                    <a:pt x="221843" y="935723"/>
                  </a:lnTo>
                  <a:lnTo>
                    <a:pt x="263702" y="918438"/>
                  </a:lnTo>
                  <a:lnTo>
                    <a:pt x="299173" y="891641"/>
                  </a:lnTo>
                  <a:lnTo>
                    <a:pt x="326580" y="856945"/>
                  </a:lnTo>
                  <a:lnTo>
                    <a:pt x="344246" y="815987"/>
                  </a:lnTo>
                  <a:lnTo>
                    <a:pt x="350520" y="770382"/>
                  </a:lnTo>
                  <a:close/>
                </a:path>
                <a:path w="2519679" h="1979930">
                  <a:moveTo>
                    <a:pt x="525780" y="171450"/>
                  </a:moveTo>
                  <a:lnTo>
                    <a:pt x="519506" y="125857"/>
                  </a:lnTo>
                  <a:lnTo>
                    <a:pt x="501840" y="84899"/>
                  </a:lnTo>
                  <a:lnTo>
                    <a:pt x="474433" y="50203"/>
                  </a:lnTo>
                  <a:lnTo>
                    <a:pt x="438962" y="23406"/>
                  </a:lnTo>
                  <a:lnTo>
                    <a:pt x="397103" y="6121"/>
                  </a:lnTo>
                  <a:lnTo>
                    <a:pt x="350520" y="0"/>
                  </a:lnTo>
                  <a:lnTo>
                    <a:pt x="303923" y="6121"/>
                  </a:lnTo>
                  <a:lnTo>
                    <a:pt x="262064" y="23406"/>
                  </a:lnTo>
                  <a:lnTo>
                    <a:pt x="226593" y="50203"/>
                  </a:lnTo>
                  <a:lnTo>
                    <a:pt x="199186" y="84899"/>
                  </a:lnTo>
                  <a:lnTo>
                    <a:pt x="181521" y="125857"/>
                  </a:lnTo>
                  <a:lnTo>
                    <a:pt x="175260" y="171450"/>
                  </a:lnTo>
                  <a:lnTo>
                    <a:pt x="181521" y="217055"/>
                  </a:lnTo>
                  <a:lnTo>
                    <a:pt x="199186" y="258013"/>
                  </a:lnTo>
                  <a:lnTo>
                    <a:pt x="226593" y="292709"/>
                  </a:lnTo>
                  <a:lnTo>
                    <a:pt x="262064" y="319506"/>
                  </a:lnTo>
                  <a:lnTo>
                    <a:pt x="303923" y="336791"/>
                  </a:lnTo>
                  <a:lnTo>
                    <a:pt x="350520" y="342900"/>
                  </a:lnTo>
                  <a:lnTo>
                    <a:pt x="397103" y="336791"/>
                  </a:lnTo>
                  <a:lnTo>
                    <a:pt x="438962" y="319506"/>
                  </a:lnTo>
                  <a:lnTo>
                    <a:pt x="474433" y="292709"/>
                  </a:lnTo>
                  <a:lnTo>
                    <a:pt x="501840" y="258013"/>
                  </a:lnTo>
                  <a:lnTo>
                    <a:pt x="519506" y="217055"/>
                  </a:lnTo>
                  <a:lnTo>
                    <a:pt x="525780" y="171450"/>
                  </a:lnTo>
                  <a:close/>
                </a:path>
                <a:path w="2519679" h="1979930">
                  <a:moveTo>
                    <a:pt x="1120140" y="1102614"/>
                  </a:moveTo>
                  <a:lnTo>
                    <a:pt x="1113866" y="1057021"/>
                  </a:lnTo>
                  <a:lnTo>
                    <a:pt x="1096200" y="1016063"/>
                  </a:lnTo>
                  <a:lnTo>
                    <a:pt x="1068793" y="981367"/>
                  </a:lnTo>
                  <a:lnTo>
                    <a:pt x="1033322" y="954570"/>
                  </a:lnTo>
                  <a:lnTo>
                    <a:pt x="991463" y="937285"/>
                  </a:lnTo>
                  <a:lnTo>
                    <a:pt x="944880" y="931164"/>
                  </a:lnTo>
                  <a:lnTo>
                    <a:pt x="898283" y="937285"/>
                  </a:lnTo>
                  <a:lnTo>
                    <a:pt x="856424" y="954570"/>
                  </a:lnTo>
                  <a:lnTo>
                    <a:pt x="820953" y="981367"/>
                  </a:lnTo>
                  <a:lnTo>
                    <a:pt x="793546" y="1016063"/>
                  </a:lnTo>
                  <a:lnTo>
                    <a:pt x="775881" y="1057021"/>
                  </a:lnTo>
                  <a:lnTo>
                    <a:pt x="769620" y="1102614"/>
                  </a:lnTo>
                  <a:lnTo>
                    <a:pt x="775881" y="1148219"/>
                  </a:lnTo>
                  <a:lnTo>
                    <a:pt x="793546" y="1189177"/>
                  </a:lnTo>
                  <a:lnTo>
                    <a:pt x="820953" y="1223873"/>
                  </a:lnTo>
                  <a:lnTo>
                    <a:pt x="856424" y="1250670"/>
                  </a:lnTo>
                  <a:lnTo>
                    <a:pt x="898283" y="1267955"/>
                  </a:lnTo>
                  <a:lnTo>
                    <a:pt x="944880" y="1274064"/>
                  </a:lnTo>
                  <a:lnTo>
                    <a:pt x="991463" y="1267955"/>
                  </a:lnTo>
                  <a:lnTo>
                    <a:pt x="1033322" y="1250670"/>
                  </a:lnTo>
                  <a:lnTo>
                    <a:pt x="1068793" y="1223873"/>
                  </a:lnTo>
                  <a:lnTo>
                    <a:pt x="1096200" y="1189177"/>
                  </a:lnTo>
                  <a:lnTo>
                    <a:pt x="1113866" y="1148219"/>
                  </a:lnTo>
                  <a:lnTo>
                    <a:pt x="1120140" y="1102614"/>
                  </a:lnTo>
                  <a:close/>
                </a:path>
                <a:path w="2519679" h="1979930">
                  <a:moveTo>
                    <a:pt x="1559052" y="1808226"/>
                  </a:moveTo>
                  <a:lnTo>
                    <a:pt x="1552778" y="1762633"/>
                  </a:lnTo>
                  <a:lnTo>
                    <a:pt x="1535112" y="1721675"/>
                  </a:lnTo>
                  <a:lnTo>
                    <a:pt x="1507705" y="1686979"/>
                  </a:lnTo>
                  <a:lnTo>
                    <a:pt x="1472234" y="1660182"/>
                  </a:lnTo>
                  <a:lnTo>
                    <a:pt x="1430375" y="1642897"/>
                  </a:lnTo>
                  <a:lnTo>
                    <a:pt x="1383792" y="1636776"/>
                  </a:lnTo>
                  <a:lnTo>
                    <a:pt x="1337195" y="1642897"/>
                  </a:lnTo>
                  <a:lnTo>
                    <a:pt x="1295336" y="1660182"/>
                  </a:lnTo>
                  <a:lnTo>
                    <a:pt x="1259865" y="1686979"/>
                  </a:lnTo>
                  <a:lnTo>
                    <a:pt x="1232458" y="1721675"/>
                  </a:lnTo>
                  <a:lnTo>
                    <a:pt x="1214793" y="1762633"/>
                  </a:lnTo>
                  <a:lnTo>
                    <a:pt x="1208532" y="1808226"/>
                  </a:lnTo>
                  <a:lnTo>
                    <a:pt x="1214793" y="1853831"/>
                  </a:lnTo>
                  <a:lnTo>
                    <a:pt x="1232458" y="1894789"/>
                  </a:lnTo>
                  <a:lnTo>
                    <a:pt x="1259865" y="1929485"/>
                  </a:lnTo>
                  <a:lnTo>
                    <a:pt x="1295336" y="1956282"/>
                  </a:lnTo>
                  <a:lnTo>
                    <a:pt x="1337195" y="1973567"/>
                  </a:lnTo>
                  <a:lnTo>
                    <a:pt x="1383792" y="1979676"/>
                  </a:lnTo>
                  <a:lnTo>
                    <a:pt x="1430375" y="1973567"/>
                  </a:lnTo>
                  <a:lnTo>
                    <a:pt x="1472234" y="1956282"/>
                  </a:lnTo>
                  <a:lnTo>
                    <a:pt x="1507705" y="1929485"/>
                  </a:lnTo>
                  <a:lnTo>
                    <a:pt x="1535112" y="1894789"/>
                  </a:lnTo>
                  <a:lnTo>
                    <a:pt x="1552778" y="1853831"/>
                  </a:lnTo>
                  <a:lnTo>
                    <a:pt x="1559052" y="1808226"/>
                  </a:lnTo>
                  <a:close/>
                </a:path>
                <a:path w="2519679" h="1979930">
                  <a:moveTo>
                    <a:pt x="1559052" y="428244"/>
                  </a:moveTo>
                  <a:lnTo>
                    <a:pt x="1552778" y="382892"/>
                  </a:lnTo>
                  <a:lnTo>
                    <a:pt x="1535112" y="342112"/>
                  </a:lnTo>
                  <a:lnTo>
                    <a:pt x="1507705" y="307568"/>
                  </a:lnTo>
                  <a:lnTo>
                    <a:pt x="1472234" y="280873"/>
                  </a:lnTo>
                  <a:lnTo>
                    <a:pt x="1430375" y="263664"/>
                  </a:lnTo>
                  <a:lnTo>
                    <a:pt x="1383792" y="257556"/>
                  </a:lnTo>
                  <a:lnTo>
                    <a:pt x="1337195" y="263664"/>
                  </a:lnTo>
                  <a:lnTo>
                    <a:pt x="1295336" y="280873"/>
                  </a:lnTo>
                  <a:lnTo>
                    <a:pt x="1259865" y="307568"/>
                  </a:lnTo>
                  <a:lnTo>
                    <a:pt x="1232458" y="342112"/>
                  </a:lnTo>
                  <a:lnTo>
                    <a:pt x="1214793" y="382892"/>
                  </a:lnTo>
                  <a:lnTo>
                    <a:pt x="1208532" y="428244"/>
                  </a:lnTo>
                  <a:lnTo>
                    <a:pt x="1214793" y="473608"/>
                  </a:lnTo>
                  <a:lnTo>
                    <a:pt x="1232458" y="514388"/>
                  </a:lnTo>
                  <a:lnTo>
                    <a:pt x="1259865" y="548932"/>
                  </a:lnTo>
                  <a:lnTo>
                    <a:pt x="1295336" y="575627"/>
                  </a:lnTo>
                  <a:lnTo>
                    <a:pt x="1337195" y="592836"/>
                  </a:lnTo>
                  <a:lnTo>
                    <a:pt x="1383792" y="598932"/>
                  </a:lnTo>
                  <a:lnTo>
                    <a:pt x="1430375" y="592836"/>
                  </a:lnTo>
                  <a:lnTo>
                    <a:pt x="1472234" y="575627"/>
                  </a:lnTo>
                  <a:lnTo>
                    <a:pt x="1507705" y="548932"/>
                  </a:lnTo>
                  <a:lnTo>
                    <a:pt x="1535112" y="514388"/>
                  </a:lnTo>
                  <a:lnTo>
                    <a:pt x="1552778" y="473608"/>
                  </a:lnTo>
                  <a:lnTo>
                    <a:pt x="1559052" y="428244"/>
                  </a:lnTo>
                  <a:close/>
                </a:path>
                <a:path w="2519679" h="1979930">
                  <a:moveTo>
                    <a:pt x="2519172" y="1443990"/>
                  </a:moveTo>
                  <a:lnTo>
                    <a:pt x="2512898" y="1398397"/>
                  </a:lnTo>
                  <a:lnTo>
                    <a:pt x="2495232" y="1357439"/>
                  </a:lnTo>
                  <a:lnTo>
                    <a:pt x="2467826" y="1322743"/>
                  </a:lnTo>
                  <a:lnTo>
                    <a:pt x="2432354" y="1295946"/>
                  </a:lnTo>
                  <a:lnTo>
                    <a:pt x="2390495" y="1278661"/>
                  </a:lnTo>
                  <a:lnTo>
                    <a:pt x="2343912" y="1272540"/>
                  </a:lnTo>
                  <a:lnTo>
                    <a:pt x="2297315" y="1278661"/>
                  </a:lnTo>
                  <a:lnTo>
                    <a:pt x="2255456" y="1295946"/>
                  </a:lnTo>
                  <a:lnTo>
                    <a:pt x="2219985" y="1322743"/>
                  </a:lnTo>
                  <a:lnTo>
                    <a:pt x="2192578" y="1357439"/>
                  </a:lnTo>
                  <a:lnTo>
                    <a:pt x="2174913" y="1398397"/>
                  </a:lnTo>
                  <a:lnTo>
                    <a:pt x="2168652" y="1443990"/>
                  </a:lnTo>
                  <a:lnTo>
                    <a:pt x="2174913" y="1489595"/>
                  </a:lnTo>
                  <a:lnTo>
                    <a:pt x="2192578" y="1530553"/>
                  </a:lnTo>
                  <a:lnTo>
                    <a:pt x="2219985" y="1565249"/>
                  </a:lnTo>
                  <a:lnTo>
                    <a:pt x="2255456" y="1592046"/>
                  </a:lnTo>
                  <a:lnTo>
                    <a:pt x="2297315" y="1609331"/>
                  </a:lnTo>
                  <a:lnTo>
                    <a:pt x="2343912" y="1615440"/>
                  </a:lnTo>
                  <a:lnTo>
                    <a:pt x="2390495" y="1609331"/>
                  </a:lnTo>
                  <a:lnTo>
                    <a:pt x="2432354" y="1592046"/>
                  </a:lnTo>
                  <a:lnTo>
                    <a:pt x="2467826" y="1565249"/>
                  </a:lnTo>
                  <a:lnTo>
                    <a:pt x="2495232" y="1530553"/>
                  </a:lnTo>
                  <a:lnTo>
                    <a:pt x="2512898" y="1489595"/>
                  </a:lnTo>
                  <a:lnTo>
                    <a:pt x="2519172" y="144399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7" name="object 16">
            <a:extLst>
              <a:ext uri="{FF2B5EF4-FFF2-40B4-BE49-F238E27FC236}">
                <a16:creationId xmlns:a16="http://schemas.microsoft.com/office/drawing/2014/main" id="{78DEADA0-9DD9-74CE-1A1F-3E34928892ED}"/>
              </a:ext>
            </a:extLst>
          </p:cNvPr>
          <p:cNvSpPr txBox="1"/>
          <p:nvPr/>
        </p:nvSpPr>
        <p:spPr>
          <a:xfrm>
            <a:off x="845877" y="2776063"/>
            <a:ext cx="107623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83C2FC6C-0268-300F-70AE-B677BE9F9B94}"/>
              </a:ext>
            </a:extLst>
          </p:cNvPr>
          <p:cNvSpPr txBox="1"/>
          <p:nvPr/>
        </p:nvSpPr>
        <p:spPr>
          <a:xfrm>
            <a:off x="2853025" y="3182043"/>
            <a:ext cx="159123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Abigail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18">
            <a:extLst>
              <a:ext uri="{FF2B5EF4-FFF2-40B4-BE49-F238E27FC236}">
                <a16:creationId xmlns:a16="http://schemas.microsoft.com/office/drawing/2014/main" id="{C582D4EA-46EB-25DF-6AFB-4D724FBD987D}"/>
              </a:ext>
            </a:extLst>
          </p:cNvPr>
          <p:cNvSpPr txBox="1"/>
          <p:nvPr/>
        </p:nvSpPr>
        <p:spPr>
          <a:xfrm>
            <a:off x="147712" y="4720776"/>
            <a:ext cx="228231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Sebastian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9">
            <a:extLst>
              <a:ext uri="{FF2B5EF4-FFF2-40B4-BE49-F238E27FC236}">
                <a16:creationId xmlns:a16="http://schemas.microsoft.com/office/drawing/2014/main" id="{74CE0448-CBAC-9881-A400-26131F5EFAE5}"/>
              </a:ext>
            </a:extLst>
          </p:cNvPr>
          <p:cNvSpPr txBox="1"/>
          <p:nvPr/>
        </p:nvSpPr>
        <p:spPr>
          <a:xfrm>
            <a:off x="2552735" y="4684318"/>
            <a:ext cx="13579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Haley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20">
            <a:extLst>
              <a:ext uri="{FF2B5EF4-FFF2-40B4-BE49-F238E27FC236}">
                <a16:creationId xmlns:a16="http://schemas.microsoft.com/office/drawing/2014/main" id="{74C0C0B2-3F33-4302-D52B-E9D97F902D4F}"/>
              </a:ext>
            </a:extLst>
          </p:cNvPr>
          <p:cNvSpPr txBox="1"/>
          <p:nvPr/>
        </p:nvSpPr>
        <p:spPr>
          <a:xfrm>
            <a:off x="1770194" y="5776488"/>
            <a:ext cx="148779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Shane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1">
            <a:extLst>
              <a:ext uri="{FF2B5EF4-FFF2-40B4-BE49-F238E27FC236}">
                <a16:creationId xmlns:a16="http://schemas.microsoft.com/office/drawing/2014/main" id="{EE621BFE-866B-84DB-44C2-FC21FC4C0A0C}"/>
              </a:ext>
            </a:extLst>
          </p:cNvPr>
          <p:cNvSpPr txBox="1"/>
          <p:nvPr/>
        </p:nvSpPr>
        <p:spPr>
          <a:xfrm>
            <a:off x="3910680" y="4827751"/>
            <a:ext cx="11862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04E0FE-A140-3436-CB7E-8ECF29E06DDE}"/>
              </a:ext>
            </a:extLst>
          </p:cNvPr>
          <p:cNvSpPr txBox="1"/>
          <p:nvPr/>
        </p:nvSpPr>
        <p:spPr>
          <a:xfrm>
            <a:off x="1102874" y="312403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8F0FA04-AADA-7453-1142-3D16EFA5628F}"/>
              </a:ext>
            </a:extLst>
          </p:cNvPr>
          <p:cNvSpPr txBox="1"/>
          <p:nvPr/>
        </p:nvSpPr>
        <p:spPr>
          <a:xfrm>
            <a:off x="1864874" y="388603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B6864F4-99DB-4D7E-B4A2-5BED2D4DC494}"/>
              </a:ext>
            </a:extLst>
          </p:cNvPr>
          <p:cNvSpPr txBox="1"/>
          <p:nvPr/>
        </p:nvSpPr>
        <p:spPr>
          <a:xfrm>
            <a:off x="2017274" y="403843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7558672-BDA6-0C81-9899-A3D34A2DED66}"/>
              </a:ext>
            </a:extLst>
          </p:cNvPr>
          <p:cNvSpPr txBox="1"/>
          <p:nvPr/>
        </p:nvSpPr>
        <p:spPr>
          <a:xfrm>
            <a:off x="845877" y="4098520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6F4C89C-A8C9-1DBD-7F36-0721B96068EB}"/>
              </a:ext>
            </a:extLst>
          </p:cNvPr>
          <p:cNvSpPr txBox="1"/>
          <p:nvPr/>
        </p:nvSpPr>
        <p:spPr>
          <a:xfrm>
            <a:off x="2806983" y="355353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324EDB-7DD0-8FB6-4EF8-7459E6E8FFAD}"/>
              </a:ext>
            </a:extLst>
          </p:cNvPr>
          <p:cNvSpPr txBox="1"/>
          <p:nvPr/>
        </p:nvSpPr>
        <p:spPr>
          <a:xfrm>
            <a:off x="2072692" y="4675750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E180F60-833F-8AFB-9BA7-BB832AA6C0A7}"/>
              </a:ext>
            </a:extLst>
          </p:cNvPr>
          <p:cNvSpPr txBox="1"/>
          <p:nvPr/>
        </p:nvSpPr>
        <p:spPr>
          <a:xfrm>
            <a:off x="2793135" y="575640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E495B57-08D7-438D-3AA4-AC3EFEACE0C3}"/>
              </a:ext>
            </a:extLst>
          </p:cNvPr>
          <p:cNvSpPr txBox="1"/>
          <p:nvPr/>
        </p:nvSpPr>
        <p:spPr>
          <a:xfrm>
            <a:off x="4361691" y="5188169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6</a:t>
            </a:r>
          </a:p>
        </p:txBody>
      </p:sp>
      <p:grpSp>
        <p:nvGrpSpPr>
          <p:cNvPr id="32" name="object 7">
            <a:extLst>
              <a:ext uri="{FF2B5EF4-FFF2-40B4-BE49-F238E27FC236}">
                <a16:creationId xmlns:a16="http://schemas.microsoft.com/office/drawing/2014/main" id="{FFE29B9C-6249-8291-CE77-1375B5CC69E9}"/>
              </a:ext>
            </a:extLst>
          </p:cNvPr>
          <p:cNvGrpSpPr/>
          <p:nvPr/>
        </p:nvGrpSpPr>
        <p:grpSpPr>
          <a:xfrm>
            <a:off x="706603" y="3116710"/>
            <a:ext cx="4072869" cy="3200400"/>
            <a:chOff x="7257288" y="765048"/>
            <a:chExt cx="2519680" cy="1979930"/>
          </a:xfrm>
        </p:grpSpPr>
        <p:sp>
          <p:nvSpPr>
            <p:cNvPr id="33" name="object 8">
              <a:extLst>
                <a:ext uri="{FF2B5EF4-FFF2-40B4-BE49-F238E27FC236}">
                  <a16:creationId xmlns:a16="http://schemas.microsoft.com/office/drawing/2014/main" id="{902F57FE-F604-B06B-4ABA-EE0AB1D53E0B}"/>
                </a:ext>
              </a:extLst>
            </p:cNvPr>
            <p:cNvSpPr/>
            <p:nvPr/>
          </p:nvSpPr>
          <p:spPr>
            <a:xfrm>
              <a:off x="7433310" y="938022"/>
              <a:ext cx="2168525" cy="1644014"/>
            </a:xfrm>
            <a:custGeom>
              <a:avLst/>
              <a:gdLst/>
              <a:ahLst/>
              <a:cxnLst/>
              <a:rect l="l" t="t" r="r" b="b"/>
              <a:pathLst>
                <a:path w="2168525" h="1644014">
                  <a:moveTo>
                    <a:pt x="2168525" y="1278636"/>
                  </a:moveTo>
                  <a:lnTo>
                    <a:pt x="1208532" y="1643888"/>
                  </a:lnTo>
                </a:path>
                <a:path w="2168525" h="1644014">
                  <a:moveTo>
                    <a:pt x="765048" y="914400"/>
                  </a:moveTo>
                  <a:lnTo>
                    <a:pt x="1208786" y="1632457"/>
                  </a:lnTo>
                </a:path>
                <a:path w="2168525" h="1644014">
                  <a:moveTo>
                    <a:pt x="1188593" y="298703"/>
                  </a:moveTo>
                  <a:lnTo>
                    <a:pt x="769620" y="930020"/>
                  </a:lnTo>
                </a:path>
                <a:path w="2168525" h="1644014">
                  <a:moveTo>
                    <a:pt x="0" y="598931"/>
                  </a:moveTo>
                  <a:lnTo>
                    <a:pt x="769366" y="921892"/>
                  </a:lnTo>
                </a:path>
                <a:path w="2168525" h="1644014">
                  <a:moveTo>
                    <a:pt x="175260" y="0"/>
                  </a:moveTo>
                  <a:lnTo>
                    <a:pt x="1208786" y="256793"/>
                  </a:lnTo>
                </a:path>
                <a:path w="2168525" h="1644014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28575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4" name="object 9">
              <a:extLst>
                <a:ext uri="{FF2B5EF4-FFF2-40B4-BE49-F238E27FC236}">
                  <a16:creationId xmlns:a16="http://schemas.microsoft.com/office/drawing/2014/main" id="{64905589-FADF-93D9-274C-E15EEB3AA0F8}"/>
                </a:ext>
              </a:extLst>
            </p:cNvPr>
            <p:cNvSpPr/>
            <p:nvPr/>
          </p:nvSpPr>
          <p:spPr>
            <a:xfrm>
              <a:off x="7432548" y="765048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5" name="object 10">
              <a:extLst>
                <a:ext uri="{FF2B5EF4-FFF2-40B4-BE49-F238E27FC236}">
                  <a16:creationId xmlns:a16="http://schemas.microsoft.com/office/drawing/2014/main" id="{E5F95B67-854F-CD7C-2B0C-6EA72E4B0748}"/>
                </a:ext>
              </a:extLst>
            </p:cNvPr>
            <p:cNvSpPr/>
            <p:nvPr/>
          </p:nvSpPr>
          <p:spPr>
            <a:xfrm>
              <a:off x="8465820" y="1022604"/>
              <a:ext cx="350520" cy="341630"/>
            </a:xfrm>
            <a:custGeom>
              <a:avLst/>
              <a:gdLst/>
              <a:ahLst/>
              <a:cxnLst/>
              <a:rect l="l" t="t" r="r" b="b"/>
              <a:pathLst>
                <a:path w="350520" h="341630">
                  <a:moveTo>
                    <a:pt x="175259" y="0"/>
                  </a:moveTo>
                  <a:lnTo>
                    <a:pt x="128675" y="6099"/>
                  </a:lnTo>
                  <a:lnTo>
                    <a:pt x="86811" y="23311"/>
                  </a:lnTo>
                  <a:lnTo>
                    <a:pt x="51339" y="50006"/>
                  </a:lnTo>
                  <a:lnTo>
                    <a:pt x="23932" y="84553"/>
                  </a:lnTo>
                  <a:lnTo>
                    <a:pt x="6261" y="125324"/>
                  </a:lnTo>
                  <a:lnTo>
                    <a:pt x="0" y="170687"/>
                  </a:lnTo>
                  <a:lnTo>
                    <a:pt x="6261" y="216051"/>
                  </a:lnTo>
                  <a:lnTo>
                    <a:pt x="23932" y="256822"/>
                  </a:lnTo>
                  <a:lnTo>
                    <a:pt x="51339" y="291369"/>
                  </a:lnTo>
                  <a:lnTo>
                    <a:pt x="86811" y="318064"/>
                  </a:lnTo>
                  <a:lnTo>
                    <a:pt x="128675" y="335276"/>
                  </a:lnTo>
                  <a:lnTo>
                    <a:pt x="175259" y="341375"/>
                  </a:lnTo>
                  <a:lnTo>
                    <a:pt x="221844" y="335276"/>
                  </a:lnTo>
                  <a:lnTo>
                    <a:pt x="263708" y="318064"/>
                  </a:lnTo>
                  <a:lnTo>
                    <a:pt x="299180" y="291369"/>
                  </a:lnTo>
                  <a:lnTo>
                    <a:pt x="326587" y="256822"/>
                  </a:lnTo>
                  <a:lnTo>
                    <a:pt x="344258" y="216051"/>
                  </a:lnTo>
                  <a:lnTo>
                    <a:pt x="350520" y="170687"/>
                  </a:lnTo>
                  <a:lnTo>
                    <a:pt x="344258" y="125324"/>
                  </a:lnTo>
                  <a:lnTo>
                    <a:pt x="326587" y="84553"/>
                  </a:lnTo>
                  <a:lnTo>
                    <a:pt x="299180" y="50006"/>
                  </a:lnTo>
                  <a:lnTo>
                    <a:pt x="263708" y="23311"/>
                  </a:lnTo>
                  <a:lnTo>
                    <a:pt x="221844" y="6099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6" name="object 11">
              <a:extLst>
                <a:ext uri="{FF2B5EF4-FFF2-40B4-BE49-F238E27FC236}">
                  <a16:creationId xmlns:a16="http://schemas.microsoft.com/office/drawing/2014/main" id="{37AC3758-6085-0B98-FF3D-CCCC7AE5BA07}"/>
                </a:ext>
              </a:extLst>
            </p:cNvPr>
            <p:cNvSpPr/>
            <p:nvPr/>
          </p:nvSpPr>
          <p:spPr>
            <a:xfrm>
              <a:off x="7257288" y="1363980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7" name="object 12">
              <a:extLst>
                <a:ext uri="{FF2B5EF4-FFF2-40B4-BE49-F238E27FC236}">
                  <a16:creationId xmlns:a16="http://schemas.microsoft.com/office/drawing/2014/main" id="{3BCE40BC-A015-FC53-22F0-FB5DBA1A5308}"/>
                </a:ext>
              </a:extLst>
            </p:cNvPr>
            <p:cNvSpPr/>
            <p:nvPr/>
          </p:nvSpPr>
          <p:spPr>
            <a:xfrm>
              <a:off x="8026908" y="1696212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60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60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FA9A99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8" name="object 13">
              <a:extLst>
                <a:ext uri="{FF2B5EF4-FFF2-40B4-BE49-F238E27FC236}">
                  <a16:creationId xmlns:a16="http://schemas.microsoft.com/office/drawing/2014/main" id="{9E2B09CA-3C67-8839-93BA-C53B184EEB9C}"/>
                </a:ext>
              </a:extLst>
            </p:cNvPr>
            <p:cNvSpPr/>
            <p:nvPr/>
          </p:nvSpPr>
          <p:spPr>
            <a:xfrm>
              <a:off x="8465820" y="2401824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39" name="object 14">
              <a:extLst>
                <a:ext uri="{FF2B5EF4-FFF2-40B4-BE49-F238E27FC236}">
                  <a16:creationId xmlns:a16="http://schemas.microsoft.com/office/drawing/2014/main" id="{F5C4547D-3887-9061-ACCD-D7B30308677F}"/>
                </a:ext>
              </a:extLst>
            </p:cNvPr>
            <p:cNvSpPr/>
            <p:nvPr/>
          </p:nvSpPr>
          <p:spPr>
            <a:xfrm>
              <a:off x="9425939" y="2037587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pSp>
        <p:nvGrpSpPr>
          <p:cNvPr id="40" name="object 8">
            <a:extLst>
              <a:ext uri="{FF2B5EF4-FFF2-40B4-BE49-F238E27FC236}">
                <a16:creationId xmlns:a16="http://schemas.microsoft.com/office/drawing/2014/main" id="{8FEF7ED8-7E7C-559B-53C4-EE4CE9B31B42}"/>
              </a:ext>
            </a:extLst>
          </p:cNvPr>
          <p:cNvGrpSpPr/>
          <p:nvPr/>
        </p:nvGrpSpPr>
        <p:grpSpPr>
          <a:xfrm>
            <a:off x="920748" y="3208702"/>
            <a:ext cx="3873593" cy="3009363"/>
            <a:chOff x="7257288" y="765048"/>
            <a:chExt cx="2626360" cy="1911350"/>
          </a:xfrm>
        </p:grpSpPr>
        <p:sp>
          <p:nvSpPr>
            <p:cNvPr id="41" name="object 9">
              <a:extLst>
                <a:ext uri="{FF2B5EF4-FFF2-40B4-BE49-F238E27FC236}">
                  <a16:creationId xmlns:a16="http://schemas.microsoft.com/office/drawing/2014/main" id="{857DB578-42C9-71E4-88E4-FD4A95B9AE18}"/>
                </a:ext>
              </a:extLst>
            </p:cNvPr>
            <p:cNvSpPr/>
            <p:nvPr/>
          </p:nvSpPr>
          <p:spPr>
            <a:xfrm>
              <a:off x="7433310" y="938022"/>
              <a:ext cx="2221865" cy="1632585"/>
            </a:xfrm>
            <a:custGeom>
              <a:avLst/>
              <a:gdLst/>
              <a:ahLst/>
              <a:cxnLst/>
              <a:rect l="l" t="t" r="r" b="b"/>
              <a:pathLst>
                <a:path w="2221865" h="1632585">
                  <a:moveTo>
                    <a:pt x="2221865" y="1322831"/>
                  </a:moveTo>
                  <a:lnTo>
                    <a:pt x="1170432" y="1601469"/>
                  </a:lnTo>
                </a:path>
                <a:path w="2221865" h="1632585">
                  <a:moveTo>
                    <a:pt x="765048" y="914400"/>
                  </a:moveTo>
                  <a:lnTo>
                    <a:pt x="1208786" y="1632457"/>
                  </a:lnTo>
                </a:path>
                <a:path w="2221865" h="1632585">
                  <a:moveTo>
                    <a:pt x="1274445" y="426719"/>
                  </a:moveTo>
                  <a:lnTo>
                    <a:pt x="769620" y="929513"/>
                  </a:lnTo>
                </a:path>
                <a:path w="2221865" h="1632585">
                  <a:moveTo>
                    <a:pt x="0" y="598931"/>
                  </a:moveTo>
                  <a:lnTo>
                    <a:pt x="769366" y="921892"/>
                  </a:lnTo>
                </a:path>
                <a:path w="2221865" h="1632585">
                  <a:moveTo>
                    <a:pt x="175260" y="0"/>
                  </a:moveTo>
                  <a:lnTo>
                    <a:pt x="1307973" y="353822"/>
                  </a:lnTo>
                </a:path>
                <a:path w="2221865" h="1632585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28575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2" name="object 10">
              <a:extLst>
                <a:ext uri="{FF2B5EF4-FFF2-40B4-BE49-F238E27FC236}">
                  <a16:creationId xmlns:a16="http://schemas.microsoft.com/office/drawing/2014/main" id="{F3851AA2-FCCC-BCC1-E0CD-E90A11E257F8}"/>
                </a:ext>
              </a:extLst>
            </p:cNvPr>
            <p:cNvSpPr/>
            <p:nvPr/>
          </p:nvSpPr>
          <p:spPr>
            <a:xfrm>
              <a:off x="7432548" y="765048"/>
              <a:ext cx="365760" cy="365760"/>
            </a:xfrm>
            <a:custGeom>
              <a:avLst/>
              <a:gdLst/>
              <a:ahLst/>
              <a:cxnLst/>
              <a:rect l="l" t="t" r="r" b="b"/>
              <a:pathLst>
                <a:path w="365759" h="365759">
                  <a:moveTo>
                    <a:pt x="182879" y="0"/>
                  </a:moveTo>
                  <a:lnTo>
                    <a:pt x="134276" y="6535"/>
                  </a:lnTo>
                  <a:lnTo>
                    <a:pt x="90593" y="24976"/>
                  </a:lnTo>
                  <a:lnTo>
                    <a:pt x="53578" y="53578"/>
                  </a:lnTo>
                  <a:lnTo>
                    <a:pt x="24976" y="90593"/>
                  </a:lnTo>
                  <a:lnTo>
                    <a:pt x="6535" y="134276"/>
                  </a:lnTo>
                  <a:lnTo>
                    <a:pt x="0" y="182879"/>
                  </a:lnTo>
                  <a:lnTo>
                    <a:pt x="6535" y="231483"/>
                  </a:lnTo>
                  <a:lnTo>
                    <a:pt x="24976" y="275166"/>
                  </a:lnTo>
                  <a:lnTo>
                    <a:pt x="53578" y="312181"/>
                  </a:lnTo>
                  <a:lnTo>
                    <a:pt x="90593" y="340783"/>
                  </a:lnTo>
                  <a:lnTo>
                    <a:pt x="134276" y="359224"/>
                  </a:lnTo>
                  <a:lnTo>
                    <a:pt x="182879" y="365760"/>
                  </a:lnTo>
                  <a:lnTo>
                    <a:pt x="231483" y="359224"/>
                  </a:lnTo>
                  <a:lnTo>
                    <a:pt x="275166" y="340783"/>
                  </a:lnTo>
                  <a:lnTo>
                    <a:pt x="312181" y="312181"/>
                  </a:lnTo>
                  <a:lnTo>
                    <a:pt x="340783" y="275166"/>
                  </a:lnTo>
                  <a:lnTo>
                    <a:pt x="359224" y="231483"/>
                  </a:lnTo>
                  <a:lnTo>
                    <a:pt x="365759" y="182879"/>
                  </a:lnTo>
                  <a:lnTo>
                    <a:pt x="359224" y="134276"/>
                  </a:lnTo>
                  <a:lnTo>
                    <a:pt x="340783" y="90593"/>
                  </a:lnTo>
                  <a:lnTo>
                    <a:pt x="312181" y="53578"/>
                  </a:lnTo>
                  <a:lnTo>
                    <a:pt x="275166" y="24976"/>
                  </a:lnTo>
                  <a:lnTo>
                    <a:pt x="231483" y="6535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3" name="object 11">
              <a:extLst>
                <a:ext uri="{FF2B5EF4-FFF2-40B4-BE49-F238E27FC236}">
                  <a16:creationId xmlns:a16="http://schemas.microsoft.com/office/drawing/2014/main" id="{068DA7F8-CAE4-2192-2828-BBB839DEA53A}"/>
                </a:ext>
              </a:extLst>
            </p:cNvPr>
            <p:cNvSpPr/>
            <p:nvPr/>
          </p:nvSpPr>
          <p:spPr>
            <a:xfrm>
              <a:off x="8465820" y="1022604"/>
              <a:ext cx="548640" cy="548640"/>
            </a:xfrm>
            <a:custGeom>
              <a:avLst/>
              <a:gdLst/>
              <a:ahLst/>
              <a:cxnLst/>
              <a:rect l="l" t="t" r="r" b="b"/>
              <a:pathLst>
                <a:path w="548640" h="548640">
                  <a:moveTo>
                    <a:pt x="274320" y="0"/>
                  </a:moveTo>
                  <a:lnTo>
                    <a:pt x="225008" y="4419"/>
                  </a:lnTo>
                  <a:lnTo>
                    <a:pt x="178597" y="17161"/>
                  </a:lnTo>
                  <a:lnTo>
                    <a:pt x="135861" y="37450"/>
                  </a:lnTo>
                  <a:lnTo>
                    <a:pt x="97575" y="64513"/>
                  </a:lnTo>
                  <a:lnTo>
                    <a:pt x="64513" y="97575"/>
                  </a:lnTo>
                  <a:lnTo>
                    <a:pt x="37450" y="135861"/>
                  </a:lnTo>
                  <a:lnTo>
                    <a:pt x="17161" y="178597"/>
                  </a:lnTo>
                  <a:lnTo>
                    <a:pt x="4419" y="225008"/>
                  </a:lnTo>
                  <a:lnTo>
                    <a:pt x="0" y="274320"/>
                  </a:lnTo>
                  <a:lnTo>
                    <a:pt x="4419" y="323631"/>
                  </a:lnTo>
                  <a:lnTo>
                    <a:pt x="17161" y="370042"/>
                  </a:lnTo>
                  <a:lnTo>
                    <a:pt x="37450" y="412778"/>
                  </a:lnTo>
                  <a:lnTo>
                    <a:pt x="64513" y="451064"/>
                  </a:lnTo>
                  <a:lnTo>
                    <a:pt x="97575" y="484126"/>
                  </a:lnTo>
                  <a:lnTo>
                    <a:pt x="135861" y="511189"/>
                  </a:lnTo>
                  <a:lnTo>
                    <a:pt x="178597" y="531478"/>
                  </a:lnTo>
                  <a:lnTo>
                    <a:pt x="225008" y="544220"/>
                  </a:lnTo>
                  <a:lnTo>
                    <a:pt x="274320" y="548640"/>
                  </a:lnTo>
                  <a:lnTo>
                    <a:pt x="323631" y="544220"/>
                  </a:lnTo>
                  <a:lnTo>
                    <a:pt x="370042" y="531478"/>
                  </a:lnTo>
                  <a:lnTo>
                    <a:pt x="412778" y="511189"/>
                  </a:lnTo>
                  <a:lnTo>
                    <a:pt x="451064" y="484126"/>
                  </a:lnTo>
                  <a:lnTo>
                    <a:pt x="484126" y="451064"/>
                  </a:lnTo>
                  <a:lnTo>
                    <a:pt x="511189" y="412778"/>
                  </a:lnTo>
                  <a:lnTo>
                    <a:pt x="531478" y="370042"/>
                  </a:lnTo>
                  <a:lnTo>
                    <a:pt x="544220" y="323631"/>
                  </a:lnTo>
                  <a:lnTo>
                    <a:pt x="548639" y="274320"/>
                  </a:lnTo>
                  <a:lnTo>
                    <a:pt x="544220" y="225008"/>
                  </a:lnTo>
                  <a:lnTo>
                    <a:pt x="531478" y="178597"/>
                  </a:lnTo>
                  <a:lnTo>
                    <a:pt x="511189" y="135861"/>
                  </a:lnTo>
                  <a:lnTo>
                    <a:pt x="484126" y="97575"/>
                  </a:lnTo>
                  <a:lnTo>
                    <a:pt x="451064" y="64513"/>
                  </a:lnTo>
                  <a:lnTo>
                    <a:pt x="412778" y="37450"/>
                  </a:lnTo>
                  <a:lnTo>
                    <a:pt x="370042" y="17161"/>
                  </a:lnTo>
                  <a:lnTo>
                    <a:pt x="323631" y="4419"/>
                  </a:lnTo>
                  <a:lnTo>
                    <a:pt x="274320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4" name="object 12">
              <a:extLst>
                <a:ext uri="{FF2B5EF4-FFF2-40B4-BE49-F238E27FC236}">
                  <a16:creationId xmlns:a16="http://schemas.microsoft.com/office/drawing/2014/main" id="{8011273D-C676-4DE1-0046-C019B900AE8A}"/>
                </a:ext>
              </a:extLst>
            </p:cNvPr>
            <p:cNvSpPr/>
            <p:nvPr/>
          </p:nvSpPr>
          <p:spPr>
            <a:xfrm>
              <a:off x="7257288" y="13639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5" name="object 13">
              <a:extLst>
                <a:ext uri="{FF2B5EF4-FFF2-40B4-BE49-F238E27FC236}">
                  <a16:creationId xmlns:a16="http://schemas.microsoft.com/office/drawing/2014/main" id="{B264985A-035C-E3F9-B442-5181668C0AD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18348" y="1746504"/>
              <a:ext cx="182879" cy="182880"/>
            </a:xfrm>
            <a:prstGeom prst="rect">
              <a:avLst/>
            </a:prstGeom>
          </p:spPr>
        </p:pic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7118E974-AA68-482D-05D2-092A149F30C3}"/>
                </a:ext>
              </a:extLst>
            </p:cNvPr>
            <p:cNvSpPr/>
            <p:nvPr/>
          </p:nvSpPr>
          <p:spPr>
            <a:xfrm>
              <a:off x="8465820" y="2401824"/>
              <a:ext cx="274320" cy="274320"/>
            </a:xfrm>
            <a:custGeom>
              <a:avLst/>
              <a:gdLst/>
              <a:ahLst/>
              <a:cxnLst/>
              <a:rect l="l" t="t" r="r" b="b"/>
              <a:pathLst>
                <a:path w="274320" h="274319">
                  <a:moveTo>
                    <a:pt x="137159" y="0"/>
                  </a:moveTo>
                  <a:lnTo>
                    <a:pt x="93829" y="6998"/>
                  </a:lnTo>
                  <a:lnTo>
                    <a:pt x="56180" y="26481"/>
                  </a:lnTo>
                  <a:lnTo>
                    <a:pt x="26481" y="56180"/>
                  </a:lnTo>
                  <a:lnTo>
                    <a:pt x="6998" y="93829"/>
                  </a:lnTo>
                  <a:lnTo>
                    <a:pt x="0" y="137160"/>
                  </a:lnTo>
                  <a:lnTo>
                    <a:pt x="6998" y="180490"/>
                  </a:lnTo>
                  <a:lnTo>
                    <a:pt x="26481" y="218139"/>
                  </a:lnTo>
                  <a:lnTo>
                    <a:pt x="56180" y="247838"/>
                  </a:lnTo>
                  <a:lnTo>
                    <a:pt x="93829" y="267321"/>
                  </a:lnTo>
                  <a:lnTo>
                    <a:pt x="137159" y="274320"/>
                  </a:lnTo>
                  <a:lnTo>
                    <a:pt x="180490" y="267321"/>
                  </a:lnTo>
                  <a:lnTo>
                    <a:pt x="218139" y="247838"/>
                  </a:lnTo>
                  <a:lnTo>
                    <a:pt x="247838" y="218139"/>
                  </a:lnTo>
                  <a:lnTo>
                    <a:pt x="267321" y="180490"/>
                  </a:lnTo>
                  <a:lnTo>
                    <a:pt x="274320" y="137160"/>
                  </a:lnTo>
                  <a:lnTo>
                    <a:pt x="267321" y="93829"/>
                  </a:lnTo>
                  <a:lnTo>
                    <a:pt x="247838" y="56180"/>
                  </a:lnTo>
                  <a:lnTo>
                    <a:pt x="218139" y="26481"/>
                  </a:lnTo>
                  <a:lnTo>
                    <a:pt x="180490" y="6998"/>
                  </a:lnTo>
                  <a:lnTo>
                    <a:pt x="1371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47" name="object 15">
              <a:extLst>
                <a:ext uri="{FF2B5EF4-FFF2-40B4-BE49-F238E27FC236}">
                  <a16:creationId xmlns:a16="http://schemas.microsoft.com/office/drawing/2014/main" id="{063D8EF0-62D1-ED6B-1E34-57A1CE1E77C8}"/>
                </a:ext>
              </a:extLst>
            </p:cNvPr>
            <p:cNvSpPr/>
            <p:nvPr/>
          </p:nvSpPr>
          <p:spPr>
            <a:xfrm>
              <a:off x="9425939" y="2037587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aphicFrame>
        <p:nvGraphicFramePr>
          <p:cNvPr id="48" name="object 37">
            <a:extLst>
              <a:ext uri="{FF2B5EF4-FFF2-40B4-BE49-F238E27FC236}">
                <a16:creationId xmlns:a16="http://schemas.microsoft.com/office/drawing/2014/main" id="{B79A50A8-059A-69CA-1281-30205822B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5220138"/>
              </p:ext>
            </p:extLst>
          </p:nvPr>
        </p:nvGraphicFramePr>
        <p:xfrm>
          <a:off x="4978978" y="3274650"/>
          <a:ext cx="7085029" cy="248108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55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63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2736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5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Vertex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7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Name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Favorite</a:t>
                      </a:r>
                      <a:r>
                        <a:rPr sz="2000" b="1" spc="27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color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4471C4"/>
                    </a:solidFill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Popularity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solidFill>
                      <a:srgbClr val="4471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092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Sam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Blue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478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Sebastian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Green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Abigail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Purple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9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Pink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Shane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Orange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349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4471C4"/>
                      </a:solidFill>
                      <a:prstDash val="solid"/>
                    </a:lnL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Leah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35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Purple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842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7</a:t>
                      </a:r>
                    </a:p>
                  </a:txBody>
                  <a:tcPr marL="0" marR="0" marT="35560" marB="0" anchor="ctr">
                    <a:lnR w="6350">
                      <a:solidFill>
                        <a:srgbClr val="4471C4"/>
                      </a:solidFill>
                      <a:prstDash val="solid"/>
                    </a:lnR>
                    <a:lnT w="6350">
                      <a:solidFill>
                        <a:srgbClr val="4471C4"/>
                      </a:solidFill>
                      <a:prstDash val="solid"/>
                    </a:lnT>
                    <a:lnB w="6350">
                      <a:solidFill>
                        <a:srgbClr val="4471C4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9" name="Rectangle 48">
            <a:extLst>
              <a:ext uri="{FF2B5EF4-FFF2-40B4-BE49-F238E27FC236}">
                <a16:creationId xmlns:a16="http://schemas.microsoft.com/office/drawing/2014/main" id="{18B0D778-6981-8F58-2D50-2BBA3D2EF700}"/>
              </a:ext>
            </a:extLst>
          </p:cNvPr>
          <p:cNvSpPr/>
          <p:nvPr/>
        </p:nvSpPr>
        <p:spPr>
          <a:xfrm>
            <a:off x="4961929" y="3126276"/>
            <a:ext cx="8637974" cy="2771608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505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4414 -3.7037E-7 L 0.27265 0.0088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833" y="440"/>
                                    </p:animMotion>
                                  </p:childTnLst>
                                </p:cTn>
                              </p:par>
                              <p:par>
                                <p:cTn id="29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7265 0.0088 L 0.44206 0.01157 " pathEditMode="relative" rAng="0" ptsTypes="AA">
                                      <p:cBhvr>
                                        <p:cTn id="3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64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19" grpId="0"/>
      <p:bldP spid="20" grpId="0"/>
      <p:bldP spid="21" grpId="0"/>
      <p:bldP spid="22" grpId="0"/>
      <p:bldP spid="49" grpId="0" animBg="1"/>
      <p:bldP spid="49" grpId="1" animBg="1"/>
      <p:bldP spid="49" grpId="2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85991-975F-18EA-D5EE-F3FE1152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30E89D-8023-32B4-C59C-5B6C753B2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Modeling with graphs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C359A4-0D09-717C-548C-FC56A5661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Edge </a:t>
            </a:r>
            <a:r>
              <a:rPr lang="en-US" sz="2200" b="1" dirty="0">
                <a:solidFill>
                  <a:schemeClr val="tx1"/>
                </a:solidFill>
              </a:rPr>
              <a:t>data:  </a:t>
            </a:r>
            <a:r>
              <a:rPr lang="en-US" sz="2200" dirty="0">
                <a:solidFill>
                  <a:schemeClr val="tx1"/>
                </a:solidFill>
                <a:cs typeface="Arial"/>
              </a:rPr>
              <a:t>There may be many attributes associated with each edge</a:t>
            </a:r>
            <a:endParaRPr lang="en-US" sz="2200" dirty="0"/>
          </a:p>
          <a:p>
            <a:endParaRPr lang="en-US" sz="2200" dirty="0"/>
          </a:p>
        </p:txBody>
      </p:sp>
      <p:sp>
        <p:nvSpPr>
          <p:cNvPr id="4" name="object 16">
            <a:extLst>
              <a:ext uri="{FF2B5EF4-FFF2-40B4-BE49-F238E27FC236}">
                <a16:creationId xmlns:a16="http://schemas.microsoft.com/office/drawing/2014/main" id="{F53E06C7-FB70-B764-F000-6EBFA365A219}"/>
              </a:ext>
            </a:extLst>
          </p:cNvPr>
          <p:cNvSpPr txBox="1"/>
          <p:nvPr/>
        </p:nvSpPr>
        <p:spPr>
          <a:xfrm>
            <a:off x="788727" y="2757013"/>
            <a:ext cx="1076232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Sam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5" name="object 17">
            <a:extLst>
              <a:ext uri="{FF2B5EF4-FFF2-40B4-BE49-F238E27FC236}">
                <a16:creationId xmlns:a16="http://schemas.microsoft.com/office/drawing/2014/main" id="{E35815C2-D82A-C9CA-37FA-7727F90B9FCD}"/>
              </a:ext>
            </a:extLst>
          </p:cNvPr>
          <p:cNvSpPr txBox="1"/>
          <p:nvPr/>
        </p:nvSpPr>
        <p:spPr>
          <a:xfrm>
            <a:off x="2795875" y="3162993"/>
            <a:ext cx="1591239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Abigail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6" name="object 18">
            <a:extLst>
              <a:ext uri="{FF2B5EF4-FFF2-40B4-BE49-F238E27FC236}">
                <a16:creationId xmlns:a16="http://schemas.microsoft.com/office/drawing/2014/main" id="{6624C8DE-2137-7612-E16B-A7EC2921E52C}"/>
              </a:ext>
            </a:extLst>
          </p:cNvPr>
          <p:cNvSpPr txBox="1"/>
          <p:nvPr/>
        </p:nvSpPr>
        <p:spPr>
          <a:xfrm>
            <a:off x="90562" y="4701726"/>
            <a:ext cx="2282317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Sebastian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7" name="object 19">
            <a:extLst>
              <a:ext uri="{FF2B5EF4-FFF2-40B4-BE49-F238E27FC236}">
                <a16:creationId xmlns:a16="http://schemas.microsoft.com/office/drawing/2014/main" id="{13743E8E-F76F-EDE7-113C-5DF6DAE03D64}"/>
              </a:ext>
            </a:extLst>
          </p:cNvPr>
          <p:cNvSpPr txBox="1"/>
          <p:nvPr/>
        </p:nvSpPr>
        <p:spPr>
          <a:xfrm>
            <a:off x="2495585" y="4665268"/>
            <a:ext cx="135794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Haley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8" name="object 20">
            <a:extLst>
              <a:ext uri="{FF2B5EF4-FFF2-40B4-BE49-F238E27FC236}">
                <a16:creationId xmlns:a16="http://schemas.microsoft.com/office/drawing/2014/main" id="{B1CFAB31-3E93-04BB-3758-0070B5D23F6B}"/>
              </a:ext>
            </a:extLst>
          </p:cNvPr>
          <p:cNvSpPr txBox="1"/>
          <p:nvPr/>
        </p:nvSpPr>
        <p:spPr>
          <a:xfrm>
            <a:off x="1713044" y="5757438"/>
            <a:ext cx="1487794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Shane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9" name="object 21">
            <a:extLst>
              <a:ext uri="{FF2B5EF4-FFF2-40B4-BE49-F238E27FC236}">
                <a16:creationId xmlns:a16="http://schemas.microsoft.com/office/drawing/2014/main" id="{63ED4F3C-C7C1-C766-5F7A-16FD51CE34AD}"/>
              </a:ext>
            </a:extLst>
          </p:cNvPr>
          <p:cNvSpPr txBox="1"/>
          <p:nvPr/>
        </p:nvSpPr>
        <p:spPr>
          <a:xfrm>
            <a:off x="3853530" y="4808701"/>
            <a:ext cx="1186276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0" i="0" u="none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Leah</a:t>
            </a:r>
            <a:endParaRPr kumimoji="0" sz="20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A1F55A-6128-7F7B-CA31-4444A41100DE}"/>
              </a:ext>
            </a:extLst>
          </p:cNvPr>
          <p:cNvSpPr txBox="1"/>
          <p:nvPr/>
        </p:nvSpPr>
        <p:spPr>
          <a:xfrm>
            <a:off x="1045724" y="310498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85D2F4-ED00-1801-267D-1B2F27703C45}"/>
              </a:ext>
            </a:extLst>
          </p:cNvPr>
          <p:cNvSpPr txBox="1"/>
          <p:nvPr/>
        </p:nvSpPr>
        <p:spPr>
          <a:xfrm>
            <a:off x="1807724" y="386698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CF1F34-A4F9-017F-BA5E-46D3894ADC16}"/>
              </a:ext>
            </a:extLst>
          </p:cNvPr>
          <p:cNvSpPr txBox="1"/>
          <p:nvPr/>
        </p:nvSpPr>
        <p:spPr>
          <a:xfrm>
            <a:off x="1960124" y="4019385"/>
            <a:ext cx="3225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5BF44D-CD5A-7368-E38A-A9614D72ADA0}"/>
              </a:ext>
            </a:extLst>
          </p:cNvPr>
          <p:cNvSpPr txBox="1"/>
          <p:nvPr/>
        </p:nvSpPr>
        <p:spPr>
          <a:xfrm>
            <a:off x="788727" y="4079470"/>
            <a:ext cx="341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665A92-1221-B64E-2AD8-70D62EE719DA}"/>
              </a:ext>
            </a:extLst>
          </p:cNvPr>
          <p:cNvSpPr txBox="1"/>
          <p:nvPr/>
        </p:nvSpPr>
        <p:spPr>
          <a:xfrm>
            <a:off x="2749833" y="3534480"/>
            <a:ext cx="3241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3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2A9B19F-16EE-0A23-E2E8-4FF3C83B4198}"/>
              </a:ext>
            </a:extLst>
          </p:cNvPr>
          <p:cNvSpPr txBox="1"/>
          <p:nvPr/>
        </p:nvSpPr>
        <p:spPr>
          <a:xfrm>
            <a:off x="2015542" y="4656700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4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539E5DA-F8A5-BD25-CAFC-22139D267128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1875EC04-F181-A6B6-7583-4C87FEDC8BE5}"/>
              </a:ext>
            </a:extLst>
          </p:cNvPr>
          <p:cNvSpPr txBox="1"/>
          <p:nvPr/>
        </p:nvSpPr>
        <p:spPr>
          <a:xfrm>
            <a:off x="4304541" y="5169119"/>
            <a:ext cx="3465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6</a:t>
            </a:r>
          </a:p>
        </p:txBody>
      </p:sp>
      <p:grpSp>
        <p:nvGrpSpPr>
          <p:cNvPr id="53" name="object 7">
            <a:extLst>
              <a:ext uri="{FF2B5EF4-FFF2-40B4-BE49-F238E27FC236}">
                <a16:creationId xmlns:a16="http://schemas.microsoft.com/office/drawing/2014/main" id="{17AA0205-46BC-C905-DF78-3E96EBF5226B}"/>
              </a:ext>
            </a:extLst>
          </p:cNvPr>
          <p:cNvGrpSpPr/>
          <p:nvPr/>
        </p:nvGrpSpPr>
        <p:grpSpPr>
          <a:xfrm>
            <a:off x="649453" y="3097660"/>
            <a:ext cx="4072869" cy="3200400"/>
            <a:chOff x="7257288" y="765048"/>
            <a:chExt cx="2519680" cy="1979930"/>
          </a:xfrm>
        </p:grpSpPr>
        <p:sp>
          <p:nvSpPr>
            <p:cNvPr id="54" name="object 8">
              <a:extLst>
                <a:ext uri="{FF2B5EF4-FFF2-40B4-BE49-F238E27FC236}">
                  <a16:creationId xmlns:a16="http://schemas.microsoft.com/office/drawing/2014/main" id="{D7CC5D3C-3B74-7B91-5764-31368D25D9AF}"/>
                </a:ext>
              </a:extLst>
            </p:cNvPr>
            <p:cNvSpPr/>
            <p:nvPr/>
          </p:nvSpPr>
          <p:spPr>
            <a:xfrm>
              <a:off x="7433310" y="938022"/>
              <a:ext cx="2168525" cy="1644014"/>
            </a:xfrm>
            <a:custGeom>
              <a:avLst/>
              <a:gdLst/>
              <a:ahLst/>
              <a:cxnLst/>
              <a:rect l="l" t="t" r="r" b="b"/>
              <a:pathLst>
                <a:path w="2168525" h="1644014">
                  <a:moveTo>
                    <a:pt x="2168525" y="1278636"/>
                  </a:moveTo>
                  <a:lnTo>
                    <a:pt x="1208532" y="1643888"/>
                  </a:lnTo>
                </a:path>
                <a:path w="2168525" h="1644014">
                  <a:moveTo>
                    <a:pt x="765048" y="914400"/>
                  </a:moveTo>
                  <a:lnTo>
                    <a:pt x="1208786" y="1632457"/>
                  </a:lnTo>
                </a:path>
                <a:path w="2168525" h="1644014">
                  <a:moveTo>
                    <a:pt x="1188593" y="298703"/>
                  </a:moveTo>
                  <a:lnTo>
                    <a:pt x="769620" y="930020"/>
                  </a:lnTo>
                </a:path>
                <a:path w="2168525" h="1644014">
                  <a:moveTo>
                    <a:pt x="0" y="598931"/>
                  </a:moveTo>
                  <a:lnTo>
                    <a:pt x="769366" y="921892"/>
                  </a:lnTo>
                </a:path>
                <a:path w="2168525" h="1644014">
                  <a:moveTo>
                    <a:pt x="175260" y="0"/>
                  </a:moveTo>
                  <a:lnTo>
                    <a:pt x="1208786" y="256793"/>
                  </a:lnTo>
                </a:path>
                <a:path w="2168525" h="1644014">
                  <a:moveTo>
                    <a:pt x="175133" y="0"/>
                  </a:moveTo>
                  <a:lnTo>
                    <a:pt x="0" y="599186"/>
                  </a:lnTo>
                </a:path>
              </a:pathLst>
            </a:custGeom>
            <a:ln w="28575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5" name="object 9">
              <a:extLst>
                <a:ext uri="{FF2B5EF4-FFF2-40B4-BE49-F238E27FC236}">
                  <a16:creationId xmlns:a16="http://schemas.microsoft.com/office/drawing/2014/main" id="{0E0C8CA0-005A-CF09-2F64-19FE03F89B00}"/>
                </a:ext>
              </a:extLst>
            </p:cNvPr>
            <p:cNvSpPr/>
            <p:nvPr/>
          </p:nvSpPr>
          <p:spPr>
            <a:xfrm>
              <a:off x="7432548" y="765048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6" name="object 10">
              <a:extLst>
                <a:ext uri="{FF2B5EF4-FFF2-40B4-BE49-F238E27FC236}">
                  <a16:creationId xmlns:a16="http://schemas.microsoft.com/office/drawing/2014/main" id="{CD8DDA44-6E4F-60B5-583C-9B49880D3CC9}"/>
                </a:ext>
              </a:extLst>
            </p:cNvPr>
            <p:cNvSpPr/>
            <p:nvPr/>
          </p:nvSpPr>
          <p:spPr>
            <a:xfrm>
              <a:off x="8465820" y="1022604"/>
              <a:ext cx="350520" cy="341630"/>
            </a:xfrm>
            <a:custGeom>
              <a:avLst/>
              <a:gdLst/>
              <a:ahLst/>
              <a:cxnLst/>
              <a:rect l="l" t="t" r="r" b="b"/>
              <a:pathLst>
                <a:path w="350520" h="341630">
                  <a:moveTo>
                    <a:pt x="175259" y="0"/>
                  </a:moveTo>
                  <a:lnTo>
                    <a:pt x="128675" y="6099"/>
                  </a:lnTo>
                  <a:lnTo>
                    <a:pt x="86811" y="23311"/>
                  </a:lnTo>
                  <a:lnTo>
                    <a:pt x="51339" y="50006"/>
                  </a:lnTo>
                  <a:lnTo>
                    <a:pt x="23932" y="84553"/>
                  </a:lnTo>
                  <a:lnTo>
                    <a:pt x="6261" y="125324"/>
                  </a:lnTo>
                  <a:lnTo>
                    <a:pt x="0" y="170687"/>
                  </a:lnTo>
                  <a:lnTo>
                    <a:pt x="6261" y="216051"/>
                  </a:lnTo>
                  <a:lnTo>
                    <a:pt x="23932" y="256822"/>
                  </a:lnTo>
                  <a:lnTo>
                    <a:pt x="51339" y="291369"/>
                  </a:lnTo>
                  <a:lnTo>
                    <a:pt x="86811" y="318064"/>
                  </a:lnTo>
                  <a:lnTo>
                    <a:pt x="128675" y="335276"/>
                  </a:lnTo>
                  <a:lnTo>
                    <a:pt x="175259" y="341375"/>
                  </a:lnTo>
                  <a:lnTo>
                    <a:pt x="221844" y="335276"/>
                  </a:lnTo>
                  <a:lnTo>
                    <a:pt x="263708" y="318064"/>
                  </a:lnTo>
                  <a:lnTo>
                    <a:pt x="299180" y="291369"/>
                  </a:lnTo>
                  <a:lnTo>
                    <a:pt x="326587" y="256822"/>
                  </a:lnTo>
                  <a:lnTo>
                    <a:pt x="344258" y="216051"/>
                  </a:lnTo>
                  <a:lnTo>
                    <a:pt x="350520" y="170687"/>
                  </a:lnTo>
                  <a:lnTo>
                    <a:pt x="344258" y="125324"/>
                  </a:lnTo>
                  <a:lnTo>
                    <a:pt x="326587" y="84553"/>
                  </a:lnTo>
                  <a:lnTo>
                    <a:pt x="299180" y="50006"/>
                  </a:lnTo>
                  <a:lnTo>
                    <a:pt x="263708" y="23311"/>
                  </a:lnTo>
                  <a:lnTo>
                    <a:pt x="221844" y="6099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7" name="object 11">
              <a:extLst>
                <a:ext uri="{FF2B5EF4-FFF2-40B4-BE49-F238E27FC236}">
                  <a16:creationId xmlns:a16="http://schemas.microsoft.com/office/drawing/2014/main" id="{88EE79F8-35C5-5F8F-BB60-AB7956F59A5D}"/>
                </a:ext>
              </a:extLst>
            </p:cNvPr>
            <p:cNvSpPr/>
            <p:nvPr/>
          </p:nvSpPr>
          <p:spPr>
            <a:xfrm>
              <a:off x="7257288" y="1363980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8" name="object 12">
              <a:extLst>
                <a:ext uri="{FF2B5EF4-FFF2-40B4-BE49-F238E27FC236}">
                  <a16:creationId xmlns:a16="http://schemas.microsoft.com/office/drawing/2014/main" id="{8E9803C3-6B65-0049-2AA0-C6EBCD91E806}"/>
                </a:ext>
              </a:extLst>
            </p:cNvPr>
            <p:cNvSpPr/>
            <p:nvPr/>
          </p:nvSpPr>
          <p:spPr>
            <a:xfrm>
              <a:off x="8026908" y="1696212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60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60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FA9A99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59" name="object 13">
              <a:extLst>
                <a:ext uri="{FF2B5EF4-FFF2-40B4-BE49-F238E27FC236}">
                  <a16:creationId xmlns:a16="http://schemas.microsoft.com/office/drawing/2014/main" id="{2A96CE62-ECFD-0C34-3B85-A4687E2852FE}"/>
                </a:ext>
              </a:extLst>
            </p:cNvPr>
            <p:cNvSpPr/>
            <p:nvPr/>
          </p:nvSpPr>
          <p:spPr>
            <a:xfrm>
              <a:off x="8465820" y="2401824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0" name="object 14">
              <a:extLst>
                <a:ext uri="{FF2B5EF4-FFF2-40B4-BE49-F238E27FC236}">
                  <a16:creationId xmlns:a16="http://schemas.microsoft.com/office/drawing/2014/main" id="{D0B1BE11-0903-D36A-E1BE-794FBFFB9D12}"/>
                </a:ext>
              </a:extLst>
            </p:cNvPr>
            <p:cNvSpPr/>
            <p:nvPr/>
          </p:nvSpPr>
          <p:spPr>
            <a:xfrm>
              <a:off x="9425939" y="2037587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graphicFrame>
        <p:nvGraphicFramePr>
          <p:cNvPr id="61" name="object 10">
            <a:extLst>
              <a:ext uri="{FF2B5EF4-FFF2-40B4-BE49-F238E27FC236}">
                <a16:creationId xmlns:a16="http://schemas.microsoft.com/office/drawing/2014/main" id="{62ED89E0-EE6E-9652-B82F-28AB815880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408603"/>
              </p:ext>
            </p:extLst>
          </p:nvPr>
        </p:nvGraphicFramePr>
        <p:xfrm>
          <a:off x="5313143" y="3484252"/>
          <a:ext cx="6664795" cy="300854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634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31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057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22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51667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4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Edge </a:t>
                      </a:r>
                      <a:r>
                        <a:rPr sz="20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id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Source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Target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solidFill>
                      <a:srgbClr val="6FAC46"/>
                    </a:solidFill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305"/>
                        </a:spcBef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Friend</a:t>
                      </a:r>
                      <a:r>
                        <a:rPr sz="2000" b="1" spc="14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value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8735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solidFill>
                      <a:srgbClr val="6FAC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723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Sam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Sebastian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10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175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5" dirty="0">
                          <a:latin typeface="Arial"/>
                          <a:cs typeface="Arial"/>
                        </a:rPr>
                        <a:t>Sam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Abigail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964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3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Sebastian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4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Abigail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5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Haley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Shane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1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548">
                <a:tc>
                  <a:txBody>
                    <a:bodyPr/>
                    <a:lstStyle/>
                    <a:p>
                      <a:pPr marL="920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6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L w="6350">
                      <a:solidFill>
                        <a:srgbClr val="6FAC46"/>
                      </a:solidFill>
                      <a:prstDash val="solid"/>
                    </a:lnL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88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10" dirty="0">
                          <a:latin typeface="Arial"/>
                          <a:cs typeface="Arial"/>
                        </a:rPr>
                        <a:t>Shane</a:t>
                      </a:r>
                      <a:endParaRPr sz="200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620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spc="-20" dirty="0">
                          <a:latin typeface="Arial"/>
                          <a:cs typeface="Arial"/>
                        </a:rPr>
                        <a:t>Leah</a:t>
                      </a:r>
                      <a:endParaRPr sz="2000" dirty="0">
                        <a:latin typeface="Arial"/>
                        <a:cs typeface="Arial"/>
                      </a:endParaRPr>
                    </a:p>
                  </a:txBody>
                  <a:tcPr marL="0" marR="0" marT="35560" marB="0" anchor="ctr"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7475" algn="ctr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2000" dirty="0">
                          <a:latin typeface="Arial"/>
                          <a:cs typeface="Arial"/>
                        </a:rPr>
                        <a:t>2</a:t>
                      </a:r>
                    </a:p>
                  </a:txBody>
                  <a:tcPr marL="0" marR="0" marT="35560" marB="0" anchor="ctr">
                    <a:lnR w="6350">
                      <a:solidFill>
                        <a:srgbClr val="6FAC46"/>
                      </a:solidFill>
                      <a:prstDash val="solid"/>
                    </a:lnR>
                    <a:lnT w="6350">
                      <a:solidFill>
                        <a:srgbClr val="6FAC46"/>
                      </a:solidFill>
                      <a:prstDash val="solid"/>
                    </a:lnT>
                    <a:lnB w="6350">
                      <a:solidFill>
                        <a:srgbClr val="6FAC46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2" name="Rectangle 61">
            <a:extLst>
              <a:ext uri="{FF2B5EF4-FFF2-40B4-BE49-F238E27FC236}">
                <a16:creationId xmlns:a16="http://schemas.microsoft.com/office/drawing/2014/main" id="{2954D0C8-5347-2BCD-A294-D26D3C4AD7B4}"/>
              </a:ext>
            </a:extLst>
          </p:cNvPr>
          <p:cNvSpPr/>
          <p:nvPr/>
        </p:nvSpPr>
        <p:spPr>
          <a:xfrm>
            <a:off x="4762248" y="3428574"/>
            <a:ext cx="8804815" cy="320277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grpSp>
        <p:nvGrpSpPr>
          <p:cNvPr id="63" name="object 6">
            <a:extLst>
              <a:ext uri="{FF2B5EF4-FFF2-40B4-BE49-F238E27FC236}">
                <a16:creationId xmlns:a16="http://schemas.microsoft.com/office/drawing/2014/main" id="{BCAD082A-B1EC-C43D-2EAC-43B4320BE1C1}"/>
              </a:ext>
            </a:extLst>
          </p:cNvPr>
          <p:cNvGrpSpPr/>
          <p:nvPr/>
        </p:nvGrpSpPr>
        <p:grpSpPr>
          <a:xfrm>
            <a:off x="704847" y="3125626"/>
            <a:ext cx="3999400" cy="3154771"/>
            <a:chOff x="7257288" y="765048"/>
            <a:chExt cx="2519680" cy="1979930"/>
          </a:xfrm>
        </p:grpSpPr>
        <p:sp>
          <p:nvSpPr>
            <p:cNvPr id="64" name="object 7">
              <a:extLst>
                <a:ext uri="{FF2B5EF4-FFF2-40B4-BE49-F238E27FC236}">
                  <a16:creationId xmlns:a16="http://schemas.microsoft.com/office/drawing/2014/main" id="{16A3A918-80ED-F18B-43C2-8A43C385F074}"/>
                </a:ext>
              </a:extLst>
            </p:cNvPr>
            <p:cNvSpPr/>
            <p:nvPr/>
          </p:nvSpPr>
          <p:spPr>
            <a:xfrm>
              <a:off x="8641841" y="2216658"/>
              <a:ext cx="960119" cy="365760"/>
            </a:xfrm>
            <a:custGeom>
              <a:avLst/>
              <a:gdLst/>
              <a:ahLst/>
              <a:cxnLst/>
              <a:rect l="l" t="t" r="r" b="b"/>
              <a:pathLst>
                <a:path w="960120" h="365760">
                  <a:moveTo>
                    <a:pt x="959992" y="0"/>
                  </a:moveTo>
                  <a:lnTo>
                    <a:pt x="0" y="365251"/>
                  </a:lnTo>
                </a:path>
              </a:pathLst>
            </a:custGeom>
            <a:ln w="381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5" name="object 8">
              <a:extLst>
                <a:ext uri="{FF2B5EF4-FFF2-40B4-BE49-F238E27FC236}">
                  <a16:creationId xmlns:a16="http://schemas.microsoft.com/office/drawing/2014/main" id="{06C22739-3CD5-54AC-FB71-1F3EAA4E664F}"/>
                </a:ext>
              </a:extLst>
            </p:cNvPr>
            <p:cNvSpPr/>
            <p:nvPr/>
          </p:nvSpPr>
          <p:spPr>
            <a:xfrm>
              <a:off x="8197596" y="1851659"/>
              <a:ext cx="443865" cy="718185"/>
            </a:xfrm>
            <a:custGeom>
              <a:avLst/>
              <a:gdLst/>
              <a:ahLst/>
              <a:cxnLst/>
              <a:rect l="l" t="t" r="r" b="b"/>
              <a:pathLst>
                <a:path w="443865" h="718185">
                  <a:moveTo>
                    <a:pt x="0" y="0"/>
                  </a:moveTo>
                  <a:lnTo>
                    <a:pt x="443737" y="718057"/>
                  </a:lnTo>
                </a:path>
              </a:pathLst>
            </a:custGeom>
            <a:ln w="127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6" name="object 9">
              <a:extLst>
                <a:ext uri="{FF2B5EF4-FFF2-40B4-BE49-F238E27FC236}">
                  <a16:creationId xmlns:a16="http://schemas.microsoft.com/office/drawing/2014/main" id="{84BC74AA-5F0F-D6ED-0235-916FB6232B81}"/>
                </a:ext>
              </a:extLst>
            </p:cNvPr>
            <p:cNvSpPr/>
            <p:nvPr/>
          </p:nvSpPr>
          <p:spPr>
            <a:xfrm>
              <a:off x="8202930" y="1236726"/>
              <a:ext cx="419100" cy="631825"/>
            </a:xfrm>
            <a:custGeom>
              <a:avLst/>
              <a:gdLst/>
              <a:ahLst/>
              <a:cxnLst/>
              <a:rect l="l" t="t" r="r" b="b"/>
              <a:pathLst>
                <a:path w="419100" h="631825">
                  <a:moveTo>
                    <a:pt x="418973" y="0"/>
                  </a:moveTo>
                  <a:lnTo>
                    <a:pt x="0" y="631316"/>
                  </a:lnTo>
                </a:path>
              </a:pathLst>
            </a:custGeom>
            <a:ln w="381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7" name="object 10">
              <a:extLst>
                <a:ext uri="{FF2B5EF4-FFF2-40B4-BE49-F238E27FC236}">
                  <a16:creationId xmlns:a16="http://schemas.microsoft.com/office/drawing/2014/main" id="{E72851B9-B380-E2A1-4B81-849B73D0A0C1}"/>
                </a:ext>
              </a:extLst>
            </p:cNvPr>
            <p:cNvSpPr/>
            <p:nvPr/>
          </p:nvSpPr>
          <p:spPr>
            <a:xfrm>
              <a:off x="7432548" y="1536192"/>
              <a:ext cx="769620" cy="323215"/>
            </a:xfrm>
            <a:custGeom>
              <a:avLst/>
              <a:gdLst/>
              <a:ahLst/>
              <a:cxnLst/>
              <a:rect l="l" t="t" r="r" b="b"/>
              <a:pathLst>
                <a:path w="769620" h="323214">
                  <a:moveTo>
                    <a:pt x="0" y="0"/>
                  </a:moveTo>
                  <a:lnTo>
                    <a:pt x="769366" y="322961"/>
                  </a:lnTo>
                </a:path>
              </a:pathLst>
            </a:custGeom>
            <a:ln w="127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8" name="object 11">
              <a:extLst>
                <a:ext uri="{FF2B5EF4-FFF2-40B4-BE49-F238E27FC236}">
                  <a16:creationId xmlns:a16="http://schemas.microsoft.com/office/drawing/2014/main" id="{91173614-630C-D318-1398-A1127F59384E}"/>
                </a:ext>
              </a:extLst>
            </p:cNvPr>
            <p:cNvSpPr/>
            <p:nvPr/>
          </p:nvSpPr>
          <p:spPr>
            <a:xfrm>
              <a:off x="7607808" y="937260"/>
              <a:ext cx="1033780" cy="257175"/>
            </a:xfrm>
            <a:custGeom>
              <a:avLst/>
              <a:gdLst/>
              <a:ahLst/>
              <a:cxnLst/>
              <a:rect l="l" t="t" r="r" b="b"/>
              <a:pathLst>
                <a:path w="1033779" h="257175">
                  <a:moveTo>
                    <a:pt x="0" y="0"/>
                  </a:moveTo>
                  <a:lnTo>
                    <a:pt x="1033526" y="256793"/>
                  </a:lnTo>
                </a:path>
              </a:pathLst>
            </a:custGeom>
            <a:ln w="5715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9" name="object 12">
              <a:extLst>
                <a:ext uri="{FF2B5EF4-FFF2-40B4-BE49-F238E27FC236}">
                  <a16:creationId xmlns:a16="http://schemas.microsoft.com/office/drawing/2014/main" id="{3A45EF44-BCB3-E646-F4D4-CEABACC7D062}"/>
                </a:ext>
              </a:extLst>
            </p:cNvPr>
            <p:cNvSpPr/>
            <p:nvPr/>
          </p:nvSpPr>
          <p:spPr>
            <a:xfrm>
              <a:off x="7441692" y="937260"/>
              <a:ext cx="175260" cy="599440"/>
            </a:xfrm>
            <a:custGeom>
              <a:avLst/>
              <a:gdLst/>
              <a:ahLst/>
              <a:cxnLst/>
              <a:rect l="l" t="t" r="r" b="b"/>
              <a:pathLst>
                <a:path w="175259" h="599440">
                  <a:moveTo>
                    <a:pt x="175132" y="0"/>
                  </a:moveTo>
                  <a:lnTo>
                    <a:pt x="0" y="599186"/>
                  </a:lnTo>
                </a:path>
              </a:pathLst>
            </a:custGeom>
            <a:ln w="76200">
              <a:solidFill>
                <a:srgbClr val="AEABAB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0" name="object 13">
              <a:extLst>
                <a:ext uri="{FF2B5EF4-FFF2-40B4-BE49-F238E27FC236}">
                  <a16:creationId xmlns:a16="http://schemas.microsoft.com/office/drawing/2014/main" id="{A429957F-BE23-6A84-6B5D-8E49DD8A10E4}"/>
                </a:ext>
              </a:extLst>
            </p:cNvPr>
            <p:cNvSpPr/>
            <p:nvPr/>
          </p:nvSpPr>
          <p:spPr>
            <a:xfrm>
              <a:off x="7432548" y="765048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2E5496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1" name="object 14">
              <a:extLst>
                <a:ext uri="{FF2B5EF4-FFF2-40B4-BE49-F238E27FC236}">
                  <a16:creationId xmlns:a16="http://schemas.microsoft.com/office/drawing/2014/main" id="{9299E0B8-2D30-08CA-3FF9-2C2CB22440A3}"/>
                </a:ext>
              </a:extLst>
            </p:cNvPr>
            <p:cNvSpPr/>
            <p:nvPr/>
          </p:nvSpPr>
          <p:spPr>
            <a:xfrm>
              <a:off x="8465820" y="1022604"/>
              <a:ext cx="350520" cy="341630"/>
            </a:xfrm>
            <a:custGeom>
              <a:avLst/>
              <a:gdLst/>
              <a:ahLst/>
              <a:cxnLst/>
              <a:rect l="l" t="t" r="r" b="b"/>
              <a:pathLst>
                <a:path w="350520" h="341630">
                  <a:moveTo>
                    <a:pt x="175259" y="0"/>
                  </a:moveTo>
                  <a:lnTo>
                    <a:pt x="128675" y="6099"/>
                  </a:lnTo>
                  <a:lnTo>
                    <a:pt x="86811" y="23311"/>
                  </a:lnTo>
                  <a:lnTo>
                    <a:pt x="51339" y="50006"/>
                  </a:lnTo>
                  <a:lnTo>
                    <a:pt x="23932" y="84553"/>
                  </a:lnTo>
                  <a:lnTo>
                    <a:pt x="6261" y="125324"/>
                  </a:lnTo>
                  <a:lnTo>
                    <a:pt x="0" y="170687"/>
                  </a:lnTo>
                  <a:lnTo>
                    <a:pt x="6261" y="216051"/>
                  </a:lnTo>
                  <a:lnTo>
                    <a:pt x="23932" y="256822"/>
                  </a:lnTo>
                  <a:lnTo>
                    <a:pt x="51339" y="291369"/>
                  </a:lnTo>
                  <a:lnTo>
                    <a:pt x="86811" y="318064"/>
                  </a:lnTo>
                  <a:lnTo>
                    <a:pt x="128675" y="335276"/>
                  </a:lnTo>
                  <a:lnTo>
                    <a:pt x="175259" y="341375"/>
                  </a:lnTo>
                  <a:lnTo>
                    <a:pt x="221844" y="335276"/>
                  </a:lnTo>
                  <a:lnTo>
                    <a:pt x="263708" y="318064"/>
                  </a:lnTo>
                  <a:lnTo>
                    <a:pt x="299180" y="291369"/>
                  </a:lnTo>
                  <a:lnTo>
                    <a:pt x="326587" y="256822"/>
                  </a:lnTo>
                  <a:lnTo>
                    <a:pt x="344258" y="216051"/>
                  </a:lnTo>
                  <a:lnTo>
                    <a:pt x="350520" y="170687"/>
                  </a:lnTo>
                  <a:lnTo>
                    <a:pt x="344258" y="125324"/>
                  </a:lnTo>
                  <a:lnTo>
                    <a:pt x="326587" y="84553"/>
                  </a:lnTo>
                  <a:lnTo>
                    <a:pt x="299180" y="50006"/>
                  </a:lnTo>
                  <a:lnTo>
                    <a:pt x="263708" y="23311"/>
                  </a:lnTo>
                  <a:lnTo>
                    <a:pt x="221844" y="6099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C9B1D5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2" name="object 15">
              <a:extLst>
                <a:ext uri="{FF2B5EF4-FFF2-40B4-BE49-F238E27FC236}">
                  <a16:creationId xmlns:a16="http://schemas.microsoft.com/office/drawing/2014/main" id="{8E97C6EF-AF08-F91D-9752-B58A93E27A65}"/>
                </a:ext>
              </a:extLst>
            </p:cNvPr>
            <p:cNvSpPr/>
            <p:nvPr/>
          </p:nvSpPr>
          <p:spPr>
            <a:xfrm>
              <a:off x="7257288" y="1363980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339F2C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3" name="object 16">
              <a:extLst>
                <a:ext uri="{FF2B5EF4-FFF2-40B4-BE49-F238E27FC236}">
                  <a16:creationId xmlns:a16="http://schemas.microsoft.com/office/drawing/2014/main" id="{31E7C1EB-3FAD-34DD-A34B-53EBEB718466}"/>
                </a:ext>
              </a:extLst>
            </p:cNvPr>
            <p:cNvSpPr/>
            <p:nvPr/>
          </p:nvSpPr>
          <p:spPr>
            <a:xfrm>
              <a:off x="8026908" y="1696212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60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60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60" y="0"/>
                  </a:lnTo>
                  <a:close/>
                </a:path>
              </a:pathLst>
            </a:custGeom>
            <a:solidFill>
              <a:srgbClr val="FA9A99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4" name="object 17">
              <a:extLst>
                <a:ext uri="{FF2B5EF4-FFF2-40B4-BE49-F238E27FC236}">
                  <a16:creationId xmlns:a16="http://schemas.microsoft.com/office/drawing/2014/main" id="{0204BA4B-4AF9-5C7B-C55B-8CB56F6DB40A}"/>
                </a:ext>
              </a:extLst>
            </p:cNvPr>
            <p:cNvSpPr/>
            <p:nvPr/>
          </p:nvSpPr>
          <p:spPr>
            <a:xfrm>
              <a:off x="8465820" y="2401824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20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FF7E0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75" name="object 18">
              <a:extLst>
                <a:ext uri="{FF2B5EF4-FFF2-40B4-BE49-F238E27FC236}">
                  <a16:creationId xmlns:a16="http://schemas.microsoft.com/office/drawing/2014/main" id="{CC42E79E-D4B0-AEBC-568F-54C7C93FAADF}"/>
                </a:ext>
              </a:extLst>
            </p:cNvPr>
            <p:cNvSpPr/>
            <p:nvPr/>
          </p:nvSpPr>
          <p:spPr>
            <a:xfrm>
              <a:off x="9425939" y="2037587"/>
              <a:ext cx="350520" cy="342900"/>
            </a:xfrm>
            <a:custGeom>
              <a:avLst/>
              <a:gdLst/>
              <a:ahLst/>
              <a:cxnLst/>
              <a:rect l="l" t="t" r="r" b="b"/>
              <a:pathLst>
                <a:path w="350520" h="342900">
                  <a:moveTo>
                    <a:pt x="175259" y="0"/>
                  </a:moveTo>
                  <a:lnTo>
                    <a:pt x="128675" y="6120"/>
                  </a:lnTo>
                  <a:lnTo>
                    <a:pt x="86811" y="23396"/>
                  </a:lnTo>
                  <a:lnTo>
                    <a:pt x="51339" y="50196"/>
                  </a:lnTo>
                  <a:lnTo>
                    <a:pt x="23932" y="84892"/>
                  </a:lnTo>
                  <a:lnTo>
                    <a:pt x="6261" y="125853"/>
                  </a:lnTo>
                  <a:lnTo>
                    <a:pt x="0" y="171450"/>
                  </a:lnTo>
                  <a:lnTo>
                    <a:pt x="6261" y="217046"/>
                  </a:lnTo>
                  <a:lnTo>
                    <a:pt x="23932" y="258007"/>
                  </a:lnTo>
                  <a:lnTo>
                    <a:pt x="51339" y="292703"/>
                  </a:lnTo>
                  <a:lnTo>
                    <a:pt x="86811" y="319503"/>
                  </a:lnTo>
                  <a:lnTo>
                    <a:pt x="128675" y="336779"/>
                  </a:lnTo>
                  <a:lnTo>
                    <a:pt x="175259" y="342900"/>
                  </a:lnTo>
                  <a:lnTo>
                    <a:pt x="221844" y="336779"/>
                  </a:lnTo>
                  <a:lnTo>
                    <a:pt x="263708" y="319503"/>
                  </a:lnTo>
                  <a:lnTo>
                    <a:pt x="299180" y="292703"/>
                  </a:lnTo>
                  <a:lnTo>
                    <a:pt x="326587" y="258007"/>
                  </a:lnTo>
                  <a:lnTo>
                    <a:pt x="344258" y="217046"/>
                  </a:lnTo>
                  <a:lnTo>
                    <a:pt x="350519" y="171450"/>
                  </a:lnTo>
                  <a:lnTo>
                    <a:pt x="344258" y="125853"/>
                  </a:lnTo>
                  <a:lnTo>
                    <a:pt x="326587" y="84892"/>
                  </a:lnTo>
                  <a:lnTo>
                    <a:pt x="299180" y="50196"/>
                  </a:lnTo>
                  <a:lnTo>
                    <a:pt x="263708" y="23396"/>
                  </a:lnTo>
                  <a:lnTo>
                    <a:pt x="221844" y="6120"/>
                  </a:lnTo>
                  <a:lnTo>
                    <a:pt x="175259" y="0"/>
                  </a:lnTo>
                  <a:close/>
                </a:path>
              </a:pathLst>
            </a:custGeom>
            <a:solidFill>
              <a:srgbClr val="A6CEE2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31945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56F8-2850-C3CA-6957-89F84825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20ED7-58D8-41FF-73C2-D43FCC947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0AFDB-D15D-F9C7-6CD4-6CED201F75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en-US" sz="2400" dirty="0"/>
              <a:t>What might visual analysis of networks reveal? </a:t>
            </a:r>
          </a:p>
        </p:txBody>
      </p:sp>
    </p:spTree>
    <p:extLst>
      <p:ext uri="{BB962C8B-B14F-4D97-AF65-F5344CB8AC3E}">
        <p14:creationId xmlns:p14="http://schemas.microsoft.com/office/powerpoint/2010/main" val="4256173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87CF1-83E1-8A4A-9340-464A7C3E4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84A61-B7BB-426E-F5BE-DE304695F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235B0D-C9B5-1AFC-D5E3-67B14A569F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Highlight communities</a:t>
            </a:r>
            <a:endParaRPr lang="en-US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C991CE5-1363-642B-96A2-F93B47C26D2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14" name="Picture 2" descr="network visualization Archives - Social Dynamics">
            <a:extLst>
              <a:ext uri="{FF2B5EF4-FFF2-40B4-BE49-F238E27FC236}">
                <a16:creationId xmlns:a16="http://schemas.microsoft.com/office/drawing/2014/main" id="{D571FE80-95EB-C300-C555-FFF348013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638" y="1205683"/>
            <a:ext cx="65024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28C277A-F3C8-8BA7-4345-68254593A72E}"/>
              </a:ext>
            </a:extLst>
          </p:cNvPr>
          <p:cNvSpPr txBox="1"/>
          <p:nvPr/>
        </p:nvSpPr>
        <p:spPr>
          <a:xfrm rot="10800000" flipV="1">
            <a:off x="110838" y="6109855"/>
            <a:ext cx="11887200" cy="748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https://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www.google.com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url?sa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i&amp;url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=http%3A%2F%2Fsocial-dynamics.org%2Ftag%2Fnetwork-visualization%2F&amp;psig=AOvVaw1csnV4he0ey3cU3srQTMiE&amp;ust=1724861687547000&amp;source=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images&amp;cd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vfe&amp;opi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=89978449&amp;ved=0CBQQjRxqFwoTCOij7NPIlYgDFQAAAAAdAAAAABA5</a:t>
            </a:r>
          </a:p>
        </p:txBody>
      </p:sp>
    </p:spTree>
    <p:extLst>
      <p:ext uri="{BB962C8B-B14F-4D97-AF65-F5344CB8AC3E}">
        <p14:creationId xmlns:p14="http://schemas.microsoft.com/office/powerpoint/2010/main" val="5745075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12624-44E0-B6E2-FC6C-46D7EB66C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DA4183-F399-D358-0589-3962AE47B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E8F27-5E9B-C6BA-D6C4-D58E08C14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Illustrate hierarchy</a:t>
            </a:r>
            <a:endParaRPr lang="en-US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3BC3023-8967-03D4-DEB3-2A34C2A270A3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Picture 2" descr="Must-Have Org Charts to Visualize Your Project Team Structure | by  SlideUpLift | Medium">
            <a:extLst>
              <a:ext uri="{FF2B5EF4-FFF2-40B4-BE49-F238E27FC236}">
                <a16:creationId xmlns:a16="http://schemas.microsoft.com/office/drawing/2014/main" id="{7D3F48BF-57DE-C1A3-EB3E-981F0EAB0D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3350" y="1677286"/>
            <a:ext cx="8054686" cy="45307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741C02-4091-A9AE-08DF-C33AB2631DB0}"/>
              </a:ext>
            </a:extLst>
          </p:cNvPr>
          <p:cNvSpPr txBox="1"/>
          <p:nvPr/>
        </p:nvSpPr>
        <p:spPr>
          <a:xfrm rot="10800000" flipV="1">
            <a:off x="-2" y="6195048"/>
            <a:ext cx="121920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https://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www.google.com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url?sa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i&amp;url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=https%3A%2F%2Fslideuplifts.medium.com%2Fmust-have-org-charts-to-visualize-your-project-team-structure-d61df5eb00f5&amp;psig=AOvVaw2MFNBDY9jaG6RGpyqTDuKD&amp;ust=1724861970547000&amp;source=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images&amp;cd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vfe&amp;opi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=89978449&amp;ved=0CBgQ3YkBahcKEwiYpfLayZWIAxUAAAAAHQAAAAAQCQ</a:t>
            </a:r>
          </a:p>
        </p:txBody>
      </p:sp>
    </p:spTree>
    <p:extLst>
      <p:ext uri="{BB962C8B-B14F-4D97-AF65-F5344CB8AC3E}">
        <p14:creationId xmlns:p14="http://schemas.microsoft.com/office/powerpoint/2010/main" val="37056160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DD80F-ECBB-313C-39BD-EA8BDF333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22D47-F7F3-6A32-BC74-645E15877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B9C89-0A24-0CE4-3EC8-33BBBA04E5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b="1" dirty="0"/>
              <a:t>Reveal outliers</a:t>
            </a:r>
            <a:endParaRPr lang="en-US" sz="2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22B3DAE-D50E-5E62-5F99-EA16E294001C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Picture 3" descr="A diagram of a political party&#10;&#10;Description automatically generated">
            <a:extLst>
              <a:ext uri="{FF2B5EF4-FFF2-40B4-BE49-F238E27FC236}">
                <a16:creationId xmlns:a16="http://schemas.microsoft.com/office/drawing/2014/main" id="{BD2B6D47-0BFA-6936-3A14-74B953406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920" y="999201"/>
            <a:ext cx="6783363" cy="550963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A160707-CF55-D512-897D-5ADBD4AE06FD}"/>
              </a:ext>
            </a:extLst>
          </p:cNvPr>
          <p:cNvSpPr txBox="1"/>
          <p:nvPr/>
        </p:nvSpPr>
        <p:spPr>
          <a:xfrm>
            <a:off x="305877" y="5142045"/>
            <a:ext cx="5524499" cy="1485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 Suh, M. Hajij, B. Wang, C. Scheidegger and P. Rosen, "Persistent Homology Guided Force-Directed Graph Layouts," in </a:t>
            </a:r>
            <a:r>
              <a:rPr lang="en-US" i="1" dirty="0"/>
              <a:t>IEEE Transactions on Visualization and Computer Graphics</a:t>
            </a:r>
            <a:r>
              <a:rPr lang="en-US" dirty="0"/>
              <a:t>, vol. 26, no. 1, pp. 697-707, Jan. 2020, </a:t>
            </a:r>
            <a:r>
              <a:rPr lang="en-US" dirty="0" err="1"/>
              <a:t>doi</a:t>
            </a:r>
            <a:r>
              <a:rPr lang="en-US" dirty="0"/>
              <a:t>: 10.1109/TVCG.2019.2934802.</a:t>
            </a:r>
          </a:p>
        </p:txBody>
      </p:sp>
    </p:spTree>
    <p:extLst>
      <p:ext uri="{BB962C8B-B14F-4D97-AF65-F5344CB8AC3E}">
        <p14:creationId xmlns:p14="http://schemas.microsoft.com/office/powerpoint/2010/main" val="15442331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D3158-CBA0-4D4D-794A-39FC6047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1B87-E46E-B113-827F-7FCDCD910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8536F-E4D1-41C1-082F-C80695723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r>
              <a:rPr lang="en-US" sz="2200" dirty="0"/>
              <a:t>There are many ways to encode and layout graph visualizations. </a:t>
            </a:r>
          </a:p>
          <a:p>
            <a:r>
              <a:rPr lang="en-US" sz="2200" dirty="0"/>
              <a:t>The correct one depends on what tasks you need to support or what features of the data need to be highlighted.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32C2226-563E-3D17-3737-ACAE7532D244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945919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48FE4-D507-AA43-D01F-9884203DE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7EA7A-E079-A29A-5B29-8DE431C19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9CF61-33E7-B019-01CA-6AF1BBD95F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Nodes are distributed in space, connected by straight or curved lines</a:t>
            </a:r>
          </a:p>
          <a:p>
            <a:pPr lvl="1"/>
            <a:r>
              <a:rPr lang="en-US" sz="2200" dirty="0"/>
              <a:t>Typical approach is to use 2D space to break apart breadth and depth</a:t>
            </a:r>
          </a:p>
          <a:p>
            <a:pPr lvl="1"/>
            <a:r>
              <a:rPr lang="en-US" sz="2200" dirty="0"/>
              <a:t>Often, position is used to communicate hierarchical orientation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72D8EF-9DFA-1F54-9796-C4473BABEDB0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grpSp>
        <p:nvGrpSpPr>
          <p:cNvPr id="4" name="object 2">
            <a:extLst>
              <a:ext uri="{FF2B5EF4-FFF2-40B4-BE49-F238E27FC236}">
                <a16:creationId xmlns:a16="http://schemas.microsoft.com/office/drawing/2014/main" id="{37D6C9DF-B004-4B16-BFAA-78DBE2CA991B}"/>
              </a:ext>
            </a:extLst>
          </p:cNvPr>
          <p:cNvGrpSpPr/>
          <p:nvPr/>
        </p:nvGrpSpPr>
        <p:grpSpPr>
          <a:xfrm>
            <a:off x="5787736" y="1924664"/>
            <a:ext cx="2220595" cy="2371090"/>
            <a:chOff x="8724900" y="1932432"/>
            <a:chExt cx="2220595" cy="2371090"/>
          </a:xfrm>
        </p:grpSpPr>
        <p:sp>
          <p:nvSpPr>
            <p:cNvPr id="5" name="object 3">
              <a:extLst>
                <a:ext uri="{FF2B5EF4-FFF2-40B4-BE49-F238E27FC236}">
                  <a16:creationId xmlns:a16="http://schemas.microsoft.com/office/drawing/2014/main" id="{DD80B701-64C9-62B4-D9C9-212134652B15}"/>
                </a:ext>
              </a:extLst>
            </p:cNvPr>
            <p:cNvSpPr/>
            <p:nvPr/>
          </p:nvSpPr>
          <p:spPr>
            <a:xfrm>
              <a:off x="8992361" y="2175510"/>
              <a:ext cx="1681480" cy="1979295"/>
            </a:xfrm>
            <a:custGeom>
              <a:avLst/>
              <a:gdLst/>
              <a:ahLst/>
              <a:cxnLst/>
              <a:rect l="l" t="t" r="r" b="b"/>
              <a:pathLst>
                <a:path w="1681479" h="1979295">
                  <a:moveTo>
                    <a:pt x="1291590" y="616585"/>
                  </a:moveTo>
                  <a:lnTo>
                    <a:pt x="649224" y="0"/>
                  </a:lnTo>
                </a:path>
                <a:path w="1681479" h="1979295">
                  <a:moveTo>
                    <a:pt x="648462" y="0"/>
                  </a:moveTo>
                  <a:lnTo>
                    <a:pt x="6096" y="616585"/>
                  </a:lnTo>
                </a:path>
                <a:path w="1681479" h="1979295">
                  <a:moveTo>
                    <a:pt x="0" y="611124"/>
                  </a:moveTo>
                  <a:lnTo>
                    <a:pt x="0" y="1868423"/>
                  </a:lnTo>
                </a:path>
                <a:path w="1681479" h="1979295">
                  <a:moveTo>
                    <a:pt x="1291590" y="615695"/>
                  </a:moveTo>
                  <a:lnTo>
                    <a:pt x="1037844" y="1979040"/>
                  </a:lnTo>
                </a:path>
                <a:path w="1681479" h="1979295">
                  <a:moveTo>
                    <a:pt x="1680972" y="1866264"/>
                  </a:moveTo>
                  <a:lnTo>
                    <a:pt x="1290828" y="615695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6" name="object 4">
              <a:extLst>
                <a:ext uri="{FF2B5EF4-FFF2-40B4-BE49-F238E27FC236}">
                  <a16:creationId xmlns:a16="http://schemas.microsoft.com/office/drawing/2014/main" id="{0B9FC6C3-7D9E-715B-245D-9FC771BE264E}"/>
                </a:ext>
              </a:extLst>
            </p:cNvPr>
            <p:cNvSpPr/>
            <p:nvPr/>
          </p:nvSpPr>
          <p:spPr>
            <a:xfrm>
              <a:off x="8724900" y="1932431"/>
              <a:ext cx="2220595" cy="2371090"/>
            </a:xfrm>
            <a:custGeom>
              <a:avLst/>
              <a:gdLst/>
              <a:ahLst/>
              <a:cxnLst/>
              <a:rect l="l" t="t" r="r" b="b"/>
              <a:pathLst>
                <a:path w="2220595" h="2371090">
                  <a:moveTo>
                    <a:pt x="525653" y="2118741"/>
                  </a:moveTo>
                  <a:lnTo>
                    <a:pt x="513334" y="2042414"/>
                  </a:lnTo>
                  <a:lnTo>
                    <a:pt x="487934" y="1988693"/>
                  </a:lnTo>
                  <a:lnTo>
                    <a:pt x="448691" y="1940687"/>
                  </a:lnTo>
                  <a:lnTo>
                    <a:pt x="398653" y="1903095"/>
                  </a:lnTo>
                  <a:lnTo>
                    <a:pt x="342519" y="1878711"/>
                  </a:lnTo>
                  <a:lnTo>
                    <a:pt x="282956" y="1867662"/>
                  </a:lnTo>
                  <a:lnTo>
                    <a:pt x="262890" y="1866900"/>
                  </a:lnTo>
                  <a:lnTo>
                    <a:pt x="202692" y="1873504"/>
                  </a:lnTo>
                  <a:lnTo>
                    <a:pt x="145161" y="1893443"/>
                  </a:lnTo>
                  <a:lnTo>
                    <a:pt x="92837" y="1926717"/>
                  </a:lnTo>
                  <a:lnTo>
                    <a:pt x="49276" y="1971929"/>
                  </a:lnTo>
                  <a:lnTo>
                    <a:pt x="19304" y="2023999"/>
                  </a:lnTo>
                  <a:lnTo>
                    <a:pt x="3048" y="2080260"/>
                  </a:lnTo>
                  <a:lnTo>
                    <a:pt x="0" y="2118741"/>
                  </a:lnTo>
                  <a:lnTo>
                    <a:pt x="762" y="2138172"/>
                  </a:lnTo>
                  <a:lnTo>
                    <a:pt x="12319" y="2195195"/>
                  </a:lnTo>
                  <a:lnTo>
                    <a:pt x="37719" y="2248916"/>
                  </a:lnTo>
                  <a:lnTo>
                    <a:pt x="76962" y="2296922"/>
                  </a:lnTo>
                  <a:lnTo>
                    <a:pt x="127000" y="2334514"/>
                  </a:lnTo>
                  <a:lnTo>
                    <a:pt x="183134" y="2358898"/>
                  </a:lnTo>
                  <a:lnTo>
                    <a:pt x="242697" y="2369947"/>
                  </a:lnTo>
                  <a:lnTo>
                    <a:pt x="262890" y="2370709"/>
                  </a:lnTo>
                  <a:lnTo>
                    <a:pt x="282956" y="2369947"/>
                  </a:lnTo>
                  <a:lnTo>
                    <a:pt x="342519" y="2358898"/>
                  </a:lnTo>
                  <a:lnTo>
                    <a:pt x="398653" y="2334514"/>
                  </a:lnTo>
                  <a:lnTo>
                    <a:pt x="448691" y="2296922"/>
                  </a:lnTo>
                  <a:lnTo>
                    <a:pt x="487934" y="2248916"/>
                  </a:lnTo>
                  <a:lnTo>
                    <a:pt x="513334" y="2195195"/>
                  </a:lnTo>
                  <a:lnTo>
                    <a:pt x="524891" y="2138172"/>
                  </a:lnTo>
                  <a:lnTo>
                    <a:pt x="525653" y="2118741"/>
                  </a:lnTo>
                  <a:close/>
                </a:path>
                <a:path w="2220595" h="2371090">
                  <a:moveTo>
                    <a:pt x="525653" y="867537"/>
                  </a:moveTo>
                  <a:lnTo>
                    <a:pt x="513334" y="791210"/>
                  </a:lnTo>
                  <a:lnTo>
                    <a:pt x="487934" y="737489"/>
                  </a:lnTo>
                  <a:lnTo>
                    <a:pt x="448691" y="689483"/>
                  </a:lnTo>
                  <a:lnTo>
                    <a:pt x="398653" y="651891"/>
                  </a:lnTo>
                  <a:lnTo>
                    <a:pt x="342519" y="627507"/>
                  </a:lnTo>
                  <a:lnTo>
                    <a:pt x="282956" y="616458"/>
                  </a:lnTo>
                  <a:lnTo>
                    <a:pt x="262890" y="615696"/>
                  </a:lnTo>
                  <a:lnTo>
                    <a:pt x="202692" y="622300"/>
                  </a:lnTo>
                  <a:lnTo>
                    <a:pt x="145161" y="642239"/>
                  </a:lnTo>
                  <a:lnTo>
                    <a:pt x="92837" y="675513"/>
                  </a:lnTo>
                  <a:lnTo>
                    <a:pt x="49276" y="720725"/>
                  </a:lnTo>
                  <a:lnTo>
                    <a:pt x="19304" y="772795"/>
                  </a:lnTo>
                  <a:lnTo>
                    <a:pt x="3048" y="829056"/>
                  </a:lnTo>
                  <a:lnTo>
                    <a:pt x="0" y="867537"/>
                  </a:lnTo>
                  <a:lnTo>
                    <a:pt x="762" y="886968"/>
                  </a:lnTo>
                  <a:lnTo>
                    <a:pt x="12319" y="943991"/>
                  </a:lnTo>
                  <a:lnTo>
                    <a:pt x="37719" y="997712"/>
                  </a:lnTo>
                  <a:lnTo>
                    <a:pt x="76962" y="1045718"/>
                  </a:lnTo>
                  <a:lnTo>
                    <a:pt x="127000" y="1083310"/>
                  </a:lnTo>
                  <a:lnTo>
                    <a:pt x="183134" y="1107694"/>
                  </a:lnTo>
                  <a:lnTo>
                    <a:pt x="242697" y="1118743"/>
                  </a:lnTo>
                  <a:lnTo>
                    <a:pt x="262890" y="1119505"/>
                  </a:lnTo>
                  <a:lnTo>
                    <a:pt x="282956" y="1118743"/>
                  </a:lnTo>
                  <a:lnTo>
                    <a:pt x="342519" y="1107694"/>
                  </a:lnTo>
                  <a:lnTo>
                    <a:pt x="398653" y="1083310"/>
                  </a:lnTo>
                  <a:lnTo>
                    <a:pt x="448691" y="1045718"/>
                  </a:lnTo>
                  <a:lnTo>
                    <a:pt x="487934" y="997712"/>
                  </a:lnTo>
                  <a:lnTo>
                    <a:pt x="513334" y="943991"/>
                  </a:lnTo>
                  <a:lnTo>
                    <a:pt x="524891" y="886968"/>
                  </a:lnTo>
                  <a:lnTo>
                    <a:pt x="525653" y="867537"/>
                  </a:lnTo>
                  <a:close/>
                </a:path>
                <a:path w="2220595" h="2371090">
                  <a:moveTo>
                    <a:pt x="1187069" y="251841"/>
                  </a:moveTo>
                  <a:lnTo>
                    <a:pt x="1174750" y="175514"/>
                  </a:lnTo>
                  <a:lnTo>
                    <a:pt x="1149350" y="121793"/>
                  </a:lnTo>
                  <a:lnTo>
                    <a:pt x="1110107" y="73787"/>
                  </a:lnTo>
                  <a:lnTo>
                    <a:pt x="1060069" y="36195"/>
                  </a:lnTo>
                  <a:lnTo>
                    <a:pt x="1003935" y="11811"/>
                  </a:lnTo>
                  <a:lnTo>
                    <a:pt x="944372" y="762"/>
                  </a:lnTo>
                  <a:lnTo>
                    <a:pt x="924306" y="0"/>
                  </a:lnTo>
                  <a:lnTo>
                    <a:pt x="864108" y="6604"/>
                  </a:lnTo>
                  <a:lnTo>
                    <a:pt x="806577" y="26543"/>
                  </a:lnTo>
                  <a:lnTo>
                    <a:pt x="754253" y="59817"/>
                  </a:lnTo>
                  <a:lnTo>
                    <a:pt x="710692" y="105029"/>
                  </a:lnTo>
                  <a:lnTo>
                    <a:pt x="680720" y="157099"/>
                  </a:lnTo>
                  <a:lnTo>
                    <a:pt x="664464" y="213360"/>
                  </a:lnTo>
                  <a:lnTo>
                    <a:pt x="661416" y="251841"/>
                  </a:lnTo>
                  <a:lnTo>
                    <a:pt x="662178" y="271272"/>
                  </a:lnTo>
                  <a:lnTo>
                    <a:pt x="673735" y="328295"/>
                  </a:lnTo>
                  <a:lnTo>
                    <a:pt x="699135" y="382016"/>
                  </a:lnTo>
                  <a:lnTo>
                    <a:pt x="738378" y="430022"/>
                  </a:lnTo>
                  <a:lnTo>
                    <a:pt x="788416" y="467614"/>
                  </a:lnTo>
                  <a:lnTo>
                    <a:pt x="844550" y="491998"/>
                  </a:lnTo>
                  <a:lnTo>
                    <a:pt x="904113" y="503047"/>
                  </a:lnTo>
                  <a:lnTo>
                    <a:pt x="924306" y="503809"/>
                  </a:lnTo>
                  <a:lnTo>
                    <a:pt x="944372" y="503047"/>
                  </a:lnTo>
                  <a:lnTo>
                    <a:pt x="1003935" y="491998"/>
                  </a:lnTo>
                  <a:lnTo>
                    <a:pt x="1060069" y="467614"/>
                  </a:lnTo>
                  <a:lnTo>
                    <a:pt x="1110107" y="430022"/>
                  </a:lnTo>
                  <a:lnTo>
                    <a:pt x="1149350" y="382016"/>
                  </a:lnTo>
                  <a:lnTo>
                    <a:pt x="1174750" y="328295"/>
                  </a:lnTo>
                  <a:lnTo>
                    <a:pt x="1186307" y="271272"/>
                  </a:lnTo>
                  <a:lnTo>
                    <a:pt x="1187069" y="251841"/>
                  </a:lnTo>
                  <a:close/>
                </a:path>
                <a:path w="2220595" h="2371090">
                  <a:moveTo>
                    <a:pt x="1577213" y="2118741"/>
                  </a:moveTo>
                  <a:lnTo>
                    <a:pt x="1564894" y="2042414"/>
                  </a:lnTo>
                  <a:lnTo>
                    <a:pt x="1539494" y="1988693"/>
                  </a:lnTo>
                  <a:lnTo>
                    <a:pt x="1500251" y="1940687"/>
                  </a:lnTo>
                  <a:lnTo>
                    <a:pt x="1450213" y="1903095"/>
                  </a:lnTo>
                  <a:lnTo>
                    <a:pt x="1394079" y="1878711"/>
                  </a:lnTo>
                  <a:lnTo>
                    <a:pt x="1334516" y="1867662"/>
                  </a:lnTo>
                  <a:lnTo>
                    <a:pt x="1314450" y="1866900"/>
                  </a:lnTo>
                  <a:lnTo>
                    <a:pt x="1254252" y="1873504"/>
                  </a:lnTo>
                  <a:lnTo>
                    <a:pt x="1196721" y="1893443"/>
                  </a:lnTo>
                  <a:lnTo>
                    <a:pt x="1144397" y="1926717"/>
                  </a:lnTo>
                  <a:lnTo>
                    <a:pt x="1100836" y="1971929"/>
                  </a:lnTo>
                  <a:lnTo>
                    <a:pt x="1070864" y="2023999"/>
                  </a:lnTo>
                  <a:lnTo>
                    <a:pt x="1054608" y="2080260"/>
                  </a:lnTo>
                  <a:lnTo>
                    <a:pt x="1051560" y="2118741"/>
                  </a:lnTo>
                  <a:lnTo>
                    <a:pt x="1052322" y="2138172"/>
                  </a:lnTo>
                  <a:lnTo>
                    <a:pt x="1063879" y="2195195"/>
                  </a:lnTo>
                  <a:lnTo>
                    <a:pt x="1089279" y="2248916"/>
                  </a:lnTo>
                  <a:lnTo>
                    <a:pt x="1128522" y="2296922"/>
                  </a:lnTo>
                  <a:lnTo>
                    <a:pt x="1178560" y="2334514"/>
                  </a:lnTo>
                  <a:lnTo>
                    <a:pt x="1234694" y="2358898"/>
                  </a:lnTo>
                  <a:lnTo>
                    <a:pt x="1294257" y="2369947"/>
                  </a:lnTo>
                  <a:lnTo>
                    <a:pt x="1314450" y="2370709"/>
                  </a:lnTo>
                  <a:lnTo>
                    <a:pt x="1334516" y="2369947"/>
                  </a:lnTo>
                  <a:lnTo>
                    <a:pt x="1394079" y="2358898"/>
                  </a:lnTo>
                  <a:lnTo>
                    <a:pt x="1450213" y="2334514"/>
                  </a:lnTo>
                  <a:lnTo>
                    <a:pt x="1500251" y="2296922"/>
                  </a:lnTo>
                  <a:lnTo>
                    <a:pt x="1539494" y="2248916"/>
                  </a:lnTo>
                  <a:lnTo>
                    <a:pt x="1564894" y="2195195"/>
                  </a:lnTo>
                  <a:lnTo>
                    <a:pt x="1576451" y="2138172"/>
                  </a:lnTo>
                  <a:lnTo>
                    <a:pt x="1577213" y="2118741"/>
                  </a:lnTo>
                  <a:close/>
                </a:path>
                <a:path w="2220595" h="2371090">
                  <a:moveTo>
                    <a:pt x="1830197" y="867537"/>
                  </a:moveTo>
                  <a:lnTo>
                    <a:pt x="1817878" y="791210"/>
                  </a:lnTo>
                  <a:lnTo>
                    <a:pt x="1792478" y="737489"/>
                  </a:lnTo>
                  <a:lnTo>
                    <a:pt x="1753235" y="689483"/>
                  </a:lnTo>
                  <a:lnTo>
                    <a:pt x="1703197" y="651891"/>
                  </a:lnTo>
                  <a:lnTo>
                    <a:pt x="1647063" y="627507"/>
                  </a:lnTo>
                  <a:lnTo>
                    <a:pt x="1587500" y="616458"/>
                  </a:lnTo>
                  <a:lnTo>
                    <a:pt x="1567434" y="615696"/>
                  </a:lnTo>
                  <a:lnTo>
                    <a:pt x="1507236" y="622300"/>
                  </a:lnTo>
                  <a:lnTo>
                    <a:pt x="1449705" y="642239"/>
                  </a:lnTo>
                  <a:lnTo>
                    <a:pt x="1397381" y="675513"/>
                  </a:lnTo>
                  <a:lnTo>
                    <a:pt x="1353820" y="720725"/>
                  </a:lnTo>
                  <a:lnTo>
                    <a:pt x="1323848" y="772795"/>
                  </a:lnTo>
                  <a:lnTo>
                    <a:pt x="1307592" y="829056"/>
                  </a:lnTo>
                  <a:lnTo>
                    <a:pt x="1304544" y="867537"/>
                  </a:lnTo>
                  <a:lnTo>
                    <a:pt x="1305306" y="886968"/>
                  </a:lnTo>
                  <a:lnTo>
                    <a:pt x="1316863" y="943991"/>
                  </a:lnTo>
                  <a:lnTo>
                    <a:pt x="1342263" y="997712"/>
                  </a:lnTo>
                  <a:lnTo>
                    <a:pt x="1381506" y="1045718"/>
                  </a:lnTo>
                  <a:lnTo>
                    <a:pt x="1431544" y="1083310"/>
                  </a:lnTo>
                  <a:lnTo>
                    <a:pt x="1487678" y="1107694"/>
                  </a:lnTo>
                  <a:lnTo>
                    <a:pt x="1547241" y="1118743"/>
                  </a:lnTo>
                  <a:lnTo>
                    <a:pt x="1567434" y="1119505"/>
                  </a:lnTo>
                  <a:lnTo>
                    <a:pt x="1587500" y="1118743"/>
                  </a:lnTo>
                  <a:lnTo>
                    <a:pt x="1647063" y="1107694"/>
                  </a:lnTo>
                  <a:lnTo>
                    <a:pt x="1703197" y="1083310"/>
                  </a:lnTo>
                  <a:lnTo>
                    <a:pt x="1753235" y="1045718"/>
                  </a:lnTo>
                  <a:lnTo>
                    <a:pt x="1792478" y="997712"/>
                  </a:lnTo>
                  <a:lnTo>
                    <a:pt x="1817878" y="943991"/>
                  </a:lnTo>
                  <a:lnTo>
                    <a:pt x="1829435" y="886968"/>
                  </a:lnTo>
                  <a:lnTo>
                    <a:pt x="1830197" y="867537"/>
                  </a:lnTo>
                  <a:close/>
                </a:path>
                <a:path w="2220595" h="2371090">
                  <a:moveTo>
                    <a:pt x="2220341" y="2118741"/>
                  </a:moveTo>
                  <a:lnTo>
                    <a:pt x="2208022" y="2042414"/>
                  </a:lnTo>
                  <a:lnTo>
                    <a:pt x="2182622" y="1988693"/>
                  </a:lnTo>
                  <a:lnTo>
                    <a:pt x="2143379" y="1940687"/>
                  </a:lnTo>
                  <a:lnTo>
                    <a:pt x="2093341" y="1903095"/>
                  </a:lnTo>
                  <a:lnTo>
                    <a:pt x="2037207" y="1878711"/>
                  </a:lnTo>
                  <a:lnTo>
                    <a:pt x="1977644" y="1867662"/>
                  </a:lnTo>
                  <a:lnTo>
                    <a:pt x="1957578" y="1866900"/>
                  </a:lnTo>
                  <a:lnTo>
                    <a:pt x="1897380" y="1873504"/>
                  </a:lnTo>
                  <a:lnTo>
                    <a:pt x="1839849" y="1893443"/>
                  </a:lnTo>
                  <a:lnTo>
                    <a:pt x="1787525" y="1926717"/>
                  </a:lnTo>
                  <a:lnTo>
                    <a:pt x="1743964" y="1971929"/>
                  </a:lnTo>
                  <a:lnTo>
                    <a:pt x="1713992" y="2023999"/>
                  </a:lnTo>
                  <a:lnTo>
                    <a:pt x="1697736" y="2080260"/>
                  </a:lnTo>
                  <a:lnTo>
                    <a:pt x="1694688" y="2118741"/>
                  </a:lnTo>
                  <a:lnTo>
                    <a:pt x="1695450" y="2138172"/>
                  </a:lnTo>
                  <a:lnTo>
                    <a:pt x="1707007" y="2195195"/>
                  </a:lnTo>
                  <a:lnTo>
                    <a:pt x="1732407" y="2248916"/>
                  </a:lnTo>
                  <a:lnTo>
                    <a:pt x="1771650" y="2296922"/>
                  </a:lnTo>
                  <a:lnTo>
                    <a:pt x="1821688" y="2334514"/>
                  </a:lnTo>
                  <a:lnTo>
                    <a:pt x="1877822" y="2358898"/>
                  </a:lnTo>
                  <a:lnTo>
                    <a:pt x="1937385" y="2369947"/>
                  </a:lnTo>
                  <a:lnTo>
                    <a:pt x="1957578" y="2370709"/>
                  </a:lnTo>
                  <a:lnTo>
                    <a:pt x="1977644" y="2369947"/>
                  </a:lnTo>
                  <a:lnTo>
                    <a:pt x="2037207" y="2358898"/>
                  </a:lnTo>
                  <a:lnTo>
                    <a:pt x="2093341" y="2334514"/>
                  </a:lnTo>
                  <a:lnTo>
                    <a:pt x="2143379" y="2296922"/>
                  </a:lnTo>
                  <a:lnTo>
                    <a:pt x="2182622" y="2248916"/>
                  </a:lnTo>
                  <a:lnTo>
                    <a:pt x="2208022" y="2195195"/>
                  </a:lnTo>
                  <a:lnTo>
                    <a:pt x="2219579" y="2138172"/>
                  </a:lnTo>
                  <a:lnTo>
                    <a:pt x="2220341" y="2118741"/>
                  </a:lnTo>
                  <a:close/>
                </a:path>
              </a:pathLst>
            </a:custGeom>
            <a:solidFill>
              <a:srgbClr val="EDC2C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pic>
        <p:nvPicPr>
          <p:cNvPr id="7" name="object 7">
            <a:extLst>
              <a:ext uri="{FF2B5EF4-FFF2-40B4-BE49-F238E27FC236}">
                <a16:creationId xmlns:a16="http://schemas.microsoft.com/office/drawing/2014/main" id="{CE0AB079-36E1-3CC3-E825-0E917691DC8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623961" y="4611577"/>
            <a:ext cx="7185952" cy="203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061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A7CB9-1AF8-FFA9-954D-EF7E2F7E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47056-8DA5-A2EB-8024-C7F27568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0E86F-6F6E-227F-E45E-1BBF9A62ED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Algorithms, such as the Reingold-Tilford algorithm, efficiently calculate optimal layout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89E1C5B-D265-0563-B779-2EDD01B9B54A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8" name="object 2">
            <a:extLst>
              <a:ext uri="{FF2B5EF4-FFF2-40B4-BE49-F238E27FC236}">
                <a16:creationId xmlns:a16="http://schemas.microsoft.com/office/drawing/2014/main" id="{377AB0CD-AB01-E003-D138-9CF7B80D57E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569527" y="91440"/>
            <a:ext cx="3125458" cy="6675120"/>
          </a:xfrm>
          <a:prstGeom prst="rect">
            <a:avLst/>
          </a:prstGeom>
        </p:spPr>
      </p:pic>
      <p:grpSp>
        <p:nvGrpSpPr>
          <p:cNvPr id="9" name="object 3">
            <a:extLst>
              <a:ext uri="{FF2B5EF4-FFF2-40B4-BE49-F238E27FC236}">
                <a16:creationId xmlns:a16="http://schemas.microsoft.com/office/drawing/2014/main" id="{9676C301-1B11-E2C5-AF80-20AA156497A9}"/>
              </a:ext>
            </a:extLst>
          </p:cNvPr>
          <p:cNvGrpSpPr/>
          <p:nvPr/>
        </p:nvGrpSpPr>
        <p:grpSpPr>
          <a:xfrm>
            <a:off x="8694985" y="702156"/>
            <a:ext cx="3323362" cy="4439889"/>
            <a:chOff x="3926676" y="1395422"/>
            <a:chExt cx="8201659" cy="5462905"/>
          </a:xfrm>
        </p:grpSpPr>
        <p:pic>
          <p:nvPicPr>
            <p:cNvPr id="10" name="object 4">
              <a:extLst>
                <a:ext uri="{FF2B5EF4-FFF2-40B4-BE49-F238E27FC236}">
                  <a16:creationId xmlns:a16="http://schemas.microsoft.com/office/drawing/2014/main" id="{AC60FDEE-5D56-479B-7135-CF6EC37ED89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6676" y="1395422"/>
              <a:ext cx="8201250" cy="5462574"/>
            </a:xfrm>
            <a:prstGeom prst="rect">
              <a:avLst/>
            </a:prstGeom>
          </p:spPr>
        </p:pic>
        <p:sp>
          <p:nvSpPr>
            <p:cNvPr id="11" name="object 5">
              <a:extLst>
                <a:ext uri="{FF2B5EF4-FFF2-40B4-BE49-F238E27FC236}">
                  <a16:creationId xmlns:a16="http://schemas.microsoft.com/office/drawing/2014/main" id="{6FDE43AF-0D85-FC47-32E4-B4F4D2D2FB2D}"/>
                </a:ext>
              </a:extLst>
            </p:cNvPr>
            <p:cNvSpPr/>
            <p:nvPr/>
          </p:nvSpPr>
          <p:spPr>
            <a:xfrm>
              <a:off x="7057644" y="6644639"/>
              <a:ext cx="1818639" cy="213360"/>
            </a:xfrm>
            <a:custGeom>
              <a:avLst/>
              <a:gdLst/>
              <a:ahLst/>
              <a:cxnLst/>
              <a:rect l="l" t="t" r="r" b="b"/>
              <a:pathLst>
                <a:path w="1818640" h="213359">
                  <a:moveTo>
                    <a:pt x="1818131" y="0"/>
                  </a:moveTo>
                  <a:lnTo>
                    <a:pt x="0" y="0"/>
                  </a:lnTo>
                  <a:lnTo>
                    <a:pt x="0" y="213359"/>
                  </a:lnTo>
                  <a:lnTo>
                    <a:pt x="1818131" y="213359"/>
                  </a:lnTo>
                  <a:lnTo>
                    <a:pt x="181813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5371FF91-EB16-A006-64C0-39BD86E8E276}"/>
              </a:ext>
            </a:extLst>
          </p:cNvPr>
          <p:cNvSpPr txBox="1"/>
          <p:nvPr/>
        </p:nvSpPr>
        <p:spPr>
          <a:xfrm>
            <a:off x="185329" y="63233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1000" marR="43815" lvl="0" indent="-368935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sng" strike="noStrike" kern="1200" cap="none" spc="-1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>
                  <a:solidFill>
                    <a:srgbClr val="0462C1"/>
                  </a:solidFill>
                </a:uFill>
                <a:latin typeface="Arial"/>
                <a:ea typeface="+mn-ea"/>
                <a:cs typeface="Arial"/>
                <a:hlinkClick r:id="rId4"/>
              </a:rPr>
              <a:t>https://bl.ocks.org/mbostock/4339184</a:t>
            </a:r>
            <a:r>
              <a:rPr kumimoji="0" lang="en-US" sz="1800" b="0" i="0" u="none" strike="noStrike" kern="1200" cap="none" spc="500" normalizeH="0" baseline="0" noProof="0" dirty="0">
                <a:ln>
                  <a:noFill/>
                </a:ln>
                <a:solidFill>
                  <a:srgbClr val="0462C1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9823659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93E4C-3E83-FB64-CE34-C073C3B15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7933DA-2499-2538-4E45-2CA5057CE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2F1B36-93BB-1CE6-161D-19EA86991D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Layout can also be radial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2936FAB-F6A8-F520-58D9-0C097F6FE90A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9376E05-4802-8EA5-CDF1-945E1D329E33}"/>
              </a:ext>
            </a:extLst>
          </p:cNvPr>
          <p:cNvSpPr txBox="1"/>
          <p:nvPr/>
        </p:nvSpPr>
        <p:spPr>
          <a:xfrm>
            <a:off x="185329" y="632333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lvl="0">
              <a:spcBef>
                <a:spcPts val="100"/>
              </a:spcBef>
              <a:defRPr/>
            </a:pPr>
            <a:r>
              <a:rPr lang="en-US" u="sng" spc="-10" dirty="0">
                <a:solidFill>
                  <a:srgbClr val="944F71"/>
                </a:solidFill>
                <a:uFill>
                  <a:solidFill>
                    <a:srgbClr val="944F71"/>
                  </a:solidFill>
                </a:uFill>
                <a:latin typeface="Arial"/>
                <a:cs typeface="Arial"/>
                <a:hlinkClick r:id="rId2"/>
              </a:rPr>
              <a:t>https://bl.ocks.org/mbostock/4063550</a:t>
            </a:r>
            <a:endParaRPr lang="en-US" dirty="0">
              <a:solidFill>
                <a:srgbClr val="2F2B20"/>
              </a:solidFill>
              <a:latin typeface="Arial"/>
              <a:cs typeface="Arial"/>
            </a:endParaRPr>
          </a:p>
        </p:txBody>
      </p:sp>
      <p:pic>
        <p:nvPicPr>
          <p:cNvPr id="4" name="object 2">
            <a:extLst>
              <a:ext uri="{FF2B5EF4-FFF2-40B4-BE49-F238E27FC236}">
                <a16:creationId xmlns:a16="http://schemas.microsoft.com/office/drawing/2014/main" id="{0DAF9070-E1CE-8C3F-FF44-4CFBE5F08A4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5448" y="125462"/>
            <a:ext cx="5684684" cy="6352186"/>
          </a:xfrm>
          <a:prstGeom prst="rect">
            <a:avLst/>
          </a:prstGeom>
        </p:spPr>
      </p:pic>
      <p:sp>
        <p:nvSpPr>
          <p:cNvPr id="14" name="object 4">
            <a:extLst>
              <a:ext uri="{FF2B5EF4-FFF2-40B4-BE49-F238E27FC236}">
                <a16:creationId xmlns:a16="http://schemas.microsoft.com/office/drawing/2014/main" id="{579E0264-5C34-EC30-0876-A88AE8736D1F}"/>
              </a:ext>
            </a:extLst>
          </p:cNvPr>
          <p:cNvSpPr txBox="1"/>
          <p:nvPr/>
        </p:nvSpPr>
        <p:spPr>
          <a:xfrm>
            <a:off x="9461499" y="125462"/>
            <a:ext cx="2730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sng" strike="noStrike" kern="1200" cap="none" spc="-10" normalizeH="0" baseline="0" noProof="0" dirty="0">
                <a:ln>
                  <a:noFill/>
                </a:ln>
                <a:solidFill>
                  <a:srgbClr val="944F71"/>
                </a:solidFill>
                <a:effectLst/>
                <a:uLnTx/>
                <a:uFill>
                  <a:solidFill>
                    <a:srgbClr val="944F71"/>
                  </a:solidFill>
                </a:uFill>
                <a:latin typeface="Arial"/>
                <a:ea typeface="+mn-ea"/>
                <a:cs typeface="Arial"/>
                <a:hlinkClick r:id="rId2"/>
              </a:rPr>
              <a:t>https://bl.ocks.org/mbostock/4063550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475462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014C97-98C6-67C1-23E4-915CED744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2D09D-01F5-813A-23CE-457EA63A4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D2BB4C-F73E-AADB-B4F1-891F981862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24408" cy="4428122"/>
          </a:xfrm>
        </p:spPr>
        <p:txBody>
          <a:bodyPr anchor="t">
            <a:normAutofit fontScale="62500" lnSpcReduction="20000"/>
          </a:bodyPr>
          <a:lstStyle/>
          <a:p>
            <a:r>
              <a:rPr lang="en-US" sz="3100" b="1" dirty="0"/>
              <a:t>Node-link tree diagrams</a:t>
            </a:r>
          </a:p>
          <a:p>
            <a:pPr lvl="1"/>
            <a:r>
              <a:rPr lang="en-US" sz="3100" dirty="0"/>
              <a:t>Reingold-Tilford algorithm</a:t>
            </a:r>
          </a:p>
          <a:p>
            <a:pPr lvl="2"/>
            <a:r>
              <a:rPr lang="en-US" sz="3100" dirty="0"/>
              <a:t>Bottom-up recursive approach</a:t>
            </a:r>
          </a:p>
          <a:p>
            <a:pPr lvl="3"/>
            <a:r>
              <a:rPr lang="en-US" sz="3100" dirty="0"/>
              <a:t>Repeatedly divide space by leaf count</a:t>
            </a:r>
          </a:p>
          <a:p>
            <a:pPr lvl="2"/>
            <a:r>
              <a:rPr lang="en-US" sz="3100" dirty="0"/>
              <a:t>For each parent, make sure subtrees are drawn</a:t>
            </a:r>
          </a:p>
          <a:p>
            <a:pPr lvl="2"/>
            <a:r>
              <a:rPr lang="en-US" sz="3100" dirty="0"/>
              <a:t>Make smarter use of space</a:t>
            </a:r>
          </a:p>
          <a:p>
            <a:pPr lvl="3"/>
            <a:r>
              <a:rPr lang="en-US" sz="3100" dirty="0"/>
              <a:t>Maximize density and symmetry</a:t>
            </a:r>
          </a:p>
          <a:p>
            <a:pPr lvl="3"/>
            <a:r>
              <a:rPr lang="en-US" sz="3100" dirty="0"/>
              <a:t>Clearly encode depth level</a:t>
            </a:r>
          </a:p>
          <a:p>
            <a:pPr lvl="3"/>
            <a:r>
              <a:rPr lang="en-US" sz="3100" dirty="0"/>
              <a:t>No edge crossings</a:t>
            </a:r>
          </a:p>
          <a:p>
            <a:pPr lvl="3"/>
            <a:r>
              <a:rPr lang="en-US" sz="3100" dirty="0"/>
              <a:t>Pack subtrees as closely as possible</a:t>
            </a:r>
          </a:p>
          <a:p>
            <a:pPr lvl="3"/>
            <a:r>
              <a:rPr lang="en-US" sz="3100" dirty="0"/>
              <a:t>Centers parent over subtrees</a:t>
            </a:r>
          </a:p>
          <a:p>
            <a:pPr lvl="2"/>
            <a:endParaRPr lang="en-US" sz="2000" dirty="0"/>
          </a:p>
          <a:p>
            <a:endParaRPr lang="en-US" sz="2200" b="1" dirty="0"/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351F3759-E51F-C559-197B-191FDC6CEE33}"/>
              </a:ext>
            </a:extLst>
          </p:cNvPr>
          <p:cNvGrpSpPr/>
          <p:nvPr/>
        </p:nvGrpSpPr>
        <p:grpSpPr>
          <a:xfrm>
            <a:off x="6917293" y="2081983"/>
            <a:ext cx="3886200" cy="3886200"/>
            <a:chOff x="8081771" y="2339339"/>
            <a:chExt cx="3886200" cy="3886200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0B746C39-3B72-2504-DBEC-A5461A44CA0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081771" y="4777739"/>
              <a:ext cx="228600" cy="228600"/>
            </a:xfrm>
            <a:prstGeom prst="rect">
              <a:avLst/>
            </a:prstGeom>
          </p:spPr>
        </p:pic>
        <p:pic>
          <p:nvPicPr>
            <p:cNvPr id="6" name="object 6">
              <a:extLst>
                <a:ext uri="{FF2B5EF4-FFF2-40B4-BE49-F238E27FC236}">
                  <a16:creationId xmlns:a16="http://schemas.microsoft.com/office/drawing/2014/main" id="{F81F490A-B283-99A0-3A2E-7296F43D559A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79" y="4777739"/>
              <a:ext cx="228600" cy="228600"/>
            </a:xfrm>
            <a:prstGeom prst="rect">
              <a:avLst/>
            </a:prstGeom>
          </p:spPr>
        </p:pic>
        <p:pic>
          <p:nvPicPr>
            <p:cNvPr id="7" name="object 7">
              <a:extLst>
                <a:ext uri="{FF2B5EF4-FFF2-40B4-BE49-F238E27FC236}">
                  <a16:creationId xmlns:a16="http://schemas.microsoft.com/office/drawing/2014/main" id="{0E04F545-28BC-565B-9EAA-5F72D296337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4168139"/>
              <a:ext cx="228600" cy="228600"/>
            </a:xfrm>
            <a:prstGeom prst="rect">
              <a:avLst/>
            </a:prstGeom>
          </p:spPr>
        </p:pic>
        <p:pic>
          <p:nvPicPr>
            <p:cNvPr id="12" name="object 8">
              <a:extLst>
                <a:ext uri="{FF2B5EF4-FFF2-40B4-BE49-F238E27FC236}">
                  <a16:creationId xmlns:a16="http://schemas.microsoft.com/office/drawing/2014/main" id="{5B56378C-A58C-6CE0-41D6-A8268231E84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3558539"/>
              <a:ext cx="228600" cy="228600"/>
            </a:xfrm>
            <a:prstGeom prst="rect">
              <a:avLst/>
            </a:prstGeom>
          </p:spPr>
        </p:pic>
        <p:pic>
          <p:nvPicPr>
            <p:cNvPr id="14" name="object 9">
              <a:extLst>
                <a:ext uri="{FF2B5EF4-FFF2-40B4-BE49-F238E27FC236}">
                  <a16:creationId xmlns:a16="http://schemas.microsoft.com/office/drawing/2014/main" id="{84FCCFA3-4C85-5FBB-1148-00B18222F09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10571" y="2339339"/>
              <a:ext cx="228600" cy="228600"/>
            </a:xfrm>
            <a:prstGeom prst="rect">
              <a:avLst/>
            </a:prstGeom>
          </p:spPr>
        </p:pic>
        <p:pic>
          <p:nvPicPr>
            <p:cNvPr id="15" name="object 10">
              <a:extLst>
                <a:ext uri="{FF2B5EF4-FFF2-40B4-BE49-F238E27FC236}">
                  <a16:creationId xmlns:a16="http://schemas.microsoft.com/office/drawing/2014/main" id="{C6AE5D85-BE8A-7EA1-3CC3-0C259A092E6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2948939"/>
              <a:ext cx="228600" cy="228600"/>
            </a:xfrm>
            <a:prstGeom prst="rect">
              <a:avLst/>
            </a:prstGeom>
          </p:spPr>
        </p:pic>
        <p:sp>
          <p:nvSpPr>
            <p:cNvPr id="16" name="object 11">
              <a:extLst>
                <a:ext uri="{FF2B5EF4-FFF2-40B4-BE49-F238E27FC236}">
                  <a16:creationId xmlns:a16="http://schemas.microsoft.com/office/drawing/2014/main" id="{4B39400D-FE71-2809-B04D-FEDDE2783018}"/>
                </a:ext>
              </a:extLst>
            </p:cNvPr>
            <p:cNvSpPr/>
            <p:nvPr/>
          </p:nvSpPr>
          <p:spPr>
            <a:xfrm>
              <a:off x="9496043" y="253441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09" h="448310">
                  <a:moveTo>
                    <a:pt x="447928" y="0"/>
                  </a:moveTo>
                  <a:lnTo>
                    <a:pt x="0" y="4479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17" name="object 12">
              <a:extLst>
                <a:ext uri="{FF2B5EF4-FFF2-40B4-BE49-F238E27FC236}">
                  <a16:creationId xmlns:a16="http://schemas.microsoft.com/office/drawing/2014/main" id="{8379ADC3-3872-3FD2-F0D7-FA9E4F862AD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3558539"/>
              <a:ext cx="228600" cy="228600"/>
            </a:xfrm>
            <a:prstGeom prst="rect">
              <a:avLst/>
            </a:prstGeom>
          </p:spPr>
        </p:pic>
        <p:sp>
          <p:nvSpPr>
            <p:cNvPr id="18" name="object 13">
              <a:extLst>
                <a:ext uri="{FF2B5EF4-FFF2-40B4-BE49-F238E27FC236}">
                  <a16:creationId xmlns:a16="http://schemas.microsoft.com/office/drawing/2014/main" id="{EAA44484-7029-9BFE-3170-07975AE0E74A}"/>
                </a:ext>
              </a:extLst>
            </p:cNvPr>
            <p:cNvSpPr/>
            <p:nvPr/>
          </p:nvSpPr>
          <p:spPr>
            <a:xfrm>
              <a:off x="9415271" y="3177539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19" name="object 14">
              <a:extLst>
                <a:ext uri="{FF2B5EF4-FFF2-40B4-BE49-F238E27FC236}">
                  <a16:creationId xmlns:a16="http://schemas.microsoft.com/office/drawing/2014/main" id="{765A2414-A5CB-4461-A21A-B81ED4E5AC9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707879" y="3558539"/>
              <a:ext cx="228600" cy="228600"/>
            </a:xfrm>
            <a:prstGeom prst="rect">
              <a:avLst/>
            </a:prstGeom>
          </p:spPr>
        </p:pic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E545CDF1-A69A-FE05-6E7A-4D5908BCE659}"/>
                </a:ext>
              </a:extLst>
            </p:cNvPr>
            <p:cNvSpPr/>
            <p:nvPr/>
          </p:nvSpPr>
          <p:spPr>
            <a:xfrm>
              <a:off x="9496043" y="31440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44792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1" name="object 16">
              <a:extLst>
                <a:ext uri="{FF2B5EF4-FFF2-40B4-BE49-F238E27FC236}">
                  <a16:creationId xmlns:a16="http://schemas.microsoft.com/office/drawing/2014/main" id="{46EA49E3-C088-DE10-6013-2CEE2928448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4168139"/>
              <a:ext cx="228600" cy="228600"/>
            </a:xfrm>
            <a:prstGeom prst="rect">
              <a:avLst/>
            </a:prstGeom>
          </p:spPr>
        </p:pic>
        <p:sp>
          <p:nvSpPr>
            <p:cNvPr id="22" name="object 17">
              <a:extLst>
                <a:ext uri="{FF2B5EF4-FFF2-40B4-BE49-F238E27FC236}">
                  <a16:creationId xmlns:a16="http://schemas.microsoft.com/office/drawing/2014/main" id="{81656829-9223-4C4B-F32F-4E07FFC96C0A}"/>
                </a:ext>
              </a:extLst>
            </p:cNvPr>
            <p:cNvSpPr/>
            <p:nvPr/>
          </p:nvSpPr>
          <p:spPr>
            <a:xfrm>
              <a:off x="9009887" y="3753611"/>
              <a:ext cx="325755" cy="448309"/>
            </a:xfrm>
            <a:custGeom>
              <a:avLst/>
              <a:gdLst/>
              <a:ahLst/>
              <a:cxnLst/>
              <a:rect l="l" t="t" r="r" b="b"/>
              <a:pathLst>
                <a:path w="325754" h="448310">
                  <a:moveTo>
                    <a:pt x="325500" y="447929"/>
                  </a:moveTo>
                  <a:lnTo>
                    <a:pt x="80771" y="0"/>
                  </a:lnTo>
                </a:path>
                <a:path w="325754" h="448310">
                  <a:moveTo>
                    <a:pt x="0" y="414527"/>
                  </a:moveTo>
                  <a:lnTo>
                    <a:pt x="0" y="33527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3" name="object 18">
              <a:extLst>
                <a:ext uri="{FF2B5EF4-FFF2-40B4-BE49-F238E27FC236}">
                  <a16:creationId xmlns:a16="http://schemas.microsoft.com/office/drawing/2014/main" id="{CAC89A7C-7F98-27D5-EBEC-2B0F49672515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4777739"/>
              <a:ext cx="228600" cy="228600"/>
            </a:xfrm>
            <a:prstGeom prst="rect">
              <a:avLst/>
            </a:prstGeom>
          </p:spPr>
        </p:pic>
        <p:pic>
          <p:nvPicPr>
            <p:cNvPr id="24" name="object 19">
              <a:extLst>
                <a:ext uri="{FF2B5EF4-FFF2-40B4-BE49-F238E27FC236}">
                  <a16:creationId xmlns:a16="http://schemas.microsoft.com/office/drawing/2014/main" id="{8A2FFB99-FE0F-1DEE-9792-4134121958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79" y="4168139"/>
              <a:ext cx="228600" cy="228600"/>
            </a:xfrm>
            <a:prstGeom prst="rect">
              <a:avLst/>
            </a:prstGeom>
          </p:spPr>
        </p:pic>
        <p:sp>
          <p:nvSpPr>
            <p:cNvPr id="25" name="object 20">
              <a:extLst>
                <a:ext uri="{FF2B5EF4-FFF2-40B4-BE49-F238E27FC236}">
                  <a16:creationId xmlns:a16="http://schemas.microsoft.com/office/drawing/2014/main" id="{6401D384-6B9E-9F02-1756-BDA982932572}"/>
                </a:ext>
              </a:extLst>
            </p:cNvPr>
            <p:cNvSpPr/>
            <p:nvPr/>
          </p:nvSpPr>
          <p:spPr>
            <a:xfrm>
              <a:off x="8683751" y="43632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44792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6" name="object 21">
              <a:extLst>
                <a:ext uri="{FF2B5EF4-FFF2-40B4-BE49-F238E27FC236}">
                  <a16:creationId xmlns:a16="http://schemas.microsoft.com/office/drawing/2014/main" id="{63F1A3AA-C851-5E7B-10E1-90530D735A2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95587" y="5387339"/>
              <a:ext cx="228600" cy="228600"/>
            </a:xfrm>
            <a:prstGeom prst="rect">
              <a:avLst/>
            </a:prstGeom>
          </p:spPr>
        </p:pic>
        <p:pic>
          <p:nvPicPr>
            <p:cNvPr id="27" name="object 22">
              <a:extLst>
                <a:ext uri="{FF2B5EF4-FFF2-40B4-BE49-F238E27FC236}">
                  <a16:creationId xmlns:a16="http://schemas.microsoft.com/office/drawing/2014/main" id="{2E4B119D-57C8-DEDD-CB50-92DF30D356A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00971" y="5387339"/>
              <a:ext cx="228600" cy="228600"/>
            </a:xfrm>
            <a:prstGeom prst="rect">
              <a:avLst/>
            </a:prstGeom>
          </p:spPr>
        </p:pic>
        <p:sp>
          <p:nvSpPr>
            <p:cNvPr id="28" name="object 23">
              <a:extLst>
                <a:ext uri="{FF2B5EF4-FFF2-40B4-BE49-F238E27FC236}">
                  <a16:creationId xmlns:a16="http://schemas.microsoft.com/office/drawing/2014/main" id="{EFA6A9B2-627C-64AF-427F-218106D5B191}"/>
                </a:ext>
              </a:extLst>
            </p:cNvPr>
            <p:cNvSpPr/>
            <p:nvPr/>
          </p:nvSpPr>
          <p:spPr>
            <a:xfrm>
              <a:off x="9090659" y="49728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0" y="0"/>
                  </a:moveTo>
                  <a:lnTo>
                    <a:pt x="244729" y="4479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29" name="object 24">
              <a:extLst>
                <a:ext uri="{FF2B5EF4-FFF2-40B4-BE49-F238E27FC236}">
                  <a16:creationId xmlns:a16="http://schemas.microsoft.com/office/drawing/2014/main" id="{EC70DB5D-004B-2079-9146-307B7EF971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707879" y="5996939"/>
              <a:ext cx="228600" cy="228600"/>
            </a:xfrm>
            <a:prstGeom prst="rect">
              <a:avLst/>
            </a:prstGeom>
          </p:spPr>
        </p:pic>
        <p:pic>
          <p:nvPicPr>
            <p:cNvPr id="30" name="object 25">
              <a:extLst>
                <a:ext uri="{FF2B5EF4-FFF2-40B4-BE49-F238E27FC236}">
                  <a16:creationId xmlns:a16="http://schemas.microsoft.com/office/drawing/2014/main" id="{418D8875-3055-C518-E534-C1CB8D6E811C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300971" y="5996939"/>
              <a:ext cx="228600" cy="228600"/>
            </a:xfrm>
            <a:prstGeom prst="rect">
              <a:avLst/>
            </a:prstGeom>
          </p:spPr>
        </p:pic>
        <p:sp>
          <p:nvSpPr>
            <p:cNvPr id="31" name="object 26">
              <a:extLst>
                <a:ext uri="{FF2B5EF4-FFF2-40B4-BE49-F238E27FC236}">
                  <a16:creationId xmlns:a16="http://schemas.microsoft.com/office/drawing/2014/main" id="{32D97930-183A-46DE-827A-B694D9D6719A}"/>
                </a:ext>
              </a:extLst>
            </p:cNvPr>
            <p:cNvSpPr/>
            <p:nvPr/>
          </p:nvSpPr>
          <p:spPr>
            <a:xfrm>
              <a:off x="9415271" y="5582411"/>
              <a:ext cx="325755" cy="448309"/>
            </a:xfrm>
            <a:custGeom>
              <a:avLst/>
              <a:gdLst/>
              <a:ahLst/>
              <a:cxnLst/>
              <a:rect l="l" t="t" r="r" b="b"/>
              <a:pathLst>
                <a:path w="325754" h="448310">
                  <a:moveTo>
                    <a:pt x="325500" y="447954"/>
                  </a:moveTo>
                  <a:lnTo>
                    <a:pt x="80772" y="0"/>
                  </a:lnTo>
                </a:path>
                <a:path w="325754" h="448310">
                  <a:moveTo>
                    <a:pt x="0" y="414528"/>
                  </a:moveTo>
                  <a:lnTo>
                    <a:pt x="0" y="335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2" name="object 27">
              <a:extLst>
                <a:ext uri="{FF2B5EF4-FFF2-40B4-BE49-F238E27FC236}">
                  <a16:creationId xmlns:a16="http://schemas.microsoft.com/office/drawing/2014/main" id="{8D4DF924-63FD-77ED-4897-1D3C8D41EB00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95587" y="5996939"/>
              <a:ext cx="228600" cy="228600"/>
            </a:xfrm>
            <a:prstGeom prst="rect">
              <a:avLst/>
            </a:prstGeom>
          </p:spPr>
        </p:pic>
        <p:sp>
          <p:nvSpPr>
            <p:cNvPr id="33" name="object 28">
              <a:extLst>
                <a:ext uri="{FF2B5EF4-FFF2-40B4-BE49-F238E27FC236}">
                  <a16:creationId xmlns:a16="http://schemas.microsoft.com/office/drawing/2014/main" id="{2D8D9E31-0D9D-B471-D852-0677DA046A5E}"/>
                </a:ext>
              </a:extLst>
            </p:cNvPr>
            <p:cNvSpPr/>
            <p:nvPr/>
          </p:nvSpPr>
          <p:spPr>
            <a:xfrm>
              <a:off x="9009887" y="5006339"/>
              <a:ext cx="325755" cy="1024255"/>
            </a:xfrm>
            <a:custGeom>
              <a:avLst/>
              <a:gdLst/>
              <a:ahLst/>
              <a:cxnLst/>
              <a:rect l="l" t="t" r="r" b="b"/>
              <a:pathLst>
                <a:path w="325754" h="1024254">
                  <a:moveTo>
                    <a:pt x="80771" y="1024026"/>
                  </a:moveTo>
                  <a:lnTo>
                    <a:pt x="325500" y="576072"/>
                  </a:lnTo>
                </a:path>
                <a:path w="325754" h="1024254">
                  <a:moveTo>
                    <a:pt x="0" y="381000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4" name="object 29">
              <a:extLst>
                <a:ext uri="{FF2B5EF4-FFF2-40B4-BE49-F238E27FC236}">
                  <a16:creationId xmlns:a16="http://schemas.microsoft.com/office/drawing/2014/main" id="{7A7462DE-EC3F-F3C5-6949-22B85CE607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488679" y="5387339"/>
              <a:ext cx="228600" cy="228600"/>
            </a:xfrm>
            <a:prstGeom prst="rect">
              <a:avLst/>
            </a:prstGeom>
          </p:spPr>
        </p:pic>
        <p:sp>
          <p:nvSpPr>
            <p:cNvPr id="35" name="object 30">
              <a:extLst>
                <a:ext uri="{FF2B5EF4-FFF2-40B4-BE49-F238E27FC236}">
                  <a16:creationId xmlns:a16="http://schemas.microsoft.com/office/drawing/2014/main" id="{F823B54E-343C-9DFA-B77A-EDF97437B3BC}"/>
                </a:ext>
              </a:extLst>
            </p:cNvPr>
            <p:cNvSpPr/>
            <p:nvPr/>
          </p:nvSpPr>
          <p:spPr>
            <a:xfrm>
              <a:off x="8276843" y="3144011"/>
              <a:ext cx="1058545" cy="2277110"/>
            </a:xfrm>
            <a:custGeom>
              <a:avLst/>
              <a:gdLst/>
              <a:ahLst/>
              <a:cxnLst/>
              <a:rect l="l" t="t" r="r" b="b"/>
              <a:pathLst>
                <a:path w="1058545" h="2277110">
                  <a:moveTo>
                    <a:pt x="406907" y="2276729"/>
                  </a:moveTo>
                  <a:lnTo>
                    <a:pt x="651636" y="1828800"/>
                  </a:lnTo>
                </a:path>
                <a:path w="1058545" h="2277110">
                  <a:moveTo>
                    <a:pt x="326135" y="1633727"/>
                  </a:moveTo>
                  <a:lnTo>
                    <a:pt x="326135" y="1252727"/>
                  </a:lnTo>
                </a:path>
                <a:path w="1058545" h="2277110">
                  <a:moveTo>
                    <a:pt x="0" y="1667129"/>
                  </a:moveTo>
                  <a:lnTo>
                    <a:pt x="244728" y="1219200"/>
                  </a:lnTo>
                </a:path>
                <a:path w="1058545" h="2277110">
                  <a:moveTo>
                    <a:pt x="406907" y="1057529"/>
                  </a:moveTo>
                  <a:lnTo>
                    <a:pt x="651636" y="609600"/>
                  </a:lnTo>
                </a:path>
                <a:path w="1058545" h="2277110">
                  <a:moveTo>
                    <a:pt x="813815" y="447928"/>
                  </a:moveTo>
                  <a:lnTo>
                    <a:pt x="1058545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6" name="object 31">
              <a:extLst>
                <a:ext uri="{FF2B5EF4-FFF2-40B4-BE49-F238E27FC236}">
                  <a16:creationId xmlns:a16="http://schemas.microsoft.com/office/drawing/2014/main" id="{6005B618-C874-27FD-ED9B-1E52E8A11CE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2948939"/>
              <a:ext cx="228600" cy="228600"/>
            </a:xfrm>
            <a:prstGeom prst="rect">
              <a:avLst/>
            </a:prstGeom>
          </p:spPr>
        </p:pic>
        <p:sp>
          <p:nvSpPr>
            <p:cNvPr id="37" name="object 32">
              <a:extLst>
                <a:ext uri="{FF2B5EF4-FFF2-40B4-BE49-F238E27FC236}">
                  <a16:creationId xmlns:a16="http://schemas.microsoft.com/office/drawing/2014/main" id="{FF6CA456-B11C-C27E-9709-A4DA6EEBC1A7}"/>
                </a:ext>
              </a:extLst>
            </p:cNvPr>
            <p:cNvSpPr/>
            <p:nvPr/>
          </p:nvSpPr>
          <p:spPr>
            <a:xfrm>
              <a:off x="10105643" y="2534411"/>
              <a:ext cx="448309" cy="448309"/>
            </a:xfrm>
            <a:custGeom>
              <a:avLst/>
              <a:gdLst/>
              <a:ahLst/>
              <a:cxnLst/>
              <a:rect l="l" t="t" r="r" b="b"/>
              <a:pathLst>
                <a:path w="448309" h="448310">
                  <a:moveTo>
                    <a:pt x="447928" y="447928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38" name="object 33">
              <a:extLst>
                <a:ext uri="{FF2B5EF4-FFF2-40B4-BE49-F238E27FC236}">
                  <a16:creationId xmlns:a16="http://schemas.microsoft.com/office/drawing/2014/main" id="{1F4B96BA-64F8-90DC-E9FA-F4718455B24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3558539"/>
              <a:ext cx="228600" cy="228600"/>
            </a:xfrm>
            <a:prstGeom prst="rect">
              <a:avLst/>
            </a:prstGeom>
          </p:spPr>
        </p:pic>
        <p:pic>
          <p:nvPicPr>
            <p:cNvPr id="39" name="object 34">
              <a:extLst>
                <a:ext uri="{FF2B5EF4-FFF2-40B4-BE49-F238E27FC236}">
                  <a16:creationId xmlns:a16="http://schemas.microsoft.com/office/drawing/2014/main" id="{328BFA10-91CD-C156-6F96-4A2406A046A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3558539"/>
              <a:ext cx="228600" cy="228600"/>
            </a:xfrm>
            <a:prstGeom prst="rect">
              <a:avLst/>
            </a:prstGeom>
          </p:spPr>
        </p:pic>
        <p:sp>
          <p:nvSpPr>
            <p:cNvPr id="40" name="object 35">
              <a:extLst>
                <a:ext uri="{FF2B5EF4-FFF2-40B4-BE49-F238E27FC236}">
                  <a16:creationId xmlns:a16="http://schemas.microsoft.com/office/drawing/2014/main" id="{9227553E-5645-3E0D-DDB3-E7BC6ED97D85}"/>
                </a:ext>
              </a:extLst>
            </p:cNvPr>
            <p:cNvSpPr/>
            <p:nvPr/>
          </p:nvSpPr>
          <p:spPr>
            <a:xfrm>
              <a:off x="10715243" y="31440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0" y="0"/>
                  </a:moveTo>
                  <a:lnTo>
                    <a:pt x="244728" y="4479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1" name="object 36">
              <a:extLst>
                <a:ext uri="{FF2B5EF4-FFF2-40B4-BE49-F238E27FC236}">
                  <a16:creationId xmlns:a16="http://schemas.microsoft.com/office/drawing/2014/main" id="{E663ECB8-CA95-24FF-71E6-661A293A311B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3987" y="4168139"/>
              <a:ext cx="228600" cy="228600"/>
            </a:xfrm>
            <a:prstGeom prst="rect">
              <a:avLst/>
            </a:prstGeom>
          </p:spPr>
        </p:pic>
        <p:pic>
          <p:nvPicPr>
            <p:cNvPr id="42" name="object 37">
              <a:extLst>
                <a:ext uri="{FF2B5EF4-FFF2-40B4-BE49-F238E27FC236}">
                  <a16:creationId xmlns:a16="http://schemas.microsoft.com/office/drawing/2014/main" id="{D6B3F7DE-45D2-0509-4F49-E16EC36631E4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4168139"/>
              <a:ext cx="228600" cy="228600"/>
            </a:xfrm>
            <a:prstGeom prst="rect">
              <a:avLst/>
            </a:prstGeom>
          </p:spPr>
        </p:pic>
        <p:sp>
          <p:nvSpPr>
            <p:cNvPr id="43" name="object 38">
              <a:extLst>
                <a:ext uri="{FF2B5EF4-FFF2-40B4-BE49-F238E27FC236}">
                  <a16:creationId xmlns:a16="http://schemas.microsoft.com/office/drawing/2014/main" id="{D7B6D4DA-EB4C-7103-52F9-995203BE91A4}"/>
                </a:ext>
              </a:extLst>
            </p:cNvPr>
            <p:cNvSpPr/>
            <p:nvPr/>
          </p:nvSpPr>
          <p:spPr>
            <a:xfrm>
              <a:off x="11122151" y="37536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447929"/>
                  </a:moveTo>
                  <a:lnTo>
                    <a:pt x="0" y="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4" name="object 39">
              <a:extLst>
                <a:ext uri="{FF2B5EF4-FFF2-40B4-BE49-F238E27FC236}">
                  <a16:creationId xmlns:a16="http://schemas.microsoft.com/office/drawing/2014/main" id="{93A5E237-0DAE-247B-59C4-7675F429BD1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3987" y="4777739"/>
              <a:ext cx="228600" cy="228600"/>
            </a:xfrm>
            <a:prstGeom prst="rect">
              <a:avLst/>
            </a:prstGeom>
          </p:spPr>
        </p:pic>
        <p:sp>
          <p:nvSpPr>
            <p:cNvPr id="45" name="object 40">
              <a:extLst>
                <a:ext uri="{FF2B5EF4-FFF2-40B4-BE49-F238E27FC236}">
                  <a16:creationId xmlns:a16="http://schemas.microsoft.com/office/drawing/2014/main" id="{1EBF4CEE-B0C4-2E02-C5A1-B24BAB0AB939}"/>
                </a:ext>
              </a:extLst>
            </p:cNvPr>
            <p:cNvSpPr/>
            <p:nvPr/>
          </p:nvSpPr>
          <p:spPr>
            <a:xfrm>
              <a:off x="11448287" y="4396739"/>
              <a:ext cx="0" cy="381000"/>
            </a:xfrm>
            <a:custGeom>
              <a:avLst/>
              <a:gdLst/>
              <a:ahLst/>
              <a:cxnLst/>
              <a:rect l="l" t="t" r="r" b="b"/>
              <a:pathLst>
                <a:path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6" name="object 41">
              <a:extLst>
                <a:ext uri="{FF2B5EF4-FFF2-40B4-BE49-F238E27FC236}">
                  <a16:creationId xmlns:a16="http://schemas.microsoft.com/office/drawing/2014/main" id="{03919DB7-00BE-CE6A-21C4-E514A2D86F2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39371" y="4777739"/>
              <a:ext cx="228600" cy="228600"/>
            </a:xfrm>
            <a:prstGeom prst="rect">
              <a:avLst/>
            </a:prstGeom>
          </p:spPr>
        </p:pic>
        <p:sp>
          <p:nvSpPr>
            <p:cNvPr id="47" name="object 42">
              <a:extLst>
                <a:ext uri="{FF2B5EF4-FFF2-40B4-BE49-F238E27FC236}">
                  <a16:creationId xmlns:a16="http://schemas.microsoft.com/office/drawing/2014/main" id="{3F5B6C51-36C4-9D28-D706-FE9D1853D0E6}"/>
                </a:ext>
              </a:extLst>
            </p:cNvPr>
            <p:cNvSpPr/>
            <p:nvPr/>
          </p:nvSpPr>
          <p:spPr>
            <a:xfrm>
              <a:off x="11529059" y="43632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0" y="0"/>
                  </a:moveTo>
                  <a:lnTo>
                    <a:pt x="244729" y="447929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48" name="object 43">
              <a:extLst>
                <a:ext uri="{FF2B5EF4-FFF2-40B4-BE49-F238E27FC236}">
                  <a16:creationId xmlns:a16="http://schemas.microsoft.com/office/drawing/2014/main" id="{FCC0B2DC-311A-A4F1-2FF3-CAAC4CEAFDD9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4777739"/>
              <a:ext cx="228600" cy="228600"/>
            </a:xfrm>
            <a:prstGeom prst="rect">
              <a:avLst/>
            </a:prstGeom>
          </p:spPr>
        </p:pic>
        <p:sp>
          <p:nvSpPr>
            <p:cNvPr id="49" name="object 44">
              <a:extLst>
                <a:ext uri="{FF2B5EF4-FFF2-40B4-BE49-F238E27FC236}">
                  <a16:creationId xmlns:a16="http://schemas.microsoft.com/office/drawing/2014/main" id="{2EC1730D-8391-47BB-4DE5-8BF829AE58B4}"/>
                </a:ext>
              </a:extLst>
            </p:cNvPr>
            <p:cNvSpPr/>
            <p:nvPr/>
          </p:nvSpPr>
          <p:spPr>
            <a:xfrm>
              <a:off x="11122151" y="43632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0"/>
                  </a:moveTo>
                  <a:lnTo>
                    <a:pt x="0" y="447929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0" name="object 45">
              <a:extLst>
                <a:ext uri="{FF2B5EF4-FFF2-40B4-BE49-F238E27FC236}">
                  <a16:creationId xmlns:a16="http://schemas.microsoft.com/office/drawing/2014/main" id="{CBA92679-030B-2BA9-EEED-09EA827CAD0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5387339"/>
              <a:ext cx="228600" cy="228600"/>
            </a:xfrm>
            <a:prstGeom prst="rect">
              <a:avLst/>
            </a:prstGeom>
          </p:spPr>
        </p:pic>
        <p:pic>
          <p:nvPicPr>
            <p:cNvPr id="52" name="object 46">
              <a:extLst>
                <a:ext uri="{FF2B5EF4-FFF2-40B4-BE49-F238E27FC236}">
                  <a16:creationId xmlns:a16="http://schemas.microsoft.com/office/drawing/2014/main" id="{CE181FED-1376-B205-7BCD-BDD92EAA32D0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927079" y="5387339"/>
              <a:ext cx="228600" cy="228600"/>
            </a:xfrm>
            <a:prstGeom prst="rect">
              <a:avLst/>
            </a:prstGeom>
          </p:spPr>
        </p:pic>
        <p:sp>
          <p:nvSpPr>
            <p:cNvPr id="53" name="object 47">
              <a:extLst>
                <a:ext uri="{FF2B5EF4-FFF2-40B4-BE49-F238E27FC236}">
                  <a16:creationId xmlns:a16="http://schemas.microsoft.com/office/drawing/2014/main" id="{0DC1E634-0E9D-BD0E-C6D8-5077BA00D65F}"/>
                </a:ext>
              </a:extLst>
            </p:cNvPr>
            <p:cNvSpPr/>
            <p:nvPr/>
          </p:nvSpPr>
          <p:spPr>
            <a:xfrm>
              <a:off x="10715243" y="49728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8" y="0"/>
                  </a:moveTo>
                  <a:lnTo>
                    <a:pt x="0" y="447928"/>
                  </a:lnTo>
                </a:path>
              </a:pathLst>
            </a:custGeom>
            <a:ln w="1269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4" name="object 48">
              <a:extLst>
                <a:ext uri="{FF2B5EF4-FFF2-40B4-BE49-F238E27FC236}">
                  <a16:creationId xmlns:a16="http://schemas.microsoft.com/office/drawing/2014/main" id="{B200FA8C-C391-DBE9-E1EA-F892F4532D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114787" y="5996939"/>
              <a:ext cx="228600" cy="228600"/>
            </a:xfrm>
            <a:prstGeom prst="rect">
              <a:avLst/>
            </a:prstGeom>
          </p:spPr>
        </p:pic>
        <p:pic>
          <p:nvPicPr>
            <p:cNvPr id="55" name="object 49">
              <a:extLst>
                <a:ext uri="{FF2B5EF4-FFF2-40B4-BE49-F238E27FC236}">
                  <a16:creationId xmlns:a16="http://schemas.microsoft.com/office/drawing/2014/main" id="{5FFD6EED-32E3-49EC-D589-06B1DF025C68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520171" y="5996939"/>
              <a:ext cx="228600" cy="228600"/>
            </a:xfrm>
            <a:prstGeom prst="rect">
              <a:avLst/>
            </a:prstGeom>
          </p:spPr>
        </p:pic>
        <p:sp>
          <p:nvSpPr>
            <p:cNvPr id="56" name="object 50">
              <a:extLst>
                <a:ext uri="{FF2B5EF4-FFF2-40B4-BE49-F238E27FC236}">
                  <a16:creationId xmlns:a16="http://schemas.microsoft.com/office/drawing/2014/main" id="{B1E78CD1-811D-1126-B45F-B30E8F3A13A4}"/>
                </a:ext>
              </a:extLst>
            </p:cNvPr>
            <p:cNvSpPr/>
            <p:nvPr/>
          </p:nvSpPr>
          <p:spPr>
            <a:xfrm>
              <a:off x="10309859" y="5582411"/>
              <a:ext cx="325120" cy="448309"/>
            </a:xfrm>
            <a:custGeom>
              <a:avLst/>
              <a:gdLst/>
              <a:ahLst/>
              <a:cxnLst/>
              <a:rect l="l" t="t" r="r" b="b"/>
              <a:pathLst>
                <a:path w="325120" h="448310">
                  <a:moveTo>
                    <a:pt x="244729" y="0"/>
                  </a:moveTo>
                  <a:lnTo>
                    <a:pt x="0" y="447954"/>
                  </a:lnTo>
                </a:path>
                <a:path w="325120" h="448310">
                  <a:moveTo>
                    <a:pt x="324612" y="33528"/>
                  </a:moveTo>
                  <a:lnTo>
                    <a:pt x="324612" y="414528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7" name="object 51">
              <a:extLst>
                <a:ext uri="{FF2B5EF4-FFF2-40B4-BE49-F238E27FC236}">
                  <a16:creationId xmlns:a16="http://schemas.microsoft.com/office/drawing/2014/main" id="{6E40E0CB-AA71-C343-1985-0BB294973F4E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927079" y="5996939"/>
              <a:ext cx="228600" cy="228600"/>
            </a:xfrm>
            <a:prstGeom prst="rect">
              <a:avLst/>
            </a:prstGeom>
          </p:spPr>
        </p:pic>
        <p:sp>
          <p:nvSpPr>
            <p:cNvPr id="58" name="object 52">
              <a:extLst>
                <a:ext uri="{FF2B5EF4-FFF2-40B4-BE49-F238E27FC236}">
                  <a16:creationId xmlns:a16="http://schemas.microsoft.com/office/drawing/2014/main" id="{4F12FE8F-80EB-AF71-FB5A-9CAA386D8807}"/>
                </a:ext>
              </a:extLst>
            </p:cNvPr>
            <p:cNvSpPr/>
            <p:nvPr/>
          </p:nvSpPr>
          <p:spPr>
            <a:xfrm>
              <a:off x="10715243" y="5006339"/>
              <a:ext cx="326390" cy="1024255"/>
            </a:xfrm>
            <a:custGeom>
              <a:avLst/>
              <a:gdLst/>
              <a:ahLst/>
              <a:cxnLst/>
              <a:rect l="l" t="t" r="r" b="b"/>
              <a:pathLst>
                <a:path w="326390" h="1024254">
                  <a:moveTo>
                    <a:pt x="0" y="576072"/>
                  </a:moveTo>
                  <a:lnTo>
                    <a:pt x="244728" y="1024026"/>
                  </a:lnTo>
                </a:path>
                <a:path w="326390" h="1024254">
                  <a:moveTo>
                    <a:pt x="326135" y="0"/>
                  </a:moveTo>
                  <a:lnTo>
                    <a:pt x="326135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59" name="object 53">
              <a:extLst>
                <a:ext uri="{FF2B5EF4-FFF2-40B4-BE49-F238E27FC236}">
                  <a16:creationId xmlns:a16="http://schemas.microsoft.com/office/drawing/2014/main" id="{71056A12-6CEE-3741-042F-D6EC130D90E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333987" y="5387339"/>
              <a:ext cx="228600" cy="228600"/>
            </a:xfrm>
            <a:prstGeom prst="rect">
              <a:avLst/>
            </a:prstGeom>
          </p:spPr>
        </p:pic>
        <p:sp>
          <p:nvSpPr>
            <p:cNvPr id="60" name="object 54">
              <a:extLst>
                <a:ext uri="{FF2B5EF4-FFF2-40B4-BE49-F238E27FC236}">
                  <a16:creationId xmlns:a16="http://schemas.microsoft.com/office/drawing/2014/main" id="{0D28CE85-0E9C-D35A-3386-E64246DB8C10}"/>
                </a:ext>
              </a:extLst>
            </p:cNvPr>
            <p:cNvSpPr/>
            <p:nvPr/>
          </p:nvSpPr>
          <p:spPr>
            <a:xfrm>
              <a:off x="11041379" y="3787139"/>
              <a:ext cx="325755" cy="1633855"/>
            </a:xfrm>
            <a:custGeom>
              <a:avLst/>
              <a:gdLst/>
              <a:ahLst/>
              <a:cxnLst/>
              <a:rect l="l" t="t" r="r" b="b"/>
              <a:pathLst>
                <a:path w="325754" h="1633854">
                  <a:moveTo>
                    <a:pt x="80772" y="1185672"/>
                  </a:moveTo>
                  <a:lnTo>
                    <a:pt x="325500" y="1633601"/>
                  </a:lnTo>
                </a:path>
                <a:path w="325754" h="1633854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61" name="object 55">
              <a:extLst>
                <a:ext uri="{FF2B5EF4-FFF2-40B4-BE49-F238E27FC236}">
                  <a16:creationId xmlns:a16="http://schemas.microsoft.com/office/drawing/2014/main" id="{F8854C7B-09D7-4131-90E8-A3E73CC86236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20171" y="4168139"/>
              <a:ext cx="228600" cy="228600"/>
            </a:xfrm>
            <a:prstGeom prst="rect">
              <a:avLst/>
            </a:prstGeom>
          </p:spPr>
        </p:pic>
        <p:sp>
          <p:nvSpPr>
            <p:cNvPr id="62" name="object 56">
              <a:extLst>
                <a:ext uri="{FF2B5EF4-FFF2-40B4-BE49-F238E27FC236}">
                  <a16:creationId xmlns:a16="http://schemas.microsoft.com/office/drawing/2014/main" id="{238A9687-410F-75A6-B50F-2F3B7A3943FD}"/>
                </a:ext>
              </a:extLst>
            </p:cNvPr>
            <p:cNvSpPr/>
            <p:nvPr/>
          </p:nvSpPr>
          <p:spPr>
            <a:xfrm>
              <a:off x="10634471" y="3177539"/>
              <a:ext cx="325755" cy="1024255"/>
            </a:xfrm>
            <a:custGeom>
              <a:avLst/>
              <a:gdLst/>
              <a:ahLst/>
              <a:cxnLst/>
              <a:rect l="l" t="t" r="r" b="b"/>
              <a:pathLst>
                <a:path w="325754" h="1024254">
                  <a:moveTo>
                    <a:pt x="80772" y="1024001"/>
                  </a:moveTo>
                  <a:lnTo>
                    <a:pt x="325500" y="576072"/>
                  </a:lnTo>
                </a:path>
                <a:path w="325754" h="1024254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ln w="127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pic>
          <p:nvPicPr>
            <p:cNvPr id="63" name="object 57">
              <a:extLst>
                <a:ext uri="{FF2B5EF4-FFF2-40B4-BE49-F238E27FC236}">
                  <a16:creationId xmlns:a16="http://schemas.microsoft.com/office/drawing/2014/main" id="{F92156DD-8C4A-4709-E6CC-96D4A802BBFC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114787" y="3558539"/>
              <a:ext cx="228600" cy="228600"/>
            </a:xfrm>
            <a:prstGeom prst="rect">
              <a:avLst/>
            </a:prstGeom>
          </p:spPr>
        </p:pic>
        <p:sp>
          <p:nvSpPr>
            <p:cNvPr id="64" name="object 58">
              <a:extLst>
                <a:ext uri="{FF2B5EF4-FFF2-40B4-BE49-F238E27FC236}">
                  <a16:creationId xmlns:a16="http://schemas.microsoft.com/office/drawing/2014/main" id="{1E3B462D-F20E-B92E-160E-0ABD4B64FD19}"/>
                </a:ext>
              </a:extLst>
            </p:cNvPr>
            <p:cNvSpPr/>
            <p:nvPr/>
          </p:nvSpPr>
          <p:spPr>
            <a:xfrm>
              <a:off x="10309859" y="3144011"/>
              <a:ext cx="245110" cy="448309"/>
            </a:xfrm>
            <a:custGeom>
              <a:avLst/>
              <a:gdLst/>
              <a:ahLst/>
              <a:cxnLst/>
              <a:rect l="l" t="t" r="r" b="b"/>
              <a:pathLst>
                <a:path w="245109" h="448310">
                  <a:moveTo>
                    <a:pt x="244729" y="0"/>
                  </a:moveTo>
                  <a:lnTo>
                    <a:pt x="0" y="447928"/>
                  </a:lnTo>
                </a:path>
              </a:pathLst>
            </a:custGeom>
            <a:ln w="12699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15551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8662C6-D7DD-49E5-3256-681C5C139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2C874-0EAA-5868-F132-359E7D579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7E52F7-FAE5-DA13-D74D-F5105684C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988335" cy="3678303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Node-link tree diagrams</a:t>
            </a:r>
          </a:p>
          <a:p>
            <a:pPr lvl="1"/>
            <a:r>
              <a:rPr lang="en-US" sz="2200" dirty="0"/>
              <a:t>Force-directed layouts model layout with attraction (via edges) and repulsion (between nodes) to optimize layout </a:t>
            </a:r>
          </a:p>
          <a:p>
            <a:pPr lvl="1"/>
            <a:r>
              <a:rPr lang="en-US" sz="2200" dirty="0"/>
              <a:t>However, many edges can cause visual clutter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7BBF5EF-D5E8-A354-87C6-CC9B55A08E0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A61723A-C63C-2CCD-8DBF-A1DE3B3DF82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730168" y="1885248"/>
            <a:ext cx="4328232" cy="3973551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23F5AF36-D89D-D086-756B-C516F296049A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922327" y="4336473"/>
            <a:ext cx="3059222" cy="2376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42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CA6FD2-2591-9A6A-5D48-60E5251B1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4C5F7-EEA3-CF45-D040-5387F1483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06E88-6430-3125-8DEF-6515CF3FB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24408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Layered (adjacency) Diagrams</a:t>
            </a:r>
          </a:p>
          <a:p>
            <a:pPr lvl="1"/>
            <a:r>
              <a:rPr lang="en-US" sz="2200" dirty="0"/>
              <a:t>Space-filling variant of node-link diagrams</a:t>
            </a:r>
          </a:p>
          <a:p>
            <a:pPr lvl="1"/>
            <a:r>
              <a:rPr lang="en-US" sz="2200" dirty="0"/>
              <a:t>Nodes drawn as solid areas (arcs or bars)</a:t>
            </a:r>
          </a:p>
          <a:p>
            <a:pPr lvl="1"/>
            <a:r>
              <a:rPr lang="en-US" sz="2200" dirty="0"/>
              <a:t>Placement relative to adjacent nodes reveals place in hierarchy</a:t>
            </a:r>
          </a:p>
          <a:p>
            <a:pPr lvl="1"/>
            <a:r>
              <a:rPr lang="en-US" sz="2200" dirty="0"/>
              <a:t>Root node at top / center</a:t>
            </a:r>
          </a:p>
          <a:p>
            <a:pPr lvl="1"/>
            <a:r>
              <a:rPr lang="en-US" sz="2200" dirty="0"/>
              <a:t>Leaf nodes at bottom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78C23C0-8C31-B809-52C6-CDECD4813A8F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grpSp>
        <p:nvGrpSpPr>
          <p:cNvPr id="8" name="object 4">
            <a:extLst>
              <a:ext uri="{FF2B5EF4-FFF2-40B4-BE49-F238E27FC236}">
                <a16:creationId xmlns:a16="http://schemas.microsoft.com/office/drawing/2014/main" id="{DBAC2929-DD7C-9BC4-5E05-CAE22A4AEBBD}"/>
              </a:ext>
            </a:extLst>
          </p:cNvPr>
          <p:cNvGrpSpPr/>
          <p:nvPr/>
        </p:nvGrpSpPr>
        <p:grpSpPr>
          <a:xfrm>
            <a:off x="6423309" y="1068699"/>
            <a:ext cx="5187499" cy="5158027"/>
            <a:chOff x="6146291" y="466918"/>
            <a:chExt cx="5677535" cy="6055995"/>
          </a:xfrm>
        </p:grpSpPr>
        <p:pic>
          <p:nvPicPr>
            <p:cNvPr id="9" name="object 5">
              <a:extLst>
                <a:ext uri="{FF2B5EF4-FFF2-40B4-BE49-F238E27FC236}">
                  <a16:creationId xmlns:a16="http://schemas.microsoft.com/office/drawing/2014/main" id="{5D5E094C-293A-CA8E-B9CB-F36E2159DB7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843261" y="466918"/>
              <a:ext cx="4980153" cy="2489866"/>
            </a:xfrm>
            <a:prstGeom prst="rect">
              <a:avLst/>
            </a:prstGeom>
          </p:spPr>
        </p:pic>
        <p:pic>
          <p:nvPicPr>
            <p:cNvPr id="10" name="object 6">
              <a:extLst>
                <a:ext uri="{FF2B5EF4-FFF2-40B4-BE49-F238E27FC236}">
                  <a16:creationId xmlns:a16="http://schemas.microsoft.com/office/drawing/2014/main" id="{F6FF86FC-E7E5-97C9-D0D7-D3F32B2B55B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6291" y="2755391"/>
              <a:ext cx="3901440" cy="37673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38530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CF444-931C-3E22-422F-BAD82E80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4AE96-EA9E-0E9C-5954-013C1F6CC3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31517-DF68-AABE-5340-333F85EC41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6124408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Indented List</a:t>
            </a:r>
          </a:p>
          <a:p>
            <a:pPr lvl="1"/>
            <a:r>
              <a:rPr lang="en-US" sz="2200" dirty="0"/>
              <a:t>Highlights parent / child relationships</a:t>
            </a:r>
          </a:p>
          <a:p>
            <a:pPr lvl="1"/>
            <a:r>
              <a:rPr lang="en-US" sz="2200" dirty="0"/>
              <a:t>Simple to compute</a:t>
            </a:r>
          </a:p>
          <a:p>
            <a:pPr lvl="1"/>
            <a:r>
              <a:rPr lang="en-US" sz="2200" dirty="0"/>
              <a:t>Potentially a lot of scrolling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4B8632D-61B7-49FF-E77E-90ACD8904E4B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4">
            <a:extLst>
              <a:ext uri="{FF2B5EF4-FFF2-40B4-BE49-F238E27FC236}">
                <a16:creationId xmlns:a16="http://schemas.microsoft.com/office/drawing/2014/main" id="{7BF54E60-8F32-5E7F-352A-7F96B0016A4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374" y="1808393"/>
            <a:ext cx="6095626" cy="480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6126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93FED-97F0-3FDE-8AC7-236BC9DBF9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C8F69-CA60-2B66-41D0-4E9BDE0C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43C275-00A2-F2DB-8226-2A14303EE5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59126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Enclosure (</a:t>
            </a:r>
            <a:r>
              <a:rPr lang="en-US" sz="2200" b="1" dirty="0" err="1"/>
              <a:t>treemap</a:t>
            </a:r>
            <a:r>
              <a:rPr lang="en-US" sz="2200" b="1" dirty="0"/>
              <a:t>) Diagram</a:t>
            </a:r>
          </a:p>
          <a:p>
            <a:pPr lvl="1"/>
            <a:r>
              <a:rPr lang="en-US" sz="2200" dirty="0"/>
              <a:t>Encodes tree structure using spatial enclosure</a:t>
            </a:r>
          </a:p>
          <a:p>
            <a:pPr lvl="2"/>
            <a:r>
              <a:rPr lang="en-US" sz="2000" dirty="0"/>
              <a:t>Enclosure indicates hierarchy</a:t>
            </a:r>
          </a:p>
          <a:p>
            <a:pPr lvl="1"/>
            <a:r>
              <a:rPr lang="en-US" sz="2200" dirty="0"/>
              <a:t>Provides a single view of entire tree</a:t>
            </a:r>
          </a:p>
          <a:p>
            <a:pPr lvl="1"/>
            <a:r>
              <a:rPr lang="en-US" sz="2200" dirty="0"/>
              <a:t>Easier to spot small / large nodes (i.e. node with many or few descendants)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26AD1F-F002-EBAB-C5B9-C07BC0262987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A3A204A-B634-6B0B-4901-A9B16CD77A7F}"/>
              </a:ext>
            </a:extLst>
          </p:cNvPr>
          <p:cNvSpPr txBox="1"/>
          <p:nvPr/>
        </p:nvSpPr>
        <p:spPr>
          <a:xfrm>
            <a:off x="8015421" y="3502598"/>
            <a:ext cx="410845" cy="817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5200" b="0" i="0" u="none" strike="noStrike" kern="1200" cap="none" spc="-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=</a:t>
            </a:r>
            <a:endParaRPr kumimoji="0" sz="5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6" name="object 5">
            <a:extLst>
              <a:ext uri="{FF2B5EF4-FFF2-40B4-BE49-F238E27FC236}">
                <a16:creationId xmlns:a16="http://schemas.microsoft.com/office/drawing/2014/main" id="{809EE3D5-9A0C-A265-B2AA-7997ED3DC68B}"/>
              </a:ext>
            </a:extLst>
          </p:cNvPr>
          <p:cNvGrpSpPr/>
          <p:nvPr/>
        </p:nvGrpSpPr>
        <p:grpSpPr>
          <a:xfrm>
            <a:off x="5668460" y="3101663"/>
            <a:ext cx="1735455" cy="1770380"/>
            <a:chOff x="6625081" y="2203704"/>
            <a:chExt cx="1735455" cy="1770380"/>
          </a:xfrm>
        </p:grpSpPr>
        <p:sp>
          <p:nvSpPr>
            <p:cNvPr id="7" name="object 6">
              <a:extLst>
                <a:ext uri="{FF2B5EF4-FFF2-40B4-BE49-F238E27FC236}">
                  <a16:creationId xmlns:a16="http://schemas.microsoft.com/office/drawing/2014/main" id="{F2C51F5D-0A7A-814A-7443-7F1876A43010}"/>
                </a:ext>
              </a:extLst>
            </p:cNvPr>
            <p:cNvSpPr/>
            <p:nvPr/>
          </p:nvSpPr>
          <p:spPr>
            <a:xfrm>
              <a:off x="6637781" y="2446782"/>
              <a:ext cx="1285875" cy="616585"/>
            </a:xfrm>
            <a:custGeom>
              <a:avLst/>
              <a:gdLst/>
              <a:ahLst/>
              <a:cxnLst/>
              <a:rect l="l" t="t" r="r" b="b"/>
              <a:pathLst>
                <a:path w="1285875" h="616585">
                  <a:moveTo>
                    <a:pt x="1285494" y="616584"/>
                  </a:moveTo>
                  <a:lnTo>
                    <a:pt x="641603" y="0"/>
                  </a:lnTo>
                </a:path>
                <a:path w="1285875" h="616585">
                  <a:moveTo>
                    <a:pt x="642366" y="0"/>
                  </a:moveTo>
                  <a:lnTo>
                    <a:pt x="0" y="616584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8" name="object 7">
              <a:extLst>
                <a:ext uri="{FF2B5EF4-FFF2-40B4-BE49-F238E27FC236}">
                  <a16:creationId xmlns:a16="http://schemas.microsoft.com/office/drawing/2014/main" id="{65BE3E6D-488F-0C5B-4A58-57EBAE2156F1}"/>
                </a:ext>
              </a:extLst>
            </p:cNvPr>
            <p:cNvSpPr/>
            <p:nvPr/>
          </p:nvSpPr>
          <p:spPr>
            <a:xfrm>
              <a:off x="7025639" y="2203704"/>
              <a:ext cx="525780" cy="504190"/>
            </a:xfrm>
            <a:custGeom>
              <a:avLst/>
              <a:gdLst/>
              <a:ahLst/>
              <a:cxnLst/>
              <a:rect l="l" t="t" r="r" b="b"/>
              <a:pathLst>
                <a:path w="525779" h="504189">
                  <a:moveTo>
                    <a:pt x="262889" y="0"/>
                  </a:moveTo>
                  <a:lnTo>
                    <a:pt x="202691" y="6604"/>
                  </a:lnTo>
                  <a:lnTo>
                    <a:pt x="145160" y="26543"/>
                  </a:lnTo>
                  <a:lnTo>
                    <a:pt x="92836" y="59817"/>
                  </a:lnTo>
                  <a:lnTo>
                    <a:pt x="49275" y="105029"/>
                  </a:lnTo>
                  <a:lnTo>
                    <a:pt x="19303" y="157099"/>
                  </a:lnTo>
                  <a:lnTo>
                    <a:pt x="3048" y="213360"/>
                  </a:lnTo>
                  <a:lnTo>
                    <a:pt x="0" y="251841"/>
                  </a:lnTo>
                  <a:lnTo>
                    <a:pt x="761" y="271272"/>
                  </a:lnTo>
                  <a:lnTo>
                    <a:pt x="12318" y="328295"/>
                  </a:lnTo>
                  <a:lnTo>
                    <a:pt x="37718" y="382016"/>
                  </a:lnTo>
                  <a:lnTo>
                    <a:pt x="76961" y="430022"/>
                  </a:lnTo>
                  <a:lnTo>
                    <a:pt x="127000" y="467613"/>
                  </a:lnTo>
                  <a:lnTo>
                    <a:pt x="183133" y="491998"/>
                  </a:lnTo>
                  <a:lnTo>
                    <a:pt x="242696" y="503047"/>
                  </a:lnTo>
                  <a:lnTo>
                    <a:pt x="262889" y="503809"/>
                  </a:lnTo>
                  <a:lnTo>
                    <a:pt x="282955" y="503047"/>
                  </a:lnTo>
                  <a:lnTo>
                    <a:pt x="342518" y="491998"/>
                  </a:lnTo>
                  <a:lnTo>
                    <a:pt x="398652" y="467613"/>
                  </a:lnTo>
                  <a:lnTo>
                    <a:pt x="448690" y="430022"/>
                  </a:lnTo>
                  <a:lnTo>
                    <a:pt x="487933" y="382016"/>
                  </a:lnTo>
                  <a:lnTo>
                    <a:pt x="513333" y="328295"/>
                  </a:lnTo>
                  <a:lnTo>
                    <a:pt x="524890" y="271272"/>
                  </a:lnTo>
                  <a:lnTo>
                    <a:pt x="525652" y="251841"/>
                  </a:lnTo>
                  <a:lnTo>
                    <a:pt x="524890" y="232537"/>
                  </a:lnTo>
                  <a:lnTo>
                    <a:pt x="513333" y="175513"/>
                  </a:lnTo>
                  <a:lnTo>
                    <a:pt x="487933" y="121793"/>
                  </a:lnTo>
                  <a:lnTo>
                    <a:pt x="448690" y="73787"/>
                  </a:lnTo>
                  <a:lnTo>
                    <a:pt x="398652" y="36195"/>
                  </a:lnTo>
                  <a:lnTo>
                    <a:pt x="342518" y="11811"/>
                  </a:lnTo>
                  <a:lnTo>
                    <a:pt x="282955" y="762"/>
                  </a:lnTo>
                  <a:lnTo>
                    <a:pt x="262889" y="0"/>
                  </a:lnTo>
                  <a:close/>
                </a:path>
              </a:pathLst>
            </a:custGeom>
            <a:solidFill>
              <a:srgbClr val="EDC2C0"/>
            </a:solidFill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  <p:sp>
          <p:nvSpPr>
            <p:cNvPr id="9" name="object 8">
              <a:extLst>
                <a:ext uri="{FF2B5EF4-FFF2-40B4-BE49-F238E27FC236}">
                  <a16:creationId xmlns:a16="http://schemas.microsoft.com/office/drawing/2014/main" id="{330BBEE5-A94E-E030-C237-DC9108654B97}"/>
                </a:ext>
              </a:extLst>
            </p:cNvPr>
            <p:cNvSpPr/>
            <p:nvPr/>
          </p:nvSpPr>
          <p:spPr>
            <a:xfrm>
              <a:off x="7546085" y="3137154"/>
              <a:ext cx="802005" cy="824230"/>
            </a:xfrm>
            <a:custGeom>
              <a:avLst/>
              <a:gdLst/>
              <a:ahLst/>
              <a:cxnLst/>
              <a:rect l="l" t="t" r="r" b="b"/>
              <a:pathLst>
                <a:path w="802004" h="824229">
                  <a:moveTo>
                    <a:pt x="252222" y="21336"/>
                  </a:moveTo>
                  <a:lnTo>
                    <a:pt x="0" y="824103"/>
                  </a:lnTo>
                </a:path>
                <a:path w="802004" h="824229">
                  <a:moveTo>
                    <a:pt x="801624" y="801243"/>
                  </a:moveTo>
                  <a:lnTo>
                    <a:pt x="481584" y="0"/>
                  </a:lnTo>
                </a:path>
              </a:pathLst>
            </a:custGeom>
            <a:ln w="254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endParaRPr>
            </a:p>
          </p:txBody>
        </p:sp>
      </p:grpSp>
      <p:sp>
        <p:nvSpPr>
          <p:cNvPr id="10" name="object 9">
            <a:extLst>
              <a:ext uri="{FF2B5EF4-FFF2-40B4-BE49-F238E27FC236}">
                <a16:creationId xmlns:a16="http://schemas.microsoft.com/office/drawing/2014/main" id="{A5ACE665-B8E4-8235-4FCE-6EACE99C01C5}"/>
              </a:ext>
            </a:extLst>
          </p:cNvPr>
          <p:cNvSpPr txBox="1"/>
          <p:nvPr/>
        </p:nvSpPr>
        <p:spPr>
          <a:xfrm>
            <a:off x="6242247" y="3190512"/>
            <a:ext cx="1835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6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1" name="object 10">
            <a:extLst>
              <a:ext uri="{FF2B5EF4-FFF2-40B4-BE49-F238E27FC236}">
                <a16:creationId xmlns:a16="http://schemas.microsoft.com/office/drawing/2014/main" id="{DBEEE501-1F88-C69A-4B13-F139924FF565}"/>
              </a:ext>
            </a:extLst>
          </p:cNvPr>
          <p:cNvSpPr/>
          <p:nvPr/>
        </p:nvSpPr>
        <p:spPr>
          <a:xfrm>
            <a:off x="6315907" y="4621091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90" y="0"/>
                </a:moveTo>
                <a:lnTo>
                  <a:pt x="202692" y="6604"/>
                </a:lnTo>
                <a:lnTo>
                  <a:pt x="145161" y="26543"/>
                </a:lnTo>
                <a:lnTo>
                  <a:pt x="92837" y="59817"/>
                </a:lnTo>
                <a:lnTo>
                  <a:pt x="49275" y="105029"/>
                </a:lnTo>
                <a:lnTo>
                  <a:pt x="19303" y="157099"/>
                </a:lnTo>
                <a:lnTo>
                  <a:pt x="3048" y="213360"/>
                </a:lnTo>
                <a:lnTo>
                  <a:pt x="0" y="251841"/>
                </a:lnTo>
                <a:lnTo>
                  <a:pt x="762" y="271272"/>
                </a:lnTo>
                <a:lnTo>
                  <a:pt x="12319" y="328295"/>
                </a:lnTo>
                <a:lnTo>
                  <a:pt x="37719" y="382016"/>
                </a:lnTo>
                <a:lnTo>
                  <a:pt x="76962" y="430022"/>
                </a:lnTo>
                <a:lnTo>
                  <a:pt x="127000" y="467614"/>
                </a:lnTo>
                <a:lnTo>
                  <a:pt x="183133" y="491998"/>
                </a:lnTo>
                <a:lnTo>
                  <a:pt x="242697" y="503047"/>
                </a:lnTo>
                <a:lnTo>
                  <a:pt x="262890" y="503809"/>
                </a:lnTo>
                <a:lnTo>
                  <a:pt x="282955" y="503047"/>
                </a:lnTo>
                <a:lnTo>
                  <a:pt x="342519" y="491998"/>
                </a:lnTo>
                <a:lnTo>
                  <a:pt x="398652" y="467614"/>
                </a:lnTo>
                <a:lnTo>
                  <a:pt x="448691" y="430022"/>
                </a:lnTo>
                <a:lnTo>
                  <a:pt x="487933" y="382016"/>
                </a:lnTo>
                <a:lnTo>
                  <a:pt x="513333" y="328295"/>
                </a:lnTo>
                <a:lnTo>
                  <a:pt x="524891" y="271272"/>
                </a:lnTo>
                <a:lnTo>
                  <a:pt x="525652" y="251841"/>
                </a:lnTo>
                <a:lnTo>
                  <a:pt x="524891" y="232537"/>
                </a:lnTo>
                <a:lnTo>
                  <a:pt x="513333" y="175514"/>
                </a:lnTo>
                <a:lnTo>
                  <a:pt x="487933" y="121793"/>
                </a:lnTo>
                <a:lnTo>
                  <a:pt x="448691" y="73787"/>
                </a:lnTo>
                <a:lnTo>
                  <a:pt x="398652" y="36195"/>
                </a:lnTo>
                <a:lnTo>
                  <a:pt x="342519" y="11811"/>
                </a:lnTo>
                <a:lnTo>
                  <a:pt x="282955" y="762"/>
                </a:lnTo>
                <a:lnTo>
                  <a:pt x="262890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2" name="object 11">
            <a:extLst>
              <a:ext uri="{FF2B5EF4-FFF2-40B4-BE49-F238E27FC236}">
                <a16:creationId xmlns:a16="http://schemas.microsoft.com/office/drawing/2014/main" id="{7BC1B762-EAFF-09F8-FAF3-EE54F9977884}"/>
              </a:ext>
            </a:extLst>
          </p:cNvPr>
          <p:cNvSpPr txBox="1"/>
          <p:nvPr/>
        </p:nvSpPr>
        <p:spPr>
          <a:xfrm>
            <a:off x="6483038" y="4710244"/>
            <a:ext cx="194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3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3" name="object 12">
            <a:extLst>
              <a:ext uri="{FF2B5EF4-FFF2-40B4-BE49-F238E27FC236}">
                <a16:creationId xmlns:a16="http://schemas.microsoft.com/office/drawing/2014/main" id="{8FBBAD6B-943E-9769-5DF5-27253681C4B2}"/>
              </a:ext>
            </a:extLst>
          </p:cNvPr>
          <p:cNvSpPr/>
          <p:nvPr/>
        </p:nvSpPr>
        <p:spPr>
          <a:xfrm>
            <a:off x="6712147" y="3717359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89" y="0"/>
                </a:moveTo>
                <a:lnTo>
                  <a:pt x="202691" y="6603"/>
                </a:lnTo>
                <a:lnTo>
                  <a:pt x="145160" y="26542"/>
                </a:lnTo>
                <a:lnTo>
                  <a:pt x="92836" y="59816"/>
                </a:lnTo>
                <a:lnTo>
                  <a:pt x="49275" y="105028"/>
                </a:lnTo>
                <a:lnTo>
                  <a:pt x="19303" y="157099"/>
                </a:lnTo>
                <a:lnTo>
                  <a:pt x="3048" y="213360"/>
                </a:lnTo>
                <a:lnTo>
                  <a:pt x="0" y="251840"/>
                </a:lnTo>
                <a:lnTo>
                  <a:pt x="761" y="271272"/>
                </a:lnTo>
                <a:lnTo>
                  <a:pt x="12318" y="328295"/>
                </a:lnTo>
                <a:lnTo>
                  <a:pt x="37718" y="382015"/>
                </a:lnTo>
                <a:lnTo>
                  <a:pt x="76961" y="430022"/>
                </a:lnTo>
                <a:lnTo>
                  <a:pt x="127000" y="467613"/>
                </a:lnTo>
                <a:lnTo>
                  <a:pt x="183133" y="491998"/>
                </a:lnTo>
                <a:lnTo>
                  <a:pt x="242697" y="503047"/>
                </a:lnTo>
                <a:lnTo>
                  <a:pt x="262889" y="503809"/>
                </a:lnTo>
                <a:lnTo>
                  <a:pt x="282955" y="503047"/>
                </a:lnTo>
                <a:lnTo>
                  <a:pt x="342518" y="491998"/>
                </a:lnTo>
                <a:lnTo>
                  <a:pt x="398652" y="467613"/>
                </a:lnTo>
                <a:lnTo>
                  <a:pt x="448690" y="430022"/>
                </a:lnTo>
                <a:lnTo>
                  <a:pt x="487933" y="382015"/>
                </a:lnTo>
                <a:lnTo>
                  <a:pt x="513333" y="328295"/>
                </a:lnTo>
                <a:lnTo>
                  <a:pt x="524890" y="271272"/>
                </a:lnTo>
                <a:lnTo>
                  <a:pt x="525652" y="251840"/>
                </a:lnTo>
                <a:lnTo>
                  <a:pt x="524890" y="232537"/>
                </a:lnTo>
                <a:lnTo>
                  <a:pt x="513333" y="175513"/>
                </a:lnTo>
                <a:lnTo>
                  <a:pt x="487933" y="121792"/>
                </a:lnTo>
                <a:lnTo>
                  <a:pt x="448690" y="73787"/>
                </a:lnTo>
                <a:lnTo>
                  <a:pt x="398652" y="36195"/>
                </a:lnTo>
                <a:lnTo>
                  <a:pt x="342518" y="11811"/>
                </a:lnTo>
                <a:lnTo>
                  <a:pt x="282955" y="762"/>
                </a:lnTo>
                <a:lnTo>
                  <a:pt x="262889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4" name="object 13">
            <a:extLst>
              <a:ext uri="{FF2B5EF4-FFF2-40B4-BE49-F238E27FC236}">
                <a16:creationId xmlns:a16="http://schemas.microsoft.com/office/drawing/2014/main" id="{C34FA8D5-187B-71F9-2898-B4ECE9B14DF5}"/>
              </a:ext>
            </a:extLst>
          </p:cNvPr>
          <p:cNvSpPr txBox="1"/>
          <p:nvPr/>
        </p:nvSpPr>
        <p:spPr>
          <a:xfrm>
            <a:off x="6889693" y="3807020"/>
            <a:ext cx="1714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5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5" name="object 14">
            <a:extLst>
              <a:ext uri="{FF2B5EF4-FFF2-40B4-BE49-F238E27FC236}">
                <a16:creationId xmlns:a16="http://schemas.microsoft.com/office/drawing/2014/main" id="{4A288030-B202-4E6B-3F54-92B5625D15C2}"/>
              </a:ext>
            </a:extLst>
          </p:cNvPr>
          <p:cNvSpPr/>
          <p:nvPr/>
        </p:nvSpPr>
        <p:spPr>
          <a:xfrm>
            <a:off x="7084002" y="4637855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90" y="0"/>
                </a:moveTo>
                <a:lnTo>
                  <a:pt x="202692" y="6603"/>
                </a:lnTo>
                <a:lnTo>
                  <a:pt x="145160" y="26542"/>
                </a:lnTo>
                <a:lnTo>
                  <a:pt x="92836" y="59816"/>
                </a:lnTo>
                <a:lnTo>
                  <a:pt x="49275" y="105028"/>
                </a:lnTo>
                <a:lnTo>
                  <a:pt x="19303" y="157098"/>
                </a:lnTo>
                <a:lnTo>
                  <a:pt x="3048" y="213359"/>
                </a:lnTo>
                <a:lnTo>
                  <a:pt x="0" y="251840"/>
                </a:lnTo>
                <a:lnTo>
                  <a:pt x="761" y="271271"/>
                </a:lnTo>
                <a:lnTo>
                  <a:pt x="12319" y="328294"/>
                </a:lnTo>
                <a:lnTo>
                  <a:pt x="37719" y="382015"/>
                </a:lnTo>
                <a:lnTo>
                  <a:pt x="76961" y="430021"/>
                </a:lnTo>
                <a:lnTo>
                  <a:pt x="127000" y="467613"/>
                </a:lnTo>
                <a:lnTo>
                  <a:pt x="183133" y="491997"/>
                </a:lnTo>
                <a:lnTo>
                  <a:pt x="242697" y="503046"/>
                </a:lnTo>
                <a:lnTo>
                  <a:pt x="262890" y="503808"/>
                </a:lnTo>
                <a:lnTo>
                  <a:pt x="282955" y="503046"/>
                </a:lnTo>
                <a:lnTo>
                  <a:pt x="342519" y="491997"/>
                </a:lnTo>
                <a:lnTo>
                  <a:pt x="398652" y="467613"/>
                </a:lnTo>
                <a:lnTo>
                  <a:pt x="448691" y="430021"/>
                </a:lnTo>
                <a:lnTo>
                  <a:pt x="487933" y="382015"/>
                </a:lnTo>
                <a:lnTo>
                  <a:pt x="513333" y="328294"/>
                </a:lnTo>
                <a:lnTo>
                  <a:pt x="524891" y="271271"/>
                </a:lnTo>
                <a:lnTo>
                  <a:pt x="525652" y="251840"/>
                </a:lnTo>
                <a:lnTo>
                  <a:pt x="524891" y="232536"/>
                </a:lnTo>
                <a:lnTo>
                  <a:pt x="513333" y="175513"/>
                </a:lnTo>
                <a:lnTo>
                  <a:pt x="487933" y="121792"/>
                </a:lnTo>
                <a:lnTo>
                  <a:pt x="448691" y="73786"/>
                </a:lnTo>
                <a:lnTo>
                  <a:pt x="398652" y="36194"/>
                </a:lnTo>
                <a:lnTo>
                  <a:pt x="342519" y="11810"/>
                </a:lnTo>
                <a:lnTo>
                  <a:pt x="282955" y="761"/>
                </a:lnTo>
                <a:lnTo>
                  <a:pt x="262890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6" name="object 15">
            <a:extLst>
              <a:ext uri="{FF2B5EF4-FFF2-40B4-BE49-F238E27FC236}">
                <a16:creationId xmlns:a16="http://schemas.microsoft.com/office/drawing/2014/main" id="{3C78D0EA-02D2-21DD-5322-80873154F003}"/>
              </a:ext>
            </a:extLst>
          </p:cNvPr>
          <p:cNvSpPr txBox="1"/>
          <p:nvPr/>
        </p:nvSpPr>
        <p:spPr>
          <a:xfrm>
            <a:off x="7270311" y="4726958"/>
            <a:ext cx="1536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7" name="object 16">
            <a:extLst>
              <a:ext uri="{FF2B5EF4-FFF2-40B4-BE49-F238E27FC236}">
                <a16:creationId xmlns:a16="http://schemas.microsoft.com/office/drawing/2014/main" id="{CB4A7B38-D90E-0DFC-CD7C-F29E3AF8C937}"/>
              </a:ext>
            </a:extLst>
          </p:cNvPr>
          <p:cNvSpPr/>
          <p:nvPr/>
        </p:nvSpPr>
        <p:spPr>
          <a:xfrm>
            <a:off x="5407602" y="3717359"/>
            <a:ext cx="525780" cy="504190"/>
          </a:xfrm>
          <a:custGeom>
            <a:avLst/>
            <a:gdLst/>
            <a:ahLst/>
            <a:cxnLst/>
            <a:rect l="l" t="t" r="r" b="b"/>
            <a:pathLst>
              <a:path w="525779" h="504189">
                <a:moveTo>
                  <a:pt x="262890" y="0"/>
                </a:moveTo>
                <a:lnTo>
                  <a:pt x="202692" y="6603"/>
                </a:lnTo>
                <a:lnTo>
                  <a:pt x="145160" y="26542"/>
                </a:lnTo>
                <a:lnTo>
                  <a:pt x="92837" y="59816"/>
                </a:lnTo>
                <a:lnTo>
                  <a:pt x="49275" y="105028"/>
                </a:lnTo>
                <a:lnTo>
                  <a:pt x="19303" y="157099"/>
                </a:lnTo>
                <a:lnTo>
                  <a:pt x="3048" y="213360"/>
                </a:lnTo>
                <a:lnTo>
                  <a:pt x="0" y="251840"/>
                </a:lnTo>
                <a:lnTo>
                  <a:pt x="762" y="271272"/>
                </a:lnTo>
                <a:lnTo>
                  <a:pt x="12318" y="328295"/>
                </a:lnTo>
                <a:lnTo>
                  <a:pt x="37718" y="382015"/>
                </a:lnTo>
                <a:lnTo>
                  <a:pt x="76962" y="430022"/>
                </a:lnTo>
                <a:lnTo>
                  <a:pt x="127000" y="467613"/>
                </a:lnTo>
                <a:lnTo>
                  <a:pt x="183133" y="491998"/>
                </a:lnTo>
                <a:lnTo>
                  <a:pt x="242697" y="503047"/>
                </a:lnTo>
                <a:lnTo>
                  <a:pt x="262890" y="503809"/>
                </a:lnTo>
                <a:lnTo>
                  <a:pt x="282955" y="503047"/>
                </a:lnTo>
                <a:lnTo>
                  <a:pt x="342519" y="491998"/>
                </a:lnTo>
                <a:lnTo>
                  <a:pt x="398652" y="467613"/>
                </a:lnTo>
                <a:lnTo>
                  <a:pt x="448691" y="430022"/>
                </a:lnTo>
                <a:lnTo>
                  <a:pt x="487933" y="382015"/>
                </a:lnTo>
                <a:lnTo>
                  <a:pt x="513333" y="328295"/>
                </a:lnTo>
                <a:lnTo>
                  <a:pt x="524891" y="271272"/>
                </a:lnTo>
                <a:lnTo>
                  <a:pt x="525652" y="251840"/>
                </a:lnTo>
                <a:lnTo>
                  <a:pt x="524891" y="232537"/>
                </a:lnTo>
                <a:lnTo>
                  <a:pt x="513333" y="175513"/>
                </a:lnTo>
                <a:lnTo>
                  <a:pt x="487933" y="121792"/>
                </a:lnTo>
                <a:lnTo>
                  <a:pt x="448691" y="73787"/>
                </a:lnTo>
                <a:lnTo>
                  <a:pt x="398652" y="36195"/>
                </a:lnTo>
                <a:lnTo>
                  <a:pt x="342519" y="11811"/>
                </a:lnTo>
                <a:lnTo>
                  <a:pt x="282955" y="762"/>
                </a:lnTo>
                <a:lnTo>
                  <a:pt x="262890" y="0"/>
                </a:lnTo>
                <a:close/>
              </a:path>
            </a:pathLst>
          </a:custGeom>
          <a:solidFill>
            <a:srgbClr val="EDC2C0"/>
          </a:solidFill>
        </p:spPr>
        <p:txBody>
          <a:bodyPr wrap="square" lIns="0" tIns="0" rIns="0" bIns="0" rtlCol="0"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8" name="object 17">
            <a:extLst>
              <a:ext uri="{FF2B5EF4-FFF2-40B4-BE49-F238E27FC236}">
                <a16:creationId xmlns:a16="http://schemas.microsoft.com/office/drawing/2014/main" id="{35FC9237-C345-EA1D-CFB6-5C9098E53865}"/>
              </a:ext>
            </a:extLst>
          </p:cNvPr>
          <p:cNvSpPr txBox="1"/>
          <p:nvPr/>
        </p:nvSpPr>
        <p:spPr>
          <a:xfrm>
            <a:off x="5581720" y="3807020"/>
            <a:ext cx="1790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8ED51342-34D1-9752-3CB9-297BB6577A5E}"/>
              </a:ext>
            </a:extLst>
          </p:cNvPr>
          <p:cNvSpPr txBox="1"/>
          <p:nvPr/>
        </p:nvSpPr>
        <p:spPr>
          <a:xfrm>
            <a:off x="8811711" y="2996504"/>
            <a:ext cx="2452370" cy="2086610"/>
          </a:xfrm>
          <a:prstGeom prst="rect">
            <a:avLst/>
          </a:prstGeom>
          <a:solidFill>
            <a:srgbClr val="EDC2C0"/>
          </a:solidFill>
        </p:spPr>
        <p:txBody>
          <a:bodyPr vert="horz" wrap="square" lIns="0" tIns="0" rIns="0" bIns="0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24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45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Times New Roman"/>
              <a:ea typeface="+mn-ea"/>
              <a:cs typeface="Times New Roman"/>
            </a:endParaRPr>
          </a:p>
          <a:p>
            <a:pPr marL="152400" marR="0" lvl="0" indent="0" algn="l" defTabSz="457200" rtl="0" eaLnBrk="1" fontAlgn="auto" latinLnBrk="0" hangingPunct="1">
              <a:lnSpc>
                <a:spcPct val="100000"/>
              </a:lnSpc>
              <a:spcBef>
                <a:spcPts val="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6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A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0" name="object 18">
            <a:extLst>
              <a:ext uri="{FF2B5EF4-FFF2-40B4-BE49-F238E27FC236}">
                <a16:creationId xmlns:a16="http://schemas.microsoft.com/office/drawing/2014/main" id="{B3433092-7D0E-48F7-0A89-53B138785314}"/>
              </a:ext>
            </a:extLst>
          </p:cNvPr>
          <p:cNvSpPr txBox="1"/>
          <p:nvPr/>
        </p:nvSpPr>
        <p:spPr>
          <a:xfrm>
            <a:off x="8890769" y="3190512"/>
            <a:ext cx="1167765" cy="525780"/>
          </a:xfrm>
          <a:prstGeom prst="rect">
            <a:avLst/>
          </a:prstGeom>
          <a:solidFill>
            <a:srgbClr val="F5DCDB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710" marR="0" lvl="0" indent="0" algn="l" defTabSz="4572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1" name="object 19">
            <a:extLst>
              <a:ext uri="{FF2B5EF4-FFF2-40B4-BE49-F238E27FC236}">
                <a16:creationId xmlns:a16="http://schemas.microsoft.com/office/drawing/2014/main" id="{3C526E28-DFE6-4A50-8CEB-1A7173E2A0A6}"/>
              </a:ext>
            </a:extLst>
          </p:cNvPr>
          <p:cNvSpPr txBox="1"/>
          <p:nvPr/>
        </p:nvSpPr>
        <p:spPr>
          <a:xfrm>
            <a:off x="10117590" y="3190512"/>
            <a:ext cx="1103630" cy="1801495"/>
          </a:xfrm>
          <a:prstGeom prst="rect">
            <a:avLst/>
          </a:prstGeom>
          <a:solidFill>
            <a:srgbClr val="F5DCDB"/>
          </a:solidFill>
        </p:spPr>
        <p:txBody>
          <a:bodyPr vert="horz" wrap="square" lIns="0" tIns="31750" rIns="0" bIns="0" rtlCol="0">
            <a:spAutoFit/>
          </a:bodyPr>
          <a:lstStyle/>
          <a:p>
            <a:pPr marL="92075" marR="0" lvl="0" indent="0" algn="l" defTabSz="457200" rtl="0" eaLnBrk="1" fontAlgn="auto" latinLnBrk="0" hangingPunct="1">
              <a:lnSpc>
                <a:spcPct val="100000"/>
              </a:lnSpc>
              <a:spcBef>
                <a:spcPts val="2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5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2" name="object 20">
            <a:extLst>
              <a:ext uri="{FF2B5EF4-FFF2-40B4-BE49-F238E27FC236}">
                <a16:creationId xmlns:a16="http://schemas.microsoft.com/office/drawing/2014/main" id="{63E94EAD-3AAD-B85E-6EF7-187C5FC29983}"/>
              </a:ext>
            </a:extLst>
          </p:cNvPr>
          <p:cNvSpPr txBox="1"/>
          <p:nvPr/>
        </p:nvSpPr>
        <p:spPr>
          <a:xfrm>
            <a:off x="10160262" y="3617231"/>
            <a:ext cx="1016635" cy="551815"/>
          </a:xfrm>
          <a:prstGeom prst="rect">
            <a:avLst/>
          </a:prstGeom>
          <a:solidFill>
            <a:srgbClr val="EDC2C0"/>
          </a:solidFill>
        </p:spPr>
        <p:txBody>
          <a:bodyPr vert="horz" wrap="square" lIns="0" tIns="32384" rIns="0" bIns="0" rtlCol="0">
            <a:spAutoFit/>
          </a:bodyPr>
          <a:lstStyle/>
          <a:p>
            <a:pPr marL="92710" marR="0" lvl="0" indent="0" algn="l" defTabSz="457200" rtl="0" eaLnBrk="1" fontAlgn="auto" latinLnBrk="0" hangingPunct="1">
              <a:lnSpc>
                <a:spcPct val="100000"/>
              </a:lnSpc>
              <a:spcBef>
                <a:spcPts val="254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3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D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23" name="object 21">
            <a:extLst>
              <a:ext uri="{FF2B5EF4-FFF2-40B4-BE49-F238E27FC236}">
                <a16:creationId xmlns:a16="http://schemas.microsoft.com/office/drawing/2014/main" id="{AEA78B49-B665-7E1A-81E2-2CDA057AAD71}"/>
              </a:ext>
            </a:extLst>
          </p:cNvPr>
          <p:cNvSpPr txBox="1"/>
          <p:nvPr/>
        </p:nvSpPr>
        <p:spPr>
          <a:xfrm>
            <a:off x="10160262" y="4304556"/>
            <a:ext cx="1016635" cy="567055"/>
          </a:xfrm>
          <a:prstGeom prst="rect">
            <a:avLst/>
          </a:prstGeom>
          <a:solidFill>
            <a:srgbClr val="EDC2C0"/>
          </a:solidFill>
        </p:spPr>
        <p:txBody>
          <a:bodyPr vert="horz" wrap="square" lIns="0" tIns="33019" rIns="0" bIns="0" rtlCol="0">
            <a:spAutoFit/>
          </a:bodyPr>
          <a:lstStyle/>
          <a:p>
            <a:pPr marL="92710" marR="0" lvl="0" indent="0" algn="l" defTabSz="457200" rtl="0" eaLnBrk="1" fontAlgn="auto" latinLnBrk="0" hangingPunct="1">
              <a:lnSpc>
                <a:spcPct val="100000"/>
              </a:lnSpc>
              <a:spcBef>
                <a:spcPts val="259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-19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</a:t>
            </a: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81996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6F1F0-27B6-79AA-462F-76251467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6D6BF-68E4-EB97-1D3F-D7D3ADABBE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CB415D-DC02-3B11-0EC6-0500BECB44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459126" cy="4428122"/>
          </a:xfrm>
        </p:spPr>
        <p:txBody>
          <a:bodyPr anchor="t">
            <a:normAutofit/>
          </a:bodyPr>
          <a:lstStyle/>
          <a:p>
            <a:r>
              <a:rPr lang="en-US" sz="2200" b="1" dirty="0"/>
              <a:t>Enclosure (</a:t>
            </a:r>
            <a:r>
              <a:rPr lang="en-US" sz="2200" b="1" dirty="0" err="1"/>
              <a:t>treemap</a:t>
            </a:r>
            <a:r>
              <a:rPr lang="en-US" sz="2200" b="1" dirty="0"/>
              <a:t>) Diagram</a:t>
            </a:r>
          </a:p>
          <a:p>
            <a:pPr lvl="1"/>
            <a:r>
              <a:rPr lang="en-US" sz="2200" dirty="0"/>
              <a:t>Can obscure depth </a:t>
            </a:r>
          </a:p>
          <a:p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199BFE-E8C7-FAC2-4245-1A0C7B1B29D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F49052D1-F6AB-0820-6060-C6AD21248C7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24856" y="2101854"/>
            <a:ext cx="6485951" cy="4506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70497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AD8943-F45A-A577-1D08-63E81526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705EA-8060-5E53-85AB-A0A89BB1E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382F59-233F-54E0-8E5D-6C6F84EB33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Creating an effective visualization depends on the primary goal of analysis</a:t>
            </a:r>
          </a:p>
          <a:p>
            <a:r>
              <a:rPr lang="en-US" sz="2200" dirty="0"/>
              <a:t>Each method of visual analysis has tradeoffs </a:t>
            </a:r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67A952F-CE8F-0E47-DED1-094DB436CC96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813208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5A56-0037-2355-E185-9B3AA6455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7B954-AAEC-B563-75D4-A5A0F4EA11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88F59-0830-5DC4-B533-494CE5D3CA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Each method of visual analysis has tradeoffs </a:t>
            </a:r>
          </a:p>
          <a:p>
            <a:r>
              <a:rPr lang="en-US" sz="2200" b="1" dirty="0"/>
              <a:t>Reingold-Tilford algorithm</a:t>
            </a:r>
          </a:p>
          <a:p>
            <a:pPr lvl="1"/>
            <a:r>
              <a:rPr lang="en-US" sz="2200" b="1" dirty="0"/>
              <a:t>PROS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understandable visual mapping</a:t>
            </a:r>
          </a:p>
          <a:p>
            <a:pPr lvl="2"/>
            <a:r>
              <a:rPr lang="en-US" sz="2200" dirty="0"/>
              <a:t>shows overall structure, clusters, paths</a:t>
            </a:r>
          </a:p>
          <a:p>
            <a:pPr lvl="2"/>
            <a:r>
              <a:rPr lang="en-US" sz="2200" dirty="0"/>
              <a:t>flexible, many variations / layouts</a:t>
            </a:r>
          </a:p>
          <a:p>
            <a:pPr lvl="1"/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most trivial algorithms are slow</a:t>
            </a:r>
          </a:p>
          <a:p>
            <a:pPr lvl="2"/>
            <a:r>
              <a:rPr lang="en-US" sz="2200" dirty="0"/>
              <a:t>not good for dense (very connected) graphs</a:t>
            </a:r>
          </a:p>
          <a:p>
            <a:endParaRPr lang="en-US" sz="2200" dirty="0"/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5543BED-CB99-9BA7-A96F-BE603AC8BB70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5" name="object 7">
            <a:extLst>
              <a:ext uri="{FF2B5EF4-FFF2-40B4-BE49-F238E27FC236}">
                <a16:creationId xmlns:a16="http://schemas.microsoft.com/office/drawing/2014/main" id="{F2BF82F0-748E-5739-6813-43B422635FA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31023" y="1051971"/>
            <a:ext cx="3091748" cy="3236156"/>
          </a:xfrm>
          <a:prstGeom prst="rect">
            <a:avLst/>
          </a:prstGeom>
        </p:spPr>
      </p:pic>
      <p:pic>
        <p:nvPicPr>
          <p:cNvPr id="6" name="object 8">
            <a:extLst>
              <a:ext uri="{FF2B5EF4-FFF2-40B4-BE49-F238E27FC236}">
                <a16:creationId xmlns:a16="http://schemas.microsoft.com/office/drawing/2014/main" id="{62808160-8F29-3F23-1964-3B6AACDB83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028865" y="3624142"/>
            <a:ext cx="3034283" cy="3035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805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779408-6672-1F70-A22A-63030D21A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CEC36-48CA-33C3-2B03-FF318898F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09319-AA9D-0C00-EC6D-AC5D8C946A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Each method of visual analysis has tradeoffs </a:t>
            </a:r>
          </a:p>
          <a:p>
            <a:r>
              <a:rPr lang="en-US" sz="2200" b="1" dirty="0"/>
              <a:t>Force-directed Layout</a:t>
            </a:r>
          </a:p>
          <a:p>
            <a:pPr lvl="1"/>
            <a:r>
              <a:rPr lang="en-US" sz="2200" b="1" dirty="0"/>
              <a:t>PROS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aesthetically-pleasing </a:t>
            </a:r>
          </a:p>
          <a:p>
            <a:pPr lvl="2"/>
            <a:r>
              <a:rPr lang="en-US" sz="2200" dirty="0"/>
              <a:t>interactive (pull &amp; drag!)</a:t>
            </a:r>
          </a:p>
          <a:p>
            <a:pPr lvl="2"/>
            <a:r>
              <a:rPr lang="en-US" sz="2200" dirty="0"/>
              <a:t>automatic &amp; flexible</a:t>
            </a:r>
          </a:p>
          <a:p>
            <a:pPr lvl="1"/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forces are computationally expensive ~ O(n2)</a:t>
            </a:r>
          </a:p>
          <a:p>
            <a:pPr lvl="2"/>
            <a:r>
              <a:rPr lang="en-US" sz="2200" dirty="0"/>
              <a:t>doesn’t work well on dense graphs</a:t>
            </a:r>
          </a:p>
          <a:p>
            <a:pPr marL="0" indent="0">
              <a:buNone/>
            </a:pPr>
            <a:endParaRPr lang="en-US" sz="2200" b="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A4F2A73-2B60-2E3B-3A2B-DB222844020F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22A3A438-3F9A-A175-7356-D7FE6D5593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41226" y="1240398"/>
            <a:ext cx="4565298" cy="3598164"/>
          </a:xfrm>
          <a:prstGeom prst="rect">
            <a:avLst/>
          </a:prstGeom>
        </p:spPr>
      </p:pic>
      <p:pic>
        <p:nvPicPr>
          <p:cNvPr id="5" name="object 4">
            <a:extLst>
              <a:ext uri="{FF2B5EF4-FFF2-40B4-BE49-F238E27FC236}">
                <a16:creationId xmlns:a16="http://schemas.microsoft.com/office/drawing/2014/main" id="{B4455DF9-FD14-4B17-C922-492807710318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457585" y="4059798"/>
            <a:ext cx="2746248" cy="2321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8783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E00F5-AC2D-CBED-C8FF-9556EBDA92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A9B96-2705-C615-35AD-CFEF12B5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 analysis: techniques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DE9FB-3DF6-D144-1FF1-42F7A14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 lnSpcReduction="10000"/>
          </a:bodyPr>
          <a:lstStyle/>
          <a:p>
            <a:r>
              <a:rPr lang="en-US" sz="2200" dirty="0"/>
              <a:t>Each method of visual analysis has tradeoffs </a:t>
            </a:r>
          </a:p>
          <a:p>
            <a:r>
              <a:rPr lang="en-US" sz="2200" b="1" dirty="0"/>
              <a:t>Adjacency Diagram</a:t>
            </a:r>
          </a:p>
          <a:p>
            <a:pPr lvl="1"/>
            <a:r>
              <a:rPr lang="en-US" sz="2200" b="1" dirty="0"/>
              <a:t>PROS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great for dense graphs</a:t>
            </a:r>
          </a:p>
          <a:p>
            <a:pPr lvl="2"/>
            <a:r>
              <a:rPr lang="en-US" sz="2200" dirty="0"/>
              <a:t>visually scalable</a:t>
            </a:r>
          </a:p>
          <a:p>
            <a:pPr lvl="2"/>
            <a:r>
              <a:rPr lang="en-US" sz="2200" dirty="0"/>
              <a:t>can spot clusters</a:t>
            </a:r>
          </a:p>
          <a:p>
            <a:pPr lvl="1"/>
            <a:r>
              <a:rPr lang="en-US" sz="2200" b="1" dirty="0"/>
              <a:t>CONS</a:t>
            </a:r>
            <a:r>
              <a:rPr lang="en-US" sz="2200" dirty="0"/>
              <a:t>:</a:t>
            </a:r>
          </a:p>
          <a:p>
            <a:pPr lvl="2"/>
            <a:r>
              <a:rPr lang="en-US" sz="2200" dirty="0"/>
              <a:t>row order affects what you can see</a:t>
            </a:r>
          </a:p>
          <a:p>
            <a:pPr lvl="2"/>
            <a:r>
              <a:rPr lang="en-US" sz="2200" dirty="0"/>
              <a:t>abstract visualization</a:t>
            </a:r>
          </a:p>
          <a:p>
            <a:pPr lvl="2"/>
            <a:r>
              <a:rPr lang="en-US" sz="2200" dirty="0"/>
              <a:t>hard to follow paths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2ADE432-D77F-84FB-1E2D-8A8D21BC6B5B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  <p:pic>
        <p:nvPicPr>
          <p:cNvPr id="4" name="object 30">
            <a:extLst>
              <a:ext uri="{FF2B5EF4-FFF2-40B4-BE49-F238E27FC236}">
                <a16:creationId xmlns:a16="http://schemas.microsoft.com/office/drawing/2014/main" id="{D4076088-CF81-0B00-4F40-09449F8CCA30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898999" y="1932154"/>
            <a:ext cx="3557016" cy="3549396"/>
          </a:xfrm>
          <a:prstGeom prst="rect">
            <a:avLst/>
          </a:prstGeom>
        </p:spPr>
      </p:pic>
      <p:pic>
        <p:nvPicPr>
          <p:cNvPr id="5" name="object 31">
            <a:extLst>
              <a:ext uri="{FF2B5EF4-FFF2-40B4-BE49-F238E27FC236}">
                <a16:creationId xmlns:a16="http://schemas.microsoft.com/office/drawing/2014/main" id="{C5F15DD4-B200-9395-8B30-7F95CCE1EA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91651" y="1525245"/>
            <a:ext cx="2414016" cy="2415540"/>
          </a:xfrm>
          <a:prstGeom prst="rect">
            <a:avLst/>
          </a:prstGeom>
        </p:spPr>
      </p:pic>
      <p:pic>
        <p:nvPicPr>
          <p:cNvPr id="6" name="object 32">
            <a:extLst>
              <a:ext uri="{FF2B5EF4-FFF2-40B4-BE49-F238E27FC236}">
                <a16:creationId xmlns:a16="http://schemas.microsoft.com/office/drawing/2014/main" id="{D5AE0177-24D8-EF01-7811-33A6A18985D3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91651" y="4158718"/>
            <a:ext cx="2414016" cy="2407920"/>
          </a:xfrm>
          <a:prstGeom prst="rect">
            <a:avLst/>
          </a:prstGeom>
        </p:spPr>
      </p:pic>
      <p:sp>
        <p:nvSpPr>
          <p:cNvPr id="7" name="object 33">
            <a:extLst>
              <a:ext uri="{FF2B5EF4-FFF2-40B4-BE49-F238E27FC236}">
                <a16:creationId xmlns:a16="http://schemas.microsoft.com/office/drawing/2014/main" id="{D9BAC9EF-000A-77F4-ED83-633AB89E392D}"/>
              </a:ext>
            </a:extLst>
          </p:cNvPr>
          <p:cNvSpPr txBox="1"/>
          <p:nvPr/>
        </p:nvSpPr>
        <p:spPr>
          <a:xfrm>
            <a:off x="6589117" y="5525491"/>
            <a:ext cx="264033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sng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Why</a:t>
            </a:r>
            <a:r>
              <a:rPr kumimoji="0" sz="1200" b="0" i="0" u="sng" strike="noStrike" kern="1200" cap="none" spc="4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kumimoji="0" sz="1200" b="0" i="0" u="sng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does</a:t>
            </a:r>
            <a:r>
              <a:rPr kumimoji="0" sz="1200" b="0" i="0" u="sng" strike="noStrike" kern="1200" cap="none" spc="3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kumimoji="0" sz="1200" b="0" i="0" u="sng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ordering</a:t>
            </a:r>
            <a:r>
              <a:rPr kumimoji="0" sz="1200" b="0" i="0" u="sng" strike="noStrike" kern="1200" cap="none" spc="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 </a:t>
            </a:r>
            <a:r>
              <a:rPr kumimoji="0" sz="1200" b="0" i="0" u="sng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>
                  <a:solidFill>
                    <a:srgbClr val="000000"/>
                  </a:solidFill>
                </a:uFill>
                <a:latin typeface="Arial"/>
                <a:ea typeface="+mn-ea"/>
                <a:cs typeface="Arial"/>
              </a:rPr>
              <a:t>matter?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-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(above)</a:t>
            </a:r>
            <a:r>
              <a:rPr kumimoji="0" sz="1200" b="0" i="0" u="none" strike="noStrike" kern="1200" cap="none" spc="3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layout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ordered</a:t>
            </a:r>
            <a:r>
              <a:rPr kumimoji="0" sz="1200" b="0" i="0" u="none" strike="noStrike" kern="1200" cap="none" spc="2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1200" b="0" i="0" u="none" strike="noStrike" kern="1200" cap="none" spc="5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Name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12700" marR="508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(left,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top)</a:t>
            </a:r>
            <a:r>
              <a:rPr kumimoji="0" sz="1200" b="0" i="0" u="none" strike="noStrike" kern="1200" cap="none" spc="15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layout</a:t>
            </a:r>
            <a:r>
              <a:rPr kumimoji="0" sz="1200" b="0" i="0" u="none" strike="noStrike" kern="1200" cap="none" spc="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ordered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Frequency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(left,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bot)</a:t>
            </a:r>
            <a:r>
              <a:rPr kumimoji="0" sz="1200" b="0" i="0" u="none" strike="noStrike" kern="1200" cap="none" spc="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layout</a:t>
            </a:r>
            <a:r>
              <a:rPr kumimoji="0" sz="1200" b="0" i="0" u="none" strike="noStrike" kern="1200" cap="none" spc="2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ordered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by</a:t>
            </a:r>
            <a:r>
              <a:rPr kumimoji="0" sz="1200" b="0" i="0" u="none" strike="noStrike" kern="1200" cap="none" spc="4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 </a:t>
            </a:r>
            <a:r>
              <a:rPr kumimoji="0" sz="1200" b="0" i="0" u="none" strike="noStrike" kern="1200" cap="none" spc="-10" normalizeH="0" baseline="0" noProof="0" dirty="0">
                <a:ln>
                  <a:noFill/>
                </a:ln>
                <a:solidFill>
                  <a:srgbClr val="2F2B20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Cluster</a:t>
            </a: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srgbClr val="2F2B20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54007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2F229-800F-6F85-5B9D-2ACE9C8EC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748D8-EEDB-C87A-7FF3-60EEFD58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DC6BC-A61E-B32B-239B-9DD68E866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1" y="2180496"/>
            <a:ext cx="11029615" cy="4428122"/>
          </a:xfrm>
        </p:spPr>
        <p:txBody>
          <a:bodyPr anchor="t">
            <a:normAutofit/>
          </a:bodyPr>
          <a:lstStyle/>
          <a:p>
            <a:r>
              <a:rPr lang="en-US" sz="2200" dirty="0"/>
              <a:t>Your Turn:</a:t>
            </a:r>
          </a:p>
          <a:p>
            <a:pPr lvl="1"/>
            <a:r>
              <a:rPr lang="en-US" sz="2000" dirty="0"/>
              <a:t>Find a visualization of network data </a:t>
            </a:r>
          </a:p>
          <a:p>
            <a:pPr lvl="1"/>
            <a:r>
              <a:rPr lang="en-US" sz="2000" dirty="0"/>
              <a:t>Re-draw the visualization using a different method than the original </a:t>
            </a:r>
          </a:p>
          <a:p>
            <a:pPr lvl="1"/>
            <a:r>
              <a:rPr lang="en-US" sz="2000" dirty="0"/>
              <a:t>Does anything become apparent in the re-draw that was hidden in the original? Which do you think is more effective? Why? 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F15E427-73E0-AFC4-A517-227279C99765}"/>
              </a:ext>
            </a:extLst>
          </p:cNvPr>
          <p:cNvSpPr txBox="1"/>
          <p:nvPr/>
        </p:nvSpPr>
        <p:spPr>
          <a:xfrm>
            <a:off x="2735985" y="5737351"/>
            <a:ext cx="3321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orbel" panose="020B0503020204020204"/>
                <a:ea typeface="+mn-ea"/>
                <a:cs typeface="+mn-cs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5530968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1502</TotalTime>
  <Words>1443</Words>
  <Application>Microsoft Macintosh PowerPoint</Application>
  <PresentationFormat>Widescreen</PresentationFormat>
  <Paragraphs>300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Arial</vt:lpstr>
      <vt:lpstr>Cambria Math</vt:lpstr>
      <vt:lpstr>Corbel</vt:lpstr>
      <vt:lpstr>Gill Sans MT</vt:lpstr>
      <vt:lpstr>Times New Roman</vt:lpstr>
      <vt:lpstr>Wingdings 2</vt:lpstr>
      <vt:lpstr>Dividend</vt:lpstr>
      <vt:lpstr>Visual Analytics:   network analysis</vt:lpstr>
      <vt:lpstr>Today’s plan</vt:lpstr>
      <vt:lpstr>Definition: graph</vt:lpstr>
      <vt:lpstr>Mathematical intuition</vt:lpstr>
      <vt:lpstr>Mathematical intuition</vt:lpstr>
      <vt:lpstr>Mathematical intuition</vt:lpstr>
      <vt:lpstr>Mathematical intuition</vt:lpstr>
      <vt:lpstr>Mathematical intuition</vt:lpstr>
      <vt:lpstr>Mathematical intuition</vt:lpstr>
      <vt:lpstr>Mathematical intuition</vt:lpstr>
      <vt:lpstr>Recall -- Definition: graph</vt:lpstr>
      <vt:lpstr>Modeling with graphs</vt:lpstr>
      <vt:lpstr>Modeling with graphs</vt:lpstr>
      <vt:lpstr>Visual analysis</vt:lpstr>
      <vt:lpstr>Visual analysis: insights</vt:lpstr>
      <vt:lpstr>Visual analysis: insights</vt:lpstr>
      <vt:lpstr>Visual analysis: insights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Visual analysis: techniques</vt:lpstr>
      <vt:lpstr>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 Mosca</dc:creator>
  <cp:lastModifiedBy>Ab Mosca</cp:lastModifiedBy>
  <cp:revision>54</cp:revision>
  <dcterms:created xsi:type="dcterms:W3CDTF">2025-11-19T17:12:35Z</dcterms:created>
  <dcterms:modified xsi:type="dcterms:W3CDTF">2026-02-19T12:40:29Z</dcterms:modified>
</cp:coreProperties>
</file>