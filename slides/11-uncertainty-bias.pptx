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notesMasterIdLst>
    <p:notesMasterId r:id="rId30"/>
  </p:notesMasterIdLst>
  <p:sldIdLst>
    <p:sldId id="256" r:id="rId2"/>
    <p:sldId id="312" r:id="rId3"/>
    <p:sldId id="257" r:id="rId4"/>
    <p:sldId id="258" r:id="rId5"/>
    <p:sldId id="259" r:id="rId6"/>
    <p:sldId id="260" r:id="rId7"/>
    <p:sldId id="289" r:id="rId8"/>
    <p:sldId id="290" r:id="rId9"/>
    <p:sldId id="291" r:id="rId10"/>
    <p:sldId id="292" r:id="rId11"/>
    <p:sldId id="293" r:id="rId12"/>
    <p:sldId id="294" r:id="rId13"/>
    <p:sldId id="295" r:id="rId14"/>
    <p:sldId id="296" r:id="rId15"/>
    <p:sldId id="297" r:id="rId16"/>
    <p:sldId id="298" r:id="rId17"/>
    <p:sldId id="300" r:id="rId18"/>
    <p:sldId id="299" r:id="rId19"/>
    <p:sldId id="306" r:id="rId20"/>
    <p:sldId id="307" r:id="rId21"/>
    <p:sldId id="308" r:id="rId22"/>
    <p:sldId id="301" r:id="rId23"/>
    <p:sldId id="304" r:id="rId24"/>
    <p:sldId id="302" r:id="rId25"/>
    <p:sldId id="303" r:id="rId26"/>
    <p:sldId id="309" r:id="rId27"/>
    <p:sldId id="310" r:id="rId28"/>
    <p:sldId id="311" r:id="rId2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5942"/>
    <p:restoredTop sz="94600"/>
  </p:normalViewPr>
  <p:slideViewPr>
    <p:cSldViewPr snapToGrid="0">
      <p:cViewPr varScale="1">
        <p:scale>
          <a:sx n="85" d="100"/>
          <a:sy n="85" d="100"/>
        </p:scale>
        <p:origin x="520"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D22518-F7FE-2E40-9C60-793856882CE6}" type="datetimeFigureOut">
              <a:rPr lang="en-US" smtClean="0"/>
              <a:t>3/10/26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2CD335-F0CB-D347-B8A5-7AB70F34C34F}" type="slidenum">
              <a:rPr lang="en-US" smtClean="0"/>
              <a:t>‹#›</a:t>
            </a:fld>
            <a:endParaRPr lang="en-US"/>
          </a:p>
        </p:txBody>
      </p:sp>
    </p:spTree>
    <p:extLst>
      <p:ext uri="{BB962C8B-B14F-4D97-AF65-F5344CB8AC3E}">
        <p14:creationId xmlns:p14="http://schemas.microsoft.com/office/powerpoint/2010/main" val="84406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62CD335-F0CB-D347-B8A5-7AB70F34C34F}" type="slidenum">
              <a:rPr lang="en-US" smtClean="0"/>
              <a:t>1</a:t>
            </a:fld>
            <a:endParaRPr lang="en-US"/>
          </a:p>
        </p:txBody>
      </p:sp>
    </p:spTree>
    <p:extLst>
      <p:ext uri="{BB962C8B-B14F-4D97-AF65-F5344CB8AC3E}">
        <p14:creationId xmlns:p14="http://schemas.microsoft.com/office/powerpoint/2010/main" val="27831779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42424"/>
                </a:solidFill>
                <a:effectLst/>
                <a:latin typeface="source-serif-pro"/>
              </a:rPr>
              <a:t>monthly jobs figures, as shown in this visualization based on data from the Bureau of Labor Statistics (BLS):</a:t>
            </a:r>
          </a:p>
          <a:p>
            <a:endParaRPr lang="en-US" b="0" i="0" dirty="0">
              <a:solidFill>
                <a:srgbClr val="242424"/>
              </a:solidFill>
              <a:effectLst/>
              <a:latin typeface="source-serif-pro"/>
            </a:endParaRPr>
          </a:p>
          <a:p>
            <a:r>
              <a:rPr lang="en-US" b="0" i="0" dirty="0">
                <a:solidFill>
                  <a:srgbClr val="242424"/>
                </a:solidFill>
                <a:effectLst/>
                <a:latin typeface="source-serif-pro"/>
              </a:rPr>
              <a:t>At first glance, we might interpret the values in the chart as the outcome of asking every person in the country if they are unemployed, or perhaps some proxy we imagine would capture that information, like the proportion of workers in the U.S. on unemployment insurance. In reality, the government relies on the Current Population Survey (CPS), which is a survey of 60,000 eligible households — roughly 110,000 people — that are selected to be representative of the U.S. population. Employment information from this sample is weighted by demographics to give an estimate of the unemployment rate in the U.S. population at large</a:t>
            </a:r>
            <a:endParaRPr lang="en-US" dirty="0"/>
          </a:p>
        </p:txBody>
      </p:sp>
      <p:sp>
        <p:nvSpPr>
          <p:cNvPr id="4" name="Slide Number Placeholder 3"/>
          <p:cNvSpPr>
            <a:spLocks noGrp="1"/>
          </p:cNvSpPr>
          <p:nvPr>
            <p:ph type="sldNum" sz="quarter" idx="5"/>
          </p:nvPr>
        </p:nvSpPr>
        <p:spPr/>
        <p:txBody>
          <a:bodyPr/>
          <a:lstStyle/>
          <a:p>
            <a:fld id="{E666506D-5C9B-294C-B2AE-15ACE8B5B9F7}" type="slidenum">
              <a:rPr lang="en-US" smtClean="0"/>
              <a:t>5</a:t>
            </a:fld>
            <a:endParaRPr lang="en-US"/>
          </a:p>
        </p:txBody>
      </p:sp>
    </p:spTree>
    <p:extLst>
      <p:ext uri="{BB962C8B-B14F-4D97-AF65-F5344CB8AC3E}">
        <p14:creationId xmlns:p14="http://schemas.microsoft.com/office/powerpoint/2010/main" val="29164827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666506D-5C9B-294C-B2AE-15ACE8B5B9F7}" type="slidenum">
              <a:rPr lang="en-US" smtClean="0"/>
              <a:t>6</a:t>
            </a:fld>
            <a:endParaRPr lang="en-US"/>
          </a:p>
        </p:txBody>
      </p:sp>
    </p:spTree>
    <p:extLst>
      <p:ext uri="{BB962C8B-B14F-4D97-AF65-F5344CB8AC3E}">
        <p14:creationId xmlns:p14="http://schemas.microsoft.com/office/powerpoint/2010/main" val="32943556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80C466-BBF6-1F54-B798-57F3BAF672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797706-7471-70A0-32EC-5FAEA2EE65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8ED0D7-2B7D-4391-4D46-752DFB0284B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solidFill>
                  <a:srgbClr val="242424"/>
                </a:solidFill>
                <a:effectLst/>
                <a:latin typeface="source-serif-pro"/>
              </a:rPr>
              <a:t>For the sake of explaining uncertainty, we created a statistical model that allows us to point to intervals, like 3.5% — 3.8%, and say that there is 95% chance that the interval contains the true unemployment value. Unfortunately, many intervals that we see, including from the BLS, are not so easily interpreted: the 95% instead refers to a property of the process used to construct the interval, not the chance that it contains the true value</a:t>
            </a:r>
            <a:endParaRPr lang="en-US" dirty="0"/>
          </a:p>
          <a:p>
            <a:endParaRPr lang="en-US" dirty="0"/>
          </a:p>
        </p:txBody>
      </p:sp>
      <p:sp>
        <p:nvSpPr>
          <p:cNvPr id="4" name="Slide Number Placeholder 3">
            <a:extLst>
              <a:ext uri="{FF2B5EF4-FFF2-40B4-BE49-F238E27FC236}">
                <a16:creationId xmlns:a16="http://schemas.microsoft.com/office/drawing/2014/main" id="{A5BECD9F-1FE7-1C34-FE9C-88CCAADD6898}"/>
              </a:ext>
            </a:extLst>
          </p:cNvPr>
          <p:cNvSpPr>
            <a:spLocks noGrp="1"/>
          </p:cNvSpPr>
          <p:nvPr>
            <p:ph type="sldNum" sz="quarter" idx="5"/>
          </p:nvPr>
        </p:nvSpPr>
        <p:spPr/>
        <p:txBody>
          <a:bodyPr/>
          <a:lstStyle/>
          <a:p>
            <a:fld id="{E666506D-5C9B-294C-B2AE-15ACE8B5B9F7}" type="slidenum">
              <a:rPr lang="en-US" smtClean="0"/>
              <a:t>7</a:t>
            </a:fld>
            <a:endParaRPr lang="en-US"/>
          </a:p>
        </p:txBody>
      </p:sp>
    </p:spTree>
    <p:extLst>
      <p:ext uri="{BB962C8B-B14F-4D97-AF65-F5344CB8AC3E}">
        <p14:creationId xmlns:p14="http://schemas.microsoft.com/office/powerpoint/2010/main" val="41363990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7DD20-57F2-1A39-E202-B685E6547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89D4EB-59AE-FDF7-ACCE-3465E220CF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3CCB20-26D1-F5B0-BB2D-44F3FE9EBF6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1F57CC7-38C0-5F33-2870-C2F299FD41DE}"/>
              </a:ext>
            </a:extLst>
          </p:cNvPr>
          <p:cNvSpPr>
            <a:spLocks noGrp="1"/>
          </p:cNvSpPr>
          <p:nvPr>
            <p:ph type="sldNum" sz="quarter" idx="5"/>
          </p:nvPr>
        </p:nvSpPr>
        <p:spPr/>
        <p:txBody>
          <a:bodyPr/>
          <a:lstStyle/>
          <a:p>
            <a:fld id="{E666506D-5C9B-294C-B2AE-15ACE8B5B9F7}" type="slidenum">
              <a:rPr lang="en-US" smtClean="0"/>
              <a:t>8</a:t>
            </a:fld>
            <a:endParaRPr lang="en-US"/>
          </a:p>
        </p:txBody>
      </p:sp>
    </p:spTree>
    <p:extLst>
      <p:ext uri="{BB962C8B-B14F-4D97-AF65-F5344CB8AC3E}">
        <p14:creationId xmlns:p14="http://schemas.microsoft.com/office/powerpoint/2010/main" val="7503603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quantile </a:t>
            </a:r>
            <a:r>
              <a:rPr lang="en-US" dirty="0" err="1"/>
              <a:t>dotplot</a:t>
            </a:r>
            <a:r>
              <a:rPr lang="en-US" dirty="0"/>
              <a:t> represents a distribution where dots are sampled proportional to the quantiles of the distribution. In this case, each dot depicts a 5% probability. Using this figure as an illustration, imagine that the viewer’s task is to determine if a bus will arrive in 8 min or later. With the quantile </a:t>
            </a:r>
            <a:r>
              <a:rPr lang="en-US" dirty="0" err="1"/>
              <a:t>dotplot</a:t>
            </a:r>
            <a:r>
              <a:rPr lang="en-US" dirty="0"/>
              <a:t>, the viewer can count the dots to determine that there is a 90% chance that the bus will in arrive 8 min or later.</a:t>
            </a:r>
          </a:p>
        </p:txBody>
      </p:sp>
      <p:sp>
        <p:nvSpPr>
          <p:cNvPr id="4" name="Slide Number Placeholder 3"/>
          <p:cNvSpPr>
            <a:spLocks noGrp="1"/>
          </p:cNvSpPr>
          <p:nvPr>
            <p:ph type="sldNum" sz="quarter" idx="5"/>
          </p:nvPr>
        </p:nvSpPr>
        <p:spPr/>
        <p:txBody>
          <a:bodyPr/>
          <a:lstStyle/>
          <a:p>
            <a:fld id="{362CD335-F0CB-D347-B8A5-7AB70F34C34F}" type="slidenum">
              <a:rPr lang="en-US" smtClean="0"/>
              <a:t>11</a:t>
            </a:fld>
            <a:endParaRPr lang="en-US"/>
          </a:p>
        </p:txBody>
      </p:sp>
    </p:spTree>
    <p:extLst>
      <p:ext uri="{BB962C8B-B14F-4D97-AF65-F5344CB8AC3E}">
        <p14:creationId xmlns:p14="http://schemas.microsoft.com/office/powerpoint/2010/main" val="6726055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Wall, Emily. (2026). Human Bias in Visual Data Analysis: A Synthesis of Research to Empower Decision Makers. 10.1007/978-3-032-09307-3. </a:t>
            </a:r>
          </a:p>
        </p:txBody>
      </p:sp>
      <p:sp>
        <p:nvSpPr>
          <p:cNvPr id="4" name="Slide Number Placeholder 3"/>
          <p:cNvSpPr>
            <a:spLocks noGrp="1"/>
          </p:cNvSpPr>
          <p:nvPr>
            <p:ph type="sldNum" sz="quarter" idx="5"/>
          </p:nvPr>
        </p:nvSpPr>
        <p:spPr/>
        <p:txBody>
          <a:bodyPr/>
          <a:lstStyle/>
          <a:p>
            <a:fld id="{362CD335-F0CB-D347-B8A5-7AB70F34C34F}" type="slidenum">
              <a:rPr lang="en-US" smtClean="0"/>
              <a:t>16</a:t>
            </a:fld>
            <a:endParaRPr lang="en-US"/>
          </a:p>
        </p:txBody>
      </p:sp>
    </p:spTree>
    <p:extLst>
      <p:ext uri="{BB962C8B-B14F-4D97-AF65-F5344CB8AC3E}">
        <p14:creationId xmlns:p14="http://schemas.microsoft.com/office/powerpoint/2010/main" val="356348454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650462-D0F9-B809-F2D5-53D3ADD867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48E6D-9DE3-EE5F-234B-C101C1A1A3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8406FB-A3E0-0FA1-BFA9-83365FDD0E3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F85855A-12E5-F4A3-D9C4-7B5453373F30}"/>
              </a:ext>
            </a:extLst>
          </p:cNvPr>
          <p:cNvSpPr>
            <a:spLocks noGrp="1"/>
          </p:cNvSpPr>
          <p:nvPr>
            <p:ph type="sldNum" sz="quarter" idx="5"/>
          </p:nvPr>
        </p:nvSpPr>
        <p:spPr/>
        <p:txBody>
          <a:bodyPr/>
          <a:lstStyle/>
          <a:p>
            <a:fld id="{362CD335-F0CB-D347-B8A5-7AB70F34C34F}" type="slidenum">
              <a:rPr lang="en-US" smtClean="0"/>
              <a:t>17</a:t>
            </a:fld>
            <a:endParaRPr lang="en-US"/>
          </a:p>
        </p:txBody>
      </p:sp>
    </p:spTree>
    <p:extLst>
      <p:ext uri="{BB962C8B-B14F-4D97-AF65-F5344CB8AC3E}">
        <p14:creationId xmlns:p14="http://schemas.microsoft.com/office/powerpoint/2010/main" val="25265524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08B4AC-32A3-0C78-EA40-21C417A18E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87C75A-BA07-4830-7A6C-FCBB61D2ED5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490EA2-8740-3545-944A-CF9DE5B98C0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281DFC-A1A4-BB30-2857-42F3656AD93A}"/>
              </a:ext>
            </a:extLst>
          </p:cNvPr>
          <p:cNvSpPr>
            <a:spLocks noGrp="1"/>
          </p:cNvSpPr>
          <p:nvPr>
            <p:ph type="sldNum" sz="quarter" idx="5"/>
          </p:nvPr>
        </p:nvSpPr>
        <p:spPr/>
        <p:txBody>
          <a:bodyPr/>
          <a:lstStyle/>
          <a:p>
            <a:fld id="{362CD335-F0CB-D347-B8A5-7AB70F34C34F}" type="slidenum">
              <a:rPr lang="en-US" smtClean="0"/>
              <a:t>18</a:t>
            </a:fld>
            <a:endParaRPr lang="en-US"/>
          </a:p>
        </p:txBody>
      </p:sp>
    </p:spTree>
    <p:extLst>
      <p:ext uri="{BB962C8B-B14F-4D97-AF65-F5344CB8AC3E}">
        <p14:creationId xmlns:p14="http://schemas.microsoft.com/office/powerpoint/2010/main" val="36133835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BA722-2F72-54DE-9678-59438CCA12B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4D7E04-8426-C34F-B4CD-0E7118D431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889220-9D34-C429-4A45-D09A9EC6896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AC4DD3F-062D-A426-534D-A2F860769192}"/>
              </a:ext>
            </a:extLst>
          </p:cNvPr>
          <p:cNvSpPr>
            <a:spLocks noGrp="1"/>
          </p:cNvSpPr>
          <p:nvPr>
            <p:ph type="sldNum" sz="quarter" idx="5"/>
          </p:nvPr>
        </p:nvSpPr>
        <p:spPr/>
        <p:txBody>
          <a:bodyPr/>
          <a:lstStyle/>
          <a:p>
            <a:fld id="{362CD335-F0CB-D347-B8A5-7AB70F34C34F}" type="slidenum">
              <a:rPr lang="en-US" smtClean="0"/>
              <a:t>19</a:t>
            </a:fld>
            <a:endParaRPr lang="en-US"/>
          </a:p>
        </p:txBody>
      </p:sp>
    </p:spTree>
    <p:extLst>
      <p:ext uri="{BB962C8B-B14F-4D97-AF65-F5344CB8AC3E}">
        <p14:creationId xmlns:p14="http://schemas.microsoft.com/office/powerpoint/2010/main" val="23371343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E4629-EAF5-5DBF-5106-23CBB419BF3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D7983B-FB25-3296-B432-4802E9A99D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32F7180-0FCC-D309-1752-06780567F7E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Perceptual biases have also been studied in the context of icon arrays, where data are shown as a series of icons (e.g., filled and unfilled squares arranged in a square grid). Xiong et al. found that the spatial arrangement of filled squares in a grid can impact people’s </a:t>
            </a:r>
            <a:r>
              <a:rPr lang="en-US" sz="1200" kern="1200" dirty="0" err="1">
                <a:solidFill>
                  <a:schemeClr val="tx1"/>
                </a:solidFill>
                <a:effectLst/>
                <a:latin typeface="+mn-lt"/>
                <a:ea typeface="+mn-ea"/>
                <a:cs typeface="+mn-cs"/>
              </a:rPr>
              <a:t>accu</a:t>
            </a:r>
            <a:r>
              <a:rPr lang="en-US" sz="1200" kern="1200" dirty="0">
                <a:solidFill>
                  <a:schemeClr val="tx1"/>
                </a:solidFill>
                <a:effectLst/>
                <a:latin typeface="+mn-lt"/>
                <a:ea typeface="+mn-ea"/>
                <a:cs typeface="+mn-cs"/>
              </a:rPr>
              <a:t>-racy in perceiving the data </a:t>
            </a:r>
          </a:p>
          <a:p>
            <a:endParaRPr lang="en-US" dirty="0"/>
          </a:p>
          <a:p>
            <a:endParaRPr lang="en-US" dirty="0"/>
          </a:p>
        </p:txBody>
      </p:sp>
      <p:sp>
        <p:nvSpPr>
          <p:cNvPr id="4" name="Slide Number Placeholder 3">
            <a:extLst>
              <a:ext uri="{FF2B5EF4-FFF2-40B4-BE49-F238E27FC236}">
                <a16:creationId xmlns:a16="http://schemas.microsoft.com/office/drawing/2014/main" id="{A2480510-C049-99E9-4D75-86EAC49EC0CD}"/>
              </a:ext>
            </a:extLst>
          </p:cNvPr>
          <p:cNvSpPr>
            <a:spLocks noGrp="1"/>
          </p:cNvSpPr>
          <p:nvPr>
            <p:ph type="sldNum" sz="quarter" idx="5"/>
          </p:nvPr>
        </p:nvSpPr>
        <p:spPr/>
        <p:txBody>
          <a:bodyPr/>
          <a:lstStyle/>
          <a:p>
            <a:fld id="{362CD335-F0CB-D347-B8A5-7AB70F34C34F}" type="slidenum">
              <a:rPr lang="en-US" smtClean="0"/>
              <a:t>20</a:t>
            </a:fld>
            <a:endParaRPr lang="en-US"/>
          </a:p>
        </p:txBody>
      </p:sp>
    </p:spTree>
    <p:extLst>
      <p:ext uri="{BB962C8B-B14F-4D97-AF65-F5344CB8AC3E}">
        <p14:creationId xmlns:p14="http://schemas.microsoft.com/office/powerpoint/2010/main" val="23265692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3FD125-79E6-93F1-681F-093311E661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9A05DB-A4EA-CBE3-3ED3-E321386B4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A0E539-1DC5-0EF6-1242-C7B5F85CE03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Perceptual biases have also been studied in the context of icon arrays, where data are shown as a series of icons (e.g., filled and unfilled squares arranged in a square grid). Xiong et al. found that the spatial arrangement of filled squares in a grid can impact people’s </a:t>
            </a:r>
            <a:r>
              <a:rPr lang="en-US" sz="1200" kern="1200" dirty="0" err="1">
                <a:solidFill>
                  <a:schemeClr val="tx1"/>
                </a:solidFill>
                <a:effectLst/>
                <a:latin typeface="+mn-lt"/>
                <a:ea typeface="+mn-ea"/>
                <a:cs typeface="+mn-cs"/>
              </a:rPr>
              <a:t>accu</a:t>
            </a:r>
            <a:r>
              <a:rPr lang="en-US" sz="1200" kern="1200" dirty="0">
                <a:solidFill>
                  <a:schemeClr val="tx1"/>
                </a:solidFill>
                <a:effectLst/>
                <a:latin typeface="+mn-lt"/>
                <a:ea typeface="+mn-ea"/>
                <a:cs typeface="+mn-cs"/>
              </a:rPr>
              <a:t>-racy in perceiving the data </a:t>
            </a:r>
          </a:p>
          <a:p>
            <a:endParaRPr lang="en-US" dirty="0"/>
          </a:p>
          <a:p>
            <a:endParaRPr lang="en-US" dirty="0"/>
          </a:p>
        </p:txBody>
      </p:sp>
      <p:sp>
        <p:nvSpPr>
          <p:cNvPr id="4" name="Slide Number Placeholder 3">
            <a:extLst>
              <a:ext uri="{FF2B5EF4-FFF2-40B4-BE49-F238E27FC236}">
                <a16:creationId xmlns:a16="http://schemas.microsoft.com/office/drawing/2014/main" id="{958E2DF7-1B39-940D-65C8-198C36CBCABA}"/>
              </a:ext>
            </a:extLst>
          </p:cNvPr>
          <p:cNvSpPr>
            <a:spLocks noGrp="1"/>
          </p:cNvSpPr>
          <p:nvPr>
            <p:ph type="sldNum" sz="quarter" idx="5"/>
          </p:nvPr>
        </p:nvSpPr>
        <p:spPr/>
        <p:txBody>
          <a:bodyPr/>
          <a:lstStyle/>
          <a:p>
            <a:fld id="{362CD335-F0CB-D347-B8A5-7AB70F34C34F}" type="slidenum">
              <a:rPr lang="en-US" smtClean="0"/>
              <a:t>21</a:t>
            </a:fld>
            <a:endParaRPr lang="en-US"/>
          </a:p>
        </p:txBody>
      </p:sp>
    </p:spTree>
    <p:extLst>
      <p:ext uri="{BB962C8B-B14F-4D97-AF65-F5344CB8AC3E}">
        <p14:creationId xmlns:p14="http://schemas.microsoft.com/office/powerpoint/2010/main" val="40343657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DD8D5C-4DF6-3EDC-5945-29345E6B68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BE8822-E944-3EC9-4EF8-BDA84FF359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2FF557-9ABA-49E6-8540-61F988E643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5CB5365-E23C-2475-48BB-E371B7779B30}"/>
              </a:ext>
            </a:extLst>
          </p:cNvPr>
          <p:cNvSpPr>
            <a:spLocks noGrp="1"/>
          </p:cNvSpPr>
          <p:nvPr>
            <p:ph type="sldNum" sz="quarter" idx="5"/>
          </p:nvPr>
        </p:nvSpPr>
        <p:spPr/>
        <p:txBody>
          <a:bodyPr/>
          <a:lstStyle/>
          <a:p>
            <a:fld id="{362CD335-F0CB-D347-B8A5-7AB70F34C34F}" type="slidenum">
              <a:rPr lang="en-US" smtClean="0"/>
              <a:t>22</a:t>
            </a:fld>
            <a:endParaRPr lang="en-US"/>
          </a:p>
        </p:txBody>
      </p:sp>
    </p:spTree>
    <p:extLst>
      <p:ext uri="{BB962C8B-B14F-4D97-AF65-F5344CB8AC3E}">
        <p14:creationId xmlns:p14="http://schemas.microsoft.com/office/powerpoint/2010/main" val="21603480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BAADA-46DD-0CD2-0B6B-A437A44975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096DDE-14D7-4333-4285-D18A5DF17C2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1ED1F2-F94D-BD2F-DA29-58E4225A2FF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Susan’s home-buying scenario, she will likely be subject to anchoring bias during the price negotiation of her purchase. That is, the home’s initial list price forms an anchor point and will thus subconsciously impact the amount she is willing to offer. Susan’s offer for the home might have been very different had she made an offer given a different initial list price. She might even pay more money for the same home due to the tendency not to strongly deviate from the anchor point </a:t>
            </a:r>
          </a:p>
          <a:p>
            <a:endParaRPr lang="en-US" dirty="0"/>
          </a:p>
        </p:txBody>
      </p:sp>
      <p:sp>
        <p:nvSpPr>
          <p:cNvPr id="4" name="Slide Number Placeholder 3">
            <a:extLst>
              <a:ext uri="{FF2B5EF4-FFF2-40B4-BE49-F238E27FC236}">
                <a16:creationId xmlns:a16="http://schemas.microsoft.com/office/drawing/2014/main" id="{B1849B44-D63D-8FFD-0C6B-73629F743221}"/>
              </a:ext>
            </a:extLst>
          </p:cNvPr>
          <p:cNvSpPr>
            <a:spLocks noGrp="1"/>
          </p:cNvSpPr>
          <p:nvPr>
            <p:ph type="sldNum" sz="quarter" idx="5"/>
          </p:nvPr>
        </p:nvSpPr>
        <p:spPr/>
        <p:txBody>
          <a:bodyPr/>
          <a:lstStyle/>
          <a:p>
            <a:fld id="{362CD335-F0CB-D347-B8A5-7AB70F34C34F}" type="slidenum">
              <a:rPr lang="en-US" smtClean="0"/>
              <a:t>23</a:t>
            </a:fld>
            <a:endParaRPr lang="en-US"/>
          </a:p>
        </p:txBody>
      </p:sp>
    </p:spTree>
    <p:extLst>
      <p:ext uri="{BB962C8B-B14F-4D97-AF65-F5344CB8AC3E}">
        <p14:creationId xmlns:p14="http://schemas.microsoft.com/office/powerpoint/2010/main" val="15056014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63E66E-17CD-0BBB-2178-D8A89BA919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D5D999-A2C6-C20F-1B48-A94ABBA93F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5757ED-D584-0701-01C8-A03C812604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In our home-buying scenario, Susan may experience information overload [52] as she explores homes on the market in a visual data analysis tool. She might see hundreds of homes available in the area, each with dozens of attributes. Thus, her filter or bias will govern which information she perceives and which she dismisses. For example, she may only select to view single-family homes, removing condominiums, town homes, and apart-</a:t>
            </a:r>
            <a:r>
              <a:rPr lang="en-US" sz="1200" kern="1200" dirty="0" err="1">
                <a:solidFill>
                  <a:schemeClr val="tx1"/>
                </a:solidFill>
                <a:effectLst/>
                <a:latin typeface="+mn-lt"/>
                <a:ea typeface="+mn-ea"/>
                <a:cs typeface="+mn-cs"/>
              </a:rPr>
              <a:t>ments</a:t>
            </a:r>
            <a:r>
              <a:rPr lang="en-US" sz="1200" kern="1200" dirty="0">
                <a:solidFill>
                  <a:schemeClr val="tx1"/>
                </a:solidFill>
                <a:effectLst/>
                <a:latin typeface="+mn-lt"/>
                <a:ea typeface="+mn-ea"/>
                <a:cs typeface="+mn-cs"/>
              </a:rPr>
              <a:t> from the visualization. If removed, some options that may be relevant to Susan’s other search criteria will not be visibly available, though still in the underlying data and system.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endParaRPr lang="en-US" dirty="0"/>
          </a:p>
        </p:txBody>
      </p:sp>
      <p:sp>
        <p:nvSpPr>
          <p:cNvPr id="4" name="Slide Number Placeholder 3">
            <a:extLst>
              <a:ext uri="{FF2B5EF4-FFF2-40B4-BE49-F238E27FC236}">
                <a16:creationId xmlns:a16="http://schemas.microsoft.com/office/drawing/2014/main" id="{02802DF6-650F-358D-BFFF-D0B3058998A8}"/>
              </a:ext>
            </a:extLst>
          </p:cNvPr>
          <p:cNvSpPr>
            <a:spLocks noGrp="1"/>
          </p:cNvSpPr>
          <p:nvPr>
            <p:ph type="sldNum" sz="quarter" idx="5"/>
          </p:nvPr>
        </p:nvSpPr>
        <p:spPr/>
        <p:txBody>
          <a:bodyPr/>
          <a:lstStyle/>
          <a:p>
            <a:fld id="{362CD335-F0CB-D347-B8A5-7AB70F34C34F}" type="slidenum">
              <a:rPr lang="en-US" smtClean="0"/>
              <a:t>24</a:t>
            </a:fld>
            <a:endParaRPr lang="en-US"/>
          </a:p>
        </p:txBody>
      </p:sp>
    </p:spTree>
    <p:extLst>
      <p:ext uri="{BB962C8B-B14F-4D97-AF65-F5344CB8AC3E}">
        <p14:creationId xmlns:p14="http://schemas.microsoft.com/office/powerpoint/2010/main" val="385428150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FA77E-CDAE-65F6-F64B-DD9522F47B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5BEFBD-A8BD-E4B0-6119-CEBB39A8FD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D43AE7-09BE-3699-83A6-E6E952A9CEC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Susan is avoiding listings for houses downtown in the city. Having lived in the suburbs for many years, Susan assumes that neighborhoods near downtown have higher crime rates and lower economic stability. She believes she should not make a housing investment there. </a:t>
            </a:r>
          </a:p>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9231447B-AA80-A2B0-D0B8-633AD0143E4B}"/>
              </a:ext>
            </a:extLst>
          </p:cNvPr>
          <p:cNvSpPr>
            <a:spLocks noGrp="1"/>
          </p:cNvSpPr>
          <p:nvPr>
            <p:ph type="sldNum" sz="quarter" idx="5"/>
          </p:nvPr>
        </p:nvSpPr>
        <p:spPr/>
        <p:txBody>
          <a:bodyPr/>
          <a:lstStyle/>
          <a:p>
            <a:fld id="{362CD335-F0CB-D347-B8A5-7AB70F34C34F}" type="slidenum">
              <a:rPr lang="en-US" smtClean="0"/>
              <a:t>25</a:t>
            </a:fld>
            <a:endParaRPr lang="en-US"/>
          </a:p>
        </p:txBody>
      </p:sp>
    </p:spTree>
    <p:extLst>
      <p:ext uri="{BB962C8B-B14F-4D97-AF65-F5344CB8AC3E}">
        <p14:creationId xmlns:p14="http://schemas.microsoft.com/office/powerpoint/2010/main" val="145133199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6B029-0A40-4403-64EC-D949DC079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CD147C-2F36-9B66-421C-54AABAD1D3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4E3D0-C2B2-67E0-E037-4FF2DBCC7E0F}"/>
              </a:ext>
            </a:extLst>
          </p:cNvPr>
          <p:cNvSpPr>
            <a:spLocks noGrp="1"/>
          </p:cNvSpPr>
          <p:nvPr>
            <p:ph type="body" idx="1"/>
          </p:nvPr>
        </p:nvSpPr>
        <p:spPr/>
        <p:txBody>
          <a:bodyPr/>
          <a:lstStyle/>
          <a:p>
            <a:endParaRPr lang="en-US" dirty="0"/>
          </a:p>
          <a:p>
            <a:endParaRPr lang="en-US" dirty="0"/>
          </a:p>
          <a:p>
            <a:endParaRPr lang="en-US" dirty="0"/>
          </a:p>
        </p:txBody>
      </p:sp>
      <p:sp>
        <p:nvSpPr>
          <p:cNvPr id="4" name="Slide Number Placeholder 3">
            <a:extLst>
              <a:ext uri="{FF2B5EF4-FFF2-40B4-BE49-F238E27FC236}">
                <a16:creationId xmlns:a16="http://schemas.microsoft.com/office/drawing/2014/main" id="{FD2833AA-CB1C-563A-F4DA-69E21648D345}"/>
              </a:ext>
            </a:extLst>
          </p:cNvPr>
          <p:cNvSpPr>
            <a:spLocks noGrp="1"/>
          </p:cNvSpPr>
          <p:nvPr>
            <p:ph type="sldNum" sz="quarter" idx="5"/>
          </p:nvPr>
        </p:nvSpPr>
        <p:spPr/>
        <p:txBody>
          <a:bodyPr/>
          <a:lstStyle/>
          <a:p>
            <a:fld id="{362CD335-F0CB-D347-B8A5-7AB70F34C34F}" type="slidenum">
              <a:rPr lang="en-US" smtClean="0"/>
              <a:t>26</a:t>
            </a:fld>
            <a:endParaRPr lang="en-US"/>
          </a:p>
        </p:txBody>
      </p:sp>
    </p:spTree>
    <p:extLst>
      <p:ext uri="{BB962C8B-B14F-4D97-AF65-F5344CB8AC3E}">
        <p14:creationId xmlns:p14="http://schemas.microsoft.com/office/powerpoint/2010/main" val="121589737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7C47D-480B-A388-386E-A6DDB62A86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F102B1-03D3-2943-66E6-5A00C444A2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A374551-9BF7-12BE-0D2B-C2D4BE3A3B25}"/>
              </a:ext>
            </a:extLst>
          </p:cNvPr>
          <p:cNvSpPr>
            <a:spLocks noGrp="1"/>
          </p:cNvSpPr>
          <p:nvPr>
            <p:ph type="body" idx="1"/>
          </p:nvPr>
        </p:nvSpPr>
        <p:spPr/>
        <p:txBody>
          <a:bodyPr/>
          <a:lstStyle/>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D1 - For bias interventions intended not to impose significant disruption to the user’s natural analytic process, designers may opt for </a:t>
            </a:r>
            <a:r>
              <a:rPr lang="en-US" sz="1200" i="1" kern="1200" dirty="0">
                <a:solidFill>
                  <a:schemeClr val="tx1"/>
                </a:solidFill>
                <a:effectLst/>
                <a:latin typeface="+mn-lt"/>
                <a:ea typeface="+mn-ea"/>
                <a:cs typeface="+mn-cs"/>
              </a:rPr>
              <a:t>peripheral </a:t>
            </a:r>
            <a:r>
              <a:rPr lang="en-US" sz="1200" kern="1200" dirty="0">
                <a:solidFill>
                  <a:schemeClr val="tx1"/>
                </a:solidFill>
                <a:effectLst/>
                <a:latin typeface="+mn-lt"/>
                <a:ea typeface="+mn-ea"/>
                <a:cs typeface="+mn-cs"/>
              </a:rPr>
              <a:t>or ex-situ visualizations. Peripheral visualizations would appear in a separate view of the interface, potentially available on demand, and hence may be less likely to call the user’s attention away from the primary visualization. On the other hand, in-situ visualizations would appear within existing views.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D2 - For example, a designer’s choice between a rectangle or lasso selection may have implications about how a user approaches a problem or task. Similarly, a system could disable interaction with data/views when biased behavior is detected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D3 - In real-world systems that may be able to characterize user bias with limited accuracy, feedback can enable the user to communicate information outside the scope to the underlying model of bias (e.g., that a presumed bias is not due to unconscious error, but rather an external task constraint).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D4 - Types of debiasing information that could promote user awareness includes things like analytic provenance, summative metrics that quantify the analytic process [41, 67], and so on. We could further conceive of future systems that are able to identify specific types of bias the user may be subject to by name (e.g., confirmation bias [86], anchoring bias [40], etc.). Systems should ideally communicate information about potential biases in a way that guides users to counteract them (i.e., they should be </a:t>
            </a:r>
            <a:r>
              <a:rPr lang="en-US" sz="1200" i="1" kern="1200" dirty="0">
                <a:solidFill>
                  <a:schemeClr val="tx1"/>
                </a:solidFill>
                <a:effectLst/>
                <a:latin typeface="+mn-lt"/>
                <a:ea typeface="+mn-ea"/>
                <a:cs typeface="+mn-cs"/>
              </a:rPr>
              <a:t>informative </a:t>
            </a:r>
            <a:r>
              <a:rPr lang="en-US" sz="1200" kern="1200" dirty="0">
                <a:solidFill>
                  <a:schemeClr val="tx1"/>
                </a:solidFill>
                <a:effectLst/>
                <a:latin typeface="+mn-lt"/>
                <a:ea typeface="+mn-ea"/>
                <a:cs typeface="+mn-cs"/>
              </a:rPr>
              <a:t>and </a:t>
            </a:r>
            <a:r>
              <a:rPr lang="en-US" sz="1200" i="1" kern="1200" dirty="0">
                <a:solidFill>
                  <a:schemeClr val="tx1"/>
                </a:solidFill>
                <a:effectLst/>
                <a:latin typeface="+mn-lt"/>
                <a:ea typeface="+mn-ea"/>
                <a:cs typeface="+mn-cs"/>
              </a:rPr>
              <a:t>actionable</a:t>
            </a:r>
            <a:r>
              <a:rPr lang="en-US" sz="1200" kern="1200" dirty="0">
                <a:solidFill>
                  <a:schemeClr val="tx1"/>
                </a:solidFill>
                <a:effectLst/>
                <a:latin typeface="+mn-lt"/>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D5 - It can be thought of as a spectrum that refers to how much the system “helps” the user. On one end of the spectrum, the system provides little intervention, while on the other end, the system more aggressively steers the user.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D6 - Intrusiveness refers to how much the system interrupts or otherwise intrudes on the user’s analysis process. On the low end of the spectrum, bias information may be presented peripherally or even on demand (i.e., user attention optional). Highly intrusive mitigation strategies may present information front and center requiring the user’s attention until the perceived bias is addressed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D7 - For instance, in one study, researchers showed that people chose one treatment (surgery) over another (radiation therapy) when it was described as having a 90% short-term survival rate versus a 10% immediate mortality rate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D8 - Collaborative contexts have potential to mitigate bias by allowing others to check an analyst’s work. By leveraging “wisdom of crowds”, collaboration helps to ensure that a single sub-optimal individual decision does not prevail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endParaRPr lang="en-US" dirty="0"/>
          </a:p>
          <a:p>
            <a:endParaRPr lang="en-US" dirty="0"/>
          </a:p>
        </p:txBody>
      </p:sp>
      <p:sp>
        <p:nvSpPr>
          <p:cNvPr id="4" name="Slide Number Placeholder 3">
            <a:extLst>
              <a:ext uri="{FF2B5EF4-FFF2-40B4-BE49-F238E27FC236}">
                <a16:creationId xmlns:a16="http://schemas.microsoft.com/office/drawing/2014/main" id="{167E0171-0047-69ED-ADA3-19E14071FBEF}"/>
              </a:ext>
            </a:extLst>
          </p:cNvPr>
          <p:cNvSpPr>
            <a:spLocks noGrp="1"/>
          </p:cNvSpPr>
          <p:nvPr>
            <p:ph type="sldNum" sz="quarter" idx="5"/>
          </p:nvPr>
        </p:nvSpPr>
        <p:spPr/>
        <p:txBody>
          <a:bodyPr/>
          <a:lstStyle/>
          <a:p>
            <a:fld id="{362CD335-F0CB-D347-B8A5-7AB70F34C34F}" type="slidenum">
              <a:rPr lang="en-US" smtClean="0"/>
              <a:t>27</a:t>
            </a:fld>
            <a:endParaRPr lang="en-US"/>
          </a:p>
        </p:txBody>
      </p:sp>
    </p:spTree>
    <p:extLst>
      <p:ext uri="{BB962C8B-B14F-4D97-AF65-F5344CB8AC3E}">
        <p14:creationId xmlns:p14="http://schemas.microsoft.com/office/powerpoint/2010/main" val="141702721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497DF0-9772-FFFB-2689-B2939BE8E4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B37510-A248-03BF-D5AD-A9C44F080C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F36A98-EBF9-C2B7-D94E-B23B5477FE6B}"/>
              </a:ext>
            </a:extLst>
          </p:cNvPr>
          <p:cNvSpPr>
            <a:spLocks noGrp="1"/>
          </p:cNvSpPr>
          <p:nvPr>
            <p:ph type="body" idx="1"/>
          </p:nvPr>
        </p:nvSpPr>
        <p:spPr/>
        <p:txBody>
          <a:bodyPr/>
          <a:lstStyle/>
          <a:p>
            <a:endParaRPr lang="en-US" dirty="0"/>
          </a:p>
          <a:p>
            <a:endParaRPr lang="en-US" dirty="0"/>
          </a:p>
        </p:txBody>
      </p:sp>
      <p:sp>
        <p:nvSpPr>
          <p:cNvPr id="4" name="Slide Number Placeholder 3">
            <a:extLst>
              <a:ext uri="{FF2B5EF4-FFF2-40B4-BE49-F238E27FC236}">
                <a16:creationId xmlns:a16="http://schemas.microsoft.com/office/drawing/2014/main" id="{FB404883-102D-3EBE-1CC2-1FA671B411CE}"/>
              </a:ext>
            </a:extLst>
          </p:cNvPr>
          <p:cNvSpPr>
            <a:spLocks noGrp="1"/>
          </p:cNvSpPr>
          <p:nvPr>
            <p:ph type="sldNum" sz="quarter" idx="5"/>
          </p:nvPr>
        </p:nvSpPr>
        <p:spPr/>
        <p:txBody>
          <a:bodyPr/>
          <a:lstStyle/>
          <a:p>
            <a:fld id="{362CD335-F0CB-D347-B8A5-7AB70F34C34F}" type="slidenum">
              <a:rPr lang="en-US" smtClean="0"/>
              <a:t>28</a:t>
            </a:fld>
            <a:endParaRPr lang="en-US"/>
          </a:p>
        </p:txBody>
      </p:sp>
    </p:spTree>
    <p:extLst>
      <p:ext uri="{BB962C8B-B14F-4D97-AF65-F5344CB8AC3E}">
        <p14:creationId xmlns:p14="http://schemas.microsoft.com/office/powerpoint/2010/main" val="116143924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fld id="{B61BEF0D-F0BB-DE4B-95CE-6DB70DBA9567}" type="datetimeFigureOut">
              <a:rPr lang="en-US" smtClean="0"/>
              <a:pPr/>
              <a:t>3/10/26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251237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558300" y="5956137"/>
            <a:ext cx="1052508" cy="365125"/>
          </a:xfrm>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6169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3/10/26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496651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3/10/26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745580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3/10/26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765422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B61BEF0D-F0BB-DE4B-95CE-6DB70DBA9567}" type="datetimeFigureOut">
              <a:rPr lang="en-US" smtClean="0"/>
              <a:pPr/>
              <a:t>3/10/26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Tree>
    <p:extLst>
      <p:ext uri="{BB962C8B-B14F-4D97-AF65-F5344CB8AC3E}">
        <p14:creationId xmlns:p14="http://schemas.microsoft.com/office/powerpoint/2010/main" val="37547456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3/10/26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91590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fld id="{B61BEF0D-F0BB-DE4B-95CE-6DB70DBA9567}" type="datetimeFigureOut">
              <a:rPr lang="en-US" smtClean="0"/>
              <a:pPr/>
              <a:t>3/10/26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41401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3/10/26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5497494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3/10/26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259890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fld id="{B61BEF0D-F0BB-DE4B-95CE-6DB70DBA9567}" type="datetimeFigureOut">
              <a:rPr lang="en-US" smtClean="0"/>
              <a:pPr/>
              <a:t>3/10/26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322798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fld id="{B61BEF0D-F0BB-DE4B-95CE-6DB70DBA9567}" type="datetimeFigureOut">
              <a:rPr lang="en-US" smtClean="0"/>
              <a:pPr/>
              <a:t>3/10/26</a:t>
            </a:fld>
            <a:endParaRPr lang="en-US"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fld id="{D57F1E4F-1CFF-5643-939E-217C01CDF565}" type="slidenum">
              <a:rPr lang="en-US" smtClean="0"/>
              <a:pPr/>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5505439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hyperlink" Target="https://medium.com/multiple-views-visualization-research-explained/uncertainty-visualization-explained-67e7a73f031b"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medium.com/multiple-views-visualization-research-explained/uncertainty-visualization-explained-67e7a73f031b"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s://medium.com/multiple-views-visualization-research-explained/uncertainty-visualization-explained-67e7a73f031b" TargetMode="Externa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hyperlink" Target="https://medium.com/multiple-views-visualization-research-explained/uncertainty-visualization-explained-67e7a73f031b"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 Id="rId4" Type="http://schemas.openxmlformats.org/officeDocument/2006/relationships/hyperlink" Target="https://doi.org/10.1371/journal.pone.0253644"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doi.org/10.1002/9781118445112.stat08296"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image" Target="../media/image7.gif"/><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doi.org/10.1002/9781118445112.stat08296"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hyperlink" Target="https://doi.org/10.1002/9781118445112.stat08296" TargetMode="Externa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CDBFC0-8BA3-DEDC-7E39-89EC7856846E}"/>
              </a:ext>
            </a:extLst>
          </p:cNvPr>
          <p:cNvSpPr>
            <a:spLocks noGrp="1"/>
          </p:cNvSpPr>
          <p:nvPr>
            <p:ph type="ctrTitle"/>
          </p:nvPr>
        </p:nvSpPr>
        <p:spPr/>
        <p:txBody>
          <a:bodyPr>
            <a:normAutofit/>
          </a:bodyPr>
          <a:lstStyle/>
          <a:p>
            <a:r>
              <a:rPr lang="en-US" dirty="0"/>
              <a:t>Visual Analytics: uncertainty and bias </a:t>
            </a:r>
          </a:p>
        </p:txBody>
      </p:sp>
      <p:sp>
        <p:nvSpPr>
          <p:cNvPr id="3" name="Subtitle 2">
            <a:extLst>
              <a:ext uri="{FF2B5EF4-FFF2-40B4-BE49-F238E27FC236}">
                <a16:creationId xmlns:a16="http://schemas.microsoft.com/office/drawing/2014/main" id="{EECBEFAC-62BD-EFDC-63B4-33E49BD33BA5}"/>
              </a:ext>
            </a:extLst>
          </p:cNvPr>
          <p:cNvSpPr>
            <a:spLocks noGrp="1"/>
          </p:cNvSpPr>
          <p:nvPr>
            <p:ph type="subTitle" idx="1"/>
          </p:nvPr>
        </p:nvSpPr>
        <p:spPr/>
        <p:txBody>
          <a:bodyPr/>
          <a:lstStyle/>
          <a:p>
            <a:r>
              <a:rPr lang="en-US" dirty="0"/>
              <a:t>Ab Mosca (they/them)</a:t>
            </a:r>
          </a:p>
        </p:txBody>
      </p:sp>
    </p:spTree>
    <p:extLst>
      <p:ext uri="{BB962C8B-B14F-4D97-AF65-F5344CB8AC3E}">
        <p14:creationId xmlns:p14="http://schemas.microsoft.com/office/powerpoint/2010/main" val="5473888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954B4-3510-580A-82F6-6E1B96933A4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8EEDB6-FCFF-F4AD-A11F-014214566EA0}"/>
              </a:ext>
            </a:extLst>
          </p:cNvPr>
          <p:cNvSpPr>
            <a:spLocks noGrp="1"/>
          </p:cNvSpPr>
          <p:nvPr>
            <p:ph type="title"/>
          </p:nvPr>
        </p:nvSpPr>
        <p:spPr/>
        <p:txBody>
          <a:bodyPr/>
          <a:lstStyle/>
          <a:p>
            <a:r>
              <a:rPr lang="en-US" dirty="0"/>
              <a:t>Notes</a:t>
            </a:r>
          </a:p>
        </p:txBody>
      </p:sp>
      <p:sp>
        <p:nvSpPr>
          <p:cNvPr id="3" name="Content Placeholder 2">
            <a:extLst>
              <a:ext uri="{FF2B5EF4-FFF2-40B4-BE49-F238E27FC236}">
                <a16:creationId xmlns:a16="http://schemas.microsoft.com/office/drawing/2014/main" id="{AB359F30-F4B0-8615-21A7-87CEE10D26A3}"/>
              </a:ext>
            </a:extLst>
          </p:cNvPr>
          <p:cNvSpPr>
            <a:spLocks noGrp="1"/>
          </p:cNvSpPr>
          <p:nvPr>
            <p:ph idx="1"/>
          </p:nvPr>
        </p:nvSpPr>
        <p:spPr/>
        <p:txBody>
          <a:bodyPr anchor="t">
            <a:normAutofit/>
          </a:bodyPr>
          <a:lstStyle/>
          <a:p>
            <a:pPr marL="0" indent="0">
              <a:buNone/>
            </a:pPr>
            <a:endParaRPr lang="en-US" sz="2400" dirty="0"/>
          </a:p>
          <a:p>
            <a:r>
              <a:rPr lang="en-US" sz="2400" dirty="0"/>
              <a:t>Mid-semester project (</a:t>
            </a:r>
            <a:r>
              <a:rPr lang="en-US" sz="2400" dirty="0" err="1"/>
              <a:t>mp</a:t>
            </a:r>
            <a:r>
              <a:rPr lang="en-US" sz="2400" dirty="0"/>
              <a:t>) due Thursday</a:t>
            </a:r>
          </a:p>
          <a:p>
            <a:r>
              <a:rPr lang="en-US" sz="2400" dirty="0"/>
              <a:t>hw04 released Thursday, but you have plenty of time to work on it before/after break </a:t>
            </a:r>
            <a:endParaRPr lang="en-US" sz="2200" dirty="0"/>
          </a:p>
        </p:txBody>
      </p:sp>
    </p:spTree>
    <p:extLst>
      <p:ext uri="{BB962C8B-B14F-4D97-AF65-F5344CB8AC3E}">
        <p14:creationId xmlns:p14="http://schemas.microsoft.com/office/powerpoint/2010/main" val="21752718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DCEEC-DA3B-FF6E-BAEB-9400A30851F6}"/>
              </a:ext>
            </a:extLst>
          </p:cNvPr>
          <p:cNvSpPr>
            <a:spLocks noGrp="1"/>
          </p:cNvSpPr>
          <p:nvPr>
            <p:ph type="title"/>
          </p:nvPr>
        </p:nvSpPr>
        <p:spPr/>
        <p:txBody>
          <a:bodyPr/>
          <a:lstStyle/>
          <a:p>
            <a:r>
              <a:rPr lang="en-US" dirty="0"/>
              <a:t>Today’s plan</a:t>
            </a:r>
          </a:p>
        </p:txBody>
      </p:sp>
      <p:sp>
        <p:nvSpPr>
          <p:cNvPr id="3" name="Content Placeholder 2">
            <a:extLst>
              <a:ext uri="{FF2B5EF4-FFF2-40B4-BE49-F238E27FC236}">
                <a16:creationId xmlns:a16="http://schemas.microsoft.com/office/drawing/2014/main" id="{2C0A6356-47F4-DF13-CFDC-C996D4E40A01}"/>
              </a:ext>
            </a:extLst>
          </p:cNvPr>
          <p:cNvSpPr>
            <a:spLocks noGrp="1"/>
          </p:cNvSpPr>
          <p:nvPr>
            <p:ph idx="1"/>
          </p:nvPr>
        </p:nvSpPr>
        <p:spPr/>
        <p:txBody>
          <a:bodyPr anchor="t">
            <a:normAutofit/>
          </a:bodyPr>
          <a:lstStyle/>
          <a:p>
            <a:pPr marL="0" indent="0">
              <a:buNone/>
            </a:pPr>
            <a:endParaRPr lang="en-US" sz="2400" dirty="0"/>
          </a:p>
          <a:p>
            <a:r>
              <a:rPr lang="en-US" sz="2400" dirty="0"/>
              <a:t>Uncertainty</a:t>
            </a:r>
          </a:p>
          <a:p>
            <a:pPr lvl="1"/>
            <a:r>
              <a:rPr lang="en-US" sz="2200" dirty="0"/>
              <a:t>Definition</a:t>
            </a:r>
          </a:p>
          <a:p>
            <a:pPr lvl="1"/>
            <a:r>
              <a:rPr lang="en-US" sz="2200" dirty="0"/>
              <a:t>Visualizing </a:t>
            </a:r>
          </a:p>
          <a:p>
            <a:r>
              <a:rPr lang="en-US" sz="2400" dirty="0"/>
              <a:t>Bias</a:t>
            </a:r>
          </a:p>
          <a:p>
            <a:pPr lvl="1"/>
            <a:r>
              <a:rPr lang="en-US" sz="2200" dirty="0"/>
              <a:t>Definition</a:t>
            </a:r>
          </a:p>
          <a:p>
            <a:pPr lvl="1"/>
            <a:r>
              <a:rPr lang="en-US" sz="2200" dirty="0"/>
              <a:t>Visualizing</a:t>
            </a:r>
          </a:p>
        </p:txBody>
      </p:sp>
    </p:spTree>
    <p:extLst>
      <p:ext uri="{BB962C8B-B14F-4D97-AF65-F5344CB8AC3E}">
        <p14:creationId xmlns:p14="http://schemas.microsoft.com/office/powerpoint/2010/main" val="20575609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519F2-F8EE-B1A7-5CDB-1B35D6A4D1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44D9C8-B257-9903-676E-09819D1E6E4C}"/>
              </a:ext>
            </a:extLst>
          </p:cNvPr>
          <p:cNvSpPr>
            <a:spLocks noGrp="1"/>
          </p:cNvSpPr>
          <p:nvPr>
            <p:ph type="title"/>
          </p:nvPr>
        </p:nvSpPr>
        <p:spPr/>
        <p:txBody>
          <a:bodyPr/>
          <a:lstStyle/>
          <a:p>
            <a:r>
              <a:rPr lang="en-US" dirty="0"/>
              <a:t>Definition: Uncertainty</a:t>
            </a:r>
          </a:p>
        </p:txBody>
      </p:sp>
      <p:sp>
        <p:nvSpPr>
          <p:cNvPr id="3" name="Content Placeholder 2">
            <a:extLst>
              <a:ext uri="{FF2B5EF4-FFF2-40B4-BE49-F238E27FC236}">
                <a16:creationId xmlns:a16="http://schemas.microsoft.com/office/drawing/2014/main" id="{ECDE2D69-B54A-1ABA-52D2-6427A9C7F6D1}"/>
              </a:ext>
            </a:extLst>
          </p:cNvPr>
          <p:cNvSpPr>
            <a:spLocks noGrp="1"/>
          </p:cNvSpPr>
          <p:nvPr>
            <p:ph idx="1"/>
          </p:nvPr>
        </p:nvSpPr>
        <p:spPr/>
        <p:txBody>
          <a:bodyPr anchor="t">
            <a:normAutofit/>
          </a:bodyPr>
          <a:lstStyle/>
          <a:p>
            <a:r>
              <a:rPr lang="en-US" sz="2400" dirty="0"/>
              <a:t>Three types of uncertainty:</a:t>
            </a:r>
          </a:p>
          <a:p>
            <a:pPr lvl="1"/>
            <a:r>
              <a:rPr lang="en-US" sz="2200" dirty="0"/>
              <a:t>Aleatoric: irreducible randomness inherent in a process</a:t>
            </a:r>
          </a:p>
          <a:p>
            <a:pPr lvl="1"/>
            <a:r>
              <a:rPr lang="en-US" sz="2200" dirty="0"/>
              <a:t>Epistemic: uncertainty from a lack of knowledge that could theoretically be reduced given more information</a:t>
            </a:r>
          </a:p>
          <a:p>
            <a:pPr lvl="1"/>
            <a:r>
              <a:rPr lang="en-US" sz="2200" dirty="0"/>
              <a:t>Ontological: uncertainty about how accurately the modeling describes reality, which can only be described subjectively</a:t>
            </a:r>
          </a:p>
          <a:p>
            <a:r>
              <a:rPr lang="en-US" sz="2400" dirty="0"/>
              <a:t>In visualization, when we refer to </a:t>
            </a:r>
            <a:r>
              <a:rPr lang="en-US" sz="2400" dirty="0">
                <a:effectLst>
                  <a:glow rad="228600">
                    <a:schemeClr val="accent5">
                      <a:satMod val="175000"/>
                      <a:alpha val="40000"/>
                    </a:schemeClr>
                  </a:glow>
                </a:effectLst>
              </a:rPr>
              <a:t>uncertainty</a:t>
            </a:r>
            <a:r>
              <a:rPr lang="en-US" sz="2400" dirty="0"/>
              <a:t>, we typically mean quantified uncertainty that can be visualized </a:t>
            </a:r>
          </a:p>
        </p:txBody>
      </p:sp>
      <p:sp>
        <p:nvSpPr>
          <p:cNvPr id="5" name="TextBox 4">
            <a:extLst>
              <a:ext uri="{FF2B5EF4-FFF2-40B4-BE49-F238E27FC236}">
                <a16:creationId xmlns:a16="http://schemas.microsoft.com/office/drawing/2014/main" id="{C3EB74E5-B82C-42E8-6891-8F1C641ECDC8}"/>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Tree>
    <p:extLst>
      <p:ext uri="{BB962C8B-B14F-4D97-AF65-F5344CB8AC3E}">
        <p14:creationId xmlns:p14="http://schemas.microsoft.com/office/powerpoint/2010/main" val="11685306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Definition: Uncertainty</a:t>
            </a:r>
          </a:p>
        </p:txBody>
      </p:sp>
      <p:pic>
        <p:nvPicPr>
          <p:cNvPr id="1026" name="Picture 2">
            <a:extLst>
              <a:ext uri="{FF2B5EF4-FFF2-40B4-BE49-F238E27FC236}">
                <a16:creationId xmlns:a16="http://schemas.microsoft.com/office/drawing/2014/main" id="{30FEF4A3-1FE9-1ED8-EDF1-4859AFEB145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1192" y="2565530"/>
            <a:ext cx="7586624" cy="3793312"/>
          </a:xfrm>
          <a:prstGeom prst="rect">
            <a:avLst/>
          </a:prstGeom>
          <a:noFill/>
          <a:extLst>
            <a:ext uri="{909E8E84-426E-40DD-AFC4-6F175D3DCCD1}">
              <a14:hiddenFill xmlns:a14="http://schemas.microsoft.com/office/drawing/2010/main">
                <a:solidFill>
                  <a:srgbClr val="FFFFFF"/>
                </a:solidFill>
              </a14:hiddenFill>
            </a:ext>
          </a:extLst>
        </p:spPr>
      </p:pic>
      <p:sp>
        <p:nvSpPr>
          <p:cNvPr id="9" name="Rounded Rectangular Callout 8">
            <a:extLst>
              <a:ext uri="{FF2B5EF4-FFF2-40B4-BE49-F238E27FC236}">
                <a16:creationId xmlns:a16="http://schemas.microsoft.com/office/drawing/2014/main" id="{13DE2AA7-1F2C-664E-804D-407D0DCFD981}"/>
              </a:ext>
            </a:extLst>
          </p:cNvPr>
          <p:cNvSpPr/>
          <p:nvPr/>
        </p:nvSpPr>
        <p:spPr>
          <a:xfrm>
            <a:off x="8308184" y="3152472"/>
            <a:ext cx="2660073" cy="1139165"/>
          </a:xfrm>
          <a:prstGeom prst="wedgeRoundRectCallout">
            <a:avLst>
              <a:gd name="adj1" fmla="val -67710"/>
              <a:gd name="adj2" fmla="val 10603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How is this value calculated?</a:t>
            </a:r>
          </a:p>
        </p:txBody>
      </p:sp>
      <p:sp>
        <p:nvSpPr>
          <p:cNvPr id="6" name="TextBox 5">
            <a:extLst>
              <a:ext uri="{FF2B5EF4-FFF2-40B4-BE49-F238E27FC236}">
                <a16:creationId xmlns:a16="http://schemas.microsoft.com/office/drawing/2014/main" id="{A4F9468E-C215-950B-C3AD-B39ED50AD911}"/>
              </a:ext>
            </a:extLst>
          </p:cNvPr>
          <p:cNvSpPr txBox="1"/>
          <p:nvPr/>
        </p:nvSpPr>
        <p:spPr>
          <a:xfrm>
            <a:off x="581192" y="2026483"/>
            <a:ext cx="6861089" cy="369332"/>
          </a:xfrm>
          <a:prstGeom prst="rect">
            <a:avLst/>
          </a:prstGeom>
          <a:noFill/>
        </p:spPr>
        <p:txBody>
          <a:bodyPr wrap="square">
            <a:spAutoFit/>
          </a:bodyPr>
          <a:lstStyle/>
          <a:p>
            <a:r>
              <a:rPr lang="en-US" dirty="0">
                <a:solidFill>
                  <a:srgbClr val="242424"/>
                </a:solidFill>
              </a:rPr>
              <a:t>(Visualization b</a:t>
            </a:r>
            <a:r>
              <a:rPr lang="en-US" b="0" i="0" dirty="0">
                <a:solidFill>
                  <a:srgbClr val="242424"/>
                </a:solidFill>
                <a:effectLst/>
              </a:rPr>
              <a:t>ased on data from the Bureau of Labor Statistics)</a:t>
            </a:r>
            <a:endParaRPr lang="en-US" dirty="0"/>
          </a:p>
        </p:txBody>
      </p:sp>
      <p:sp>
        <p:nvSpPr>
          <p:cNvPr id="8" name="TextBox 7">
            <a:extLst>
              <a:ext uri="{FF2B5EF4-FFF2-40B4-BE49-F238E27FC236}">
                <a16:creationId xmlns:a16="http://schemas.microsoft.com/office/drawing/2014/main" id="{6AF3F255-6B3B-CB5D-C228-EC159CAC1714}"/>
              </a:ext>
            </a:extLst>
          </p:cNvPr>
          <p:cNvSpPr txBox="1"/>
          <p:nvPr/>
        </p:nvSpPr>
        <p:spPr>
          <a:xfrm>
            <a:off x="951471" y="6550223"/>
            <a:ext cx="11714205" cy="307777"/>
          </a:xfrm>
          <a:prstGeom prst="rect">
            <a:avLst/>
          </a:prstGeom>
          <a:noFill/>
        </p:spPr>
        <p:txBody>
          <a:bodyPr wrap="square" rtlCol="0">
            <a:spAutoFit/>
          </a:bodyPr>
          <a:lstStyle/>
          <a:p>
            <a:r>
              <a:rPr lang="en-US" sz="1400" dirty="0"/>
              <a:t>Jessica Hullman and Matthew Kay (</a:t>
            </a:r>
            <a:r>
              <a:rPr lang="en-US" sz="1400" dirty="0">
                <a:hlinkClick r:id="rId4"/>
              </a:rPr>
              <a:t>https://medium.com/multiple-views-visualization-research-explained/uncertainty-visualization-explained-67e7a73f031b</a:t>
            </a:r>
            <a:r>
              <a:rPr lang="en-US" sz="1400" dirty="0"/>
              <a:t> )</a:t>
            </a:r>
          </a:p>
        </p:txBody>
      </p:sp>
    </p:spTree>
    <p:extLst>
      <p:ext uri="{BB962C8B-B14F-4D97-AF65-F5344CB8AC3E}">
        <p14:creationId xmlns:p14="http://schemas.microsoft.com/office/powerpoint/2010/main" val="2249818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330C2-52A4-1ABA-980B-56FBC97F350C}"/>
              </a:ext>
            </a:extLst>
          </p:cNvPr>
          <p:cNvSpPr>
            <a:spLocks noGrp="1"/>
          </p:cNvSpPr>
          <p:nvPr>
            <p:ph type="title"/>
          </p:nvPr>
        </p:nvSpPr>
        <p:spPr/>
        <p:txBody>
          <a:bodyPr/>
          <a:lstStyle/>
          <a:p>
            <a:r>
              <a:rPr lang="en-US" dirty="0"/>
              <a:t>Definition: Uncertainty</a:t>
            </a:r>
          </a:p>
        </p:txBody>
      </p:sp>
      <p:sp>
        <p:nvSpPr>
          <p:cNvPr id="7" name="Content Placeholder 2">
            <a:extLst>
              <a:ext uri="{FF2B5EF4-FFF2-40B4-BE49-F238E27FC236}">
                <a16:creationId xmlns:a16="http://schemas.microsoft.com/office/drawing/2014/main" id="{8331FD2F-B91F-DCC6-10E4-4C8A27C3B826}"/>
              </a:ext>
            </a:extLst>
          </p:cNvPr>
          <p:cNvSpPr>
            <a:spLocks noGrp="1"/>
          </p:cNvSpPr>
          <p:nvPr>
            <p:ph idx="1"/>
          </p:nvPr>
        </p:nvSpPr>
        <p:spPr>
          <a:xfrm>
            <a:off x="8464378" y="2026483"/>
            <a:ext cx="3146430" cy="4302075"/>
          </a:xfrm>
        </p:spPr>
        <p:txBody>
          <a:bodyPr vert="horz" lIns="91440" tIns="45720" rIns="91440" bIns="45720" rtlCol="0" anchor="t">
            <a:normAutofit fontScale="92500" lnSpcReduction="10000"/>
          </a:bodyPr>
          <a:lstStyle/>
          <a:p>
            <a:r>
              <a:rPr lang="en-US" sz="2400" dirty="0"/>
              <a:t>A statistical model is used to estimate a parameter</a:t>
            </a:r>
          </a:p>
          <a:p>
            <a:r>
              <a:rPr lang="en-US" sz="2400" dirty="0"/>
              <a:t>The model quantifies the uncertainty around the estimate by considering all values it could be (and how likely each is) </a:t>
            </a:r>
          </a:p>
          <a:p>
            <a:r>
              <a:rPr lang="en-US" sz="2400" dirty="0"/>
              <a:t>Hence, a parameter’s uncertainty can be characterized by a probability distribution </a:t>
            </a:r>
          </a:p>
        </p:txBody>
      </p:sp>
      <p:pic>
        <p:nvPicPr>
          <p:cNvPr id="2050" name="Picture 2">
            <a:extLst>
              <a:ext uri="{FF2B5EF4-FFF2-40B4-BE49-F238E27FC236}">
                <a16:creationId xmlns:a16="http://schemas.microsoft.com/office/drawing/2014/main" id="{7C0D2A66-0A79-9F07-58B1-921828F47B9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1192" y="2475377"/>
            <a:ext cx="7689273" cy="384463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C0F8E5A3-628F-A0E4-FC1E-CDF3EA754890}"/>
              </a:ext>
            </a:extLst>
          </p:cNvPr>
          <p:cNvSpPr txBox="1"/>
          <p:nvPr/>
        </p:nvSpPr>
        <p:spPr>
          <a:xfrm>
            <a:off x="581192" y="2026483"/>
            <a:ext cx="6861089" cy="369332"/>
          </a:xfrm>
          <a:prstGeom prst="rect">
            <a:avLst/>
          </a:prstGeom>
          <a:noFill/>
        </p:spPr>
        <p:txBody>
          <a:bodyPr wrap="square">
            <a:spAutoFit/>
          </a:bodyPr>
          <a:lstStyle/>
          <a:p>
            <a:r>
              <a:rPr lang="en-US" dirty="0">
                <a:solidFill>
                  <a:srgbClr val="242424"/>
                </a:solidFill>
              </a:rPr>
              <a:t>(Visualization b</a:t>
            </a:r>
            <a:r>
              <a:rPr lang="en-US" b="0" i="0" dirty="0">
                <a:solidFill>
                  <a:srgbClr val="242424"/>
                </a:solidFill>
                <a:effectLst/>
              </a:rPr>
              <a:t>ased on data from the Bureau of Labor Statistics)</a:t>
            </a:r>
            <a:endParaRPr lang="en-US" dirty="0"/>
          </a:p>
        </p:txBody>
      </p:sp>
      <p:sp>
        <p:nvSpPr>
          <p:cNvPr id="4" name="TextBox 3">
            <a:extLst>
              <a:ext uri="{FF2B5EF4-FFF2-40B4-BE49-F238E27FC236}">
                <a16:creationId xmlns:a16="http://schemas.microsoft.com/office/drawing/2014/main" id="{1C20821A-9B55-9ACF-9985-1C39CAAC6B4E}"/>
              </a:ext>
            </a:extLst>
          </p:cNvPr>
          <p:cNvSpPr txBox="1"/>
          <p:nvPr/>
        </p:nvSpPr>
        <p:spPr>
          <a:xfrm>
            <a:off x="951471" y="6550223"/>
            <a:ext cx="11714205" cy="307777"/>
          </a:xfrm>
          <a:prstGeom prst="rect">
            <a:avLst/>
          </a:prstGeom>
          <a:noFill/>
        </p:spPr>
        <p:txBody>
          <a:bodyPr wrap="square" rtlCol="0">
            <a:spAutoFit/>
          </a:bodyPr>
          <a:lstStyle/>
          <a:p>
            <a:r>
              <a:rPr lang="en-US" sz="1400" dirty="0"/>
              <a:t>Jessica Hullman and Matthew Kay (</a:t>
            </a:r>
            <a:r>
              <a:rPr lang="en-US" sz="1400" dirty="0">
                <a:hlinkClick r:id="rId4"/>
              </a:rPr>
              <a:t>https://medium.com/multiple-views-visualization-research-explained/uncertainty-visualization-explained-67e7a73f031b</a:t>
            </a:r>
            <a:r>
              <a:rPr lang="en-US" sz="1400" dirty="0"/>
              <a:t> )</a:t>
            </a:r>
          </a:p>
        </p:txBody>
      </p:sp>
    </p:spTree>
    <p:extLst>
      <p:ext uri="{BB962C8B-B14F-4D97-AF65-F5344CB8AC3E}">
        <p14:creationId xmlns:p14="http://schemas.microsoft.com/office/powerpoint/2010/main" val="11242884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00EABE-7373-2B64-2DB0-374A9B9F6C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E6ABD6-F85B-4034-9B5B-62E33113286E}"/>
              </a:ext>
            </a:extLst>
          </p:cNvPr>
          <p:cNvSpPr>
            <a:spLocks noGrp="1"/>
          </p:cNvSpPr>
          <p:nvPr>
            <p:ph type="title"/>
          </p:nvPr>
        </p:nvSpPr>
        <p:spPr/>
        <p:txBody>
          <a:bodyPr/>
          <a:lstStyle/>
          <a:p>
            <a:r>
              <a:rPr lang="en-US" dirty="0"/>
              <a:t>Definition: Uncertainty</a:t>
            </a:r>
          </a:p>
        </p:txBody>
      </p:sp>
      <p:sp>
        <p:nvSpPr>
          <p:cNvPr id="7" name="Content Placeholder 2">
            <a:extLst>
              <a:ext uri="{FF2B5EF4-FFF2-40B4-BE49-F238E27FC236}">
                <a16:creationId xmlns:a16="http://schemas.microsoft.com/office/drawing/2014/main" id="{23EE4E56-0083-0BE0-E627-713E8E35E7AA}"/>
              </a:ext>
            </a:extLst>
          </p:cNvPr>
          <p:cNvSpPr>
            <a:spLocks noGrp="1"/>
          </p:cNvSpPr>
          <p:nvPr>
            <p:ph idx="1"/>
          </p:nvPr>
        </p:nvSpPr>
        <p:spPr>
          <a:xfrm>
            <a:off x="8464378" y="2026483"/>
            <a:ext cx="3146430" cy="4302075"/>
          </a:xfrm>
        </p:spPr>
        <p:txBody>
          <a:bodyPr vert="horz" lIns="91440" tIns="45720" rIns="91440" bIns="45720" rtlCol="0" anchor="t">
            <a:normAutofit fontScale="92500" lnSpcReduction="10000"/>
          </a:bodyPr>
          <a:lstStyle/>
          <a:p>
            <a:r>
              <a:rPr lang="en-US" sz="2400" dirty="0"/>
              <a:t>A statistical model is used to estimate a parameter</a:t>
            </a:r>
          </a:p>
          <a:p>
            <a:r>
              <a:rPr lang="en-US" sz="2400" dirty="0"/>
              <a:t>The model quantifies the uncertainty around the estimate by considering all values it could be (and how likely each is) </a:t>
            </a:r>
          </a:p>
          <a:p>
            <a:r>
              <a:rPr lang="en-US" sz="2400" dirty="0"/>
              <a:t>Hence, a parameter’s uncertainty can be characterized by a probability distribution </a:t>
            </a:r>
          </a:p>
        </p:txBody>
      </p:sp>
      <p:pic>
        <p:nvPicPr>
          <p:cNvPr id="2050" name="Picture 2">
            <a:extLst>
              <a:ext uri="{FF2B5EF4-FFF2-40B4-BE49-F238E27FC236}">
                <a16:creationId xmlns:a16="http://schemas.microsoft.com/office/drawing/2014/main" id="{43E780B3-24F6-10DF-D6AB-DB9C8CFC4390}"/>
              </a:ext>
            </a:extLst>
          </p:cNvPr>
          <p:cNvPicPr>
            <a:picLocks noChangeAspect="1" noChangeArrowheads="1"/>
          </p:cNvPicPr>
          <p:nvPr/>
        </p:nvPicPr>
        <p:blipFill>
          <a:blip r:embed="rId3">
            <a:alphaModFix amt="20000"/>
            <a:extLst>
              <a:ext uri="{28A0092B-C50C-407E-A947-70E740481C1C}">
                <a14:useLocalDpi xmlns:a14="http://schemas.microsoft.com/office/drawing/2010/main" val="0"/>
              </a:ext>
            </a:extLst>
          </a:blip>
          <a:srcRect/>
          <a:stretch>
            <a:fillRect/>
          </a:stretch>
        </p:blipFill>
        <p:spPr bwMode="auto">
          <a:xfrm>
            <a:off x="581192" y="2475377"/>
            <a:ext cx="7689273" cy="384463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6A7E8CB-08C5-AEEA-4A67-F5C110359149}"/>
              </a:ext>
            </a:extLst>
          </p:cNvPr>
          <p:cNvSpPr txBox="1"/>
          <p:nvPr/>
        </p:nvSpPr>
        <p:spPr>
          <a:xfrm>
            <a:off x="581192" y="2026483"/>
            <a:ext cx="6861089" cy="369332"/>
          </a:xfrm>
          <a:prstGeom prst="rect">
            <a:avLst/>
          </a:prstGeom>
          <a:noFill/>
        </p:spPr>
        <p:txBody>
          <a:bodyPr wrap="square">
            <a:spAutoFit/>
          </a:bodyPr>
          <a:lstStyle/>
          <a:p>
            <a:r>
              <a:rPr lang="en-US" dirty="0">
                <a:solidFill>
                  <a:srgbClr val="242424"/>
                </a:solidFill>
              </a:rPr>
              <a:t>(Visualization b</a:t>
            </a:r>
            <a:r>
              <a:rPr lang="en-US" b="0" i="0" dirty="0">
                <a:solidFill>
                  <a:srgbClr val="242424"/>
                </a:solidFill>
                <a:effectLst/>
              </a:rPr>
              <a:t>ased on data from the Bureau of Labor Statistics)</a:t>
            </a:r>
            <a:endParaRPr lang="en-US" dirty="0"/>
          </a:p>
        </p:txBody>
      </p:sp>
      <p:pic>
        <p:nvPicPr>
          <p:cNvPr id="4" name="Picture 2">
            <a:extLst>
              <a:ext uri="{FF2B5EF4-FFF2-40B4-BE49-F238E27FC236}">
                <a16:creationId xmlns:a16="http://schemas.microsoft.com/office/drawing/2014/main" id="{A84F7050-77F1-1CCD-6B09-661D9A314FA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18536" y="3038323"/>
            <a:ext cx="8360227" cy="23492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2390E42-EE0A-5149-6F99-BCF92F38B087}"/>
              </a:ext>
            </a:extLst>
          </p:cNvPr>
          <p:cNvSpPr txBox="1"/>
          <p:nvPr/>
        </p:nvSpPr>
        <p:spPr>
          <a:xfrm>
            <a:off x="951471" y="6550223"/>
            <a:ext cx="11714205" cy="307777"/>
          </a:xfrm>
          <a:prstGeom prst="rect">
            <a:avLst/>
          </a:prstGeom>
          <a:noFill/>
        </p:spPr>
        <p:txBody>
          <a:bodyPr wrap="square" rtlCol="0">
            <a:spAutoFit/>
          </a:bodyPr>
          <a:lstStyle/>
          <a:p>
            <a:r>
              <a:rPr lang="en-US" sz="1400" dirty="0"/>
              <a:t>Jessica Hullman and Matthew Kay (</a:t>
            </a:r>
            <a:r>
              <a:rPr lang="en-US" sz="1400" dirty="0">
                <a:hlinkClick r:id="rId5"/>
              </a:rPr>
              <a:t>https://medium.com/multiple-views-visualization-research-explained/uncertainty-visualization-explained-67e7a73f031b</a:t>
            </a:r>
            <a:r>
              <a:rPr lang="en-US" sz="1400" dirty="0"/>
              <a:t> )</a:t>
            </a:r>
          </a:p>
        </p:txBody>
      </p:sp>
    </p:spTree>
    <p:extLst>
      <p:ext uri="{BB962C8B-B14F-4D97-AF65-F5344CB8AC3E}">
        <p14:creationId xmlns:p14="http://schemas.microsoft.com/office/powerpoint/2010/main" val="8527702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169E8-B143-3CFD-831B-5927E50F54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5EE1EB-8B2B-290D-368B-E89F5D98FD28}"/>
              </a:ext>
            </a:extLst>
          </p:cNvPr>
          <p:cNvSpPr>
            <a:spLocks noGrp="1"/>
          </p:cNvSpPr>
          <p:nvPr>
            <p:ph type="title"/>
          </p:nvPr>
        </p:nvSpPr>
        <p:spPr/>
        <p:txBody>
          <a:bodyPr/>
          <a:lstStyle/>
          <a:p>
            <a:r>
              <a:rPr lang="en-US" dirty="0"/>
              <a:t>Visualizing uncertainty</a:t>
            </a:r>
          </a:p>
        </p:txBody>
      </p:sp>
      <p:sp>
        <p:nvSpPr>
          <p:cNvPr id="7" name="Content Placeholder 2">
            <a:extLst>
              <a:ext uri="{FF2B5EF4-FFF2-40B4-BE49-F238E27FC236}">
                <a16:creationId xmlns:a16="http://schemas.microsoft.com/office/drawing/2014/main" id="{A7A5D088-D9BE-1F1F-4996-6D3187195392}"/>
              </a:ext>
            </a:extLst>
          </p:cNvPr>
          <p:cNvSpPr>
            <a:spLocks noGrp="1"/>
          </p:cNvSpPr>
          <p:nvPr>
            <p:ph idx="1"/>
          </p:nvPr>
        </p:nvSpPr>
        <p:spPr>
          <a:xfrm>
            <a:off x="581192" y="2026483"/>
            <a:ext cx="11029616" cy="4302075"/>
          </a:xfrm>
        </p:spPr>
        <p:txBody>
          <a:bodyPr vert="horz" lIns="91440" tIns="45720" rIns="91440" bIns="45720" rtlCol="0" anchor="t">
            <a:normAutofit/>
          </a:bodyPr>
          <a:lstStyle/>
          <a:p>
            <a:r>
              <a:rPr lang="en-US" sz="2400" dirty="0"/>
              <a:t>A statistical model is used to estimate a parameter</a:t>
            </a:r>
          </a:p>
          <a:p>
            <a:r>
              <a:rPr lang="en-US" sz="2400" dirty="0"/>
              <a:t>The model quantifies the uncertainty around the estimate by considering all values it could be (and how likely each is) </a:t>
            </a:r>
          </a:p>
          <a:p>
            <a:r>
              <a:rPr lang="en-US" sz="2400" dirty="0"/>
              <a:t>Hence, a parameter’s uncertainty can be characterized by a probability distribution </a:t>
            </a:r>
          </a:p>
        </p:txBody>
      </p:sp>
      <p:sp>
        <p:nvSpPr>
          <p:cNvPr id="5" name="Rounded Rectangle 4">
            <a:extLst>
              <a:ext uri="{FF2B5EF4-FFF2-40B4-BE49-F238E27FC236}">
                <a16:creationId xmlns:a16="http://schemas.microsoft.com/office/drawing/2014/main" id="{0B7C6828-2C13-F24D-3045-5431F2C65434}"/>
              </a:ext>
            </a:extLst>
          </p:cNvPr>
          <p:cNvSpPr/>
          <p:nvPr/>
        </p:nvSpPr>
        <p:spPr>
          <a:xfrm>
            <a:off x="2463113" y="4213653"/>
            <a:ext cx="7265773" cy="1383957"/>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Why is it important to communicate uncertainty?</a:t>
            </a:r>
          </a:p>
        </p:txBody>
      </p:sp>
      <p:sp>
        <p:nvSpPr>
          <p:cNvPr id="6" name="TextBox 5">
            <a:extLst>
              <a:ext uri="{FF2B5EF4-FFF2-40B4-BE49-F238E27FC236}">
                <a16:creationId xmlns:a16="http://schemas.microsoft.com/office/drawing/2014/main" id="{B4E1A92B-7C4D-0432-8273-4D0A54D81750}"/>
              </a:ext>
            </a:extLst>
          </p:cNvPr>
          <p:cNvSpPr txBox="1"/>
          <p:nvPr/>
        </p:nvSpPr>
        <p:spPr>
          <a:xfrm>
            <a:off x="951471" y="6550223"/>
            <a:ext cx="11714205" cy="307777"/>
          </a:xfrm>
          <a:prstGeom prst="rect">
            <a:avLst/>
          </a:prstGeom>
          <a:noFill/>
        </p:spPr>
        <p:txBody>
          <a:bodyPr wrap="square" rtlCol="0">
            <a:spAutoFit/>
          </a:bodyPr>
          <a:lstStyle/>
          <a:p>
            <a:r>
              <a:rPr lang="en-US" sz="1400" dirty="0"/>
              <a:t>Jessica Hullman and Matthew Kay (</a:t>
            </a:r>
            <a:r>
              <a:rPr lang="en-US" sz="1400" dirty="0">
                <a:hlinkClick r:id="rId3"/>
              </a:rPr>
              <a:t>https://medium.com/multiple-views-visualization-research-explained/uncertainty-visualization-explained-67e7a73f031b</a:t>
            </a:r>
            <a:r>
              <a:rPr lang="en-US" sz="1400" dirty="0"/>
              <a:t> )</a:t>
            </a:r>
          </a:p>
        </p:txBody>
      </p:sp>
    </p:spTree>
    <p:extLst>
      <p:ext uri="{BB962C8B-B14F-4D97-AF65-F5344CB8AC3E}">
        <p14:creationId xmlns:p14="http://schemas.microsoft.com/office/powerpoint/2010/main" val="320540420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06D2240-F7EB-757D-08EE-C5C4FF6CAD4F}"/>
              </a:ext>
            </a:extLst>
          </p:cNvPr>
          <p:cNvSpPr>
            <a:spLocks noGrp="1"/>
          </p:cNvSpPr>
          <p:nvPr>
            <p:ph idx="1"/>
          </p:nvPr>
        </p:nvSpPr>
        <p:spPr/>
        <p:txBody>
          <a:bodyPr anchor="t">
            <a:normAutofit/>
          </a:bodyPr>
          <a:lstStyle/>
          <a:p>
            <a:r>
              <a:rPr lang="en-US" sz="2200" dirty="0"/>
              <a:t>There are two broad categories of uncertainty visualization techniques:</a:t>
            </a:r>
          </a:p>
          <a:p>
            <a:endParaRPr lang="en-US" sz="2200" dirty="0"/>
          </a:p>
          <a:p>
            <a:pPr marL="666900" lvl="1" indent="-342900">
              <a:buFont typeface="+mj-lt"/>
              <a:buAutoNum type="arabicPeriod"/>
            </a:pPr>
            <a:r>
              <a:rPr lang="en-US" sz="2200" dirty="0"/>
              <a:t>Graphical annotations that show properties of a distribution</a:t>
            </a:r>
          </a:p>
          <a:p>
            <a:pPr marL="936900" lvl="2" indent="-342900"/>
            <a:r>
              <a:rPr lang="en-US" sz="2200" dirty="0"/>
              <a:t>Ex. error bars, animating between possible values</a:t>
            </a:r>
          </a:p>
          <a:p>
            <a:pPr marL="936900" lvl="2" indent="-342900"/>
            <a:endParaRPr lang="en-US" sz="2200" dirty="0"/>
          </a:p>
          <a:p>
            <a:pPr marL="666900" lvl="1" indent="-342900">
              <a:buFont typeface="+mj-lt"/>
              <a:buAutoNum type="arabicPeriod"/>
            </a:pPr>
            <a:r>
              <a:rPr lang="en-US" sz="2200" dirty="0"/>
              <a:t>Mapping probability or confidence to a visual encoding channel </a:t>
            </a:r>
          </a:p>
          <a:p>
            <a:pPr marL="936900" lvl="2" indent="-342900"/>
            <a:r>
              <a:rPr lang="en-US" sz="2200" dirty="0"/>
              <a:t>Ex. Make a mark more transparent if uncertainty is high</a:t>
            </a:r>
          </a:p>
        </p:txBody>
      </p:sp>
      <p:sp>
        <p:nvSpPr>
          <p:cNvPr id="4" name="TextBox 3">
            <a:extLst>
              <a:ext uri="{FF2B5EF4-FFF2-40B4-BE49-F238E27FC236}">
                <a16:creationId xmlns:a16="http://schemas.microsoft.com/office/drawing/2014/main" id="{F6E92AE3-AAE9-652F-E2DB-D5E7A88255AE}"/>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AEBDA747-C60D-FD4E-718E-A42CD15083F1}"/>
              </a:ext>
            </a:extLst>
          </p:cNvPr>
          <p:cNvSpPr>
            <a:spLocks noGrp="1"/>
          </p:cNvSpPr>
          <p:nvPr>
            <p:ph type="title"/>
          </p:nvPr>
        </p:nvSpPr>
        <p:spPr/>
        <p:txBody>
          <a:bodyPr/>
          <a:lstStyle/>
          <a:p>
            <a:r>
              <a:rPr lang="en-US" dirty="0"/>
              <a:t>Visualizing uncertainty</a:t>
            </a:r>
          </a:p>
        </p:txBody>
      </p:sp>
    </p:spTree>
    <p:extLst>
      <p:ext uri="{BB962C8B-B14F-4D97-AF65-F5344CB8AC3E}">
        <p14:creationId xmlns:p14="http://schemas.microsoft.com/office/powerpoint/2010/main" val="17960757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7B4DB-520E-EE90-E9C9-DEBD6014D7F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E54DD86-EC45-0D20-E994-B18FDE50D00E}"/>
              </a:ext>
            </a:extLst>
          </p:cNvPr>
          <p:cNvSpPr>
            <a:spLocks noGrp="1"/>
          </p:cNvSpPr>
          <p:nvPr>
            <p:ph idx="1"/>
          </p:nvPr>
        </p:nvSpPr>
        <p:spPr>
          <a:xfrm>
            <a:off x="581193" y="2180496"/>
            <a:ext cx="3884886" cy="3678303"/>
          </a:xfrm>
        </p:spPr>
        <p:txBody>
          <a:bodyPr anchor="t">
            <a:normAutofit fontScale="92500" lnSpcReduction="10000"/>
          </a:bodyPr>
          <a:lstStyle/>
          <a:p>
            <a:pPr marL="0" indent="0">
              <a:buNone/>
            </a:pPr>
            <a:r>
              <a:rPr lang="en-US" sz="2000" dirty="0"/>
              <a:t>Icon Array</a:t>
            </a:r>
          </a:p>
          <a:p>
            <a:pPr lvl="1"/>
            <a:r>
              <a:rPr lang="en-US" sz="2000" dirty="0"/>
              <a:t>Oﬄoad cognition by allowing a viewer’s visual system to compare the denominator and the numerator in a frequency probability format</a:t>
            </a:r>
          </a:p>
          <a:p>
            <a:pPr lvl="1"/>
            <a:r>
              <a:rPr lang="en-US" sz="2000" dirty="0"/>
              <a:t>Visual comparisons of this nature are easier and faster than numerical calculations</a:t>
            </a:r>
          </a:p>
          <a:p>
            <a:pPr lvl="1"/>
            <a:r>
              <a:rPr lang="en-US" sz="2000" dirty="0"/>
              <a:t>Can reduce denominator neglect by allowing people to compare relative ratios visually</a:t>
            </a:r>
          </a:p>
        </p:txBody>
      </p:sp>
      <p:sp>
        <p:nvSpPr>
          <p:cNvPr id="4" name="TextBox 3">
            <a:extLst>
              <a:ext uri="{FF2B5EF4-FFF2-40B4-BE49-F238E27FC236}">
                <a16:creationId xmlns:a16="http://schemas.microsoft.com/office/drawing/2014/main" id="{10FA3675-9A47-E73C-4CC8-8F31F62F5573}"/>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CD61245C-CC4C-34A5-372C-17B3B4B04A2B}"/>
              </a:ext>
            </a:extLst>
          </p:cNvPr>
          <p:cNvSpPr>
            <a:spLocks noGrp="1"/>
          </p:cNvSpPr>
          <p:nvPr>
            <p:ph type="title"/>
          </p:nvPr>
        </p:nvSpPr>
        <p:spPr/>
        <p:txBody>
          <a:bodyPr/>
          <a:lstStyle/>
          <a:p>
            <a:r>
              <a:rPr lang="en-US" dirty="0"/>
              <a:t>Visualizing uncertainty</a:t>
            </a:r>
          </a:p>
        </p:txBody>
      </p:sp>
      <p:pic>
        <p:nvPicPr>
          <p:cNvPr id="1026" name="Picture 2" descr="Icon array presented in the survey">
            <a:extLst>
              <a:ext uri="{FF2B5EF4-FFF2-40B4-BE49-F238E27FC236}">
                <a16:creationId xmlns:a16="http://schemas.microsoft.com/office/drawing/2014/main" id="{8E625777-C44B-1926-F702-7B4E6963476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0899"/>
          <a:stretch>
            <a:fillRect/>
          </a:stretch>
        </p:blipFill>
        <p:spPr bwMode="auto">
          <a:xfrm>
            <a:off x="4701591" y="1678290"/>
            <a:ext cx="7139148" cy="447755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3527F3B0-7D9F-421F-2C92-58EC08EBE012}"/>
              </a:ext>
            </a:extLst>
          </p:cNvPr>
          <p:cNvSpPr txBox="1"/>
          <p:nvPr/>
        </p:nvSpPr>
        <p:spPr>
          <a:xfrm>
            <a:off x="10532960" y="2729708"/>
            <a:ext cx="1543291" cy="600164"/>
          </a:xfrm>
          <a:prstGeom prst="rect">
            <a:avLst/>
          </a:prstGeom>
          <a:noFill/>
        </p:spPr>
        <p:txBody>
          <a:bodyPr wrap="square">
            <a:spAutoFit/>
          </a:bodyPr>
          <a:lstStyle/>
          <a:p>
            <a:r>
              <a:rPr lang="en-US" sz="1100" dirty="0"/>
              <a:t>Scalia et al. (2021) </a:t>
            </a:r>
            <a:r>
              <a:rPr lang="en-US" sz="1100" dirty="0">
                <a:hlinkClick r:id="rId4"/>
              </a:rPr>
              <a:t>https://doi.org/10.1371/journal.pone.0253644</a:t>
            </a:r>
            <a:r>
              <a:rPr lang="en-US" sz="1100" dirty="0"/>
              <a:t> </a:t>
            </a:r>
          </a:p>
        </p:txBody>
      </p:sp>
    </p:spTree>
    <p:extLst>
      <p:ext uri="{BB962C8B-B14F-4D97-AF65-F5344CB8AC3E}">
        <p14:creationId xmlns:p14="http://schemas.microsoft.com/office/powerpoint/2010/main" val="15796552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A75CEE-0796-8003-D32D-8B1C4C2680C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18576C-34B4-33AB-7FCE-71B8BA75A4D0}"/>
              </a:ext>
            </a:extLst>
          </p:cNvPr>
          <p:cNvSpPr>
            <a:spLocks noGrp="1"/>
          </p:cNvSpPr>
          <p:nvPr>
            <p:ph idx="1"/>
          </p:nvPr>
        </p:nvSpPr>
        <p:spPr>
          <a:xfrm>
            <a:off x="581193" y="2180496"/>
            <a:ext cx="4627618" cy="3678303"/>
          </a:xfrm>
        </p:spPr>
        <p:txBody>
          <a:bodyPr anchor="t">
            <a:normAutofit/>
          </a:bodyPr>
          <a:lstStyle/>
          <a:p>
            <a:pPr marL="0" indent="0">
              <a:buNone/>
            </a:pPr>
            <a:r>
              <a:rPr lang="en-US" sz="2200" dirty="0"/>
              <a:t>Quantile </a:t>
            </a:r>
            <a:r>
              <a:rPr lang="en-US" sz="2200" dirty="0" err="1"/>
              <a:t>dotplot</a:t>
            </a:r>
            <a:endParaRPr lang="en-US" sz="2200" dirty="0"/>
          </a:p>
          <a:p>
            <a:r>
              <a:rPr lang="en-US" sz="2000" dirty="0"/>
              <a:t>Displays uncertainty for a continuous variable</a:t>
            </a:r>
          </a:p>
          <a:p>
            <a:r>
              <a:rPr lang="en-US" sz="2000" dirty="0"/>
              <a:t>Represents a distribution where dots are sampled proportional to the quantiles of the distribution</a:t>
            </a:r>
          </a:p>
          <a:p>
            <a:endParaRPr lang="en-US" sz="2200" dirty="0"/>
          </a:p>
        </p:txBody>
      </p:sp>
      <p:sp>
        <p:nvSpPr>
          <p:cNvPr id="4" name="TextBox 3">
            <a:extLst>
              <a:ext uri="{FF2B5EF4-FFF2-40B4-BE49-F238E27FC236}">
                <a16:creationId xmlns:a16="http://schemas.microsoft.com/office/drawing/2014/main" id="{3A83250F-2E00-7ED6-0AF6-D79585FDBDAE}"/>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3"/>
              </a:rPr>
              <a:t>https://doi.org/10.1002/9781118445112.stat08296</a:t>
            </a:r>
            <a:endParaRPr lang="en-US" sz="1400" dirty="0"/>
          </a:p>
        </p:txBody>
      </p:sp>
      <p:sp>
        <p:nvSpPr>
          <p:cNvPr id="5" name="Title 1">
            <a:extLst>
              <a:ext uri="{FF2B5EF4-FFF2-40B4-BE49-F238E27FC236}">
                <a16:creationId xmlns:a16="http://schemas.microsoft.com/office/drawing/2014/main" id="{F592CCAC-ED27-F4CC-4C03-4A3C16179482}"/>
              </a:ext>
            </a:extLst>
          </p:cNvPr>
          <p:cNvSpPr>
            <a:spLocks noGrp="1"/>
          </p:cNvSpPr>
          <p:nvPr>
            <p:ph type="title"/>
          </p:nvPr>
        </p:nvSpPr>
        <p:spPr/>
        <p:txBody>
          <a:bodyPr/>
          <a:lstStyle/>
          <a:p>
            <a:r>
              <a:rPr lang="en-US" dirty="0"/>
              <a:t>Visualizing uncertainty</a:t>
            </a:r>
          </a:p>
        </p:txBody>
      </p:sp>
      <p:pic>
        <p:nvPicPr>
          <p:cNvPr id="6" name="Picture 5" descr="A diagram of a function&#10;&#10;AI-generated content may be incorrect.">
            <a:extLst>
              <a:ext uri="{FF2B5EF4-FFF2-40B4-BE49-F238E27FC236}">
                <a16:creationId xmlns:a16="http://schemas.microsoft.com/office/drawing/2014/main" id="{EDCB2A6D-9E77-6253-FC22-8DC2F2BF6651}"/>
              </a:ext>
            </a:extLst>
          </p:cNvPr>
          <p:cNvPicPr>
            <a:picLocks noChangeAspect="1"/>
          </p:cNvPicPr>
          <p:nvPr/>
        </p:nvPicPr>
        <p:blipFill>
          <a:blip r:embed="rId4"/>
          <a:stretch>
            <a:fillRect/>
          </a:stretch>
        </p:blipFill>
        <p:spPr>
          <a:xfrm>
            <a:off x="5208813" y="1709474"/>
            <a:ext cx="6401993" cy="4446369"/>
          </a:xfrm>
          <a:prstGeom prst="rect">
            <a:avLst/>
          </a:prstGeom>
        </p:spPr>
      </p:pic>
      <p:pic>
        <p:nvPicPr>
          <p:cNvPr id="8" name="Picture 7" descr="A graph of a number of different types of bus passengers&#10;&#10;AI-generated content may be incorrect.">
            <a:extLst>
              <a:ext uri="{FF2B5EF4-FFF2-40B4-BE49-F238E27FC236}">
                <a16:creationId xmlns:a16="http://schemas.microsoft.com/office/drawing/2014/main" id="{5D390C4B-2AA7-764B-BAE5-1809AF83D518}"/>
              </a:ext>
            </a:extLst>
          </p:cNvPr>
          <p:cNvPicPr>
            <a:picLocks noChangeAspect="1"/>
          </p:cNvPicPr>
          <p:nvPr/>
        </p:nvPicPr>
        <p:blipFill>
          <a:blip r:embed="rId5"/>
          <a:stretch>
            <a:fillRect/>
          </a:stretch>
        </p:blipFill>
        <p:spPr>
          <a:xfrm>
            <a:off x="5244191" y="1709475"/>
            <a:ext cx="6366615" cy="4644108"/>
          </a:xfrm>
          <a:prstGeom prst="rect">
            <a:avLst/>
          </a:prstGeom>
        </p:spPr>
      </p:pic>
    </p:spTree>
    <p:extLst>
      <p:ext uri="{BB962C8B-B14F-4D97-AF65-F5344CB8AC3E}">
        <p14:creationId xmlns:p14="http://schemas.microsoft.com/office/powerpoint/2010/main" val="253773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03DAB-8AF8-63C1-DDBB-70ED5D943E0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77B4B4C-81E2-A838-78A0-80F8460FBA04}"/>
              </a:ext>
            </a:extLst>
          </p:cNvPr>
          <p:cNvSpPr>
            <a:spLocks noGrp="1"/>
          </p:cNvSpPr>
          <p:nvPr>
            <p:ph idx="1"/>
          </p:nvPr>
        </p:nvSpPr>
        <p:spPr>
          <a:xfrm>
            <a:off x="581193" y="2180496"/>
            <a:ext cx="6603378" cy="3975348"/>
          </a:xfrm>
        </p:spPr>
        <p:txBody>
          <a:bodyPr anchor="t">
            <a:normAutofit lnSpcReduction="10000"/>
          </a:bodyPr>
          <a:lstStyle/>
          <a:p>
            <a:pPr marL="0" indent="0">
              <a:buNone/>
            </a:pPr>
            <a:r>
              <a:rPr lang="en-US" sz="2000" dirty="0"/>
              <a:t>Hypothetical outcome plots (HOPs)</a:t>
            </a:r>
          </a:p>
          <a:p>
            <a:r>
              <a:rPr lang="en-US" sz="2000" dirty="0"/>
              <a:t>Use random draws from a distribution and animates the draws over time</a:t>
            </a:r>
          </a:p>
          <a:p>
            <a:r>
              <a:rPr lang="en-US" sz="2000" dirty="0"/>
              <a:t>Force viewers to:</a:t>
            </a:r>
          </a:p>
          <a:p>
            <a:pPr lvl="1"/>
            <a:r>
              <a:rPr lang="en-US" sz="2000" dirty="0"/>
              <a:t>account for uncertainty in their understanding of the data </a:t>
            </a:r>
          </a:p>
          <a:p>
            <a:pPr lvl="1"/>
            <a:r>
              <a:rPr lang="en-US" sz="2000" dirty="0"/>
              <a:t>recognize that less probable outcomes do fall within the distribution</a:t>
            </a:r>
          </a:p>
          <a:p>
            <a:r>
              <a:rPr lang="en-US" sz="2000" dirty="0"/>
              <a:t>Can be applied to most distribution data and visual encoding techniques relatively easily (as long as animation is not already used)</a:t>
            </a:r>
          </a:p>
        </p:txBody>
      </p:sp>
      <p:sp>
        <p:nvSpPr>
          <p:cNvPr id="4" name="TextBox 3">
            <a:extLst>
              <a:ext uri="{FF2B5EF4-FFF2-40B4-BE49-F238E27FC236}">
                <a16:creationId xmlns:a16="http://schemas.microsoft.com/office/drawing/2014/main" id="{EB6E58BC-E0FE-2071-3042-5529956C644D}"/>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3C3CC8B9-5223-89B4-0156-228C60FD16CC}"/>
              </a:ext>
            </a:extLst>
          </p:cNvPr>
          <p:cNvSpPr>
            <a:spLocks noGrp="1"/>
          </p:cNvSpPr>
          <p:nvPr>
            <p:ph type="title"/>
          </p:nvPr>
        </p:nvSpPr>
        <p:spPr/>
        <p:txBody>
          <a:bodyPr/>
          <a:lstStyle/>
          <a:p>
            <a:r>
              <a:rPr lang="en-US" dirty="0"/>
              <a:t>Visualizing uncertainty</a:t>
            </a:r>
          </a:p>
        </p:txBody>
      </p:sp>
      <p:pic>
        <p:nvPicPr>
          <p:cNvPr id="1026" name="Picture 2">
            <a:extLst>
              <a:ext uri="{FF2B5EF4-FFF2-40B4-BE49-F238E27FC236}">
                <a16:creationId xmlns:a16="http://schemas.microsoft.com/office/drawing/2014/main" id="{0A2BBF4F-D4D0-174E-C8E3-22932E764F8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84571" y="1861549"/>
            <a:ext cx="3810000" cy="39243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1251246-E496-10B4-6B92-8C10EF2E53AA}"/>
              </a:ext>
            </a:extLst>
          </p:cNvPr>
          <p:cNvSpPr txBox="1"/>
          <p:nvPr/>
        </p:nvSpPr>
        <p:spPr>
          <a:xfrm>
            <a:off x="7184571" y="5767942"/>
            <a:ext cx="4735286" cy="523220"/>
          </a:xfrm>
          <a:prstGeom prst="rect">
            <a:avLst/>
          </a:prstGeom>
          <a:noFill/>
        </p:spPr>
        <p:txBody>
          <a:bodyPr wrap="square">
            <a:spAutoFit/>
          </a:bodyPr>
          <a:lstStyle/>
          <a:p>
            <a:r>
              <a:rPr lang="en-US" sz="1400" dirty="0"/>
              <a:t>https://</a:t>
            </a:r>
            <a:r>
              <a:rPr lang="en-US" sz="1400" dirty="0" err="1"/>
              <a:t>medium.com</a:t>
            </a:r>
            <a:r>
              <a:rPr lang="en-US" sz="1400" dirty="0"/>
              <a:t>/</a:t>
            </a:r>
            <a:r>
              <a:rPr lang="en-US" sz="1400" dirty="0" err="1"/>
              <a:t>hci</a:t>
            </a:r>
            <a:r>
              <a:rPr lang="en-US" sz="1400" dirty="0"/>
              <a:t>-design-at-</a:t>
            </a:r>
            <a:r>
              <a:rPr lang="en-US" sz="1400" dirty="0" err="1"/>
              <a:t>uw</a:t>
            </a:r>
            <a:r>
              <a:rPr lang="en-US" sz="1400" dirty="0"/>
              <a:t>/hypothetical-outcomes-plots-experiencing-the-uncertain-b9ea60d7c740</a:t>
            </a:r>
          </a:p>
        </p:txBody>
      </p:sp>
    </p:spTree>
    <p:extLst>
      <p:ext uri="{BB962C8B-B14F-4D97-AF65-F5344CB8AC3E}">
        <p14:creationId xmlns:p14="http://schemas.microsoft.com/office/powerpoint/2010/main" val="25035664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047347-FE6B-A7AE-AAC8-ACECD6BF2E1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DF5D8DB-90E4-DAAB-4232-EBB4092A198A}"/>
              </a:ext>
            </a:extLst>
          </p:cNvPr>
          <p:cNvSpPr>
            <a:spLocks noGrp="1"/>
          </p:cNvSpPr>
          <p:nvPr>
            <p:ph idx="1"/>
          </p:nvPr>
        </p:nvSpPr>
        <p:spPr>
          <a:xfrm>
            <a:off x="581193" y="2180496"/>
            <a:ext cx="5389621" cy="3678303"/>
          </a:xfrm>
        </p:spPr>
        <p:txBody>
          <a:bodyPr anchor="t">
            <a:normAutofit fontScale="92500" lnSpcReduction="10000"/>
          </a:bodyPr>
          <a:lstStyle/>
          <a:p>
            <a:pPr marL="0" indent="0">
              <a:buNone/>
            </a:pPr>
            <a:r>
              <a:rPr lang="en-US" sz="2400" dirty="0"/>
              <a:t>Ensemble display</a:t>
            </a:r>
          </a:p>
          <a:p>
            <a:r>
              <a:rPr lang="en-US" sz="2400" dirty="0"/>
              <a:t>Typically used to illustrate potential storm paths</a:t>
            </a:r>
          </a:p>
          <a:p>
            <a:r>
              <a:rPr lang="en-US" sz="2400" dirty="0"/>
              <a:t>Traditionally generated by making perturbations to a model’s parameters and plotting the resulting runs on a static display</a:t>
            </a:r>
          </a:p>
          <a:p>
            <a:r>
              <a:rPr lang="en-US" sz="2400" dirty="0"/>
              <a:t>Studies show people overreact when one model appears to be hitting a point of interest vs. near a point of interest</a:t>
            </a:r>
          </a:p>
        </p:txBody>
      </p:sp>
      <p:sp>
        <p:nvSpPr>
          <p:cNvPr id="4" name="TextBox 3">
            <a:extLst>
              <a:ext uri="{FF2B5EF4-FFF2-40B4-BE49-F238E27FC236}">
                <a16:creationId xmlns:a16="http://schemas.microsoft.com/office/drawing/2014/main" id="{BF3FC9F5-C253-C9D6-E833-BE8A2517477C}"/>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90A42B16-D56B-F54B-7E56-1222C9F56A78}"/>
              </a:ext>
            </a:extLst>
          </p:cNvPr>
          <p:cNvSpPr>
            <a:spLocks noGrp="1"/>
          </p:cNvSpPr>
          <p:nvPr>
            <p:ph type="title"/>
          </p:nvPr>
        </p:nvSpPr>
        <p:spPr/>
        <p:txBody>
          <a:bodyPr/>
          <a:lstStyle/>
          <a:p>
            <a:r>
              <a:rPr lang="en-US" dirty="0"/>
              <a:t>Visualizing uncertainty</a:t>
            </a:r>
          </a:p>
        </p:txBody>
      </p:sp>
      <p:pic>
        <p:nvPicPr>
          <p:cNvPr id="6" name="Picture 5">
            <a:extLst>
              <a:ext uri="{FF2B5EF4-FFF2-40B4-BE49-F238E27FC236}">
                <a16:creationId xmlns:a16="http://schemas.microsoft.com/office/drawing/2014/main" id="{CECB3C66-CE8B-062B-E79A-BB6BD254902A}"/>
              </a:ext>
            </a:extLst>
          </p:cNvPr>
          <p:cNvPicPr>
            <a:picLocks noChangeAspect="1"/>
          </p:cNvPicPr>
          <p:nvPr/>
        </p:nvPicPr>
        <p:blipFill>
          <a:blip r:embed="rId3"/>
          <a:srcRect r="51821"/>
          <a:stretch>
            <a:fillRect/>
          </a:stretch>
        </p:blipFill>
        <p:spPr>
          <a:xfrm>
            <a:off x="8333014" y="2480267"/>
            <a:ext cx="3744686" cy="3675577"/>
          </a:xfrm>
          <a:prstGeom prst="rect">
            <a:avLst/>
          </a:prstGeom>
        </p:spPr>
      </p:pic>
      <p:pic>
        <p:nvPicPr>
          <p:cNvPr id="7" name="Picture 6">
            <a:extLst>
              <a:ext uri="{FF2B5EF4-FFF2-40B4-BE49-F238E27FC236}">
                <a16:creationId xmlns:a16="http://schemas.microsoft.com/office/drawing/2014/main" id="{61E09881-66D7-358D-52D9-C38BAE53B03F}"/>
              </a:ext>
            </a:extLst>
          </p:cNvPr>
          <p:cNvPicPr>
            <a:picLocks noChangeAspect="1"/>
          </p:cNvPicPr>
          <p:nvPr/>
        </p:nvPicPr>
        <p:blipFill>
          <a:blip r:embed="rId3"/>
          <a:srcRect l="49860"/>
          <a:stretch>
            <a:fillRect/>
          </a:stretch>
        </p:blipFill>
        <p:spPr>
          <a:xfrm>
            <a:off x="5970814" y="110438"/>
            <a:ext cx="3897086" cy="3675577"/>
          </a:xfrm>
          <a:prstGeom prst="rect">
            <a:avLst/>
          </a:prstGeom>
        </p:spPr>
      </p:pic>
    </p:spTree>
    <p:extLst>
      <p:ext uri="{BB962C8B-B14F-4D97-AF65-F5344CB8AC3E}">
        <p14:creationId xmlns:p14="http://schemas.microsoft.com/office/powerpoint/2010/main" val="13650655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BE5D55-488D-9BDF-DAB0-C0FD7ECE359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F23546-05E0-F9D1-CEB7-E345602A391F}"/>
              </a:ext>
            </a:extLst>
          </p:cNvPr>
          <p:cNvSpPr>
            <a:spLocks noGrp="1"/>
          </p:cNvSpPr>
          <p:nvPr>
            <p:ph idx="1"/>
          </p:nvPr>
        </p:nvSpPr>
        <p:spPr>
          <a:xfrm>
            <a:off x="581193" y="2180496"/>
            <a:ext cx="6374778" cy="3975348"/>
          </a:xfrm>
        </p:spPr>
        <p:txBody>
          <a:bodyPr anchor="t">
            <a:normAutofit fontScale="92500" lnSpcReduction="20000"/>
          </a:bodyPr>
          <a:lstStyle/>
          <a:p>
            <a:pPr marL="0" indent="0">
              <a:buNone/>
            </a:pPr>
            <a:r>
              <a:rPr lang="en-US" sz="2400" dirty="0"/>
              <a:t>Error bars, Box plot</a:t>
            </a:r>
          </a:p>
          <a:p>
            <a:r>
              <a:rPr lang="en-US" sz="2400" dirty="0"/>
              <a:t>Visual boundaries force people to think differently about the data than a continuous encoding, (visual boundaries=cognitive categories) which can be good or bad, depending on the nature of their decision</a:t>
            </a:r>
          </a:p>
          <a:p>
            <a:pPr marL="0" indent="0">
              <a:buNone/>
            </a:pPr>
            <a:r>
              <a:rPr lang="en-US" sz="2400" dirty="0"/>
              <a:t>Violin plot, Gradient plot </a:t>
            </a:r>
          </a:p>
          <a:p>
            <a:r>
              <a:rPr lang="en-US" sz="2400" dirty="0"/>
              <a:t>Violin plots (mapping probability to area or width at a given y position) and gradient plots (mapping probability to opacity) lead to more intuitive assessments of value likelihood and “ability to surprise”</a:t>
            </a:r>
          </a:p>
        </p:txBody>
      </p:sp>
      <p:sp>
        <p:nvSpPr>
          <p:cNvPr id="4" name="TextBox 3">
            <a:extLst>
              <a:ext uri="{FF2B5EF4-FFF2-40B4-BE49-F238E27FC236}">
                <a16:creationId xmlns:a16="http://schemas.microsoft.com/office/drawing/2014/main" id="{2CFF1DD8-5160-67DB-AD39-818536E22D87}"/>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EA77AB9E-50F9-7069-6F55-A76BBF716D84}"/>
              </a:ext>
            </a:extLst>
          </p:cNvPr>
          <p:cNvSpPr>
            <a:spLocks noGrp="1"/>
          </p:cNvSpPr>
          <p:nvPr>
            <p:ph type="title"/>
          </p:nvPr>
        </p:nvSpPr>
        <p:spPr/>
        <p:txBody>
          <a:bodyPr/>
          <a:lstStyle/>
          <a:p>
            <a:r>
              <a:rPr lang="en-US" dirty="0"/>
              <a:t>Visualizing uncertainty</a:t>
            </a:r>
          </a:p>
        </p:txBody>
      </p:sp>
      <p:pic>
        <p:nvPicPr>
          <p:cNvPr id="6" name="Picture 5" descr="A white background with black dots&#10;&#10;AI-generated content may be incorrect.">
            <a:extLst>
              <a:ext uri="{FF2B5EF4-FFF2-40B4-BE49-F238E27FC236}">
                <a16:creationId xmlns:a16="http://schemas.microsoft.com/office/drawing/2014/main" id="{B2DB722C-61EE-FE7B-6141-49F9D5DF7527}"/>
              </a:ext>
            </a:extLst>
          </p:cNvPr>
          <p:cNvPicPr>
            <a:picLocks noChangeAspect="1"/>
          </p:cNvPicPr>
          <p:nvPr/>
        </p:nvPicPr>
        <p:blipFill>
          <a:blip r:embed="rId3"/>
          <a:stretch>
            <a:fillRect/>
          </a:stretch>
        </p:blipFill>
        <p:spPr>
          <a:xfrm>
            <a:off x="7200900" y="2685062"/>
            <a:ext cx="4672291" cy="1013799"/>
          </a:xfrm>
          <a:prstGeom prst="rect">
            <a:avLst/>
          </a:prstGeom>
        </p:spPr>
      </p:pic>
      <p:pic>
        <p:nvPicPr>
          <p:cNvPr id="8" name="Picture 7" descr="A close-up of a white background&#10;&#10;AI-generated content may be incorrect.">
            <a:extLst>
              <a:ext uri="{FF2B5EF4-FFF2-40B4-BE49-F238E27FC236}">
                <a16:creationId xmlns:a16="http://schemas.microsoft.com/office/drawing/2014/main" id="{9D781CEB-F452-4BA4-0E28-B49B7B19D3B9}"/>
              </a:ext>
            </a:extLst>
          </p:cNvPr>
          <p:cNvPicPr>
            <a:picLocks noChangeAspect="1"/>
          </p:cNvPicPr>
          <p:nvPr/>
        </p:nvPicPr>
        <p:blipFill>
          <a:blip r:embed="rId4"/>
          <a:stretch>
            <a:fillRect/>
          </a:stretch>
        </p:blipFill>
        <p:spPr>
          <a:xfrm>
            <a:off x="7136091" y="4509450"/>
            <a:ext cx="4737100" cy="1003300"/>
          </a:xfrm>
          <a:prstGeom prst="rect">
            <a:avLst/>
          </a:prstGeom>
        </p:spPr>
      </p:pic>
    </p:spTree>
    <p:extLst>
      <p:ext uri="{BB962C8B-B14F-4D97-AF65-F5344CB8AC3E}">
        <p14:creationId xmlns:p14="http://schemas.microsoft.com/office/powerpoint/2010/main" val="30886117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AA699D-4D31-A2FC-258D-3BA655D2696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237E9C7-3CE3-AC02-B2AD-6D94DFFDC4AA}"/>
              </a:ext>
            </a:extLst>
          </p:cNvPr>
          <p:cNvSpPr>
            <a:spLocks noGrp="1"/>
          </p:cNvSpPr>
          <p:nvPr>
            <p:ph idx="1"/>
          </p:nvPr>
        </p:nvSpPr>
        <p:spPr>
          <a:xfrm>
            <a:off x="581193" y="2180496"/>
            <a:ext cx="5933907" cy="3975348"/>
          </a:xfrm>
        </p:spPr>
        <p:txBody>
          <a:bodyPr anchor="t">
            <a:normAutofit lnSpcReduction="10000"/>
          </a:bodyPr>
          <a:lstStyle/>
          <a:p>
            <a:pPr marL="0" indent="0">
              <a:buNone/>
            </a:pPr>
            <a:r>
              <a:rPr lang="en-US" sz="2200" dirty="0"/>
              <a:t>Fuzziness, transparency, location, etc.</a:t>
            </a:r>
          </a:p>
          <a:p>
            <a:r>
              <a:rPr lang="en-US" sz="2200" dirty="0"/>
              <a:t>Encoding techniques that utilize visual metaphors for uncertainty, such as graying out using color saturation, out of focus using blur, fogginess using transparency, adding noise using texture, or sketchiness, are more intuitive ways to communicate uncertainty  </a:t>
            </a:r>
          </a:p>
          <a:p>
            <a:r>
              <a:rPr lang="en-US" sz="2200" dirty="0"/>
              <a:t>Some of the visualizations map probability to visual properties and are designed to inhibit the viewer from resolving the value of a datum when the uncertainty is too high</a:t>
            </a:r>
          </a:p>
        </p:txBody>
      </p:sp>
      <p:sp>
        <p:nvSpPr>
          <p:cNvPr id="4" name="TextBox 3">
            <a:extLst>
              <a:ext uri="{FF2B5EF4-FFF2-40B4-BE49-F238E27FC236}">
                <a16:creationId xmlns:a16="http://schemas.microsoft.com/office/drawing/2014/main" id="{93A45A34-B81B-B054-486D-E9D4F5658CD9}"/>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2"/>
              </a:rPr>
              <a:t>https://doi.org/10.1002/9781118445112.stat08296</a:t>
            </a:r>
            <a:endParaRPr lang="en-US" sz="1400" dirty="0"/>
          </a:p>
        </p:txBody>
      </p:sp>
      <p:sp>
        <p:nvSpPr>
          <p:cNvPr id="5" name="Title 1">
            <a:extLst>
              <a:ext uri="{FF2B5EF4-FFF2-40B4-BE49-F238E27FC236}">
                <a16:creationId xmlns:a16="http://schemas.microsoft.com/office/drawing/2014/main" id="{127936EE-C565-2FF4-D9E1-4F66837A256B}"/>
              </a:ext>
            </a:extLst>
          </p:cNvPr>
          <p:cNvSpPr>
            <a:spLocks noGrp="1"/>
          </p:cNvSpPr>
          <p:nvPr>
            <p:ph type="title"/>
          </p:nvPr>
        </p:nvSpPr>
        <p:spPr/>
        <p:txBody>
          <a:bodyPr/>
          <a:lstStyle/>
          <a:p>
            <a:r>
              <a:rPr lang="en-US" dirty="0"/>
              <a:t>Visualizing uncertainty</a:t>
            </a:r>
          </a:p>
        </p:txBody>
      </p:sp>
      <p:pic>
        <p:nvPicPr>
          <p:cNvPr id="6" name="Picture 5" descr="A diagram of different types of circles&#10;&#10;AI-generated content may be incorrect.">
            <a:extLst>
              <a:ext uri="{FF2B5EF4-FFF2-40B4-BE49-F238E27FC236}">
                <a16:creationId xmlns:a16="http://schemas.microsoft.com/office/drawing/2014/main" id="{E4A3B37C-D00E-24D0-5D55-D1483EBDBE6B}"/>
              </a:ext>
            </a:extLst>
          </p:cNvPr>
          <p:cNvPicPr>
            <a:picLocks noChangeAspect="1"/>
          </p:cNvPicPr>
          <p:nvPr/>
        </p:nvPicPr>
        <p:blipFill>
          <a:blip r:embed="rId3"/>
          <a:srcRect r="39706"/>
          <a:stretch>
            <a:fillRect/>
          </a:stretch>
        </p:blipFill>
        <p:spPr>
          <a:xfrm>
            <a:off x="6515100" y="651141"/>
            <a:ext cx="4142636" cy="2768600"/>
          </a:xfrm>
          <a:prstGeom prst="rect">
            <a:avLst/>
          </a:prstGeom>
        </p:spPr>
      </p:pic>
      <p:pic>
        <p:nvPicPr>
          <p:cNvPr id="7" name="Picture 6" descr="A diagram of different types of circles&#10;&#10;AI-generated content may be incorrect.">
            <a:extLst>
              <a:ext uri="{FF2B5EF4-FFF2-40B4-BE49-F238E27FC236}">
                <a16:creationId xmlns:a16="http://schemas.microsoft.com/office/drawing/2014/main" id="{DDC1732A-DAD3-A9CF-494D-BBD54DFE41DE}"/>
              </a:ext>
            </a:extLst>
          </p:cNvPr>
          <p:cNvPicPr>
            <a:picLocks noChangeAspect="1"/>
          </p:cNvPicPr>
          <p:nvPr/>
        </p:nvPicPr>
        <p:blipFill>
          <a:blip r:embed="rId3"/>
          <a:srcRect l="62205"/>
          <a:stretch>
            <a:fillRect/>
          </a:stretch>
        </p:blipFill>
        <p:spPr>
          <a:xfrm>
            <a:off x="9359353" y="3264628"/>
            <a:ext cx="2596766" cy="2768600"/>
          </a:xfrm>
          <a:prstGeom prst="rect">
            <a:avLst/>
          </a:prstGeom>
        </p:spPr>
      </p:pic>
    </p:spTree>
    <p:extLst>
      <p:ext uri="{BB962C8B-B14F-4D97-AF65-F5344CB8AC3E}">
        <p14:creationId xmlns:p14="http://schemas.microsoft.com/office/powerpoint/2010/main" val="132017985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35B246-3488-AECA-6B3C-BD7835F461B3}"/>
            </a:ext>
          </a:extLst>
        </p:cNvPr>
        <p:cNvGrpSpPr/>
        <p:nvPr/>
      </p:nvGrpSpPr>
      <p:grpSpPr>
        <a:xfrm>
          <a:off x="0" y="0"/>
          <a:ext cx="0" cy="0"/>
          <a:chOff x="0" y="0"/>
          <a:chExt cx="0" cy="0"/>
        </a:xfrm>
      </p:grpSpPr>
      <p:pic>
        <p:nvPicPr>
          <p:cNvPr id="8" name="Picture 7" descr="A map of the united states&#10;&#10;AI-generated content may be incorrect.">
            <a:extLst>
              <a:ext uri="{FF2B5EF4-FFF2-40B4-BE49-F238E27FC236}">
                <a16:creationId xmlns:a16="http://schemas.microsoft.com/office/drawing/2014/main" id="{87D0B1A2-14A3-5D79-698F-0E0286461AE4}"/>
              </a:ext>
            </a:extLst>
          </p:cNvPr>
          <p:cNvPicPr>
            <a:picLocks noChangeAspect="1"/>
          </p:cNvPicPr>
          <p:nvPr/>
        </p:nvPicPr>
        <p:blipFill>
          <a:blip r:embed="rId3"/>
          <a:stretch>
            <a:fillRect/>
          </a:stretch>
        </p:blipFill>
        <p:spPr>
          <a:xfrm>
            <a:off x="4648200" y="1723544"/>
            <a:ext cx="7239000" cy="4432300"/>
          </a:xfrm>
          <a:prstGeom prst="rect">
            <a:avLst/>
          </a:prstGeom>
        </p:spPr>
      </p:pic>
      <p:sp>
        <p:nvSpPr>
          <p:cNvPr id="3" name="Content Placeholder 2">
            <a:extLst>
              <a:ext uri="{FF2B5EF4-FFF2-40B4-BE49-F238E27FC236}">
                <a16:creationId xmlns:a16="http://schemas.microsoft.com/office/drawing/2014/main" id="{9210E991-EFE2-131D-98AA-A346159CBCE7}"/>
              </a:ext>
            </a:extLst>
          </p:cNvPr>
          <p:cNvSpPr>
            <a:spLocks noGrp="1"/>
          </p:cNvSpPr>
          <p:nvPr>
            <p:ph idx="1"/>
          </p:nvPr>
        </p:nvSpPr>
        <p:spPr>
          <a:xfrm>
            <a:off x="581193" y="2180496"/>
            <a:ext cx="4067008" cy="3975348"/>
          </a:xfrm>
        </p:spPr>
        <p:txBody>
          <a:bodyPr anchor="t">
            <a:normAutofit/>
          </a:bodyPr>
          <a:lstStyle/>
          <a:p>
            <a:pPr marL="0" indent="0">
              <a:buNone/>
            </a:pPr>
            <a:r>
              <a:rPr lang="en-US" sz="2200" dirty="0"/>
              <a:t>Value-suppressing color pallets</a:t>
            </a:r>
          </a:p>
          <a:p>
            <a:r>
              <a:rPr lang="en-US" sz="2200" dirty="0"/>
              <a:t>Attempt to make perception difficult in proportion to uncertainty</a:t>
            </a:r>
          </a:p>
          <a:p>
            <a:r>
              <a:rPr lang="en-US" sz="2200" dirty="0"/>
              <a:t>Blends hues denoting value with gray proportional to how uncertain they are. As a result, the most uncertain values all appear as the same shade of gray </a:t>
            </a:r>
          </a:p>
        </p:txBody>
      </p:sp>
      <p:sp>
        <p:nvSpPr>
          <p:cNvPr id="4" name="TextBox 3">
            <a:extLst>
              <a:ext uri="{FF2B5EF4-FFF2-40B4-BE49-F238E27FC236}">
                <a16:creationId xmlns:a16="http://schemas.microsoft.com/office/drawing/2014/main" id="{8B7A778A-2780-9D40-27A8-180993CCD15E}"/>
              </a:ext>
            </a:extLst>
          </p:cNvPr>
          <p:cNvSpPr txBox="1"/>
          <p:nvPr/>
        </p:nvSpPr>
        <p:spPr>
          <a:xfrm>
            <a:off x="1705232" y="6323339"/>
            <a:ext cx="10486768" cy="523220"/>
          </a:xfrm>
          <a:prstGeom prst="rect">
            <a:avLst/>
          </a:prstGeom>
          <a:noFill/>
        </p:spPr>
        <p:txBody>
          <a:bodyPr wrap="square" rtlCol="0">
            <a:spAutoFit/>
          </a:bodyPr>
          <a:lstStyle/>
          <a:p>
            <a:r>
              <a:rPr lang="en-US" sz="1400" dirty="0"/>
              <a:t>Padilla, L., Kay, M. and Hullman, J. (2026). Uncertainty Visualization. In Wiley </a:t>
            </a:r>
            <a:r>
              <a:rPr lang="en-US" sz="1400" dirty="0" err="1"/>
              <a:t>StatsRef</a:t>
            </a:r>
            <a:r>
              <a:rPr lang="en-US" sz="1400" dirty="0"/>
              <a:t>: Statistics Reference Online (eds N. Balakrishnan, T. Colton, B. Everitt, W. </a:t>
            </a:r>
            <a:r>
              <a:rPr lang="en-US" sz="1400" dirty="0" err="1"/>
              <a:t>Piegorsch</a:t>
            </a:r>
            <a:r>
              <a:rPr lang="en-US" sz="1400" dirty="0"/>
              <a:t>, F. Ruggeri and J.L. </a:t>
            </a:r>
            <a:r>
              <a:rPr lang="en-US" sz="1400" dirty="0" err="1"/>
              <a:t>Teugels</a:t>
            </a:r>
            <a:r>
              <a:rPr lang="en-US" sz="1400" dirty="0"/>
              <a:t>). </a:t>
            </a:r>
            <a:r>
              <a:rPr lang="en-US" sz="1400" dirty="0">
                <a:hlinkClick r:id="rId4"/>
              </a:rPr>
              <a:t>https://doi.org/10.1002/9781118445112.stat08296</a:t>
            </a:r>
            <a:endParaRPr lang="en-US" sz="1400" dirty="0"/>
          </a:p>
        </p:txBody>
      </p:sp>
      <p:sp>
        <p:nvSpPr>
          <p:cNvPr id="5" name="Title 1">
            <a:extLst>
              <a:ext uri="{FF2B5EF4-FFF2-40B4-BE49-F238E27FC236}">
                <a16:creationId xmlns:a16="http://schemas.microsoft.com/office/drawing/2014/main" id="{EFABE43D-F2A4-FA10-DD71-179AD6363FAD}"/>
              </a:ext>
            </a:extLst>
          </p:cNvPr>
          <p:cNvSpPr>
            <a:spLocks noGrp="1"/>
          </p:cNvSpPr>
          <p:nvPr>
            <p:ph type="title"/>
          </p:nvPr>
        </p:nvSpPr>
        <p:spPr/>
        <p:txBody>
          <a:bodyPr/>
          <a:lstStyle/>
          <a:p>
            <a:r>
              <a:rPr lang="en-US" dirty="0"/>
              <a:t>Visualizing uncertainty</a:t>
            </a:r>
          </a:p>
        </p:txBody>
      </p:sp>
      <p:sp>
        <p:nvSpPr>
          <p:cNvPr id="6" name="TextBox 5">
            <a:extLst>
              <a:ext uri="{FF2B5EF4-FFF2-40B4-BE49-F238E27FC236}">
                <a16:creationId xmlns:a16="http://schemas.microsoft.com/office/drawing/2014/main" id="{6E73E433-519A-D103-2244-E0D99E1CBCAB}"/>
              </a:ext>
            </a:extLst>
          </p:cNvPr>
          <p:cNvSpPr txBox="1"/>
          <p:nvPr/>
        </p:nvSpPr>
        <p:spPr>
          <a:xfrm>
            <a:off x="10564587" y="1711308"/>
            <a:ext cx="1522638" cy="1200329"/>
          </a:xfrm>
          <a:prstGeom prst="rect">
            <a:avLst/>
          </a:prstGeom>
          <a:noFill/>
        </p:spPr>
        <p:txBody>
          <a:bodyPr wrap="square">
            <a:spAutoFit/>
          </a:bodyPr>
          <a:lstStyle/>
          <a:p>
            <a:r>
              <a:rPr lang="en-US" dirty="0"/>
              <a:t>Correll et al.. https://</a:t>
            </a:r>
            <a:r>
              <a:rPr lang="en-US" dirty="0" err="1"/>
              <a:t>doi.org</a:t>
            </a:r>
            <a:r>
              <a:rPr lang="en-US" dirty="0"/>
              <a:t>/10.1145/3173574.3174216</a:t>
            </a:r>
          </a:p>
        </p:txBody>
      </p:sp>
    </p:spTree>
    <p:extLst>
      <p:ext uri="{BB962C8B-B14F-4D97-AF65-F5344CB8AC3E}">
        <p14:creationId xmlns:p14="http://schemas.microsoft.com/office/powerpoint/2010/main" val="18258166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FCE452-0C71-EC5A-C215-631D90CD9E4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20D748-4233-ABB8-56F4-39E1DE89693E}"/>
              </a:ext>
            </a:extLst>
          </p:cNvPr>
          <p:cNvSpPr>
            <a:spLocks noGrp="1"/>
          </p:cNvSpPr>
          <p:nvPr>
            <p:ph idx="1"/>
          </p:nvPr>
        </p:nvSpPr>
        <p:spPr>
          <a:xfrm>
            <a:off x="581192" y="2180496"/>
            <a:ext cx="11029615" cy="3975348"/>
          </a:xfrm>
        </p:spPr>
        <p:txBody>
          <a:bodyPr anchor="t">
            <a:normAutofit/>
          </a:bodyPr>
          <a:lstStyle/>
          <a:p>
            <a:pPr marL="0" indent="0">
              <a:buNone/>
            </a:pPr>
            <a:r>
              <a:rPr lang="en-US" sz="2200" dirty="0"/>
              <a:t>Are these methods used in the “real world”? </a:t>
            </a:r>
          </a:p>
          <a:p>
            <a:pPr marL="0" indent="0">
              <a:buNone/>
            </a:pPr>
            <a:endParaRPr lang="en-US" sz="2200" dirty="0"/>
          </a:p>
          <a:p>
            <a:r>
              <a:rPr lang="en-US" sz="2200" dirty="0"/>
              <a:t>Find a visualization on your favorite news source</a:t>
            </a:r>
          </a:p>
          <a:p>
            <a:endParaRPr lang="en-US" sz="2200" dirty="0"/>
          </a:p>
          <a:p>
            <a:r>
              <a:rPr lang="en-US" sz="2200" dirty="0"/>
              <a:t>Does the visualization show uncertainty?</a:t>
            </a:r>
          </a:p>
          <a:p>
            <a:pPr lvl="1"/>
            <a:r>
              <a:rPr lang="en-US" sz="2000" dirty="0"/>
              <a:t>If so, which method does it use?</a:t>
            </a:r>
          </a:p>
          <a:p>
            <a:pPr lvl="1"/>
            <a:endParaRPr lang="en-US" sz="2000" dirty="0"/>
          </a:p>
          <a:p>
            <a:r>
              <a:rPr lang="en-US" sz="2200" dirty="0"/>
              <a:t>How could you re-design the visualization to show uncertainty (or to show it better)? </a:t>
            </a:r>
          </a:p>
        </p:txBody>
      </p:sp>
      <p:sp>
        <p:nvSpPr>
          <p:cNvPr id="5" name="Title 1">
            <a:extLst>
              <a:ext uri="{FF2B5EF4-FFF2-40B4-BE49-F238E27FC236}">
                <a16:creationId xmlns:a16="http://schemas.microsoft.com/office/drawing/2014/main" id="{71FBD7D4-6414-63BB-F857-792619041EB6}"/>
              </a:ext>
            </a:extLst>
          </p:cNvPr>
          <p:cNvSpPr>
            <a:spLocks noGrp="1"/>
          </p:cNvSpPr>
          <p:nvPr>
            <p:ph type="title"/>
          </p:nvPr>
        </p:nvSpPr>
        <p:spPr/>
        <p:txBody>
          <a:bodyPr/>
          <a:lstStyle/>
          <a:p>
            <a:r>
              <a:rPr lang="en-US" dirty="0"/>
              <a:t>Your turn</a:t>
            </a:r>
          </a:p>
        </p:txBody>
      </p:sp>
    </p:spTree>
    <p:extLst>
      <p:ext uri="{BB962C8B-B14F-4D97-AF65-F5344CB8AC3E}">
        <p14:creationId xmlns:p14="http://schemas.microsoft.com/office/powerpoint/2010/main" val="5902478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0033D-5116-E5AA-A98B-668B2F33196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D48581-B687-23C9-C9C4-8B23E2182E90}"/>
              </a:ext>
            </a:extLst>
          </p:cNvPr>
          <p:cNvSpPr>
            <a:spLocks noGrp="1"/>
          </p:cNvSpPr>
          <p:nvPr>
            <p:ph idx="1"/>
          </p:nvPr>
        </p:nvSpPr>
        <p:spPr>
          <a:xfrm>
            <a:off x="581192" y="2180495"/>
            <a:ext cx="11029615" cy="4142843"/>
          </a:xfrm>
        </p:spPr>
        <p:txBody>
          <a:bodyPr anchor="t">
            <a:normAutofit/>
          </a:bodyPr>
          <a:lstStyle/>
          <a:p>
            <a:pPr marL="0" indent="0">
              <a:buNone/>
            </a:pPr>
            <a:endParaRPr lang="en-US" sz="2200" dirty="0"/>
          </a:p>
          <a:p>
            <a:endParaRPr lang="en-US" sz="2200" dirty="0"/>
          </a:p>
        </p:txBody>
      </p:sp>
      <p:sp>
        <p:nvSpPr>
          <p:cNvPr id="4" name="TextBox 3">
            <a:extLst>
              <a:ext uri="{FF2B5EF4-FFF2-40B4-BE49-F238E27FC236}">
                <a16:creationId xmlns:a16="http://schemas.microsoft.com/office/drawing/2014/main" id="{4E41D561-7804-2A49-D444-AB8D4EABFA78}"/>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6C2CF301-D1A2-B7ED-1F9E-8994CE93362E}"/>
              </a:ext>
            </a:extLst>
          </p:cNvPr>
          <p:cNvSpPr>
            <a:spLocks noGrp="1"/>
          </p:cNvSpPr>
          <p:nvPr>
            <p:ph type="title"/>
          </p:nvPr>
        </p:nvSpPr>
        <p:spPr/>
        <p:txBody>
          <a:bodyPr/>
          <a:lstStyle/>
          <a:p>
            <a:r>
              <a:rPr lang="en-US" dirty="0"/>
              <a:t>Bias in visual analytics</a:t>
            </a:r>
          </a:p>
        </p:txBody>
      </p:sp>
      <p:pic>
        <p:nvPicPr>
          <p:cNvPr id="6" name="Picture 5" descr="A diagram of a process&#10;&#10;AI-generated content may be incorrect.">
            <a:extLst>
              <a:ext uri="{FF2B5EF4-FFF2-40B4-BE49-F238E27FC236}">
                <a16:creationId xmlns:a16="http://schemas.microsoft.com/office/drawing/2014/main" id="{FD273249-DA44-3DC8-D438-E70989DE8153}"/>
              </a:ext>
            </a:extLst>
          </p:cNvPr>
          <p:cNvPicPr>
            <a:picLocks noChangeAspect="1"/>
          </p:cNvPicPr>
          <p:nvPr/>
        </p:nvPicPr>
        <p:blipFill>
          <a:blip r:embed="rId3"/>
          <a:stretch>
            <a:fillRect/>
          </a:stretch>
        </p:blipFill>
        <p:spPr>
          <a:xfrm>
            <a:off x="2209799" y="1835444"/>
            <a:ext cx="7772400" cy="2568073"/>
          </a:xfrm>
          <a:prstGeom prst="rect">
            <a:avLst/>
          </a:prstGeom>
        </p:spPr>
      </p:pic>
      <p:sp>
        <p:nvSpPr>
          <p:cNvPr id="7" name="Donut 6">
            <a:extLst>
              <a:ext uri="{FF2B5EF4-FFF2-40B4-BE49-F238E27FC236}">
                <a16:creationId xmlns:a16="http://schemas.microsoft.com/office/drawing/2014/main" id="{BE1582CC-2DDB-A462-9E12-A36D06901C1A}"/>
              </a:ext>
            </a:extLst>
          </p:cNvPr>
          <p:cNvSpPr/>
          <p:nvPr/>
        </p:nvSpPr>
        <p:spPr>
          <a:xfrm>
            <a:off x="2209799" y="2957513"/>
            <a:ext cx="1619251" cy="1057275"/>
          </a:xfrm>
          <a:prstGeom prst="donut">
            <a:avLst>
              <a:gd name="adj" fmla="val 10325"/>
            </a:avLst>
          </a:prstGeom>
          <a:solidFill>
            <a:srgbClr val="FF0000"/>
          </a:solidFill>
          <a:ln>
            <a:no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solidFill>
                <a:schemeClr val="tx1"/>
              </a:solidFill>
            </a:endParaRPr>
          </a:p>
        </p:txBody>
      </p:sp>
      <p:sp>
        <p:nvSpPr>
          <p:cNvPr id="8" name="Content Placeholder 2">
            <a:extLst>
              <a:ext uri="{FF2B5EF4-FFF2-40B4-BE49-F238E27FC236}">
                <a16:creationId xmlns:a16="http://schemas.microsoft.com/office/drawing/2014/main" id="{CCAB670E-3336-344C-8540-0C92A8CC55B7}"/>
              </a:ext>
            </a:extLst>
          </p:cNvPr>
          <p:cNvSpPr txBox="1">
            <a:spLocks/>
          </p:cNvSpPr>
          <p:nvPr/>
        </p:nvSpPr>
        <p:spPr>
          <a:xfrm>
            <a:off x="581192" y="4291444"/>
            <a:ext cx="11029615" cy="1964416"/>
          </a:xfrm>
          <a:prstGeom prst="rect">
            <a:avLst/>
          </a:prstGeom>
        </p:spPr>
        <p:txBody>
          <a:bodyPr vert="horz" lIns="91440" tIns="45720" rIns="91440" bIns="45720" rtlCol="0" anchor="t">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Measurement precision (ex. effect of gerrymandering on voting records)  </a:t>
            </a:r>
          </a:p>
          <a:p>
            <a:r>
              <a:rPr lang="en-US" sz="2200" dirty="0"/>
              <a:t>Completeness (ex. aggregated or missing values) </a:t>
            </a:r>
          </a:p>
          <a:p>
            <a:r>
              <a:rPr lang="en-US" sz="2200" dirty="0"/>
              <a:t>Historical bias (ex. hiring decisions, arrest records) </a:t>
            </a:r>
          </a:p>
          <a:p>
            <a:r>
              <a:rPr lang="en-US" sz="2200" dirty="0"/>
              <a:t>Sampling bias (ex. convenience sampling on college students) </a:t>
            </a:r>
          </a:p>
        </p:txBody>
      </p:sp>
    </p:spTree>
    <p:extLst>
      <p:ext uri="{BB962C8B-B14F-4D97-AF65-F5344CB8AC3E}">
        <p14:creationId xmlns:p14="http://schemas.microsoft.com/office/powerpoint/2010/main" val="3434613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DA21C-5DDC-9CCA-59AB-857C0B8073F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EE3538F-BE29-CFDF-9563-8D7BF95A1D8E}"/>
              </a:ext>
            </a:extLst>
          </p:cNvPr>
          <p:cNvSpPr>
            <a:spLocks noGrp="1"/>
          </p:cNvSpPr>
          <p:nvPr>
            <p:ph idx="1"/>
          </p:nvPr>
        </p:nvSpPr>
        <p:spPr>
          <a:xfrm>
            <a:off x="581192" y="2180495"/>
            <a:ext cx="11029615" cy="4142843"/>
          </a:xfrm>
        </p:spPr>
        <p:txBody>
          <a:bodyPr anchor="t">
            <a:normAutofit/>
          </a:bodyPr>
          <a:lstStyle/>
          <a:p>
            <a:pPr marL="0" indent="0">
              <a:buNone/>
            </a:pPr>
            <a:endParaRPr lang="en-US" sz="2200" dirty="0"/>
          </a:p>
          <a:p>
            <a:endParaRPr lang="en-US" sz="2200" dirty="0"/>
          </a:p>
        </p:txBody>
      </p:sp>
      <p:sp>
        <p:nvSpPr>
          <p:cNvPr id="4" name="TextBox 3">
            <a:extLst>
              <a:ext uri="{FF2B5EF4-FFF2-40B4-BE49-F238E27FC236}">
                <a16:creationId xmlns:a16="http://schemas.microsoft.com/office/drawing/2014/main" id="{8CF72446-180F-1770-7D5C-62D91E067665}"/>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537538E1-B463-0A14-F887-1CD06DC17DE9}"/>
              </a:ext>
            </a:extLst>
          </p:cNvPr>
          <p:cNvSpPr>
            <a:spLocks noGrp="1"/>
          </p:cNvSpPr>
          <p:nvPr>
            <p:ph type="title"/>
          </p:nvPr>
        </p:nvSpPr>
        <p:spPr/>
        <p:txBody>
          <a:bodyPr/>
          <a:lstStyle/>
          <a:p>
            <a:r>
              <a:rPr lang="en-US" dirty="0"/>
              <a:t>Bias in visual analytics</a:t>
            </a:r>
          </a:p>
        </p:txBody>
      </p:sp>
      <p:pic>
        <p:nvPicPr>
          <p:cNvPr id="6" name="Picture 5" descr="A diagram of a process&#10;&#10;AI-generated content may be incorrect.">
            <a:extLst>
              <a:ext uri="{FF2B5EF4-FFF2-40B4-BE49-F238E27FC236}">
                <a16:creationId xmlns:a16="http://schemas.microsoft.com/office/drawing/2014/main" id="{3AB81BB6-6839-9D0C-D927-311C16C26602}"/>
              </a:ext>
            </a:extLst>
          </p:cNvPr>
          <p:cNvPicPr>
            <a:picLocks noChangeAspect="1"/>
          </p:cNvPicPr>
          <p:nvPr/>
        </p:nvPicPr>
        <p:blipFill>
          <a:blip r:embed="rId3"/>
          <a:stretch>
            <a:fillRect/>
          </a:stretch>
        </p:blipFill>
        <p:spPr>
          <a:xfrm>
            <a:off x="2209799" y="1835444"/>
            <a:ext cx="7772400" cy="2568073"/>
          </a:xfrm>
          <a:prstGeom prst="rect">
            <a:avLst/>
          </a:prstGeom>
        </p:spPr>
      </p:pic>
      <p:sp>
        <p:nvSpPr>
          <p:cNvPr id="7" name="Donut 6">
            <a:extLst>
              <a:ext uri="{FF2B5EF4-FFF2-40B4-BE49-F238E27FC236}">
                <a16:creationId xmlns:a16="http://schemas.microsoft.com/office/drawing/2014/main" id="{C32E2353-8D94-98E6-5FFD-2612A56CB0A0}"/>
              </a:ext>
            </a:extLst>
          </p:cNvPr>
          <p:cNvSpPr/>
          <p:nvPr/>
        </p:nvSpPr>
        <p:spPr>
          <a:xfrm>
            <a:off x="3752849" y="3291321"/>
            <a:ext cx="1619251" cy="1057275"/>
          </a:xfrm>
          <a:prstGeom prst="donut">
            <a:avLst>
              <a:gd name="adj" fmla="val 10325"/>
            </a:avLst>
          </a:prstGeom>
          <a:solidFill>
            <a:srgbClr val="FF0000"/>
          </a:solidFill>
          <a:ln>
            <a:no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solidFill>
                <a:schemeClr val="tx1"/>
              </a:solidFill>
            </a:endParaRPr>
          </a:p>
        </p:txBody>
      </p:sp>
      <p:sp>
        <p:nvSpPr>
          <p:cNvPr id="8" name="Content Placeholder 2">
            <a:extLst>
              <a:ext uri="{FF2B5EF4-FFF2-40B4-BE49-F238E27FC236}">
                <a16:creationId xmlns:a16="http://schemas.microsoft.com/office/drawing/2014/main" id="{E4DD1E89-1F44-059E-0AE4-00F66200E97A}"/>
              </a:ext>
            </a:extLst>
          </p:cNvPr>
          <p:cNvSpPr txBox="1">
            <a:spLocks/>
          </p:cNvSpPr>
          <p:nvPr/>
        </p:nvSpPr>
        <p:spPr>
          <a:xfrm>
            <a:off x="581192" y="4420036"/>
            <a:ext cx="11029615" cy="1964416"/>
          </a:xfrm>
          <a:prstGeom prst="rect">
            <a:avLst/>
          </a:prstGeom>
        </p:spPr>
        <p:txBody>
          <a:bodyPr vert="horz" lIns="91440" tIns="45720" rIns="91440" bIns="45720" rtlCol="0" anchor="t">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Simplifications and assumptions about training data </a:t>
            </a:r>
          </a:p>
          <a:p>
            <a:r>
              <a:rPr lang="en-US" sz="2200" dirty="0"/>
              <a:t>Aggregation bias (one model used for heterogeneous groups) </a:t>
            </a:r>
          </a:p>
          <a:p>
            <a:r>
              <a:rPr lang="en-US" sz="2200" dirty="0"/>
              <a:t>Evaluation bias (in appropriate training benchmarks)</a:t>
            </a:r>
          </a:p>
          <a:p>
            <a:pPr marL="0" indent="0">
              <a:buNone/>
            </a:pPr>
            <a:endParaRPr lang="en-US" sz="2200" dirty="0"/>
          </a:p>
        </p:txBody>
      </p:sp>
    </p:spTree>
    <p:extLst>
      <p:ext uri="{BB962C8B-B14F-4D97-AF65-F5344CB8AC3E}">
        <p14:creationId xmlns:p14="http://schemas.microsoft.com/office/powerpoint/2010/main" val="3817039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DCB27-5F50-6AD1-B6B5-B1A1E203925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4AD7210-BB92-42F5-1931-3BAC682DC1E0}"/>
              </a:ext>
            </a:extLst>
          </p:cNvPr>
          <p:cNvSpPr>
            <a:spLocks noGrp="1"/>
          </p:cNvSpPr>
          <p:nvPr>
            <p:ph idx="1"/>
          </p:nvPr>
        </p:nvSpPr>
        <p:spPr>
          <a:xfrm>
            <a:off x="581192" y="2180495"/>
            <a:ext cx="11029615" cy="4142843"/>
          </a:xfrm>
        </p:spPr>
        <p:txBody>
          <a:bodyPr anchor="t">
            <a:normAutofit/>
          </a:bodyPr>
          <a:lstStyle/>
          <a:p>
            <a:pPr marL="0" indent="0">
              <a:buNone/>
            </a:pPr>
            <a:endParaRPr lang="en-US" sz="2200" dirty="0"/>
          </a:p>
          <a:p>
            <a:endParaRPr lang="en-US" sz="2200" dirty="0"/>
          </a:p>
        </p:txBody>
      </p:sp>
      <p:sp>
        <p:nvSpPr>
          <p:cNvPr id="4" name="TextBox 3">
            <a:extLst>
              <a:ext uri="{FF2B5EF4-FFF2-40B4-BE49-F238E27FC236}">
                <a16:creationId xmlns:a16="http://schemas.microsoft.com/office/drawing/2014/main" id="{E20A146D-C39A-4EBF-4433-06E5B1A2A07A}"/>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CF6D3098-63E0-4B40-A589-B07EB178124B}"/>
              </a:ext>
            </a:extLst>
          </p:cNvPr>
          <p:cNvSpPr>
            <a:spLocks noGrp="1"/>
          </p:cNvSpPr>
          <p:nvPr>
            <p:ph type="title"/>
          </p:nvPr>
        </p:nvSpPr>
        <p:spPr/>
        <p:txBody>
          <a:bodyPr/>
          <a:lstStyle/>
          <a:p>
            <a:r>
              <a:rPr lang="en-US" dirty="0"/>
              <a:t>Bias in visual analytics</a:t>
            </a:r>
          </a:p>
        </p:txBody>
      </p:sp>
      <p:pic>
        <p:nvPicPr>
          <p:cNvPr id="6" name="Picture 5" descr="A diagram of a process&#10;&#10;AI-generated content may be incorrect.">
            <a:extLst>
              <a:ext uri="{FF2B5EF4-FFF2-40B4-BE49-F238E27FC236}">
                <a16:creationId xmlns:a16="http://schemas.microsoft.com/office/drawing/2014/main" id="{42D56D75-7CEB-A859-20C9-D3D6B7674D29}"/>
              </a:ext>
            </a:extLst>
          </p:cNvPr>
          <p:cNvPicPr>
            <a:picLocks noChangeAspect="1"/>
          </p:cNvPicPr>
          <p:nvPr/>
        </p:nvPicPr>
        <p:blipFill>
          <a:blip r:embed="rId3"/>
          <a:stretch>
            <a:fillRect/>
          </a:stretch>
        </p:blipFill>
        <p:spPr>
          <a:xfrm>
            <a:off x="2209799" y="1835444"/>
            <a:ext cx="7772400" cy="2568073"/>
          </a:xfrm>
          <a:prstGeom prst="rect">
            <a:avLst/>
          </a:prstGeom>
        </p:spPr>
      </p:pic>
      <p:sp>
        <p:nvSpPr>
          <p:cNvPr id="7" name="Donut 6">
            <a:extLst>
              <a:ext uri="{FF2B5EF4-FFF2-40B4-BE49-F238E27FC236}">
                <a16:creationId xmlns:a16="http://schemas.microsoft.com/office/drawing/2014/main" id="{F060D686-9419-9337-26F6-8668D5FB0229}"/>
              </a:ext>
            </a:extLst>
          </p:cNvPr>
          <p:cNvSpPr/>
          <p:nvPr/>
        </p:nvSpPr>
        <p:spPr>
          <a:xfrm>
            <a:off x="3752849" y="2661598"/>
            <a:ext cx="1619251" cy="1057275"/>
          </a:xfrm>
          <a:prstGeom prst="donut">
            <a:avLst>
              <a:gd name="adj" fmla="val 10325"/>
            </a:avLst>
          </a:prstGeom>
          <a:solidFill>
            <a:srgbClr val="FF0000"/>
          </a:solidFill>
          <a:ln>
            <a:no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solidFill>
                <a:schemeClr val="tx1"/>
              </a:solidFill>
            </a:endParaRPr>
          </a:p>
        </p:txBody>
      </p:sp>
      <p:sp>
        <p:nvSpPr>
          <p:cNvPr id="8" name="Content Placeholder 2">
            <a:extLst>
              <a:ext uri="{FF2B5EF4-FFF2-40B4-BE49-F238E27FC236}">
                <a16:creationId xmlns:a16="http://schemas.microsoft.com/office/drawing/2014/main" id="{7CD1A81A-64B4-E464-354D-11523BD5004A}"/>
              </a:ext>
            </a:extLst>
          </p:cNvPr>
          <p:cNvSpPr txBox="1">
            <a:spLocks/>
          </p:cNvSpPr>
          <p:nvPr/>
        </p:nvSpPr>
        <p:spPr>
          <a:xfrm>
            <a:off x="581192" y="4420036"/>
            <a:ext cx="11029615" cy="1964416"/>
          </a:xfrm>
          <a:prstGeom prst="rect">
            <a:avLst/>
          </a:prstGeom>
        </p:spPr>
        <p:txBody>
          <a:bodyPr vert="horz" lIns="91440" tIns="45720" rIns="91440" bIns="45720" rtlCol="0" anchor="t">
            <a:normAutofit fontScale="92500" lnSpcReduction="20000"/>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r>
              <a:rPr lang="en-US" sz="2200" dirty="0"/>
              <a:t>Perceptual errors</a:t>
            </a:r>
          </a:p>
          <a:p>
            <a:pPr lvl="1"/>
            <a:r>
              <a:rPr lang="en-US" sz="2000" dirty="0"/>
              <a:t>Aspect scale influencing rate of change </a:t>
            </a:r>
          </a:p>
          <a:p>
            <a:pPr lvl="1"/>
            <a:r>
              <a:rPr lang="en-US" sz="2000" dirty="0"/>
              <a:t>Comparing lengths vs areas</a:t>
            </a:r>
          </a:p>
          <a:p>
            <a:pPr lvl="1"/>
            <a:r>
              <a:rPr lang="en-US" sz="2000" dirty="0"/>
              <a:t>Poor estimation of proportions</a:t>
            </a:r>
          </a:p>
          <a:p>
            <a:r>
              <a:rPr lang="en-US" sz="2200" dirty="0"/>
              <a:t>Assuming causation given a scatter or bar plot </a:t>
            </a:r>
          </a:p>
          <a:p>
            <a:endParaRPr lang="en-US" sz="2200" dirty="0"/>
          </a:p>
          <a:p>
            <a:endParaRPr lang="en-US" sz="2200" dirty="0"/>
          </a:p>
        </p:txBody>
      </p:sp>
    </p:spTree>
    <p:extLst>
      <p:ext uri="{BB962C8B-B14F-4D97-AF65-F5344CB8AC3E}">
        <p14:creationId xmlns:p14="http://schemas.microsoft.com/office/powerpoint/2010/main" val="1256291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3208AF-A10E-2D98-7E15-697B7BAED22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042B427-5ADE-835C-3802-B1D69860E39D}"/>
              </a:ext>
            </a:extLst>
          </p:cNvPr>
          <p:cNvSpPr>
            <a:spLocks noGrp="1"/>
          </p:cNvSpPr>
          <p:nvPr>
            <p:ph idx="1"/>
          </p:nvPr>
        </p:nvSpPr>
        <p:spPr>
          <a:xfrm>
            <a:off x="581192" y="2180495"/>
            <a:ext cx="11029615" cy="4142843"/>
          </a:xfrm>
        </p:spPr>
        <p:txBody>
          <a:bodyPr anchor="t">
            <a:normAutofit/>
          </a:bodyPr>
          <a:lstStyle/>
          <a:p>
            <a:pPr marL="0" indent="0">
              <a:buNone/>
            </a:pPr>
            <a:endParaRPr lang="en-US" sz="2200" dirty="0"/>
          </a:p>
          <a:p>
            <a:endParaRPr lang="en-US" sz="2200" dirty="0"/>
          </a:p>
        </p:txBody>
      </p:sp>
      <p:sp>
        <p:nvSpPr>
          <p:cNvPr id="4" name="TextBox 3">
            <a:extLst>
              <a:ext uri="{FF2B5EF4-FFF2-40B4-BE49-F238E27FC236}">
                <a16:creationId xmlns:a16="http://schemas.microsoft.com/office/drawing/2014/main" id="{100F1DF2-74C7-EEA6-06E8-5514BA2B11E2}"/>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8876C06B-0583-E135-6E0B-51BE8FBD8165}"/>
              </a:ext>
            </a:extLst>
          </p:cNvPr>
          <p:cNvSpPr>
            <a:spLocks noGrp="1"/>
          </p:cNvSpPr>
          <p:nvPr>
            <p:ph type="title"/>
          </p:nvPr>
        </p:nvSpPr>
        <p:spPr/>
        <p:txBody>
          <a:bodyPr/>
          <a:lstStyle/>
          <a:p>
            <a:r>
              <a:rPr lang="en-US" dirty="0"/>
              <a:t>Bias in visual analytics</a:t>
            </a:r>
          </a:p>
        </p:txBody>
      </p:sp>
      <p:pic>
        <p:nvPicPr>
          <p:cNvPr id="6" name="Picture 5" descr="A diagram of a process&#10;&#10;AI-generated content may be incorrect.">
            <a:extLst>
              <a:ext uri="{FF2B5EF4-FFF2-40B4-BE49-F238E27FC236}">
                <a16:creationId xmlns:a16="http://schemas.microsoft.com/office/drawing/2014/main" id="{6188DDA2-9FB4-255F-531A-102FA2A6A900}"/>
              </a:ext>
            </a:extLst>
          </p:cNvPr>
          <p:cNvPicPr>
            <a:picLocks noChangeAspect="1"/>
          </p:cNvPicPr>
          <p:nvPr/>
        </p:nvPicPr>
        <p:blipFill>
          <a:blip r:embed="rId3"/>
          <a:stretch>
            <a:fillRect/>
          </a:stretch>
        </p:blipFill>
        <p:spPr>
          <a:xfrm>
            <a:off x="2209799" y="1835444"/>
            <a:ext cx="7772400" cy="2568073"/>
          </a:xfrm>
          <a:prstGeom prst="rect">
            <a:avLst/>
          </a:prstGeom>
        </p:spPr>
      </p:pic>
      <p:sp>
        <p:nvSpPr>
          <p:cNvPr id="7" name="Donut 6">
            <a:extLst>
              <a:ext uri="{FF2B5EF4-FFF2-40B4-BE49-F238E27FC236}">
                <a16:creationId xmlns:a16="http://schemas.microsoft.com/office/drawing/2014/main" id="{981CF89F-ACC9-BBDB-0C49-E224BAE16FE9}"/>
              </a:ext>
            </a:extLst>
          </p:cNvPr>
          <p:cNvSpPr/>
          <p:nvPr/>
        </p:nvSpPr>
        <p:spPr>
          <a:xfrm>
            <a:off x="6824661" y="1651857"/>
            <a:ext cx="1619251" cy="1057275"/>
          </a:xfrm>
          <a:prstGeom prst="donut">
            <a:avLst>
              <a:gd name="adj" fmla="val 10325"/>
            </a:avLst>
          </a:prstGeom>
          <a:solidFill>
            <a:srgbClr val="FF0000"/>
          </a:solidFill>
          <a:ln>
            <a:noFill/>
          </a:ln>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solidFill>
                <a:schemeClr val="tx1"/>
              </a:solidFill>
            </a:endParaRPr>
          </a:p>
        </p:txBody>
      </p:sp>
      <p:sp>
        <p:nvSpPr>
          <p:cNvPr id="8" name="Content Placeholder 2">
            <a:extLst>
              <a:ext uri="{FF2B5EF4-FFF2-40B4-BE49-F238E27FC236}">
                <a16:creationId xmlns:a16="http://schemas.microsoft.com/office/drawing/2014/main" id="{3D4A2350-5E2F-E880-E3CF-03A97D8FC8B3}"/>
              </a:ext>
            </a:extLst>
          </p:cNvPr>
          <p:cNvSpPr txBox="1">
            <a:spLocks/>
          </p:cNvSpPr>
          <p:nvPr/>
        </p:nvSpPr>
        <p:spPr>
          <a:xfrm>
            <a:off x="581192" y="4420036"/>
            <a:ext cx="11029615" cy="1964416"/>
          </a:xfrm>
          <a:prstGeom prst="rect">
            <a:avLst/>
          </a:prstGeom>
        </p:spPr>
        <p:txBody>
          <a:bodyPr vert="horz" lIns="91440" tIns="45720" rIns="91440" bIns="45720" rtlCol="0" anchor="t">
            <a:normAutofit/>
          </a:bodyPr>
          <a:lst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a:lstStyle>
          <a:p>
            <a:pPr marL="0" indent="0">
              <a:buNone/>
            </a:pPr>
            <a:r>
              <a:rPr lang="en-US" sz="2200" dirty="0"/>
              <a:t>Three perspectives relevant to visual analytics: </a:t>
            </a:r>
          </a:p>
          <a:p>
            <a:pPr marL="457200" indent="-457200">
              <a:buFont typeface="+mj-lt"/>
              <a:buAutoNum type="arabicPeriod"/>
            </a:pPr>
            <a:r>
              <a:rPr lang="en-US" sz="2200" dirty="0"/>
              <a:t>bias as a cognitive processing error</a:t>
            </a:r>
          </a:p>
          <a:p>
            <a:pPr marL="457200" indent="-457200">
              <a:buFont typeface="+mj-lt"/>
              <a:buAutoNum type="arabicPeriod"/>
            </a:pPr>
            <a:r>
              <a:rPr lang="en-US" sz="2200" dirty="0"/>
              <a:t>bias as a filter for information</a:t>
            </a:r>
          </a:p>
          <a:p>
            <a:pPr marL="457200" indent="-457200">
              <a:buFont typeface="+mj-lt"/>
              <a:buAutoNum type="arabicPeriod"/>
            </a:pPr>
            <a:r>
              <a:rPr lang="en-US" sz="2200" dirty="0"/>
              <a:t>bias as a preconception</a:t>
            </a:r>
          </a:p>
          <a:p>
            <a:endParaRPr lang="en-US" sz="2200" dirty="0"/>
          </a:p>
        </p:txBody>
      </p:sp>
    </p:spTree>
    <p:extLst>
      <p:ext uri="{BB962C8B-B14F-4D97-AF65-F5344CB8AC3E}">
        <p14:creationId xmlns:p14="http://schemas.microsoft.com/office/powerpoint/2010/main" val="17653922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B9593-349E-5D33-93E2-49633F0FFB2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978E707-EA79-1FAF-A3A2-0E65C03D3B02}"/>
              </a:ext>
            </a:extLst>
          </p:cNvPr>
          <p:cNvSpPr>
            <a:spLocks noGrp="1"/>
          </p:cNvSpPr>
          <p:nvPr>
            <p:ph idx="1"/>
          </p:nvPr>
        </p:nvSpPr>
        <p:spPr>
          <a:xfrm>
            <a:off x="581192" y="2180495"/>
            <a:ext cx="11029615" cy="4142843"/>
          </a:xfrm>
        </p:spPr>
        <p:txBody>
          <a:bodyPr anchor="t">
            <a:normAutofit/>
          </a:bodyPr>
          <a:lstStyle/>
          <a:p>
            <a:pPr marL="0" indent="0">
              <a:buNone/>
            </a:pPr>
            <a:r>
              <a:rPr lang="en-US" sz="2200" dirty="0"/>
              <a:t>Bias as a </a:t>
            </a:r>
            <a:r>
              <a:rPr lang="en-US" sz="2200" dirty="0">
                <a:effectLst>
                  <a:glow rad="228600">
                    <a:schemeClr val="accent5">
                      <a:satMod val="175000"/>
                      <a:alpha val="40000"/>
                    </a:schemeClr>
                  </a:glow>
                </a:effectLst>
              </a:rPr>
              <a:t>cognitive processing error</a:t>
            </a:r>
            <a:endParaRPr lang="en-US" sz="2200" dirty="0"/>
          </a:p>
          <a:p>
            <a:r>
              <a:rPr lang="en-US" sz="2200" dirty="0"/>
              <a:t>Two cognitive processes:</a:t>
            </a:r>
          </a:p>
          <a:p>
            <a:pPr lvl="1"/>
            <a:r>
              <a:rPr lang="en-US" sz="2200" dirty="0"/>
              <a:t>Intuition - largely subconscious and prone to making errors (bias)</a:t>
            </a:r>
          </a:p>
          <a:p>
            <a:pPr lvl="1"/>
            <a:r>
              <a:rPr lang="en-US" sz="2200" dirty="0"/>
              <a:t>Reason - intentional deliberation, responsible for recognizing and correcting errors</a:t>
            </a:r>
          </a:p>
          <a:p>
            <a:r>
              <a:rPr lang="en-US" sz="2200" dirty="0"/>
              <a:t>Cognitive processing errors result from shortcuts in cognition, broadly referred to as heuristics. Bias then is described as the method or mechanism by which the error occurs</a:t>
            </a:r>
          </a:p>
          <a:p>
            <a:r>
              <a:rPr lang="en-US" sz="2200" dirty="0"/>
              <a:t>Note: the process of heuristic decision-making does not always lead to errors; it usually facilitates fast decision-making </a:t>
            </a:r>
          </a:p>
          <a:p>
            <a:endParaRPr lang="en-US" sz="2200" dirty="0"/>
          </a:p>
          <a:p>
            <a:endParaRPr lang="en-US" sz="2200" dirty="0"/>
          </a:p>
        </p:txBody>
      </p:sp>
      <p:sp>
        <p:nvSpPr>
          <p:cNvPr id="4" name="TextBox 3">
            <a:extLst>
              <a:ext uri="{FF2B5EF4-FFF2-40B4-BE49-F238E27FC236}">
                <a16:creationId xmlns:a16="http://schemas.microsoft.com/office/drawing/2014/main" id="{5AA245C6-2F3F-B913-DE5D-50A215E899CC}"/>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C423C100-69C1-ECC0-06CD-45622BC3A633}"/>
              </a:ext>
            </a:extLst>
          </p:cNvPr>
          <p:cNvSpPr>
            <a:spLocks noGrp="1"/>
          </p:cNvSpPr>
          <p:nvPr>
            <p:ph type="title"/>
          </p:nvPr>
        </p:nvSpPr>
        <p:spPr/>
        <p:txBody>
          <a:bodyPr/>
          <a:lstStyle/>
          <a:p>
            <a:r>
              <a:rPr lang="en-US" dirty="0"/>
              <a:t>Bias in visual analytics</a:t>
            </a:r>
          </a:p>
        </p:txBody>
      </p:sp>
    </p:spTree>
    <p:extLst>
      <p:ext uri="{BB962C8B-B14F-4D97-AF65-F5344CB8AC3E}">
        <p14:creationId xmlns:p14="http://schemas.microsoft.com/office/powerpoint/2010/main" val="1078897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F4563-A885-2AEB-775A-A9864A2C77B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EF1E5BD-AC83-989B-0A2C-081CC3C3958B}"/>
              </a:ext>
            </a:extLst>
          </p:cNvPr>
          <p:cNvSpPr>
            <a:spLocks noGrp="1"/>
          </p:cNvSpPr>
          <p:nvPr>
            <p:ph idx="1"/>
          </p:nvPr>
        </p:nvSpPr>
        <p:spPr>
          <a:xfrm>
            <a:off x="581192" y="2180495"/>
            <a:ext cx="11029615" cy="4142843"/>
          </a:xfrm>
        </p:spPr>
        <p:txBody>
          <a:bodyPr anchor="t">
            <a:normAutofit/>
          </a:bodyPr>
          <a:lstStyle/>
          <a:p>
            <a:pPr marL="0" indent="0">
              <a:buNone/>
            </a:pPr>
            <a:r>
              <a:rPr lang="en-US" sz="2200" dirty="0"/>
              <a:t>Bias as a </a:t>
            </a:r>
            <a:r>
              <a:rPr lang="en-US" sz="2200" dirty="0">
                <a:effectLst>
                  <a:glow rad="228600">
                    <a:schemeClr val="accent5">
                      <a:satMod val="175000"/>
                      <a:alpha val="40000"/>
                    </a:schemeClr>
                  </a:glow>
                </a:effectLst>
              </a:rPr>
              <a:t>cognitive processing error</a:t>
            </a:r>
            <a:endParaRPr lang="en-US" sz="2200" dirty="0"/>
          </a:p>
          <a:p>
            <a:r>
              <a:rPr lang="en-US" sz="2200" b="1" dirty="0"/>
              <a:t>Confirmation bias - </a:t>
            </a:r>
            <a:r>
              <a:rPr lang="en-US" sz="2200" dirty="0"/>
              <a:t>people tend to accept confirmatory evidence of a pre-existing hypothesis and dismiss contrary information</a:t>
            </a:r>
          </a:p>
          <a:p>
            <a:r>
              <a:rPr lang="en-US" sz="2200" b="1" dirty="0"/>
              <a:t>Availability bias - </a:t>
            </a:r>
            <a:r>
              <a:rPr lang="en-US" sz="2200" dirty="0"/>
              <a:t>people tend to rely more heavily on information that is easily remembered (e.g., most recent)</a:t>
            </a:r>
          </a:p>
          <a:p>
            <a:r>
              <a:rPr lang="en-US" sz="2200" b="1" dirty="0"/>
              <a:t>Attraction effect - </a:t>
            </a:r>
            <a:r>
              <a:rPr lang="en-US" sz="2200" dirty="0"/>
              <a:t>tendency for a decision to be influenced by an inferior alternative</a:t>
            </a:r>
          </a:p>
          <a:p>
            <a:r>
              <a:rPr lang="en-US" sz="2200" b="1" dirty="0"/>
              <a:t>Anchoring bias - </a:t>
            </a:r>
            <a:r>
              <a:rPr lang="en-US" sz="2200" dirty="0"/>
              <a:t>tendency to be heavily reliant on an initial value or anchor </a:t>
            </a:r>
          </a:p>
          <a:p>
            <a:endParaRPr lang="en-US" sz="2200" dirty="0"/>
          </a:p>
          <a:p>
            <a:endParaRPr lang="en-US" sz="2200" dirty="0"/>
          </a:p>
          <a:p>
            <a:endParaRPr lang="en-US" sz="2200" dirty="0"/>
          </a:p>
        </p:txBody>
      </p:sp>
      <p:sp>
        <p:nvSpPr>
          <p:cNvPr id="4" name="TextBox 3">
            <a:extLst>
              <a:ext uri="{FF2B5EF4-FFF2-40B4-BE49-F238E27FC236}">
                <a16:creationId xmlns:a16="http://schemas.microsoft.com/office/drawing/2014/main" id="{7F061D4F-F01C-8199-C3A7-D908081F1ED3}"/>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F1C7A696-AFE1-696E-8FF1-C58DCE0C7AC3}"/>
              </a:ext>
            </a:extLst>
          </p:cNvPr>
          <p:cNvSpPr>
            <a:spLocks noGrp="1"/>
          </p:cNvSpPr>
          <p:nvPr>
            <p:ph type="title"/>
          </p:nvPr>
        </p:nvSpPr>
        <p:spPr/>
        <p:txBody>
          <a:bodyPr/>
          <a:lstStyle/>
          <a:p>
            <a:r>
              <a:rPr lang="en-US" dirty="0"/>
              <a:t>Bias in visual analytics</a:t>
            </a:r>
          </a:p>
        </p:txBody>
      </p:sp>
      <p:sp>
        <p:nvSpPr>
          <p:cNvPr id="6" name="Rounded Rectangle 5">
            <a:extLst>
              <a:ext uri="{FF2B5EF4-FFF2-40B4-BE49-F238E27FC236}">
                <a16:creationId xmlns:a16="http://schemas.microsoft.com/office/drawing/2014/main" id="{D8CD11A2-DF2B-F084-140C-BF537F84EE01}"/>
              </a:ext>
            </a:extLst>
          </p:cNvPr>
          <p:cNvSpPr/>
          <p:nvPr/>
        </p:nvSpPr>
        <p:spPr>
          <a:xfrm>
            <a:off x="2991852" y="5336837"/>
            <a:ext cx="6208295" cy="986501"/>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Describe a scenario in which one of these biases could affect a visual analytic analysis</a:t>
            </a:r>
          </a:p>
        </p:txBody>
      </p:sp>
    </p:spTree>
    <p:extLst>
      <p:ext uri="{BB962C8B-B14F-4D97-AF65-F5344CB8AC3E}">
        <p14:creationId xmlns:p14="http://schemas.microsoft.com/office/powerpoint/2010/main" val="11299940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42E13-8232-4118-4AAD-9D2BABD4A84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78DA48-CE6E-7CE8-8754-71AF76815824}"/>
              </a:ext>
            </a:extLst>
          </p:cNvPr>
          <p:cNvSpPr>
            <a:spLocks noGrp="1"/>
          </p:cNvSpPr>
          <p:nvPr>
            <p:ph idx="1"/>
          </p:nvPr>
        </p:nvSpPr>
        <p:spPr>
          <a:xfrm>
            <a:off x="581192" y="2180495"/>
            <a:ext cx="11029615" cy="4142843"/>
          </a:xfrm>
        </p:spPr>
        <p:txBody>
          <a:bodyPr anchor="t">
            <a:normAutofit/>
          </a:bodyPr>
          <a:lstStyle/>
          <a:p>
            <a:pPr marL="0" indent="0">
              <a:buNone/>
            </a:pPr>
            <a:r>
              <a:rPr lang="en-US" sz="2200" dirty="0"/>
              <a:t>Bias as a </a:t>
            </a:r>
            <a:r>
              <a:rPr lang="en-US" sz="2200" dirty="0">
                <a:effectLst>
                  <a:glow rad="228600">
                    <a:schemeClr val="accent5">
                      <a:satMod val="175000"/>
                      <a:alpha val="40000"/>
                    </a:schemeClr>
                  </a:glow>
                </a:effectLst>
              </a:rPr>
              <a:t>filter for information </a:t>
            </a:r>
          </a:p>
          <a:p>
            <a:r>
              <a:rPr lang="en-US" sz="2200" dirty="0"/>
              <a:t>Information overload, refers to a point beyond people’s cognitive and perceptual limits where performance and decision-making suffer </a:t>
            </a:r>
          </a:p>
          <a:p>
            <a:r>
              <a:rPr lang="en-US" sz="2200" dirty="0"/>
              <a:t>Under overload conditions, people selectively allocate attention and other mental resources to the tasks or information of highest priority. One’s filter or bias thus determines what information is gathered and how sensory information is distinguished and interpreted </a:t>
            </a:r>
          </a:p>
          <a:p>
            <a:r>
              <a:rPr lang="en-US" sz="2000" dirty="0"/>
              <a:t>Ex. </a:t>
            </a:r>
            <a:r>
              <a:rPr lang="en-US" sz="2000" dirty="0">
                <a:solidFill>
                  <a:schemeClr val="tx1"/>
                </a:solidFill>
              </a:rPr>
              <a:t>Participants were shown video footage of people wearing either white or black shirts passing a basketball and asked to count how many times white-shirt basketball players on a team passed the ball. Most participants count the appropriate number of passes but </a:t>
            </a:r>
            <a:r>
              <a:rPr lang="en-US" sz="2000" b="1" dirty="0">
                <a:solidFill>
                  <a:schemeClr val="tx1"/>
                </a:solidFill>
              </a:rPr>
              <a:t>about half fail to perceive a glaringly misfit player walk across the court</a:t>
            </a:r>
            <a:r>
              <a:rPr lang="en-US" sz="2000" dirty="0">
                <a:solidFill>
                  <a:schemeClr val="tx1"/>
                </a:solidFill>
              </a:rPr>
              <a:t>. </a:t>
            </a:r>
            <a:endParaRPr lang="en-US" sz="2000" dirty="0"/>
          </a:p>
          <a:p>
            <a:endParaRPr lang="en-US" sz="2200" dirty="0"/>
          </a:p>
          <a:p>
            <a:pPr marL="0" indent="0">
              <a:buNone/>
            </a:pPr>
            <a:endParaRPr lang="en-US" sz="2200" dirty="0"/>
          </a:p>
          <a:p>
            <a:endParaRPr lang="en-US" sz="2200" dirty="0"/>
          </a:p>
        </p:txBody>
      </p:sp>
      <p:sp>
        <p:nvSpPr>
          <p:cNvPr id="4" name="TextBox 3">
            <a:extLst>
              <a:ext uri="{FF2B5EF4-FFF2-40B4-BE49-F238E27FC236}">
                <a16:creationId xmlns:a16="http://schemas.microsoft.com/office/drawing/2014/main" id="{6A6E7826-23BC-E2E1-B876-75BA69673EC3}"/>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F931EFE7-9407-4C5E-2ABD-CBF3F59A6CBA}"/>
              </a:ext>
            </a:extLst>
          </p:cNvPr>
          <p:cNvSpPr>
            <a:spLocks noGrp="1"/>
          </p:cNvSpPr>
          <p:nvPr>
            <p:ph type="title"/>
          </p:nvPr>
        </p:nvSpPr>
        <p:spPr/>
        <p:txBody>
          <a:bodyPr/>
          <a:lstStyle/>
          <a:p>
            <a:r>
              <a:rPr lang="en-US" dirty="0"/>
              <a:t>Bias in visual analytics</a:t>
            </a:r>
          </a:p>
        </p:txBody>
      </p:sp>
      <p:sp>
        <p:nvSpPr>
          <p:cNvPr id="2" name="Rounded Rectangle 1">
            <a:extLst>
              <a:ext uri="{FF2B5EF4-FFF2-40B4-BE49-F238E27FC236}">
                <a16:creationId xmlns:a16="http://schemas.microsoft.com/office/drawing/2014/main" id="{390671CC-54B3-D413-5A29-EB568218EC26}"/>
              </a:ext>
            </a:extLst>
          </p:cNvPr>
          <p:cNvSpPr/>
          <p:nvPr/>
        </p:nvSpPr>
        <p:spPr>
          <a:xfrm>
            <a:off x="1142999" y="5946984"/>
            <a:ext cx="9906000" cy="4932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Describe a scenario in which this bias could affect a visual analytic analysis</a:t>
            </a:r>
          </a:p>
        </p:txBody>
      </p:sp>
    </p:spTree>
    <p:extLst>
      <p:ext uri="{BB962C8B-B14F-4D97-AF65-F5344CB8AC3E}">
        <p14:creationId xmlns:p14="http://schemas.microsoft.com/office/powerpoint/2010/main" val="4107057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13EB1-7385-7FFC-A7A7-ACCDA1C671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98FB07A-774A-D4B5-B727-45713C2E3C22}"/>
              </a:ext>
            </a:extLst>
          </p:cNvPr>
          <p:cNvSpPr>
            <a:spLocks noGrp="1"/>
          </p:cNvSpPr>
          <p:nvPr>
            <p:ph idx="1"/>
          </p:nvPr>
        </p:nvSpPr>
        <p:spPr>
          <a:xfrm>
            <a:off x="581192" y="2180495"/>
            <a:ext cx="11029615" cy="4142843"/>
          </a:xfrm>
        </p:spPr>
        <p:txBody>
          <a:bodyPr anchor="t">
            <a:normAutofit/>
          </a:bodyPr>
          <a:lstStyle/>
          <a:p>
            <a:pPr marL="0" indent="0">
              <a:buNone/>
            </a:pPr>
            <a:r>
              <a:rPr lang="en-US" sz="2200" dirty="0"/>
              <a:t>Bias as a </a:t>
            </a:r>
            <a:r>
              <a:rPr lang="en-US" sz="2200" dirty="0">
                <a:effectLst>
                  <a:glow rad="228600">
                    <a:schemeClr val="accent5">
                      <a:satMod val="175000"/>
                      <a:alpha val="40000"/>
                    </a:schemeClr>
                  </a:glow>
                </a:effectLst>
              </a:rPr>
              <a:t>preconception</a:t>
            </a:r>
            <a:r>
              <a:rPr lang="en-US" sz="2200" dirty="0"/>
              <a:t> </a:t>
            </a:r>
          </a:p>
          <a:p>
            <a:r>
              <a:rPr lang="en-US" sz="2200" dirty="0"/>
              <a:t>Analysts’ analysis are unconsciously shaped by experiences and internal influences</a:t>
            </a:r>
          </a:p>
          <a:p>
            <a:r>
              <a:rPr lang="en-US" sz="2200" dirty="0"/>
              <a:t>Unconscious bias may arise from</a:t>
            </a:r>
          </a:p>
          <a:p>
            <a:pPr lvl="1"/>
            <a:r>
              <a:rPr lang="en-US" sz="2200" dirty="0"/>
              <a:t>cultural beliefs and traditions</a:t>
            </a:r>
          </a:p>
          <a:p>
            <a:pPr lvl="1"/>
            <a:r>
              <a:rPr lang="en-US" sz="2200" dirty="0"/>
              <a:t>general self-confidence or self-esteem</a:t>
            </a:r>
          </a:p>
          <a:p>
            <a:pPr lvl="1"/>
            <a:r>
              <a:rPr lang="en-US" sz="2200" dirty="0"/>
              <a:t>comfort and familiarity with a machines analytics and interface functions </a:t>
            </a:r>
          </a:p>
          <a:p>
            <a:pPr lvl="1"/>
            <a:r>
              <a:rPr lang="en-US" sz="2200" dirty="0"/>
              <a:t>amount of risk aversion vs. seeking </a:t>
            </a:r>
          </a:p>
          <a:p>
            <a:pPr marL="457200" indent="-457200">
              <a:buFont typeface="+mj-lt"/>
              <a:buAutoNum type="arabicPeriod"/>
            </a:pPr>
            <a:endParaRPr lang="en-US" sz="2200" dirty="0"/>
          </a:p>
          <a:p>
            <a:endParaRPr lang="en-US" sz="2200" dirty="0"/>
          </a:p>
        </p:txBody>
      </p:sp>
      <p:sp>
        <p:nvSpPr>
          <p:cNvPr id="4" name="TextBox 3">
            <a:extLst>
              <a:ext uri="{FF2B5EF4-FFF2-40B4-BE49-F238E27FC236}">
                <a16:creationId xmlns:a16="http://schemas.microsoft.com/office/drawing/2014/main" id="{8079492F-4507-F736-BA70-044533B85D68}"/>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9D2C01AA-583B-A264-2538-44E1698A12B1}"/>
              </a:ext>
            </a:extLst>
          </p:cNvPr>
          <p:cNvSpPr>
            <a:spLocks noGrp="1"/>
          </p:cNvSpPr>
          <p:nvPr>
            <p:ph type="title"/>
          </p:nvPr>
        </p:nvSpPr>
        <p:spPr/>
        <p:txBody>
          <a:bodyPr/>
          <a:lstStyle/>
          <a:p>
            <a:r>
              <a:rPr lang="en-US" dirty="0"/>
              <a:t>Bias in visual analytics</a:t>
            </a:r>
          </a:p>
        </p:txBody>
      </p:sp>
      <p:sp>
        <p:nvSpPr>
          <p:cNvPr id="2" name="Rounded Rectangle 1">
            <a:extLst>
              <a:ext uri="{FF2B5EF4-FFF2-40B4-BE49-F238E27FC236}">
                <a16:creationId xmlns:a16="http://schemas.microsoft.com/office/drawing/2014/main" id="{0B915720-F232-F73A-CE70-DBA52B579AFE}"/>
              </a:ext>
            </a:extLst>
          </p:cNvPr>
          <p:cNvSpPr/>
          <p:nvPr/>
        </p:nvSpPr>
        <p:spPr>
          <a:xfrm>
            <a:off x="2243138" y="5586413"/>
            <a:ext cx="7100887" cy="73692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Describe a scenario in which one of unconscious </a:t>
            </a:r>
            <a:r>
              <a:rPr lang="en-US" sz="2400" dirty="0" err="1"/>
              <a:t>biase</a:t>
            </a:r>
            <a:r>
              <a:rPr lang="en-US" sz="2400" dirty="0"/>
              <a:t> could affect a visual analytic analysis</a:t>
            </a:r>
          </a:p>
        </p:txBody>
      </p:sp>
    </p:spTree>
    <p:extLst>
      <p:ext uri="{BB962C8B-B14F-4D97-AF65-F5344CB8AC3E}">
        <p14:creationId xmlns:p14="http://schemas.microsoft.com/office/powerpoint/2010/main" val="482542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440FC-4782-FD8C-8538-04C1D3F80C4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7DCB53-D4D6-641D-2C5E-615A6E95B49A}"/>
              </a:ext>
            </a:extLst>
          </p:cNvPr>
          <p:cNvSpPr>
            <a:spLocks noGrp="1"/>
          </p:cNvSpPr>
          <p:nvPr>
            <p:ph idx="1"/>
          </p:nvPr>
        </p:nvSpPr>
        <p:spPr>
          <a:xfrm>
            <a:off x="581192" y="2180495"/>
            <a:ext cx="11029615" cy="4142843"/>
          </a:xfrm>
        </p:spPr>
        <p:txBody>
          <a:bodyPr anchor="t">
            <a:normAutofit/>
          </a:bodyPr>
          <a:lstStyle/>
          <a:p>
            <a:pPr marL="0" indent="0">
              <a:buNone/>
            </a:pPr>
            <a:r>
              <a:rPr lang="en-US" sz="2200" dirty="0"/>
              <a:t>Asynchronous interventions </a:t>
            </a:r>
          </a:p>
          <a:p>
            <a:r>
              <a:rPr lang="en-US" sz="2200" dirty="0"/>
              <a:t>Education (ex. about unconscious biases) </a:t>
            </a:r>
          </a:p>
          <a:p>
            <a:pPr marL="0" indent="0">
              <a:buNone/>
            </a:pPr>
            <a:endParaRPr lang="en-US" sz="2200" dirty="0"/>
          </a:p>
          <a:p>
            <a:pPr marL="0" indent="0">
              <a:buNone/>
            </a:pPr>
            <a:r>
              <a:rPr lang="en-US" sz="2200" dirty="0"/>
              <a:t>Big Limitation: </a:t>
            </a:r>
          </a:p>
          <a:p>
            <a:pPr marL="0" indent="0">
              <a:buNone/>
            </a:pPr>
            <a:r>
              <a:rPr lang="en-US" sz="2200" b="1" dirty="0"/>
              <a:t>Education of biases requires that analysts </a:t>
            </a:r>
            <a:r>
              <a:rPr lang="en-US" sz="2200" b="1" i="1" dirty="0"/>
              <a:t>remember </a:t>
            </a:r>
            <a:r>
              <a:rPr lang="en-US" sz="2200" b="1" dirty="0"/>
              <a:t>information about biases and recall what strategies to apply to mitigate them</a:t>
            </a:r>
            <a:r>
              <a:rPr lang="en-US" sz="2200" dirty="0"/>
              <a:t>. In reality, analysts may forget to engage the information in real-time decision-making scenarios </a:t>
            </a:r>
          </a:p>
          <a:p>
            <a:endParaRPr lang="en-US" sz="2200" dirty="0"/>
          </a:p>
        </p:txBody>
      </p:sp>
      <p:sp>
        <p:nvSpPr>
          <p:cNvPr id="4" name="TextBox 3">
            <a:extLst>
              <a:ext uri="{FF2B5EF4-FFF2-40B4-BE49-F238E27FC236}">
                <a16:creationId xmlns:a16="http://schemas.microsoft.com/office/drawing/2014/main" id="{4B9B97F1-C6A0-D394-2FAA-3F576C2C6F1F}"/>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02A2E667-53ED-F79F-14C8-9E60B510F694}"/>
              </a:ext>
            </a:extLst>
          </p:cNvPr>
          <p:cNvSpPr>
            <a:spLocks noGrp="1"/>
          </p:cNvSpPr>
          <p:nvPr>
            <p:ph type="title"/>
          </p:nvPr>
        </p:nvSpPr>
        <p:spPr/>
        <p:txBody>
          <a:bodyPr/>
          <a:lstStyle/>
          <a:p>
            <a:r>
              <a:rPr lang="en-US" dirty="0"/>
              <a:t>Bias in visual analytics</a:t>
            </a:r>
          </a:p>
        </p:txBody>
      </p:sp>
    </p:spTree>
    <p:extLst>
      <p:ext uri="{BB962C8B-B14F-4D97-AF65-F5344CB8AC3E}">
        <p14:creationId xmlns:p14="http://schemas.microsoft.com/office/powerpoint/2010/main" val="69740105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F292E-48D0-7905-A1A8-221DFC7EF1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8B6EB2A-27E1-C9A3-5567-C2169EEF0EFC}"/>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75490098-E717-5AF9-F273-4F55002219B5}"/>
              </a:ext>
            </a:extLst>
          </p:cNvPr>
          <p:cNvSpPr>
            <a:spLocks noGrp="1"/>
          </p:cNvSpPr>
          <p:nvPr>
            <p:ph type="title"/>
          </p:nvPr>
        </p:nvSpPr>
        <p:spPr/>
        <p:txBody>
          <a:bodyPr/>
          <a:lstStyle/>
          <a:p>
            <a:r>
              <a:rPr lang="en-US" dirty="0"/>
              <a:t>Bias in visual analytics</a:t>
            </a:r>
          </a:p>
        </p:txBody>
      </p:sp>
      <p:pic>
        <p:nvPicPr>
          <p:cNvPr id="6" name="Picture 5" descr="A screenshot of a computer screen&#10;&#10;AI-generated content may be incorrect.">
            <a:extLst>
              <a:ext uri="{FF2B5EF4-FFF2-40B4-BE49-F238E27FC236}">
                <a16:creationId xmlns:a16="http://schemas.microsoft.com/office/drawing/2014/main" id="{CA958BD7-4F6C-4FF3-E2A0-D37DA27256E9}"/>
              </a:ext>
            </a:extLst>
          </p:cNvPr>
          <p:cNvPicPr>
            <a:picLocks noChangeAspect="1"/>
          </p:cNvPicPr>
          <p:nvPr/>
        </p:nvPicPr>
        <p:blipFill>
          <a:blip r:embed="rId3"/>
          <a:stretch>
            <a:fillRect/>
          </a:stretch>
        </p:blipFill>
        <p:spPr>
          <a:xfrm rot="5400000">
            <a:off x="5547737" y="-440453"/>
            <a:ext cx="4311214" cy="8977312"/>
          </a:xfrm>
          <a:prstGeom prst="rect">
            <a:avLst/>
          </a:prstGeom>
        </p:spPr>
      </p:pic>
      <p:sp>
        <p:nvSpPr>
          <p:cNvPr id="3" name="Content Placeholder 2">
            <a:extLst>
              <a:ext uri="{FF2B5EF4-FFF2-40B4-BE49-F238E27FC236}">
                <a16:creationId xmlns:a16="http://schemas.microsoft.com/office/drawing/2014/main" id="{01BEE9C2-AEB0-3A59-429B-83CEE2A8934A}"/>
              </a:ext>
            </a:extLst>
          </p:cNvPr>
          <p:cNvSpPr>
            <a:spLocks noGrp="1"/>
          </p:cNvSpPr>
          <p:nvPr>
            <p:ph idx="1"/>
          </p:nvPr>
        </p:nvSpPr>
        <p:spPr>
          <a:xfrm>
            <a:off x="581192" y="2180495"/>
            <a:ext cx="11029615" cy="4142843"/>
          </a:xfrm>
        </p:spPr>
        <p:txBody>
          <a:bodyPr anchor="t">
            <a:normAutofit/>
          </a:bodyPr>
          <a:lstStyle/>
          <a:p>
            <a:pPr marL="0" indent="0">
              <a:buNone/>
            </a:pPr>
            <a:r>
              <a:rPr lang="en-US" sz="2200" dirty="0"/>
              <a:t>Real-Time interventions</a:t>
            </a:r>
          </a:p>
        </p:txBody>
      </p:sp>
    </p:spTree>
    <p:extLst>
      <p:ext uri="{BB962C8B-B14F-4D97-AF65-F5344CB8AC3E}">
        <p14:creationId xmlns:p14="http://schemas.microsoft.com/office/powerpoint/2010/main" val="15358627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7B16D-609D-95E2-1930-3231F09A11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46C220A-A70B-6066-6F27-AE826C02F981}"/>
              </a:ext>
            </a:extLst>
          </p:cNvPr>
          <p:cNvSpPr txBox="1"/>
          <p:nvPr/>
        </p:nvSpPr>
        <p:spPr>
          <a:xfrm>
            <a:off x="2003405" y="6499978"/>
            <a:ext cx="10486768" cy="307777"/>
          </a:xfrm>
          <a:prstGeom prst="rect">
            <a:avLst/>
          </a:prstGeom>
          <a:noFill/>
        </p:spPr>
        <p:txBody>
          <a:bodyPr wrap="square" rtlCol="0">
            <a:spAutoFit/>
          </a:bodyPr>
          <a:lstStyle/>
          <a:p>
            <a:r>
              <a:rPr lang="en-US" sz="1400" dirty="0"/>
              <a:t>Wall, Emily. (2026). Human Bias in Visual Data Analysis: A Synthesis of Research to Empower Decision Makers. 10.1007/978-3-032-09307-3. </a:t>
            </a:r>
          </a:p>
        </p:txBody>
      </p:sp>
      <p:sp>
        <p:nvSpPr>
          <p:cNvPr id="5" name="Title 1">
            <a:extLst>
              <a:ext uri="{FF2B5EF4-FFF2-40B4-BE49-F238E27FC236}">
                <a16:creationId xmlns:a16="http://schemas.microsoft.com/office/drawing/2014/main" id="{7425BDA7-85B5-574D-2DD0-ECFFD311DE73}"/>
              </a:ext>
            </a:extLst>
          </p:cNvPr>
          <p:cNvSpPr>
            <a:spLocks noGrp="1"/>
          </p:cNvSpPr>
          <p:nvPr>
            <p:ph type="title"/>
          </p:nvPr>
        </p:nvSpPr>
        <p:spPr/>
        <p:txBody>
          <a:bodyPr/>
          <a:lstStyle/>
          <a:p>
            <a:r>
              <a:rPr lang="en-US" dirty="0"/>
              <a:t>Bias in visual analytics</a:t>
            </a:r>
          </a:p>
        </p:txBody>
      </p:sp>
      <p:sp>
        <p:nvSpPr>
          <p:cNvPr id="3" name="Content Placeholder 2">
            <a:extLst>
              <a:ext uri="{FF2B5EF4-FFF2-40B4-BE49-F238E27FC236}">
                <a16:creationId xmlns:a16="http://schemas.microsoft.com/office/drawing/2014/main" id="{64B1D8C1-119F-2F04-DC8F-AD4199AE47CF}"/>
              </a:ext>
            </a:extLst>
          </p:cNvPr>
          <p:cNvSpPr>
            <a:spLocks noGrp="1"/>
          </p:cNvSpPr>
          <p:nvPr>
            <p:ph idx="1"/>
          </p:nvPr>
        </p:nvSpPr>
        <p:spPr>
          <a:xfrm>
            <a:off x="581192" y="2180495"/>
            <a:ext cx="11029615" cy="4142843"/>
          </a:xfrm>
        </p:spPr>
        <p:txBody>
          <a:bodyPr anchor="t">
            <a:normAutofit/>
          </a:bodyPr>
          <a:lstStyle/>
          <a:p>
            <a:pPr marL="0" indent="0">
              <a:buNone/>
            </a:pPr>
            <a:r>
              <a:rPr lang="en-US" sz="2200" dirty="0"/>
              <a:t>Real-Time interventions</a:t>
            </a:r>
          </a:p>
        </p:txBody>
      </p:sp>
      <p:pic>
        <p:nvPicPr>
          <p:cNvPr id="7" name="Picture 6" descr="A screenshot of a computer&#10;&#10;AI-generated content may be incorrect.">
            <a:extLst>
              <a:ext uri="{FF2B5EF4-FFF2-40B4-BE49-F238E27FC236}">
                <a16:creationId xmlns:a16="http://schemas.microsoft.com/office/drawing/2014/main" id="{D024F794-077E-16CE-2907-83D4F3B969BE}"/>
              </a:ext>
            </a:extLst>
          </p:cNvPr>
          <p:cNvPicPr>
            <a:picLocks noChangeAspect="1"/>
          </p:cNvPicPr>
          <p:nvPr/>
        </p:nvPicPr>
        <p:blipFill>
          <a:blip r:embed="rId3"/>
          <a:srcRect l="5772"/>
          <a:stretch>
            <a:fillRect/>
          </a:stretch>
        </p:blipFill>
        <p:spPr>
          <a:xfrm rot="5400000">
            <a:off x="6359255" y="26054"/>
            <a:ext cx="4142843" cy="7522646"/>
          </a:xfrm>
          <a:prstGeom prst="rect">
            <a:avLst/>
          </a:prstGeom>
        </p:spPr>
      </p:pic>
      <p:pic>
        <p:nvPicPr>
          <p:cNvPr id="9" name="Picture 8" descr="A graph of different types of data&#10;&#10;AI-generated content may be incorrect.">
            <a:extLst>
              <a:ext uri="{FF2B5EF4-FFF2-40B4-BE49-F238E27FC236}">
                <a16:creationId xmlns:a16="http://schemas.microsoft.com/office/drawing/2014/main" id="{5070FAC1-6A43-52C2-8858-3B3777557787}"/>
              </a:ext>
            </a:extLst>
          </p:cNvPr>
          <p:cNvPicPr>
            <a:picLocks noChangeAspect="1"/>
          </p:cNvPicPr>
          <p:nvPr/>
        </p:nvPicPr>
        <p:blipFill>
          <a:blip r:embed="rId4"/>
          <a:stretch>
            <a:fillRect/>
          </a:stretch>
        </p:blipFill>
        <p:spPr>
          <a:xfrm>
            <a:off x="103187" y="3256722"/>
            <a:ext cx="4711701" cy="3243256"/>
          </a:xfrm>
          <a:prstGeom prst="rect">
            <a:avLst/>
          </a:prstGeom>
        </p:spPr>
      </p:pic>
    </p:spTree>
    <p:extLst>
      <p:ext uri="{BB962C8B-B14F-4D97-AF65-F5344CB8AC3E}">
        <p14:creationId xmlns:p14="http://schemas.microsoft.com/office/powerpoint/2010/main" val="2426220238"/>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66F1C100-1D2B-4BEA-AD01-C4F230B3B96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1822</TotalTime>
  <Words>3526</Words>
  <Application>Microsoft Macintosh PowerPoint</Application>
  <PresentationFormat>Widescreen</PresentationFormat>
  <Paragraphs>229</Paragraphs>
  <Slides>28</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Aptos</vt:lpstr>
      <vt:lpstr>Gill Sans MT</vt:lpstr>
      <vt:lpstr>source-serif-pro</vt:lpstr>
      <vt:lpstr>Wingdings 2</vt:lpstr>
      <vt:lpstr>Dividend</vt:lpstr>
      <vt:lpstr>Visual Analytics: uncertainty and bias </vt:lpstr>
      <vt:lpstr>Notes</vt:lpstr>
      <vt:lpstr>Today’s plan</vt:lpstr>
      <vt:lpstr>Definition: Uncertainty</vt:lpstr>
      <vt:lpstr>Definition: Uncertainty</vt:lpstr>
      <vt:lpstr>Definition: Uncertainty</vt:lpstr>
      <vt:lpstr>Definition: Uncertainty</vt:lpstr>
      <vt:lpstr>Visualizing uncertainty</vt:lpstr>
      <vt:lpstr>Visualizing uncertainty</vt:lpstr>
      <vt:lpstr>Visualizing uncertainty</vt:lpstr>
      <vt:lpstr>Visualizing uncertainty</vt:lpstr>
      <vt:lpstr>Visualizing uncertainty</vt:lpstr>
      <vt:lpstr>Visualizing uncertainty</vt:lpstr>
      <vt:lpstr>Visualizing uncertainty</vt:lpstr>
      <vt:lpstr>Visualizing uncertainty</vt:lpstr>
      <vt:lpstr>Visualizing uncertainty</vt:lpstr>
      <vt:lpstr>Your turn</vt:lpstr>
      <vt:lpstr>Bias in visual analytics</vt:lpstr>
      <vt:lpstr>Bias in visual analytics</vt:lpstr>
      <vt:lpstr>Bias in visual analytics</vt:lpstr>
      <vt:lpstr>Bias in visual analytics</vt:lpstr>
      <vt:lpstr>Bias in visual analytics</vt:lpstr>
      <vt:lpstr>Bias in visual analytics</vt:lpstr>
      <vt:lpstr>Bias in visual analytics</vt:lpstr>
      <vt:lpstr>Bias in visual analytics</vt:lpstr>
      <vt:lpstr>Bias in visual analytics</vt:lpstr>
      <vt:lpstr>Bias in visual analytics</vt:lpstr>
      <vt:lpstr>Bias in visual analytics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 Mosca</dc:creator>
  <cp:lastModifiedBy>Ab Mosca</cp:lastModifiedBy>
  <cp:revision>64</cp:revision>
  <dcterms:created xsi:type="dcterms:W3CDTF">2025-11-19T17:12:35Z</dcterms:created>
  <dcterms:modified xsi:type="dcterms:W3CDTF">2026-03-10T12:55:47Z</dcterms:modified>
</cp:coreProperties>
</file>