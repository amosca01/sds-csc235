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notesMasterIdLst>
    <p:notesMasterId r:id="rId17"/>
  </p:notesMasterIdLst>
  <p:sldIdLst>
    <p:sldId id="256" r:id="rId2"/>
    <p:sldId id="257" r:id="rId3"/>
    <p:sldId id="258" r:id="rId4"/>
    <p:sldId id="259" r:id="rId5"/>
    <p:sldId id="260" r:id="rId6"/>
    <p:sldId id="289" r:id="rId7"/>
    <p:sldId id="290" r:id="rId8"/>
    <p:sldId id="291" r:id="rId9"/>
    <p:sldId id="292" r:id="rId10"/>
    <p:sldId id="293" r:id="rId11"/>
    <p:sldId id="294" r:id="rId12"/>
    <p:sldId id="295" r:id="rId13"/>
    <p:sldId id="296" r:id="rId14"/>
    <p:sldId id="297" r:id="rId15"/>
    <p:sldId id="298"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154"/>
    <p:restoredTop sz="77521"/>
  </p:normalViewPr>
  <p:slideViewPr>
    <p:cSldViewPr snapToGrid="0">
      <p:cViewPr varScale="1">
        <p:scale>
          <a:sx n="79" d="100"/>
          <a:sy n="79" d="100"/>
        </p:scale>
        <p:origin x="5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D22518-F7FE-2E40-9C60-793856882CE6}" type="datetimeFigureOut">
              <a:rPr lang="en-US" smtClean="0"/>
              <a:t>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2CD335-F0CB-D347-B8A5-7AB70F34C34F}" type="slidenum">
              <a:rPr lang="en-US" smtClean="0"/>
              <a:t>‹#›</a:t>
            </a:fld>
            <a:endParaRPr lang="en-US"/>
          </a:p>
        </p:txBody>
      </p:sp>
    </p:spTree>
    <p:extLst>
      <p:ext uri="{BB962C8B-B14F-4D97-AF65-F5344CB8AC3E}">
        <p14:creationId xmlns:p14="http://schemas.microsoft.com/office/powerpoint/2010/main" val="844067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42424"/>
                </a:solidFill>
                <a:effectLst/>
                <a:latin typeface="source-serif-pro"/>
              </a:rPr>
              <a:t>monthly jobs figures, as shown in this visualization based on data from the Bureau of Labor Statistics (BLS):</a:t>
            </a:r>
          </a:p>
          <a:p>
            <a:endParaRPr lang="en-US" b="0" i="0" dirty="0">
              <a:solidFill>
                <a:srgbClr val="242424"/>
              </a:solidFill>
              <a:effectLst/>
              <a:latin typeface="source-serif-pro"/>
            </a:endParaRPr>
          </a:p>
          <a:p>
            <a:r>
              <a:rPr lang="en-US" b="0" i="0" dirty="0">
                <a:solidFill>
                  <a:srgbClr val="242424"/>
                </a:solidFill>
                <a:effectLst/>
                <a:latin typeface="source-serif-pro"/>
              </a:rPr>
              <a:t>At first glance, we might interpret the values in the chart as the outcome of asking every person in the country if they are unemployed, or perhaps some proxy we imagine would capture that information, like the proportion of workers in the U.S. on unemployment insurance. In reality, the government relies on the Current Population Survey (CPS), which is a survey of 60,000 eligible households — roughly 110,000 people — that are selected to be representative of the U.S. population. Employment information from this sample is weighted by demographics to give an estimate of the unemployment rate in the U.S. population at large</a:t>
            </a:r>
            <a:endParaRPr lang="en-US" dirty="0"/>
          </a:p>
        </p:txBody>
      </p:sp>
      <p:sp>
        <p:nvSpPr>
          <p:cNvPr id="4" name="Slide Number Placeholder 3"/>
          <p:cNvSpPr>
            <a:spLocks noGrp="1"/>
          </p:cNvSpPr>
          <p:nvPr>
            <p:ph type="sldNum" sz="quarter" idx="5"/>
          </p:nvPr>
        </p:nvSpPr>
        <p:spPr/>
        <p:txBody>
          <a:bodyPr/>
          <a:lstStyle/>
          <a:p>
            <a:fld id="{E666506D-5C9B-294C-B2AE-15ACE8B5B9F7}" type="slidenum">
              <a:rPr lang="en-US" smtClean="0"/>
              <a:t>4</a:t>
            </a:fld>
            <a:endParaRPr lang="en-US"/>
          </a:p>
        </p:txBody>
      </p:sp>
    </p:spTree>
    <p:extLst>
      <p:ext uri="{BB962C8B-B14F-4D97-AF65-F5344CB8AC3E}">
        <p14:creationId xmlns:p14="http://schemas.microsoft.com/office/powerpoint/2010/main" val="29164827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666506D-5C9B-294C-B2AE-15ACE8B5B9F7}" type="slidenum">
              <a:rPr lang="en-US" smtClean="0"/>
              <a:t>5</a:t>
            </a:fld>
            <a:endParaRPr lang="en-US"/>
          </a:p>
        </p:txBody>
      </p:sp>
    </p:spTree>
    <p:extLst>
      <p:ext uri="{BB962C8B-B14F-4D97-AF65-F5344CB8AC3E}">
        <p14:creationId xmlns:p14="http://schemas.microsoft.com/office/powerpoint/2010/main" val="3294355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0C466-BBF6-1F54-B798-57F3BAF672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797706-7471-70A0-32EC-5FAEA2EE65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8ED0D7-2B7D-4391-4D46-752DFB0284B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42424"/>
                </a:solidFill>
                <a:effectLst/>
                <a:latin typeface="source-serif-pro"/>
              </a:rPr>
              <a:t>For the sake of explaining uncertainty, we created a statistical model that allows us to point to intervals, like 3.5% — 3.8%, and say that there is 95% chance that the interval contains the true unemployment value. Unfortunately, many intervals that we see, including from the BLS, are not so easily interpreted: the 95% instead refers to a property of the process used to construct the interval, not the chance that it contains the true value</a:t>
            </a:r>
            <a:endParaRPr lang="en-US" dirty="0"/>
          </a:p>
          <a:p>
            <a:endParaRPr lang="en-US" dirty="0"/>
          </a:p>
        </p:txBody>
      </p:sp>
      <p:sp>
        <p:nvSpPr>
          <p:cNvPr id="4" name="Slide Number Placeholder 3">
            <a:extLst>
              <a:ext uri="{FF2B5EF4-FFF2-40B4-BE49-F238E27FC236}">
                <a16:creationId xmlns:a16="http://schemas.microsoft.com/office/drawing/2014/main" id="{A5BECD9F-1FE7-1C34-FE9C-88CCAADD6898}"/>
              </a:ext>
            </a:extLst>
          </p:cNvPr>
          <p:cNvSpPr>
            <a:spLocks noGrp="1"/>
          </p:cNvSpPr>
          <p:nvPr>
            <p:ph type="sldNum" sz="quarter" idx="5"/>
          </p:nvPr>
        </p:nvSpPr>
        <p:spPr/>
        <p:txBody>
          <a:bodyPr/>
          <a:lstStyle/>
          <a:p>
            <a:fld id="{E666506D-5C9B-294C-B2AE-15ACE8B5B9F7}" type="slidenum">
              <a:rPr lang="en-US" smtClean="0"/>
              <a:t>6</a:t>
            </a:fld>
            <a:endParaRPr lang="en-US"/>
          </a:p>
        </p:txBody>
      </p:sp>
    </p:spTree>
    <p:extLst>
      <p:ext uri="{BB962C8B-B14F-4D97-AF65-F5344CB8AC3E}">
        <p14:creationId xmlns:p14="http://schemas.microsoft.com/office/powerpoint/2010/main" val="41363990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7DD20-57F2-1A39-E202-B685E65470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89D4EB-59AE-FDF7-ACCE-3465E220CF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3CCB20-26D1-F5B0-BB2D-44F3FE9EBF6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F57CC7-38C0-5F33-2870-C2F299FD41DE}"/>
              </a:ext>
            </a:extLst>
          </p:cNvPr>
          <p:cNvSpPr>
            <a:spLocks noGrp="1"/>
          </p:cNvSpPr>
          <p:nvPr>
            <p:ph type="sldNum" sz="quarter" idx="5"/>
          </p:nvPr>
        </p:nvSpPr>
        <p:spPr/>
        <p:txBody>
          <a:bodyPr/>
          <a:lstStyle/>
          <a:p>
            <a:fld id="{E666506D-5C9B-294C-B2AE-15ACE8B5B9F7}" type="slidenum">
              <a:rPr lang="en-US" smtClean="0"/>
              <a:t>7</a:t>
            </a:fld>
            <a:endParaRPr lang="en-US"/>
          </a:p>
        </p:txBody>
      </p:sp>
    </p:spTree>
    <p:extLst>
      <p:ext uri="{BB962C8B-B14F-4D97-AF65-F5344CB8AC3E}">
        <p14:creationId xmlns:p14="http://schemas.microsoft.com/office/powerpoint/2010/main" val="7503603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quantile </a:t>
            </a:r>
            <a:r>
              <a:rPr lang="en-US" dirty="0" err="1"/>
              <a:t>dotplot</a:t>
            </a:r>
            <a:r>
              <a:rPr lang="en-US" dirty="0"/>
              <a:t> represents a distribution where dots are sampled proportional to the quantiles of the distribution. In this case, each dot depicts a 5% probability. Using this figure as an illustration, imagine that the viewer’s task is to determine if a bus will arrive in 8 min or later. With the quantile </a:t>
            </a:r>
            <a:r>
              <a:rPr lang="en-US" dirty="0" err="1"/>
              <a:t>dotplot</a:t>
            </a:r>
            <a:r>
              <a:rPr lang="en-US" dirty="0"/>
              <a:t>, the viewer can count the dots to determine that there is a 90% chance that the bus will in arrive 8 min or later.</a:t>
            </a:r>
          </a:p>
        </p:txBody>
      </p:sp>
      <p:sp>
        <p:nvSpPr>
          <p:cNvPr id="4" name="Slide Number Placeholder 3"/>
          <p:cNvSpPr>
            <a:spLocks noGrp="1"/>
          </p:cNvSpPr>
          <p:nvPr>
            <p:ph type="sldNum" sz="quarter" idx="5"/>
          </p:nvPr>
        </p:nvSpPr>
        <p:spPr/>
        <p:txBody>
          <a:bodyPr/>
          <a:lstStyle/>
          <a:p>
            <a:fld id="{362CD335-F0CB-D347-B8A5-7AB70F34C34F}" type="slidenum">
              <a:rPr lang="en-US" smtClean="0"/>
              <a:t>10</a:t>
            </a:fld>
            <a:endParaRPr lang="en-US"/>
          </a:p>
        </p:txBody>
      </p:sp>
    </p:spTree>
    <p:extLst>
      <p:ext uri="{BB962C8B-B14F-4D97-AF65-F5344CB8AC3E}">
        <p14:creationId xmlns:p14="http://schemas.microsoft.com/office/powerpoint/2010/main" val="6726055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2/4/26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51237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861698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2/4/26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496651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2/4/26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745580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2/4/26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65422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2/4/26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37547456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2/4/26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891590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2/4/26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414016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2/4/26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497494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25989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2/4/26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22798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2/4/26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5505439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doi.org/10.1002/9781118445112.stat08296"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medium.com/multiple-views-visualization-research-explained/uncertainty-visualization-explained-67e7a73f031b"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medium.com/multiple-views-visualization-research-explained/uncertainty-visualization-explained-67e7a73f031b"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s://medium.com/multiple-views-visualization-research-explained/uncertainty-visualization-explained-67e7a73f031b" TargetMode="Externa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hyperlink" Target="https://medium.com/multiple-views-visualization-research-explained/uncertainty-visualization-explained-67e7a73f031b"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doi.org/10.1002/9781118445112.stat08296"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doi.org/10.1002/9781118445112.stat08296" TargetMode="External"/><Relationship Id="rId1" Type="http://schemas.openxmlformats.org/officeDocument/2006/relationships/slideLayout" Target="../slideLayouts/slideLayout2.xml"/><Relationship Id="rId4" Type="http://schemas.openxmlformats.org/officeDocument/2006/relationships/hyperlink" Target="https://doi.org/10.1371/journal.pone.0253644"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doi.org/10.1002/9781118445112.stat08296"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hyperlink" Target="https://doi.org/10.1002/9781118445112.stat08296"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doi.org/10.1002/9781118445112.stat08296"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doi.org/10.1002/9781118445112.stat08296" TargetMode="Externa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doi.org/10.1002/9781118445112.stat08296"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doi.org/10.1002/9781118445112.stat08296" TargetMode="External"/><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DBFC0-8BA3-DEDC-7E39-89EC7856846E}"/>
              </a:ext>
            </a:extLst>
          </p:cNvPr>
          <p:cNvSpPr>
            <a:spLocks noGrp="1"/>
          </p:cNvSpPr>
          <p:nvPr>
            <p:ph type="ctrTitle"/>
          </p:nvPr>
        </p:nvSpPr>
        <p:spPr/>
        <p:txBody>
          <a:bodyPr>
            <a:normAutofit/>
          </a:bodyPr>
          <a:lstStyle/>
          <a:p>
            <a:r>
              <a:rPr lang="en-US" dirty="0"/>
              <a:t>Visual Analytics: uncertainty and bias </a:t>
            </a:r>
          </a:p>
        </p:txBody>
      </p:sp>
      <p:sp>
        <p:nvSpPr>
          <p:cNvPr id="3" name="Subtitle 2">
            <a:extLst>
              <a:ext uri="{FF2B5EF4-FFF2-40B4-BE49-F238E27FC236}">
                <a16:creationId xmlns:a16="http://schemas.microsoft.com/office/drawing/2014/main" id="{EECBEFAC-62BD-EFDC-63B4-33E49BD33BA5}"/>
              </a:ext>
            </a:extLst>
          </p:cNvPr>
          <p:cNvSpPr>
            <a:spLocks noGrp="1"/>
          </p:cNvSpPr>
          <p:nvPr>
            <p:ph type="subTitle" idx="1"/>
          </p:nvPr>
        </p:nvSpPr>
        <p:spPr/>
        <p:txBody>
          <a:bodyPr/>
          <a:lstStyle/>
          <a:p>
            <a:r>
              <a:rPr lang="en-US" dirty="0"/>
              <a:t>Ab Mosca (they/them)</a:t>
            </a:r>
          </a:p>
        </p:txBody>
      </p:sp>
    </p:spTree>
    <p:extLst>
      <p:ext uri="{BB962C8B-B14F-4D97-AF65-F5344CB8AC3E}">
        <p14:creationId xmlns:p14="http://schemas.microsoft.com/office/powerpoint/2010/main" val="547388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DCEEC-DA3B-FF6E-BAEB-9400A30851F6}"/>
              </a:ext>
            </a:extLst>
          </p:cNvPr>
          <p:cNvSpPr>
            <a:spLocks noGrp="1"/>
          </p:cNvSpPr>
          <p:nvPr>
            <p:ph type="title"/>
          </p:nvPr>
        </p:nvSpPr>
        <p:spPr/>
        <p:txBody>
          <a:bodyPr/>
          <a:lstStyle/>
          <a:p>
            <a:r>
              <a:rPr lang="en-US" dirty="0"/>
              <a:t>Today’s plan</a:t>
            </a:r>
          </a:p>
        </p:txBody>
      </p:sp>
      <p:sp>
        <p:nvSpPr>
          <p:cNvPr id="3" name="Content Placeholder 2">
            <a:extLst>
              <a:ext uri="{FF2B5EF4-FFF2-40B4-BE49-F238E27FC236}">
                <a16:creationId xmlns:a16="http://schemas.microsoft.com/office/drawing/2014/main" id="{2C0A6356-47F4-DF13-CFDC-C996D4E40A01}"/>
              </a:ext>
            </a:extLst>
          </p:cNvPr>
          <p:cNvSpPr>
            <a:spLocks noGrp="1"/>
          </p:cNvSpPr>
          <p:nvPr>
            <p:ph idx="1"/>
          </p:nvPr>
        </p:nvSpPr>
        <p:spPr/>
        <p:txBody>
          <a:bodyPr anchor="t">
            <a:normAutofit/>
          </a:bodyPr>
          <a:lstStyle/>
          <a:p>
            <a:pPr marL="0" indent="0">
              <a:buNone/>
            </a:pPr>
            <a:endParaRPr lang="en-US" sz="2400" dirty="0"/>
          </a:p>
          <a:p>
            <a:r>
              <a:rPr lang="en-US" sz="2400" dirty="0"/>
              <a:t>Uncertainty</a:t>
            </a:r>
          </a:p>
          <a:p>
            <a:pPr lvl="1"/>
            <a:r>
              <a:rPr lang="en-US" sz="2200" dirty="0"/>
              <a:t>Definition</a:t>
            </a:r>
          </a:p>
          <a:p>
            <a:pPr lvl="1"/>
            <a:r>
              <a:rPr lang="en-US" sz="2200" dirty="0"/>
              <a:t>Visualizing </a:t>
            </a:r>
          </a:p>
          <a:p>
            <a:r>
              <a:rPr lang="en-US" sz="2400" dirty="0"/>
              <a:t>Bias</a:t>
            </a:r>
          </a:p>
          <a:p>
            <a:pPr lvl="1"/>
            <a:r>
              <a:rPr lang="en-US" sz="2200" dirty="0"/>
              <a:t>Definition</a:t>
            </a:r>
          </a:p>
          <a:p>
            <a:pPr lvl="1"/>
            <a:r>
              <a:rPr lang="en-US" sz="2200" dirty="0"/>
              <a:t>Visualizing</a:t>
            </a:r>
          </a:p>
        </p:txBody>
      </p:sp>
    </p:spTree>
    <p:extLst>
      <p:ext uri="{BB962C8B-B14F-4D97-AF65-F5344CB8AC3E}">
        <p14:creationId xmlns:p14="http://schemas.microsoft.com/office/powerpoint/2010/main" val="20575609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519F2-F8EE-B1A7-5CDB-1B35D6A4D1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44D9C8-B257-9903-676E-09819D1E6E4C}"/>
              </a:ext>
            </a:extLst>
          </p:cNvPr>
          <p:cNvSpPr>
            <a:spLocks noGrp="1"/>
          </p:cNvSpPr>
          <p:nvPr>
            <p:ph type="title"/>
          </p:nvPr>
        </p:nvSpPr>
        <p:spPr/>
        <p:txBody>
          <a:bodyPr/>
          <a:lstStyle/>
          <a:p>
            <a:r>
              <a:rPr lang="en-US" dirty="0"/>
              <a:t>Definition: Uncertainty</a:t>
            </a:r>
          </a:p>
        </p:txBody>
      </p:sp>
      <p:sp>
        <p:nvSpPr>
          <p:cNvPr id="3" name="Content Placeholder 2">
            <a:extLst>
              <a:ext uri="{FF2B5EF4-FFF2-40B4-BE49-F238E27FC236}">
                <a16:creationId xmlns:a16="http://schemas.microsoft.com/office/drawing/2014/main" id="{ECDE2D69-B54A-1ABA-52D2-6427A9C7F6D1}"/>
              </a:ext>
            </a:extLst>
          </p:cNvPr>
          <p:cNvSpPr>
            <a:spLocks noGrp="1"/>
          </p:cNvSpPr>
          <p:nvPr>
            <p:ph idx="1"/>
          </p:nvPr>
        </p:nvSpPr>
        <p:spPr/>
        <p:txBody>
          <a:bodyPr anchor="t">
            <a:normAutofit/>
          </a:bodyPr>
          <a:lstStyle/>
          <a:p>
            <a:r>
              <a:rPr lang="en-US" sz="2400" dirty="0"/>
              <a:t>Three types of uncertainty:</a:t>
            </a:r>
          </a:p>
          <a:p>
            <a:pPr lvl="1"/>
            <a:r>
              <a:rPr lang="en-US" sz="2200" dirty="0"/>
              <a:t>Aleatoric: irreducible randomness inherent in a process</a:t>
            </a:r>
          </a:p>
          <a:p>
            <a:pPr lvl="1"/>
            <a:r>
              <a:rPr lang="en-US" sz="2200" dirty="0"/>
              <a:t>Epistemic: uncertainty from a lack of knowledge that could theoretically be reduced given more information</a:t>
            </a:r>
          </a:p>
          <a:p>
            <a:pPr lvl="1"/>
            <a:r>
              <a:rPr lang="en-US" sz="2200" dirty="0"/>
              <a:t>Ontological: uncertainty about how accurately the modeling describes reality, which can only be described subjectively</a:t>
            </a:r>
          </a:p>
          <a:p>
            <a:r>
              <a:rPr lang="en-US" sz="2400" dirty="0"/>
              <a:t>In visualization, when we refer to </a:t>
            </a:r>
            <a:r>
              <a:rPr lang="en-US" sz="2400" dirty="0">
                <a:effectLst>
                  <a:glow rad="228600">
                    <a:schemeClr val="accent5">
                      <a:satMod val="175000"/>
                      <a:alpha val="40000"/>
                    </a:schemeClr>
                  </a:glow>
                </a:effectLst>
              </a:rPr>
              <a:t>uncertainty</a:t>
            </a:r>
            <a:r>
              <a:rPr lang="en-US" sz="2400" dirty="0"/>
              <a:t>, we typically mean quantified uncertainty that can be visualized </a:t>
            </a:r>
          </a:p>
        </p:txBody>
      </p:sp>
      <p:sp>
        <p:nvSpPr>
          <p:cNvPr id="5" name="TextBox 4">
            <a:extLst>
              <a:ext uri="{FF2B5EF4-FFF2-40B4-BE49-F238E27FC236}">
                <a16:creationId xmlns:a16="http://schemas.microsoft.com/office/drawing/2014/main" id="{C3EB74E5-B82C-42E8-6891-8F1C641ECDC8}"/>
              </a:ext>
            </a:extLst>
          </p:cNvPr>
          <p:cNvSpPr txBox="1"/>
          <p:nvPr/>
        </p:nvSpPr>
        <p:spPr>
          <a:xfrm>
            <a:off x="1705232" y="6323339"/>
            <a:ext cx="10486768" cy="523220"/>
          </a:xfrm>
          <a:prstGeom prst="rect">
            <a:avLst/>
          </a:prstGeom>
          <a:noFill/>
        </p:spPr>
        <p:txBody>
          <a:bodyPr wrap="square" rtlCol="0">
            <a:spAutoFit/>
          </a:bodyPr>
          <a:lstStyle/>
          <a:p>
            <a:r>
              <a:rPr lang="en-US" sz="1400" dirty="0"/>
              <a:t>Padilla, L., Kay, M. and Hullman, J. (2026). Uncertainty Visualization. In Wiley </a:t>
            </a:r>
            <a:r>
              <a:rPr lang="en-US" sz="1400" dirty="0" err="1"/>
              <a:t>StatsRef</a:t>
            </a:r>
            <a:r>
              <a:rPr lang="en-US" sz="1400" dirty="0"/>
              <a:t>: Statistics Reference Online (eds N. Balakrishnan, T. Colton, B. Everitt, W. </a:t>
            </a:r>
            <a:r>
              <a:rPr lang="en-US" sz="1400" dirty="0" err="1"/>
              <a:t>Piegorsch</a:t>
            </a:r>
            <a:r>
              <a:rPr lang="en-US" sz="1400" dirty="0"/>
              <a:t>, F. Ruggeri and J.L. </a:t>
            </a:r>
            <a:r>
              <a:rPr lang="en-US" sz="1400" dirty="0" err="1"/>
              <a:t>Teugels</a:t>
            </a:r>
            <a:r>
              <a:rPr lang="en-US" sz="1400" dirty="0"/>
              <a:t>). </a:t>
            </a:r>
            <a:r>
              <a:rPr lang="en-US" sz="1400" dirty="0">
                <a:hlinkClick r:id="rId2"/>
              </a:rPr>
              <a:t>https://doi.org/10.1002/9781118445112.stat08296</a:t>
            </a:r>
            <a:endParaRPr lang="en-US" sz="1400" dirty="0"/>
          </a:p>
        </p:txBody>
      </p:sp>
    </p:spTree>
    <p:extLst>
      <p:ext uri="{BB962C8B-B14F-4D97-AF65-F5344CB8AC3E}">
        <p14:creationId xmlns:p14="http://schemas.microsoft.com/office/powerpoint/2010/main" val="11685306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Definition: Uncertainty</a:t>
            </a:r>
          </a:p>
        </p:txBody>
      </p:sp>
      <p:pic>
        <p:nvPicPr>
          <p:cNvPr id="1026" name="Picture 2">
            <a:extLst>
              <a:ext uri="{FF2B5EF4-FFF2-40B4-BE49-F238E27FC236}">
                <a16:creationId xmlns:a16="http://schemas.microsoft.com/office/drawing/2014/main" id="{30FEF4A3-1FE9-1ED8-EDF1-4859AFEB14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1192" y="2565530"/>
            <a:ext cx="7586624" cy="3793312"/>
          </a:xfrm>
          <a:prstGeom prst="rect">
            <a:avLst/>
          </a:prstGeom>
          <a:noFill/>
          <a:extLst>
            <a:ext uri="{909E8E84-426E-40DD-AFC4-6F175D3DCCD1}">
              <a14:hiddenFill xmlns:a14="http://schemas.microsoft.com/office/drawing/2010/main">
                <a:solidFill>
                  <a:srgbClr val="FFFFFF"/>
                </a:solidFill>
              </a14:hiddenFill>
            </a:ext>
          </a:extLst>
        </p:spPr>
      </p:pic>
      <p:sp>
        <p:nvSpPr>
          <p:cNvPr id="9" name="Rounded Rectangular Callout 8">
            <a:extLst>
              <a:ext uri="{FF2B5EF4-FFF2-40B4-BE49-F238E27FC236}">
                <a16:creationId xmlns:a16="http://schemas.microsoft.com/office/drawing/2014/main" id="{13DE2AA7-1F2C-664E-804D-407D0DCFD981}"/>
              </a:ext>
            </a:extLst>
          </p:cNvPr>
          <p:cNvSpPr/>
          <p:nvPr/>
        </p:nvSpPr>
        <p:spPr>
          <a:xfrm>
            <a:off x="8308184" y="3152472"/>
            <a:ext cx="2660073" cy="1139165"/>
          </a:xfrm>
          <a:prstGeom prst="wedgeRoundRectCallout">
            <a:avLst>
              <a:gd name="adj1" fmla="val -67710"/>
              <a:gd name="adj2" fmla="val 106032"/>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How is this value calculated?</a:t>
            </a:r>
          </a:p>
        </p:txBody>
      </p:sp>
      <p:sp>
        <p:nvSpPr>
          <p:cNvPr id="6" name="TextBox 5">
            <a:extLst>
              <a:ext uri="{FF2B5EF4-FFF2-40B4-BE49-F238E27FC236}">
                <a16:creationId xmlns:a16="http://schemas.microsoft.com/office/drawing/2014/main" id="{A4F9468E-C215-950B-C3AD-B39ED50AD911}"/>
              </a:ext>
            </a:extLst>
          </p:cNvPr>
          <p:cNvSpPr txBox="1"/>
          <p:nvPr/>
        </p:nvSpPr>
        <p:spPr>
          <a:xfrm>
            <a:off x="581192" y="2026483"/>
            <a:ext cx="6861089" cy="369332"/>
          </a:xfrm>
          <a:prstGeom prst="rect">
            <a:avLst/>
          </a:prstGeom>
          <a:noFill/>
        </p:spPr>
        <p:txBody>
          <a:bodyPr wrap="square">
            <a:spAutoFit/>
          </a:bodyPr>
          <a:lstStyle/>
          <a:p>
            <a:r>
              <a:rPr lang="en-US" dirty="0">
                <a:solidFill>
                  <a:srgbClr val="242424"/>
                </a:solidFill>
              </a:rPr>
              <a:t>(Visualization b</a:t>
            </a:r>
            <a:r>
              <a:rPr lang="en-US" b="0" i="0" dirty="0">
                <a:solidFill>
                  <a:srgbClr val="242424"/>
                </a:solidFill>
                <a:effectLst/>
              </a:rPr>
              <a:t>ased on data from the Bureau of Labor Statistics)</a:t>
            </a:r>
            <a:endParaRPr lang="en-US" dirty="0"/>
          </a:p>
        </p:txBody>
      </p:sp>
      <p:sp>
        <p:nvSpPr>
          <p:cNvPr id="8" name="TextBox 7">
            <a:extLst>
              <a:ext uri="{FF2B5EF4-FFF2-40B4-BE49-F238E27FC236}">
                <a16:creationId xmlns:a16="http://schemas.microsoft.com/office/drawing/2014/main" id="{6AF3F255-6B3B-CB5D-C228-EC159CAC1714}"/>
              </a:ext>
            </a:extLst>
          </p:cNvPr>
          <p:cNvSpPr txBox="1"/>
          <p:nvPr/>
        </p:nvSpPr>
        <p:spPr>
          <a:xfrm>
            <a:off x="951471" y="6550223"/>
            <a:ext cx="11714205" cy="307777"/>
          </a:xfrm>
          <a:prstGeom prst="rect">
            <a:avLst/>
          </a:prstGeom>
          <a:noFill/>
        </p:spPr>
        <p:txBody>
          <a:bodyPr wrap="square" rtlCol="0">
            <a:spAutoFit/>
          </a:bodyPr>
          <a:lstStyle/>
          <a:p>
            <a:r>
              <a:rPr lang="en-US" sz="1400" dirty="0"/>
              <a:t>Jessica Hullman and Matthew Kay (</a:t>
            </a:r>
            <a:r>
              <a:rPr lang="en-US" sz="1400" dirty="0">
                <a:hlinkClick r:id="rId4"/>
              </a:rPr>
              <a:t>https://medium.com/multiple-views-visualization-research-explained/uncertainty-visualization-explained-67e7a73f031b</a:t>
            </a:r>
            <a:r>
              <a:rPr lang="en-US" sz="1400" dirty="0"/>
              <a:t> )</a:t>
            </a:r>
          </a:p>
        </p:txBody>
      </p:sp>
    </p:spTree>
    <p:extLst>
      <p:ext uri="{BB962C8B-B14F-4D97-AF65-F5344CB8AC3E}">
        <p14:creationId xmlns:p14="http://schemas.microsoft.com/office/powerpoint/2010/main" val="2249818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Definition: Uncertainty</a:t>
            </a:r>
          </a:p>
        </p:txBody>
      </p:sp>
      <p:sp>
        <p:nvSpPr>
          <p:cNvPr id="7" name="Content Placeholder 2">
            <a:extLst>
              <a:ext uri="{FF2B5EF4-FFF2-40B4-BE49-F238E27FC236}">
                <a16:creationId xmlns:a16="http://schemas.microsoft.com/office/drawing/2014/main" id="{8331FD2F-B91F-DCC6-10E4-4C8A27C3B826}"/>
              </a:ext>
            </a:extLst>
          </p:cNvPr>
          <p:cNvSpPr>
            <a:spLocks noGrp="1"/>
          </p:cNvSpPr>
          <p:nvPr>
            <p:ph idx="1"/>
          </p:nvPr>
        </p:nvSpPr>
        <p:spPr>
          <a:xfrm>
            <a:off x="8464378" y="2026483"/>
            <a:ext cx="3146430" cy="4302075"/>
          </a:xfrm>
        </p:spPr>
        <p:txBody>
          <a:bodyPr vert="horz" lIns="91440" tIns="45720" rIns="91440" bIns="45720" rtlCol="0" anchor="t">
            <a:normAutofit fontScale="92500" lnSpcReduction="10000"/>
          </a:bodyPr>
          <a:lstStyle/>
          <a:p>
            <a:r>
              <a:rPr lang="en-US" sz="2400" dirty="0"/>
              <a:t>A statistical model is used to estimate a parameter</a:t>
            </a:r>
          </a:p>
          <a:p>
            <a:r>
              <a:rPr lang="en-US" sz="2400" dirty="0"/>
              <a:t>The model quantifies the uncertainty around the estimate by considering all values it could be (and how likely each is) </a:t>
            </a:r>
          </a:p>
          <a:p>
            <a:r>
              <a:rPr lang="en-US" sz="2400" dirty="0"/>
              <a:t>Hence, a parameter’s uncertainty can be characterized by a probability distribution </a:t>
            </a:r>
          </a:p>
        </p:txBody>
      </p:sp>
      <p:pic>
        <p:nvPicPr>
          <p:cNvPr id="2050" name="Picture 2">
            <a:extLst>
              <a:ext uri="{FF2B5EF4-FFF2-40B4-BE49-F238E27FC236}">
                <a16:creationId xmlns:a16="http://schemas.microsoft.com/office/drawing/2014/main" id="{7C0D2A66-0A79-9F07-58B1-921828F47B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1192" y="2475377"/>
            <a:ext cx="7689273" cy="384463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0F8E5A3-628F-A0E4-FC1E-CDF3EA754890}"/>
              </a:ext>
            </a:extLst>
          </p:cNvPr>
          <p:cNvSpPr txBox="1"/>
          <p:nvPr/>
        </p:nvSpPr>
        <p:spPr>
          <a:xfrm>
            <a:off x="581192" y="2026483"/>
            <a:ext cx="6861089" cy="369332"/>
          </a:xfrm>
          <a:prstGeom prst="rect">
            <a:avLst/>
          </a:prstGeom>
          <a:noFill/>
        </p:spPr>
        <p:txBody>
          <a:bodyPr wrap="square">
            <a:spAutoFit/>
          </a:bodyPr>
          <a:lstStyle/>
          <a:p>
            <a:r>
              <a:rPr lang="en-US" dirty="0">
                <a:solidFill>
                  <a:srgbClr val="242424"/>
                </a:solidFill>
              </a:rPr>
              <a:t>(Visualization b</a:t>
            </a:r>
            <a:r>
              <a:rPr lang="en-US" b="0" i="0" dirty="0">
                <a:solidFill>
                  <a:srgbClr val="242424"/>
                </a:solidFill>
                <a:effectLst/>
              </a:rPr>
              <a:t>ased on data from the Bureau of Labor Statistics)</a:t>
            </a:r>
            <a:endParaRPr lang="en-US" dirty="0"/>
          </a:p>
        </p:txBody>
      </p:sp>
      <p:sp>
        <p:nvSpPr>
          <p:cNvPr id="4" name="TextBox 3">
            <a:extLst>
              <a:ext uri="{FF2B5EF4-FFF2-40B4-BE49-F238E27FC236}">
                <a16:creationId xmlns:a16="http://schemas.microsoft.com/office/drawing/2014/main" id="{1C20821A-9B55-9ACF-9985-1C39CAAC6B4E}"/>
              </a:ext>
            </a:extLst>
          </p:cNvPr>
          <p:cNvSpPr txBox="1"/>
          <p:nvPr/>
        </p:nvSpPr>
        <p:spPr>
          <a:xfrm>
            <a:off x="951471" y="6550223"/>
            <a:ext cx="11714205" cy="307777"/>
          </a:xfrm>
          <a:prstGeom prst="rect">
            <a:avLst/>
          </a:prstGeom>
          <a:noFill/>
        </p:spPr>
        <p:txBody>
          <a:bodyPr wrap="square" rtlCol="0">
            <a:spAutoFit/>
          </a:bodyPr>
          <a:lstStyle/>
          <a:p>
            <a:r>
              <a:rPr lang="en-US" sz="1400" dirty="0"/>
              <a:t>Jessica Hullman and Matthew Kay (</a:t>
            </a:r>
            <a:r>
              <a:rPr lang="en-US" sz="1400" dirty="0">
                <a:hlinkClick r:id="rId4"/>
              </a:rPr>
              <a:t>https://medium.com/multiple-views-visualization-research-explained/uncertainty-visualization-explained-67e7a73f031b</a:t>
            </a:r>
            <a:r>
              <a:rPr lang="en-US" sz="1400" dirty="0"/>
              <a:t> )</a:t>
            </a:r>
          </a:p>
        </p:txBody>
      </p:sp>
    </p:spTree>
    <p:extLst>
      <p:ext uri="{BB962C8B-B14F-4D97-AF65-F5344CB8AC3E}">
        <p14:creationId xmlns:p14="http://schemas.microsoft.com/office/powerpoint/2010/main" val="1124288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0EABE-7373-2B64-2DB0-374A9B9F6C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E6ABD6-F85B-4034-9B5B-62E33113286E}"/>
              </a:ext>
            </a:extLst>
          </p:cNvPr>
          <p:cNvSpPr>
            <a:spLocks noGrp="1"/>
          </p:cNvSpPr>
          <p:nvPr>
            <p:ph type="title"/>
          </p:nvPr>
        </p:nvSpPr>
        <p:spPr/>
        <p:txBody>
          <a:bodyPr/>
          <a:lstStyle/>
          <a:p>
            <a:r>
              <a:rPr lang="en-US" dirty="0"/>
              <a:t>Definition: Uncertainty</a:t>
            </a:r>
          </a:p>
        </p:txBody>
      </p:sp>
      <p:sp>
        <p:nvSpPr>
          <p:cNvPr id="7" name="Content Placeholder 2">
            <a:extLst>
              <a:ext uri="{FF2B5EF4-FFF2-40B4-BE49-F238E27FC236}">
                <a16:creationId xmlns:a16="http://schemas.microsoft.com/office/drawing/2014/main" id="{23EE4E56-0083-0BE0-E627-713E8E35E7AA}"/>
              </a:ext>
            </a:extLst>
          </p:cNvPr>
          <p:cNvSpPr>
            <a:spLocks noGrp="1"/>
          </p:cNvSpPr>
          <p:nvPr>
            <p:ph idx="1"/>
          </p:nvPr>
        </p:nvSpPr>
        <p:spPr>
          <a:xfrm>
            <a:off x="8464378" y="2026483"/>
            <a:ext cx="3146430" cy="4302075"/>
          </a:xfrm>
        </p:spPr>
        <p:txBody>
          <a:bodyPr vert="horz" lIns="91440" tIns="45720" rIns="91440" bIns="45720" rtlCol="0" anchor="t">
            <a:normAutofit fontScale="92500" lnSpcReduction="10000"/>
          </a:bodyPr>
          <a:lstStyle/>
          <a:p>
            <a:r>
              <a:rPr lang="en-US" sz="2400" dirty="0"/>
              <a:t>A statistical model is used to estimate a parameter</a:t>
            </a:r>
          </a:p>
          <a:p>
            <a:r>
              <a:rPr lang="en-US" sz="2400" dirty="0"/>
              <a:t>The model quantifies the uncertainty around the estimate by considering all values it could be (and how likely each is) </a:t>
            </a:r>
          </a:p>
          <a:p>
            <a:r>
              <a:rPr lang="en-US" sz="2400" dirty="0"/>
              <a:t>Hence, a parameter’s uncertainty can be characterized by a probability distribution </a:t>
            </a:r>
          </a:p>
        </p:txBody>
      </p:sp>
      <p:pic>
        <p:nvPicPr>
          <p:cNvPr id="2050" name="Picture 2">
            <a:extLst>
              <a:ext uri="{FF2B5EF4-FFF2-40B4-BE49-F238E27FC236}">
                <a16:creationId xmlns:a16="http://schemas.microsoft.com/office/drawing/2014/main" id="{43E780B3-24F6-10DF-D6AB-DB9C8CFC4390}"/>
              </a:ext>
            </a:extLst>
          </p:cNvPr>
          <p:cNvPicPr>
            <a:picLocks noChangeAspect="1" noChangeArrowheads="1"/>
          </p:cNvPicPr>
          <p:nvPr/>
        </p:nvPicPr>
        <p:blipFill>
          <a:blip r:embed="rId3">
            <a:alphaModFix amt="20000"/>
            <a:extLst>
              <a:ext uri="{28A0092B-C50C-407E-A947-70E740481C1C}">
                <a14:useLocalDpi xmlns:a14="http://schemas.microsoft.com/office/drawing/2010/main" val="0"/>
              </a:ext>
            </a:extLst>
          </a:blip>
          <a:srcRect/>
          <a:stretch>
            <a:fillRect/>
          </a:stretch>
        </p:blipFill>
        <p:spPr bwMode="auto">
          <a:xfrm>
            <a:off x="581192" y="2475377"/>
            <a:ext cx="7689273" cy="384463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6A7E8CB-08C5-AEEA-4A67-F5C110359149}"/>
              </a:ext>
            </a:extLst>
          </p:cNvPr>
          <p:cNvSpPr txBox="1"/>
          <p:nvPr/>
        </p:nvSpPr>
        <p:spPr>
          <a:xfrm>
            <a:off x="581192" y="2026483"/>
            <a:ext cx="6861089" cy="369332"/>
          </a:xfrm>
          <a:prstGeom prst="rect">
            <a:avLst/>
          </a:prstGeom>
          <a:noFill/>
        </p:spPr>
        <p:txBody>
          <a:bodyPr wrap="square">
            <a:spAutoFit/>
          </a:bodyPr>
          <a:lstStyle/>
          <a:p>
            <a:r>
              <a:rPr lang="en-US" dirty="0">
                <a:solidFill>
                  <a:srgbClr val="242424"/>
                </a:solidFill>
              </a:rPr>
              <a:t>(Visualization b</a:t>
            </a:r>
            <a:r>
              <a:rPr lang="en-US" b="0" i="0" dirty="0">
                <a:solidFill>
                  <a:srgbClr val="242424"/>
                </a:solidFill>
                <a:effectLst/>
              </a:rPr>
              <a:t>ased on data from the Bureau of Labor Statistics)</a:t>
            </a:r>
            <a:endParaRPr lang="en-US" dirty="0"/>
          </a:p>
        </p:txBody>
      </p:sp>
      <p:pic>
        <p:nvPicPr>
          <p:cNvPr id="4" name="Picture 2">
            <a:extLst>
              <a:ext uri="{FF2B5EF4-FFF2-40B4-BE49-F238E27FC236}">
                <a16:creationId xmlns:a16="http://schemas.microsoft.com/office/drawing/2014/main" id="{A84F7050-77F1-1CCD-6B09-661D9A314F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536" y="3038323"/>
            <a:ext cx="8360227" cy="234922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2390E42-EE0A-5149-6F99-BCF92F38B087}"/>
              </a:ext>
            </a:extLst>
          </p:cNvPr>
          <p:cNvSpPr txBox="1"/>
          <p:nvPr/>
        </p:nvSpPr>
        <p:spPr>
          <a:xfrm>
            <a:off x="951471" y="6550223"/>
            <a:ext cx="11714205" cy="307777"/>
          </a:xfrm>
          <a:prstGeom prst="rect">
            <a:avLst/>
          </a:prstGeom>
          <a:noFill/>
        </p:spPr>
        <p:txBody>
          <a:bodyPr wrap="square" rtlCol="0">
            <a:spAutoFit/>
          </a:bodyPr>
          <a:lstStyle/>
          <a:p>
            <a:r>
              <a:rPr lang="en-US" sz="1400" dirty="0"/>
              <a:t>Jessica Hullman and Matthew Kay (</a:t>
            </a:r>
            <a:r>
              <a:rPr lang="en-US" sz="1400" dirty="0">
                <a:hlinkClick r:id="rId5"/>
              </a:rPr>
              <a:t>https://medium.com/multiple-views-visualization-research-explained/uncertainty-visualization-explained-67e7a73f031b</a:t>
            </a:r>
            <a:r>
              <a:rPr lang="en-US" sz="1400" dirty="0"/>
              <a:t> )</a:t>
            </a:r>
          </a:p>
        </p:txBody>
      </p:sp>
    </p:spTree>
    <p:extLst>
      <p:ext uri="{BB962C8B-B14F-4D97-AF65-F5344CB8AC3E}">
        <p14:creationId xmlns:p14="http://schemas.microsoft.com/office/powerpoint/2010/main" val="8527702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169E8-B143-3CFD-831B-5927E50F54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5EE1EB-8B2B-290D-368B-E89F5D98FD28}"/>
              </a:ext>
            </a:extLst>
          </p:cNvPr>
          <p:cNvSpPr>
            <a:spLocks noGrp="1"/>
          </p:cNvSpPr>
          <p:nvPr>
            <p:ph type="title"/>
          </p:nvPr>
        </p:nvSpPr>
        <p:spPr/>
        <p:txBody>
          <a:bodyPr/>
          <a:lstStyle/>
          <a:p>
            <a:r>
              <a:rPr lang="en-US" dirty="0"/>
              <a:t>Visualizing uncertainty</a:t>
            </a:r>
          </a:p>
        </p:txBody>
      </p:sp>
      <p:sp>
        <p:nvSpPr>
          <p:cNvPr id="7" name="Content Placeholder 2">
            <a:extLst>
              <a:ext uri="{FF2B5EF4-FFF2-40B4-BE49-F238E27FC236}">
                <a16:creationId xmlns:a16="http://schemas.microsoft.com/office/drawing/2014/main" id="{A7A5D088-D9BE-1F1F-4996-6D3187195392}"/>
              </a:ext>
            </a:extLst>
          </p:cNvPr>
          <p:cNvSpPr>
            <a:spLocks noGrp="1"/>
          </p:cNvSpPr>
          <p:nvPr>
            <p:ph idx="1"/>
          </p:nvPr>
        </p:nvSpPr>
        <p:spPr>
          <a:xfrm>
            <a:off x="581192" y="2026483"/>
            <a:ext cx="11029616" cy="4302075"/>
          </a:xfrm>
        </p:spPr>
        <p:txBody>
          <a:bodyPr vert="horz" lIns="91440" tIns="45720" rIns="91440" bIns="45720" rtlCol="0" anchor="t">
            <a:normAutofit/>
          </a:bodyPr>
          <a:lstStyle/>
          <a:p>
            <a:r>
              <a:rPr lang="en-US" sz="2400" dirty="0"/>
              <a:t>A statistical model is used to estimate a parameter</a:t>
            </a:r>
          </a:p>
          <a:p>
            <a:r>
              <a:rPr lang="en-US" sz="2400" dirty="0"/>
              <a:t>The model quantifies the uncertainty around the estimate by considering all values it could be (and how likely each is) </a:t>
            </a:r>
          </a:p>
          <a:p>
            <a:r>
              <a:rPr lang="en-US" sz="2400" dirty="0"/>
              <a:t>Hence, a parameter’s uncertainty can be characterized by a probability distribution </a:t>
            </a:r>
          </a:p>
        </p:txBody>
      </p:sp>
      <p:sp>
        <p:nvSpPr>
          <p:cNvPr id="5" name="Rounded Rectangle 4">
            <a:extLst>
              <a:ext uri="{FF2B5EF4-FFF2-40B4-BE49-F238E27FC236}">
                <a16:creationId xmlns:a16="http://schemas.microsoft.com/office/drawing/2014/main" id="{0B7C6828-2C13-F24D-3045-5431F2C65434}"/>
              </a:ext>
            </a:extLst>
          </p:cNvPr>
          <p:cNvSpPr/>
          <p:nvPr/>
        </p:nvSpPr>
        <p:spPr>
          <a:xfrm>
            <a:off x="2463113" y="4213653"/>
            <a:ext cx="7265773" cy="13839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Why is it important to communicate uncertainty?</a:t>
            </a:r>
          </a:p>
        </p:txBody>
      </p:sp>
      <p:sp>
        <p:nvSpPr>
          <p:cNvPr id="6" name="TextBox 5">
            <a:extLst>
              <a:ext uri="{FF2B5EF4-FFF2-40B4-BE49-F238E27FC236}">
                <a16:creationId xmlns:a16="http://schemas.microsoft.com/office/drawing/2014/main" id="{B4E1A92B-7C4D-0432-8273-4D0A54D81750}"/>
              </a:ext>
            </a:extLst>
          </p:cNvPr>
          <p:cNvSpPr txBox="1"/>
          <p:nvPr/>
        </p:nvSpPr>
        <p:spPr>
          <a:xfrm>
            <a:off x="951471" y="6550223"/>
            <a:ext cx="11714205" cy="307777"/>
          </a:xfrm>
          <a:prstGeom prst="rect">
            <a:avLst/>
          </a:prstGeom>
          <a:noFill/>
        </p:spPr>
        <p:txBody>
          <a:bodyPr wrap="square" rtlCol="0">
            <a:spAutoFit/>
          </a:bodyPr>
          <a:lstStyle/>
          <a:p>
            <a:r>
              <a:rPr lang="en-US" sz="1400" dirty="0"/>
              <a:t>Jessica Hullman and Matthew Kay (</a:t>
            </a:r>
            <a:r>
              <a:rPr lang="en-US" sz="1400" dirty="0">
                <a:hlinkClick r:id="rId3"/>
              </a:rPr>
              <a:t>https://medium.com/multiple-views-visualization-research-explained/uncertainty-visualization-explained-67e7a73f031b</a:t>
            </a:r>
            <a:r>
              <a:rPr lang="en-US" sz="1400" dirty="0"/>
              <a:t> )</a:t>
            </a:r>
          </a:p>
        </p:txBody>
      </p:sp>
    </p:spTree>
    <p:extLst>
      <p:ext uri="{BB962C8B-B14F-4D97-AF65-F5344CB8AC3E}">
        <p14:creationId xmlns:p14="http://schemas.microsoft.com/office/powerpoint/2010/main" val="32054042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6D2240-F7EB-757D-08EE-C5C4FF6CAD4F}"/>
              </a:ext>
            </a:extLst>
          </p:cNvPr>
          <p:cNvSpPr>
            <a:spLocks noGrp="1"/>
          </p:cNvSpPr>
          <p:nvPr>
            <p:ph idx="1"/>
          </p:nvPr>
        </p:nvSpPr>
        <p:spPr/>
        <p:txBody>
          <a:bodyPr anchor="t">
            <a:normAutofit/>
          </a:bodyPr>
          <a:lstStyle/>
          <a:p>
            <a:r>
              <a:rPr lang="en-US" sz="2200" dirty="0"/>
              <a:t>There are two broad categories of uncertainty visualization techniques:</a:t>
            </a:r>
          </a:p>
          <a:p>
            <a:endParaRPr lang="en-US" sz="2200" dirty="0"/>
          </a:p>
          <a:p>
            <a:pPr marL="666900" lvl="1" indent="-342900">
              <a:buFont typeface="+mj-lt"/>
              <a:buAutoNum type="arabicPeriod"/>
            </a:pPr>
            <a:r>
              <a:rPr lang="en-US" sz="2200" dirty="0"/>
              <a:t>Graphical annotations that show properties of a distribution</a:t>
            </a:r>
          </a:p>
          <a:p>
            <a:pPr marL="936900" lvl="2" indent="-342900"/>
            <a:r>
              <a:rPr lang="en-US" sz="2200" dirty="0"/>
              <a:t>Ex. error bars, animating between possible values</a:t>
            </a:r>
          </a:p>
          <a:p>
            <a:pPr marL="936900" lvl="2" indent="-342900"/>
            <a:endParaRPr lang="en-US" sz="2200" dirty="0"/>
          </a:p>
          <a:p>
            <a:pPr marL="666900" lvl="1" indent="-342900">
              <a:buFont typeface="+mj-lt"/>
              <a:buAutoNum type="arabicPeriod"/>
            </a:pPr>
            <a:r>
              <a:rPr lang="en-US" sz="2200" dirty="0"/>
              <a:t>Mapping probability or confidence to a visual encoding channel </a:t>
            </a:r>
          </a:p>
          <a:p>
            <a:pPr marL="936900" lvl="2" indent="-342900"/>
            <a:r>
              <a:rPr lang="en-US" sz="2200" dirty="0"/>
              <a:t>Ex. Make a mark more transparent if uncertainty is high</a:t>
            </a:r>
          </a:p>
        </p:txBody>
      </p:sp>
      <p:sp>
        <p:nvSpPr>
          <p:cNvPr id="4" name="TextBox 3">
            <a:extLst>
              <a:ext uri="{FF2B5EF4-FFF2-40B4-BE49-F238E27FC236}">
                <a16:creationId xmlns:a16="http://schemas.microsoft.com/office/drawing/2014/main" id="{F6E92AE3-AAE9-652F-E2DB-D5E7A88255AE}"/>
              </a:ext>
            </a:extLst>
          </p:cNvPr>
          <p:cNvSpPr txBox="1"/>
          <p:nvPr/>
        </p:nvSpPr>
        <p:spPr>
          <a:xfrm>
            <a:off x="1705232" y="6323339"/>
            <a:ext cx="10486768" cy="523220"/>
          </a:xfrm>
          <a:prstGeom prst="rect">
            <a:avLst/>
          </a:prstGeom>
          <a:noFill/>
        </p:spPr>
        <p:txBody>
          <a:bodyPr wrap="square" rtlCol="0">
            <a:spAutoFit/>
          </a:bodyPr>
          <a:lstStyle/>
          <a:p>
            <a:r>
              <a:rPr lang="en-US" sz="1400" dirty="0"/>
              <a:t>Padilla, L., Kay, M. and Hullman, J. (2026). Uncertainty Visualization. In Wiley </a:t>
            </a:r>
            <a:r>
              <a:rPr lang="en-US" sz="1400" dirty="0" err="1"/>
              <a:t>StatsRef</a:t>
            </a:r>
            <a:r>
              <a:rPr lang="en-US" sz="1400" dirty="0"/>
              <a:t>: Statistics Reference Online (eds N. Balakrishnan, T. Colton, B. Everitt, W. </a:t>
            </a:r>
            <a:r>
              <a:rPr lang="en-US" sz="1400" dirty="0" err="1"/>
              <a:t>Piegorsch</a:t>
            </a:r>
            <a:r>
              <a:rPr lang="en-US" sz="1400" dirty="0"/>
              <a:t>, F. Ruggeri and J.L. </a:t>
            </a:r>
            <a:r>
              <a:rPr lang="en-US" sz="1400" dirty="0" err="1"/>
              <a:t>Teugels</a:t>
            </a:r>
            <a:r>
              <a:rPr lang="en-US" sz="1400" dirty="0"/>
              <a:t>). </a:t>
            </a:r>
            <a:r>
              <a:rPr lang="en-US" sz="1400" dirty="0">
                <a:hlinkClick r:id="rId2"/>
              </a:rPr>
              <a:t>https://doi.org/10.1002/9781118445112.stat08296</a:t>
            </a:r>
            <a:endParaRPr lang="en-US" sz="1400" dirty="0"/>
          </a:p>
        </p:txBody>
      </p:sp>
      <p:sp>
        <p:nvSpPr>
          <p:cNvPr id="5" name="Title 1">
            <a:extLst>
              <a:ext uri="{FF2B5EF4-FFF2-40B4-BE49-F238E27FC236}">
                <a16:creationId xmlns:a16="http://schemas.microsoft.com/office/drawing/2014/main" id="{AEBDA747-C60D-FD4E-718E-A42CD15083F1}"/>
              </a:ext>
            </a:extLst>
          </p:cNvPr>
          <p:cNvSpPr>
            <a:spLocks noGrp="1"/>
          </p:cNvSpPr>
          <p:nvPr>
            <p:ph type="title"/>
          </p:nvPr>
        </p:nvSpPr>
        <p:spPr/>
        <p:txBody>
          <a:bodyPr/>
          <a:lstStyle/>
          <a:p>
            <a:r>
              <a:rPr lang="en-US" dirty="0"/>
              <a:t>Visualizing uncertainty</a:t>
            </a:r>
          </a:p>
        </p:txBody>
      </p:sp>
    </p:spTree>
    <p:extLst>
      <p:ext uri="{BB962C8B-B14F-4D97-AF65-F5344CB8AC3E}">
        <p14:creationId xmlns:p14="http://schemas.microsoft.com/office/powerpoint/2010/main" val="17960757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7B4DB-520E-EE90-E9C9-DEBD6014D7F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54DD86-EC45-0D20-E994-B18FDE50D00E}"/>
              </a:ext>
            </a:extLst>
          </p:cNvPr>
          <p:cNvSpPr>
            <a:spLocks noGrp="1"/>
          </p:cNvSpPr>
          <p:nvPr>
            <p:ph idx="1"/>
          </p:nvPr>
        </p:nvSpPr>
        <p:spPr>
          <a:xfrm>
            <a:off x="581193" y="2180496"/>
            <a:ext cx="3884886" cy="3678303"/>
          </a:xfrm>
        </p:spPr>
        <p:txBody>
          <a:bodyPr anchor="t">
            <a:normAutofit fontScale="92500" lnSpcReduction="10000"/>
          </a:bodyPr>
          <a:lstStyle/>
          <a:p>
            <a:pPr marL="0" indent="0">
              <a:buNone/>
            </a:pPr>
            <a:r>
              <a:rPr lang="en-US" sz="2000" dirty="0"/>
              <a:t>Icon Array</a:t>
            </a:r>
          </a:p>
          <a:p>
            <a:pPr lvl="1"/>
            <a:r>
              <a:rPr lang="en-US" sz="2000" dirty="0"/>
              <a:t>Oﬄoad cognition by allowing a viewer’s visual system to compare the denominator and the numerator in a frequency probability format</a:t>
            </a:r>
          </a:p>
          <a:p>
            <a:pPr lvl="1"/>
            <a:r>
              <a:rPr lang="en-US" sz="2000" dirty="0"/>
              <a:t>Visual comparisons of this nature are easier and faster than numerical calculations</a:t>
            </a:r>
          </a:p>
          <a:p>
            <a:pPr lvl="1"/>
            <a:r>
              <a:rPr lang="en-US" sz="2000" dirty="0"/>
              <a:t>Can reduce denominator neglect by allowing people to compare relative ratios visually</a:t>
            </a:r>
          </a:p>
        </p:txBody>
      </p:sp>
      <p:sp>
        <p:nvSpPr>
          <p:cNvPr id="4" name="TextBox 3">
            <a:extLst>
              <a:ext uri="{FF2B5EF4-FFF2-40B4-BE49-F238E27FC236}">
                <a16:creationId xmlns:a16="http://schemas.microsoft.com/office/drawing/2014/main" id="{10FA3675-9A47-E73C-4CC8-8F31F62F5573}"/>
              </a:ext>
            </a:extLst>
          </p:cNvPr>
          <p:cNvSpPr txBox="1"/>
          <p:nvPr/>
        </p:nvSpPr>
        <p:spPr>
          <a:xfrm>
            <a:off x="1705232" y="6323339"/>
            <a:ext cx="10486768" cy="523220"/>
          </a:xfrm>
          <a:prstGeom prst="rect">
            <a:avLst/>
          </a:prstGeom>
          <a:noFill/>
        </p:spPr>
        <p:txBody>
          <a:bodyPr wrap="square" rtlCol="0">
            <a:spAutoFit/>
          </a:bodyPr>
          <a:lstStyle/>
          <a:p>
            <a:r>
              <a:rPr lang="en-US" sz="1400" dirty="0"/>
              <a:t>Padilla, L., Kay, M. and Hullman, J. (2026). Uncertainty Visualization. In Wiley </a:t>
            </a:r>
            <a:r>
              <a:rPr lang="en-US" sz="1400" dirty="0" err="1"/>
              <a:t>StatsRef</a:t>
            </a:r>
            <a:r>
              <a:rPr lang="en-US" sz="1400" dirty="0"/>
              <a:t>: Statistics Reference Online (eds N. Balakrishnan, T. Colton, B. Everitt, W. </a:t>
            </a:r>
            <a:r>
              <a:rPr lang="en-US" sz="1400" dirty="0" err="1"/>
              <a:t>Piegorsch</a:t>
            </a:r>
            <a:r>
              <a:rPr lang="en-US" sz="1400" dirty="0"/>
              <a:t>, F. Ruggeri and J.L. </a:t>
            </a:r>
            <a:r>
              <a:rPr lang="en-US" sz="1400" dirty="0" err="1"/>
              <a:t>Teugels</a:t>
            </a:r>
            <a:r>
              <a:rPr lang="en-US" sz="1400" dirty="0"/>
              <a:t>). </a:t>
            </a:r>
            <a:r>
              <a:rPr lang="en-US" sz="1400" dirty="0">
                <a:hlinkClick r:id="rId2"/>
              </a:rPr>
              <a:t>https://doi.org/10.1002/9781118445112.stat08296</a:t>
            </a:r>
            <a:endParaRPr lang="en-US" sz="1400" dirty="0"/>
          </a:p>
        </p:txBody>
      </p:sp>
      <p:sp>
        <p:nvSpPr>
          <p:cNvPr id="5" name="Title 1">
            <a:extLst>
              <a:ext uri="{FF2B5EF4-FFF2-40B4-BE49-F238E27FC236}">
                <a16:creationId xmlns:a16="http://schemas.microsoft.com/office/drawing/2014/main" id="{CD61245C-CC4C-34A5-372C-17B3B4B04A2B}"/>
              </a:ext>
            </a:extLst>
          </p:cNvPr>
          <p:cNvSpPr>
            <a:spLocks noGrp="1"/>
          </p:cNvSpPr>
          <p:nvPr>
            <p:ph type="title"/>
          </p:nvPr>
        </p:nvSpPr>
        <p:spPr/>
        <p:txBody>
          <a:bodyPr/>
          <a:lstStyle/>
          <a:p>
            <a:r>
              <a:rPr lang="en-US" dirty="0"/>
              <a:t>Visualizing uncertainty</a:t>
            </a:r>
          </a:p>
        </p:txBody>
      </p:sp>
      <p:pic>
        <p:nvPicPr>
          <p:cNvPr id="1026" name="Picture 2" descr="Icon array presented in the survey">
            <a:extLst>
              <a:ext uri="{FF2B5EF4-FFF2-40B4-BE49-F238E27FC236}">
                <a16:creationId xmlns:a16="http://schemas.microsoft.com/office/drawing/2014/main" id="{8E625777-C44B-1926-F702-7B4E6963476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899"/>
          <a:stretch>
            <a:fillRect/>
          </a:stretch>
        </p:blipFill>
        <p:spPr bwMode="auto">
          <a:xfrm>
            <a:off x="4701591" y="1678290"/>
            <a:ext cx="7139148" cy="447755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527F3B0-7D9F-421F-2C92-58EC08EBE012}"/>
              </a:ext>
            </a:extLst>
          </p:cNvPr>
          <p:cNvSpPr txBox="1"/>
          <p:nvPr/>
        </p:nvSpPr>
        <p:spPr>
          <a:xfrm>
            <a:off x="10532960" y="2729708"/>
            <a:ext cx="1543291" cy="600164"/>
          </a:xfrm>
          <a:prstGeom prst="rect">
            <a:avLst/>
          </a:prstGeom>
          <a:noFill/>
        </p:spPr>
        <p:txBody>
          <a:bodyPr wrap="square">
            <a:spAutoFit/>
          </a:bodyPr>
          <a:lstStyle/>
          <a:p>
            <a:r>
              <a:rPr lang="en-US" sz="1100" dirty="0"/>
              <a:t>Scalia et al. (2021) </a:t>
            </a:r>
            <a:r>
              <a:rPr lang="en-US" sz="1100" dirty="0">
                <a:hlinkClick r:id="rId4"/>
              </a:rPr>
              <a:t>https://doi.org/10.1371/journal.pone.0253644</a:t>
            </a:r>
            <a:r>
              <a:rPr lang="en-US" sz="1100" dirty="0"/>
              <a:t> </a:t>
            </a:r>
          </a:p>
        </p:txBody>
      </p:sp>
    </p:spTree>
    <p:extLst>
      <p:ext uri="{BB962C8B-B14F-4D97-AF65-F5344CB8AC3E}">
        <p14:creationId xmlns:p14="http://schemas.microsoft.com/office/powerpoint/2010/main" val="15796552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75CEE-0796-8003-D32D-8B1C4C2680C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18576C-34B4-33AB-7FCE-71B8BA75A4D0}"/>
              </a:ext>
            </a:extLst>
          </p:cNvPr>
          <p:cNvSpPr>
            <a:spLocks noGrp="1"/>
          </p:cNvSpPr>
          <p:nvPr>
            <p:ph idx="1"/>
          </p:nvPr>
        </p:nvSpPr>
        <p:spPr>
          <a:xfrm>
            <a:off x="581193" y="2180496"/>
            <a:ext cx="4627618" cy="3678303"/>
          </a:xfrm>
        </p:spPr>
        <p:txBody>
          <a:bodyPr anchor="t">
            <a:normAutofit/>
          </a:bodyPr>
          <a:lstStyle/>
          <a:p>
            <a:pPr marL="0" indent="0">
              <a:buNone/>
            </a:pPr>
            <a:r>
              <a:rPr lang="en-US" sz="2200" dirty="0"/>
              <a:t>Quantile </a:t>
            </a:r>
            <a:r>
              <a:rPr lang="en-US" sz="2200" dirty="0" err="1"/>
              <a:t>dotplot</a:t>
            </a:r>
            <a:endParaRPr lang="en-US" sz="2200" dirty="0"/>
          </a:p>
          <a:p>
            <a:r>
              <a:rPr lang="en-US" sz="2000" dirty="0"/>
              <a:t>Displays uncertainty for a continuous variable</a:t>
            </a:r>
          </a:p>
          <a:p>
            <a:r>
              <a:rPr lang="en-US" sz="2000" dirty="0"/>
              <a:t>Represents a distribution where dots are sampled proportional to the quantiles of the distribution</a:t>
            </a:r>
          </a:p>
          <a:p>
            <a:endParaRPr lang="en-US" sz="2200" dirty="0"/>
          </a:p>
        </p:txBody>
      </p:sp>
      <p:sp>
        <p:nvSpPr>
          <p:cNvPr id="4" name="TextBox 3">
            <a:extLst>
              <a:ext uri="{FF2B5EF4-FFF2-40B4-BE49-F238E27FC236}">
                <a16:creationId xmlns:a16="http://schemas.microsoft.com/office/drawing/2014/main" id="{3A83250F-2E00-7ED6-0AF6-D79585FDBDAE}"/>
              </a:ext>
            </a:extLst>
          </p:cNvPr>
          <p:cNvSpPr txBox="1"/>
          <p:nvPr/>
        </p:nvSpPr>
        <p:spPr>
          <a:xfrm>
            <a:off x="1705232" y="6323339"/>
            <a:ext cx="10486768" cy="523220"/>
          </a:xfrm>
          <a:prstGeom prst="rect">
            <a:avLst/>
          </a:prstGeom>
          <a:noFill/>
        </p:spPr>
        <p:txBody>
          <a:bodyPr wrap="square" rtlCol="0">
            <a:spAutoFit/>
          </a:bodyPr>
          <a:lstStyle/>
          <a:p>
            <a:r>
              <a:rPr lang="en-US" sz="1400" dirty="0"/>
              <a:t>Padilla, L., Kay, M. and Hullman, J. (2026). Uncertainty Visualization. In Wiley </a:t>
            </a:r>
            <a:r>
              <a:rPr lang="en-US" sz="1400" dirty="0" err="1"/>
              <a:t>StatsRef</a:t>
            </a:r>
            <a:r>
              <a:rPr lang="en-US" sz="1400" dirty="0"/>
              <a:t>: Statistics Reference Online (eds N. Balakrishnan, T. Colton, B. Everitt, W. </a:t>
            </a:r>
            <a:r>
              <a:rPr lang="en-US" sz="1400" dirty="0" err="1"/>
              <a:t>Piegorsch</a:t>
            </a:r>
            <a:r>
              <a:rPr lang="en-US" sz="1400" dirty="0"/>
              <a:t>, F. Ruggeri and J.L. </a:t>
            </a:r>
            <a:r>
              <a:rPr lang="en-US" sz="1400" dirty="0" err="1"/>
              <a:t>Teugels</a:t>
            </a:r>
            <a:r>
              <a:rPr lang="en-US" sz="1400" dirty="0"/>
              <a:t>). </a:t>
            </a:r>
            <a:r>
              <a:rPr lang="en-US" sz="1400" dirty="0">
                <a:hlinkClick r:id="rId3"/>
              </a:rPr>
              <a:t>https://doi.org/10.1002/9781118445112.stat08296</a:t>
            </a:r>
            <a:endParaRPr lang="en-US" sz="1400" dirty="0"/>
          </a:p>
        </p:txBody>
      </p:sp>
      <p:sp>
        <p:nvSpPr>
          <p:cNvPr id="5" name="Title 1">
            <a:extLst>
              <a:ext uri="{FF2B5EF4-FFF2-40B4-BE49-F238E27FC236}">
                <a16:creationId xmlns:a16="http://schemas.microsoft.com/office/drawing/2014/main" id="{F592CCAC-ED27-F4CC-4C03-4A3C16179482}"/>
              </a:ext>
            </a:extLst>
          </p:cNvPr>
          <p:cNvSpPr>
            <a:spLocks noGrp="1"/>
          </p:cNvSpPr>
          <p:nvPr>
            <p:ph type="title"/>
          </p:nvPr>
        </p:nvSpPr>
        <p:spPr/>
        <p:txBody>
          <a:bodyPr/>
          <a:lstStyle/>
          <a:p>
            <a:r>
              <a:rPr lang="en-US" dirty="0"/>
              <a:t>Visualizing uncertainty</a:t>
            </a:r>
          </a:p>
        </p:txBody>
      </p:sp>
      <p:pic>
        <p:nvPicPr>
          <p:cNvPr id="6" name="Picture 5" descr="A diagram of a function&#10;&#10;AI-generated content may be incorrect.">
            <a:extLst>
              <a:ext uri="{FF2B5EF4-FFF2-40B4-BE49-F238E27FC236}">
                <a16:creationId xmlns:a16="http://schemas.microsoft.com/office/drawing/2014/main" id="{EDCB2A6D-9E77-6253-FC22-8DC2F2BF6651}"/>
              </a:ext>
            </a:extLst>
          </p:cNvPr>
          <p:cNvPicPr>
            <a:picLocks noChangeAspect="1"/>
          </p:cNvPicPr>
          <p:nvPr/>
        </p:nvPicPr>
        <p:blipFill>
          <a:blip r:embed="rId4"/>
          <a:stretch>
            <a:fillRect/>
          </a:stretch>
        </p:blipFill>
        <p:spPr>
          <a:xfrm>
            <a:off x="5208813" y="1709474"/>
            <a:ext cx="6401993" cy="4446369"/>
          </a:xfrm>
          <a:prstGeom prst="rect">
            <a:avLst/>
          </a:prstGeom>
        </p:spPr>
      </p:pic>
      <p:pic>
        <p:nvPicPr>
          <p:cNvPr id="8" name="Picture 7" descr="A graph of a number of different types of bus passengers&#10;&#10;AI-generated content may be incorrect.">
            <a:extLst>
              <a:ext uri="{FF2B5EF4-FFF2-40B4-BE49-F238E27FC236}">
                <a16:creationId xmlns:a16="http://schemas.microsoft.com/office/drawing/2014/main" id="{5D390C4B-2AA7-764B-BAE5-1809AF83D518}"/>
              </a:ext>
            </a:extLst>
          </p:cNvPr>
          <p:cNvPicPr>
            <a:picLocks noChangeAspect="1"/>
          </p:cNvPicPr>
          <p:nvPr/>
        </p:nvPicPr>
        <p:blipFill>
          <a:blip r:embed="rId5"/>
          <a:stretch>
            <a:fillRect/>
          </a:stretch>
        </p:blipFill>
        <p:spPr>
          <a:xfrm>
            <a:off x="5244191" y="1709475"/>
            <a:ext cx="6366615" cy="4644108"/>
          </a:xfrm>
          <a:prstGeom prst="rect">
            <a:avLst/>
          </a:prstGeom>
        </p:spPr>
      </p:pic>
    </p:spTree>
    <p:extLst>
      <p:ext uri="{BB962C8B-B14F-4D97-AF65-F5344CB8AC3E}">
        <p14:creationId xmlns:p14="http://schemas.microsoft.com/office/powerpoint/2010/main" val="253773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03DAB-8AF8-63C1-DDBB-70ED5D943E0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7B4B4C-81E2-A838-78A0-80F8460FBA04}"/>
              </a:ext>
            </a:extLst>
          </p:cNvPr>
          <p:cNvSpPr>
            <a:spLocks noGrp="1"/>
          </p:cNvSpPr>
          <p:nvPr>
            <p:ph idx="1"/>
          </p:nvPr>
        </p:nvSpPr>
        <p:spPr>
          <a:xfrm>
            <a:off x="581193" y="2180496"/>
            <a:ext cx="6603378" cy="3975348"/>
          </a:xfrm>
        </p:spPr>
        <p:txBody>
          <a:bodyPr anchor="t">
            <a:normAutofit lnSpcReduction="10000"/>
          </a:bodyPr>
          <a:lstStyle/>
          <a:p>
            <a:pPr marL="0" indent="0">
              <a:buNone/>
            </a:pPr>
            <a:r>
              <a:rPr lang="en-US" sz="2000" dirty="0"/>
              <a:t>Hypothetical outcome plots (HOPs)</a:t>
            </a:r>
          </a:p>
          <a:p>
            <a:r>
              <a:rPr lang="en-US" sz="2000" dirty="0"/>
              <a:t>Use random draws from a distribution and animates the draws over time</a:t>
            </a:r>
          </a:p>
          <a:p>
            <a:r>
              <a:rPr lang="en-US" sz="2000" dirty="0"/>
              <a:t>Force viewers to:</a:t>
            </a:r>
          </a:p>
          <a:p>
            <a:pPr lvl="1"/>
            <a:r>
              <a:rPr lang="en-US" sz="2000" dirty="0"/>
              <a:t>account for uncertainty in their understanding of the data </a:t>
            </a:r>
          </a:p>
          <a:p>
            <a:pPr lvl="1"/>
            <a:r>
              <a:rPr lang="en-US" sz="2000" dirty="0"/>
              <a:t>recognize that less probable outcomes do fall within the distribution</a:t>
            </a:r>
          </a:p>
          <a:p>
            <a:r>
              <a:rPr lang="en-US" sz="2000" dirty="0"/>
              <a:t>Can be applied to most distribution data and visual encoding techniques relatively easily (as long as animation is not already used)</a:t>
            </a:r>
          </a:p>
        </p:txBody>
      </p:sp>
      <p:sp>
        <p:nvSpPr>
          <p:cNvPr id="4" name="TextBox 3">
            <a:extLst>
              <a:ext uri="{FF2B5EF4-FFF2-40B4-BE49-F238E27FC236}">
                <a16:creationId xmlns:a16="http://schemas.microsoft.com/office/drawing/2014/main" id="{EB6E58BC-E0FE-2071-3042-5529956C644D}"/>
              </a:ext>
            </a:extLst>
          </p:cNvPr>
          <p:cNvSpPr txBox="1"/>
          <p:nvPr/>
        </p:nvSpPr>
        <p:spPr>
          <a:xfrm>
            <a:off x="1705232" y="6323339"/>
            <a:ext cx="10486768" cy="523220"/>
          </a:xfrm>
          <a:prstGeom prst="rect">
            <a:avLst/>
          </a:prstGeom>
          <a:noFill/>
        </p:spPr>
        <p:txBody>
          <a:bodyPr wrap="square" rtlCol="0">
            <a:spAutoFit/>
          </a:bodyPr>
          <a:lstStyle/>
          <a:p>
            <a:r>
              <a:rPr lang="en-US" sz="1400" dirty="0"/>
              <a:t>Padilla, L., Kay, M. and Hullman, J. (2026). Uncertainty Visualization. In Wiley </a:t>
            </a:r>
            <a:r>
              <a:rPr lang="en-US" sz="1400" dirty="0" err="1"/>
              <a:t>StatsRef</a:t>
            </a:r>
            <a:r>
              <a:rPr lang="en-US" sz="1400" dirty="0"/>
              <a:t>: Statistics Reference Online (eds N. Balakrishnan, T. Colton, B. Everitt, W. </a:t>
            </a:r>
            <a:r>
              <a:rPr lang="en-US" sz="1400" dirty="0" err="1"/>
              <a:t>Piegorsch</a:t>
            </a:r>
            <a:r>
              <a:rPr lang="en-US" sz="1400" dirty="0"/>
              <a:t>, F. Ruggeri and J.L. </a:t>
            </a:r>
            <a:r>
              <a:rPr lang="en-US" sz="1400" dirty="0" err="1"/>
              <a:t>Teugels</a:t>
            </a:r>
            <a:r>
              <a:rPr lang="en-US" sz="1400" dirty="0"/>
              <a:t>). </a:t>
            </a:r>
            <a:r>
              <a:rPr lang="en-US" sz="1400" dirty="0">
                <a:hlinkClick r:id="rId2"/>
              </a:rPr>
              <a:t>https://doi.org/10.1002/9781118445112.stat08296</a:t>
            </a:r>
            <a:endParaRPr lang="en-US" sz="1400" dirty="0"/>
          </a:p>
        </p:txBody>
      </p:sp>
      <p:sp>
        <p:nvSpPr>
          <p:cNvPr id="5" name="Title 1">
            <a:extLst>
              <a:ext uri="{FF2B5EF4-FFF2-40B4-BE49-F238E27FC236}">
                <a16:creationId xmlns:a16="http://schemas.microsoft.com/office/drawing/2014/main" id="{3C3CC8B9-5223-89B4-0156-228C60FD16CC}"/>
              </a:ext>
            </a:extLst>
          </p:cNvPr>
          <p:cNvSpPr>
            <a:spLocks noGrp="1"/>
          </p:cNvSpPr>
          <p:nvPr>
            <p:ph type="title"/>
          </p:nvPr>
        </p:nvSpPr>
        <p:spPr/>
        <p:txBody>
          <a:bodyPr/>
          <a:lstStyle/>
          <a:p>
            <a:r>
              <a:rPr lang="en-US" dirty="0"/>
              <a:t>Visualizing uncertainty</a:t>
            </a:r>
          </a:p>
        </p:txBody>
      </p:sp>
      <p:pic>
        <p:nvPicPr>
          <p:cNvPr id="1026" name="Picture 2">
            <a:extLst>
              <a:ext uri="{FF2B5EF4-FFF2-40B4-BE49-F238E27FC236}">
                <a16:creationId xmlns:a16="http://schemas.microsoft.com/office/drawing/2014/main" id="{0A2BBF4F-D4D0-174E-C8E3-22932E764F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4571" y="1861549"/>
            <a:ext cx="3810000" cy="39243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1251246-E496-10B4-6B92-8C10EF2E53AA}"/>
              </a:ext>
            </a:extLst>
          </p:cNvPr>
          <p:cNvSpPr txBox="1"/>
          <p:nvPr/>
        </p:nvSpPr>
        <p:spPr>
          <a:xfrm>
            <a:off x="7184571" y="5767942"/>
            <a:ext cx="4735286" cy="523220"/>
          </a:xfrm>
          <a:prstGeom prst="rect">
            <a:avLst/>
          </a:prstGeom>
          <a:noFill/>
        </p:spPr>
        <p:txBody>
          <a:bodyPr wrap="square">
            <a:spAutoFit/>
          </a:bodyPr>
          <a:lstStyle/>
          <a:p>
            <a:r>
              <a:rPr lang="en-US" sz="1400" dirty="0"/>
              <a:t>https://</a:t>
            </a:r>
            <a:r>
              <a:rPr lang="en-US" sz="1400" dirty="0" err="1"/>
              <a:t>medium.com</a:t>
            </a:r>
            <a:r>
              <a:rPr lang="en-US" sz="1400" dirty="0"/>
              <a:t>/</a:t>
            </a:r>
            <a:r>
              <a:rPr lang="en-US" sz="1400" dirty="0" err="1"/>
              <a:t>hci</a:t>
            </a:r>
            <a:r>
              <a:rPr lang="en-US" sz="1400" dirty="0"/>
              <a:t>-design-at-</a:t>
            </a:r>
            <a:r>
              <a:rPr lang="en-US" sz="1400" dirty="0" err="1"/>
              <a:t>uw</a:t>
            </a:r>
            <a:r>
              <a:rPr lang="en-US" sz="1400" dirty="0"/>
              <a:t>/hypothetical-outcomes-plots-experiencing-the-uncertain-b9ea60d7c740</a:t>
            </a:r>
          </a:p>
        </p:txBody>
      </p:sp>
    </p:spTree>
    <p:extLst>
      <p:ext uri="{BB962C8B-B14F-4D97-AF65-F5344CB8AC3E}">
        <p14:creationId xmlns:p14="http://schemas.microsoft.com/office/powerpoint/2010/main" val="25035664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47347-FE6B-A7AE-AAC8-ACECD6BF2E1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F5D8DB-90E4-DAAB-4232-EBB4092A198A}"/>
              </a:ext>
            </a:extLst>
          </p:cNvPr>
          <p:cNvSpPr>
            <a:spLocks noGrp="1"/>
          </p:cNvSpPr>
          <p:nvPr>
            <p:ph idx="1"/>
          </p:nvPr>
        </p:nvSpPr>
        <p:spPr>
          <a:xfrm>
            <a:off x="581193" y="2180496"/>
            <a:ext cx="5389621" cy="3678303"/>
          </a:xfrm>
        </p:spPr>
        <p:txBody>
          <a:bodyPr anchor="t">
            <a:normAutofit fontScale="92500" lnSpcReduction="10000"/>
          </a:bodyPr>
          <a:lstStyle/>
          <a:p>
            <a:pPr marL="0" indent="0">
              <a:buNone/>
            </a:pPr>
            <a:r>
              <a:rPr lang="en-US" sz="2400" dirty="0"/>
              <a:t>Ensemble display</a:t>
            </a:r>
          </a:p>
          <a:p>
            <a:r>
              <a:rPr lang="en-US" sz="2400" dirty="0"/>
              <a:t>Typically used to illustrate potential storm paths</a:t>
            </a:r>
          </a:p>
          <a:p>
            <a:r>
              <a:rPr lang="en-US" sz="2400" dirty="0"/>
              <a:t>Traditionally generated by making perturbations to a model’s parameters and plotting the resulting runs on a static display</a:t>
            </a:r>
          </a:p>
          <a:p>
            <a:r>
              <a:rPr lang="en-US" sz="2400" dirty="0"/>
              <a:t>Studies show people overreact when one model appears to be hitting a point of interest vs. near a point of interest</a:t>
            </a:r>
          </a:p>
        </p:txBody>
      </p:sp>
      <p:sp>
        <p:nvSpPr>
          <p:cNvPr id="4" name="TextBox 3">
            <a:extLst>
              <a:ext uri="{FF2B5EF4-FFF2-40B4-BE49-F238E27FC236}">
                <a16:creationId xmlns:a16="http://schemas.microsoft.com/office/drawing/2014/main" id="{BF3FC9F5-C253-C9D6-E833-BE8A2517477C}"/>
              </a:ext>
            </a:extLst>
          </p:cNvPr>
          <p:cNvSpPr txBox="1"/>
          <p:nvPr/>
        </p:nvSpPr>
        <p:spPr>
          <a:xfrm>
            <a:off x="1705232" y="6323339"/>
            <a:ext cx="10486768" cy="523220"/>
          </a:xfrm>
          <a:prstGeom prst="rect">
            <a:avLst/>
          </a:prstGeom>
          <a:noFill/>
        </p:spPr>
        <p:txBody>
          <a:bodyPr wrap="square" rtlCol="0">
            <a:spAutoFit/>
          </a:bodyPr>
          <a:lstStyle/>
          <a:p>
            <a:r>
              <a:rPr lang="en-US" sz="1400" dirty="0"/>
              <a:t>Padilla, L., Kay, M. and Hullman, J. (2026). Uncertainty Visualization. In Wiley </a:t>
            </a:r>
            <a:r>
              <a:rPr lang="en-US" sz="1400" dirty="0" err="1"/>
              <a:t>StatsRef</a:t>
            </a:r>
            <a:r>
              <a:rPr lang="en-US" sz="1400" dirty="0"/>
              <a:t>: Statistics Reference Online (eds N. Balakrishnan, T. Colton, B. Everitt, W. </a:t>
            </a:r>
            <a:r>
              <a:rPr lang="en-US" sz="1400" dirty="0" err="1"/>
              <a:t>Piegorsch</a:t>
            </a:r>
            <a:r>
              <a:rPr lang="en-US" sz="1400" dirty="0"/>
              <a:t>, F. Ruggeri and J.L. </a:t>
            </a:r>
            <a:r>
              <a:rPr lang="en-US" sz="1400" dirty="0" err="1"/>
              <a:t>Teugels</a:t>
            </a:r>
            <a:r>
              <a:rPr lang="en-US" sz="1400" dirty="0"/>
              <a:t>). </a:t>
            </a:r>
            <a:r>
              <a:rPr lang="en-US" sz="1400" dirty="0">
                <a:hlinkClick r:id="rId2"/>
              </a:rPr>
              <a:t>https://doi.org/10.1002/9781118445112.stat08296</a:t>
            </a:r>
            <a:endParaRPr lang="en-US" sz="1400" dirty="0"/>
          </a:p>
        </p:txBody>
      </p:sp>
      <p:sp>
        <p:nvSpPr>
          <p:cNvPr id="5" name="Title 1">
            <a:extLst>
              <a:ext uri="{FF2B5EF4-FFF2-40B4-BE49-F238E27FC236}">
                <a16:creationId xmlns:a16="http://schemas.microsoft.com/office/drawing/2014/main" id="{90A42B16-D56B-F54B-7E56-1222C9F56A78}"/>
              </a:ext>
            </a:extLst>
          </p:cNvPr>
          <p:cNvSpPr>
            <a:spLocks noGrp="1"/>
          </p:cNvSpPr>
          <p:nvPr>
            <p:ph type="title"/>
          </p:nvPr>
        </p:nvSpPr>
        <p:spPr/>
        <p:txBody>
          <a:bodyPr/>
          <a:lstStyle/>
          <a:p>
            <a:r>
              <a:rPr lang="en-US" dirty="0"/>
              <a:t>Visualizing uncertainty</a:t>
            </a:r>
          </a:p>
        </p:txBody>
      </p:sp>
      <p:pic>
        <p:nvPicPr>
          <p:cNvPr id="6" name="Picture 5">
            <a:extLst>
              <a:ext uri="{FF2B5EF4-FFF2-40B4-BE49-F238E27FC236}">
                <a16:creationId xmlns:a16="http://schemas.microsoft.com/office/drawing/2014/main" id="{CECB3C66-CE8B-062B-E79A-BB6BD254902A}"/>
              </a:ext>
            </a:extLst>
          </p:cNvPr>
          <p:cNvPicPr>
            <a:picLocks noChangeAspect="1"/>
          </p:cNvPicPr>
          <p:nvPr/>
        </p:nvPicPr>
        <p:blipFill>
          <a:blip r:embed="rId3"/>
          <a:srcRect r="51821"/>
          <a:stretch>
            <a:fillRect/>
          </a:stretch>
        </p:blipFill>
        <p:spPr>
          <a:xfrm>
            <a:off x="8333014" y="2480267"/>
            <a:ext cx="3744686" cy="3675577"/>
          </a:xfrm>
          <a:prstGeom prst="rect">
            <a:avLst/>
          </a:prstGeom>
        </p:spPr>
      </p:pic>
      <p:pic>
        <p:nvPicPr>
          <p:cNvPr id="7" name="Picture 6">
            <a:extLst>
              <a:ext uri="{FF2B5EF4-FFF2-40B4-BE49-F238E27FC236}">
                <a16:creationId xmlns:a16="http://schemas.microsoft.com/office/drawing/2014/main" id="{61E09881-66D7-358D-52D9-C38BAE53B03F}"/>
              </a:ext>
            </a:extLst>
          </p:cNvPr>
          <p:cNvPicPr>
            <a:picLocks noChangeAspect="1"/>
          </p:cNvPicPr>
          <p:nvPr/>
        </p:nvPicPr>
        <p:blipFill>
          <a:blip r:embed="rId3"/>
          <a:srcRect l="49860"/>
          <a:stretch>
            <a:fillRect/>
          </a:stretch>
        </p:blipFill>
        <p:spPr>
          <a:xfrm>
            <a:off x="5970814" y="110438"/>
            <a:ext cx="3897086" cy="3675577"/>
          </a:xfrm>
          <a:prstGeom prst="rect">
            <a:avLst/>
          </a:prstGeom>
        </p:spPr>
      </p:pic>
    </p:spTree>
    <p:extLst>
      <p:ext uri="{BB962C8B-B14F-4D97-AF65-F5344CB8AC3E}">
        <p14:creationId xmlns:p14="http://schemas.microsoft.com/office/powerpoint/2010/main" val="13650655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E5D55-488D-9BDF-DAB0-C0FD7ECE359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F23546-05E0-F9D1-CEB7-E345602A391F}"/>
              </a:ext>
            </a:extLst>
          </p:cNvPr>
          <p:cNvSpPr>
            <a:spLocks noGrp="1"/>
          </p:cNvSpPr>
          <p:nvPr>
            <p:ph idx="1"/>
          </p:nvPr>
        </p:nvSpPr>
        <p:spPr>
          <a:xfrm>
            <a:off x="581193" y="2180496"/>
            <a:ext cx="6374778" cy="3975348"/>
          </a:xfrm>
        </p:spPr>
        <p:txBody>
          <a:bodyPr anchor="t">
            <a:normAutofit fontScale="92500" lnSpcReduction="20000"/>
          </a:bodyPr>
          <a:lstStyle/>
          <a:p>
            <a:pPr marL="0" indent="0">
              <a:buNone/>
            </a:pPr>
            <a:r>
              <a:rPr lang="en-US" sz="2400" dirty="0"/>
              <a:t>Error bars, Box plot</a:t>
            </a:r>
          </a:p>
          <a:p>
            <a:r>
              <a:rPr lang="en-US" sz="2400" dirty="0"/>
              <a:t>Visual boundaries force people to think differently about the data than a continuous encoding, (visual boundaries=cognitive categories) which can be good or bad, depending on the nature of their decision</a:t>
            </a:r>
          </a:p>
          <a:p>
            <a:pPr marL="0" indent="0">
              <a:buNone/>
            </a:pPr>
            <a:r>
              <a:rPr lang="en-US" sz="2400" dirty="0"/>
              <a:t>Violin plot, Gradient plot </a:t>
            </a:r>
          </a:p>
          <a:p>
            <a:r>
              <a:rPr lang="en-US" sz="2400" dirty="0"/>
              <a:t>Violin plots (mapping probability to area or width at a given y position) and gradient plots (mapping probability to opacity) lead to more intuitive assessments of value likelihood and “ability to surprise”</a:t>
            </a:r>
          </a:p>
        </p:txBody>
      </p:sp>
      <p:sp>
        <p:nvSpPr>
          <p:cNvPr id="4" name="TextBox 3">
            <a:extLst>
              <a:ext uri="{FF2B5EF4-FFF2-40B4-BE49-F238E27FC236}">
                <a16:creationId xmlns:a16="http://schemas.microsoft.com/office/drawing/2014/main" id="{2CFF1DD8-5160-67DB-AD39-818536E22D87}"/>
              </a:ext>
            </a:extLst>
          </p:cNvPr>
          <p:cNvSpPr txBox="1"/>
          <p:nvPr/>
        </p:nvSpPr>
        <p:spPr>
          <a:xfrm>
            <a:off x="1705232" y="6323339"/>
            <a:ext cx="10486768" cy="523220"/>
          </a:xfrm>
          <a:prstGeom prst="rect">
            <a:avLst/>
          </a:prstGeom>
          <a:noFill/>
        </p:spPr>
        <p:txBody>
          <a:bodyPr wrap="square" rtlCol="0">
            <a:spAutoFit/>
          </a:bodyPr>
          <a:lstStyle/>
          <a:p>
            <a:r>
              <a:rPr lang="en-US" sz="1400" dirty="0"/>
              <a:t>Padilla, L., Kay, M. and Hullman, J. (2026). Uncertainty Visualization. In Wiley </a:t>
            </a:r>
            <a:r>
              <a:rPr lang="en-US" sz="1400" dirty="0" err="1"/>
              <a:t>StatsRef</a:t>
            </a:r>
            <a:r>
              <a:rPr lang="en-US" sz="1400" dirty="0"/>
              <a:t>: Statistics Reference Online (eds N. Balakrishnan, T. Colton, B. Everitt, W. </a:t>
            </a:r>
            <a:r>
              <a:rPr lang="en-US" sz="1400" dirty="0" err="1"/>
              <a:t>Piegorsch</a:t>
            </a:r>
            <a:r>
              <a:rPr lang="en-US" sz="1400" dirty="0"/>
              <a:t>, F. Ruggeri and J.L. </a:t>
            </a:r>
            <a:r>
              <a:rPr lang="en-US" sz="1400" dirty="0" err="1"/>
              <a:t>Teugels</a:t>
            </a:r>
            <a:r>
              <a:rPr lang="en-US" sz="1400" dirty="0"/>
              <a:t>). </a:t>
            </a:r>
            <a:r>
              <a:rPr lang="en-US" sz="1400" dirty="0">
                <a:hlinkClick r:id="rId2"/>
              </a:rPr>
              <a:t>https://doi.org/10.1002/9781118445112.stat08296</a:t>
            </a:r>
            <a:endParaRPr lang="en-US" sz="1400" dirty="0"/>
          </a:p>
        </p:txBody>
      </p:sp>
      <p:sp>
        <p:nvSpPr>
          <p:cNvPr id="5" name="Title 1">
            <a:extLst>
              <a:ext uri="{FF2B5EF4-FFF2-40B4-BE49-F238E27FC236}">
                <a16:creationId xmlns:a16="http://schemas.microsoft.com/office/drawing/2014/main" id="{EA77AB9E-50F9-7069-6F55-A76BBF716D84}"/>
              </a:ext>
            </a:extLst>
          </p:cNvPr>
          <p:cNvSpPr>
            <a:spLocks noGrp="1"/>
          </p:cNvSpPr>
          <p:nvPr>
            <p:ph type="title"/>
          </p:nvPr>
        </p:nvSpPr>
        <p:spPr/>
        <p:txBody>
          <a:bodyPr/>
          <a:lstStyle/>
          <a:p>
            <a:r>
              <a:rPr lang="en-US" dirty="0"/>
              <a:t>Visualizing uncertainty</a:t>
            </a:r>
          </a:p>
        </p:txBody>
      </p:sp>
      <p:pic>
        <p:nvPicPr>
          <p:cNvPr id="6" name="Picture 5" descr="A white background with black dots&#10;&#10;AI-generated content may be incorrect.">
            <a:extLst>
              <a:ext uri="{FF2B5EF4-FFF2-40B4-BE49-F238E27FC236}">
                <a16:creationId xmlns:a16="http://schemas.microsoft.com/office/drawing/2014/main" id="{B2DB722C-61EE-FE7B-6141-49F9D5DF7527}"/>
              </a:ext>
            </a:extLst>
          </p:cNvPr>
          <p:cNvPicPr>
            <a:picLocks noChangeAspect="1"/>
          </p:cNvPicPr>
          <p:nvPr/>
        </p:nvPicPr>
        <p:blipFill>
          <a:blip r:embed="rId3"/>
          <a:stretch>
            <a:fillRect/>
          </a:stretch>
        </p:blipFill>
        <p:spPr>
          <a:xfrm>
            <a:off x="7200900" y="2685062"/>
            <a:ext cx="4672291" cy="1013799"/>
          </a:xfrm>
          <a:prstGeom prst="rect">
            <a:avLst/>
          </a:prstGeom>
        </p:spPr>
      </p:pic>
      <p:pic>
        <p:nvPicPr>
          <p:cNvPr id="8" name="Picture 7" descr="A close-up of a white background&#10;&#10;AI-generated content may be incorrect.">
            <a:extLst>
              <a:ext uri="{FF2B5EF4-FFF2-40B4-BE49-F238E27FC236}">
                <a16:creationId xmlns:a16="http://schemas.microsoft.com/office/drawing/2014/main" id="{9D781CEB-F452-4BA4-0E28-B49B7B19D3B9}"/>
              </a:ext>
            </a:extLst>
          </p:cNvPr>
          <p:cNvPicPr>
            <a:picLocks noChangeAspect="1"/>
          </p:cNvPicPr>
          <p:nvPr/>
        </p:nvPicPr>
        <p:blipFill>
          <a:blip r:embed="rId4"/>
          <a:stretch>
            <a:fillRect/>
          </a:stretch>
        </p:blipFill>
        <p:spPr>
          <a:xfrm>
            <a:off x="7136091" y="4509450"/>
            <a:ext cx="4737100" cy="1003300"/>
          </a:xfrm>
          <a:prstGeom prst="rect">
            <a:avLst/>
          </a:prstGeom>
        </p:spPr>
      </p:pic>
    </p:spTree>
    <p:extLst>
      <p:ext uri="{BB962C8B-B14F-4D97-AF65-F5344CB8AC3E}">
        <p14:creationId xmlns:p14="http://schemas.microsoft.com/office/powerpoint/2010/main" val="3088611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A699D-4D31-A2FC-258D-3BA655D2696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37E9C7-3CE3-AC02-B2AD-6D94DFFDC4AA}"/>
              </a:ext>
            </a:extLst>
          </p:cNvPr>
          <p:cNvSpPr>
            <a:spLocks noGrp="1"/>
          </p:cNvSpPr>
          <p:nvPr>
            <p:ph idx="1"/>
          </p:nvPr>
        </p:nvSpPr>
        <p:spPr>
          <a:xfrm>
            <a:off x="581193" y="2180496"/>
            <a:ext cx="5933907" cy="3975348"/>
          </a:xfrm>
        </p:spPr>
        <p:txBody>
          <a:bodyPr anchor="t">
            <a:normAutofit lnSpcReduction="10000"/>
          </a:bodyPr>
          <a:lstStyle/>
          <a:p>
            <a:pPr marL="0" indent="0">
              <a:buNone/>
            </a:pPr>
            <a:r>
              <a:rPr lang="en-US" sz="2200" dirty="0"/>
              <a:t>Fuzziness, transparency, location, etc.</a:t>
            </a:r>
          </a:p>
          <a:p>
            <a:r>
              <a:rPr lang="en-US" sz="2200" dirty="0"/>
              <a:t>Encoding techniques that utilize visual metaphors for uncertainty, such as graying out using color saturation, out of focus using blur, fogginess using transparency, adding noise using texture, or sketchiness, are more intuitive ways to communicate uncertainty  </a:t>
            </a:r>
          </a:p>
          <a:p>
            <a:r>
              <a:rPr lang="en-US" sz="2200" dirty="0"/>
              <a:t>Some of the visualizations map probability to visual properties and are designed to inhibit the viewer from resolving the value of a datum when the uncertainty is too high</a:t>
            </a:r>
          </a:p>
        </p:txBody>
      </p:sp>
      <p:sp>
        <p:nvSpPr>
          <p:cNvPr id="4" name="TextBox 3">
            <a:extLst>
              <a:ext uri="{FF2B5EF4-FFF2-40B4-BE49-F238E27FC236}">
                <a16:creationId xmlns:a16="http://schemas.microsoft.com/office/drawing/2014/main" id="{93A45A34-B81B-B054-486D-E9D4F5658CD9}"/>
              </a:ext>
            </a:extLst>
          </p:cNvPr>
          <p:cNvSpPr txBox="1"/>
          <p:nvPr/>
        </p:nvSpPr>
        <p:spPr>
          <a:xfrm>
            <a:off x="1705232" y="6323339"/>
            <a:ext cx="10486768" cy="523220"/>
          </a:xfrm>
          <a:prstGeom prst="rect">
            <a:avLst/>
          </a:prstGeom>
          <a:noFill/>
        </p:spPr>
        <p:txBody>
          <a:bodyPr wrap="square" rtlCol="0">
            <a:spAutoFit/>
          </a:bodyPr>
          <a:lstStyle/>
          <a:p>
            <a:r>
              <a:rPr lang="en-US" sz="1400" dirty="0"/>
              <a:t>Padilla, L., Kay, M. and Hullman, J. (2026). Uncertainty Visualization. In Wiley </a:t>
            </a:r>
            <a:r>
              <a:rPr lang="en-US" sz="1400" dirty="0" err="1"/>
              <a:t>StatsRef</a:t>
            </a:r>
            <a:r>
              <a:rPr lang="en-US" sz="1400" dirty="0"/>
              <a:t>: Statistics Reference Online (eds N. Balakrishnan, T. Colton, B. Everitt, W. </a:t>
            </a:r>
            <a:r>
              <a:rPr lang="en-US" sz="1400" dirty="0" err="1"/>
              <a:t>Piegorsch</a:t>
            </a:r>
            <a:r>
              <a:rPr lang="en-US" sz="1400" dirty="0"/>
              <a:t>, F. Ruggeri and J.L. </a:t>
            </a:r>
            <a:r>
              <a:rPr lang="en-US" sz="1400" dirty="0" err="1"/>
              <a:t>Teugels</a:t>
            </a:r>
            <a:r>
              <a:rPr lang="en-US" sz="1400" dirty="0"/>
              <a:t>). </a:t>
            </a:r>
            <a:r>
              <a:rPr lang="en-US" sz="1400" dirty="0">
                <a:hlinkClick r:id="rId2"/>
              </a:rPr>
              <a:t>https://doi.org/10.1002/9781118445112.stat08296</a:t>
            </a:r>
            <a:endParaRPr lang="en-US" sz="1400" dirty="0"/>
          </a:p>
        </p:txBody>
      </p:sp>
      <p:sp>
        <p:nvSpPr>
          <p:cNvPr id="5" name="Title 1">
            <a:extLst>
              <a:ext uri="{FF2B5EF4-FFF2-40B4-BE49-F238E27FC236}">
                <a16:creationId xmlns:a16="http://schemas.microsoft.com/office/drawing/2014/main" id="{127936EE-C565-2FF4-D9E1-4F66837A256B}"/>
              </a:ext>
            </a:extLst>
          </p:cNvPr>
          <p:cNvSpPr>
            <a:spLocks noGrp="1"/>
          </p:cNvSpPr>
          <p:nvPr>
            <p:ph type="title"/>
          </p:nvPr>
        </p:nvSpPr>
        <p:spPr/>
        <p:txBody>
          <a:bodyPr/>
          <a:lstStyle/>
          <a:p>
            <a:r>
              <a:rPr lang="en-US" dirty="0"/>
              <a:t>Visualizing uncertainty</a:t>
            </a:r>
          </a:p>
        </p:txBody>
      </p:sp>
      <p:pic>
        <p:nvPicPr>
          <p:cNvPr id="6" name="Picture 5" descr="A diagram of different types of circles&#10;&#10;AI-generated content may be incorrect.">
            <a:extLst>
              <a:ext uri="{FF2B5EF4-FFF2-40B4-BE49-F238E27FC236}">
                <a16:creationId xmlns:a16="http://schemas.microsoft.com/office/drawing/2014/main" id="{E4A3B37C-D00E-24D0-5D55-D1483EBDBE6B}"/>
              </a:ext>
            </a:extLst>
          </p:cNvPr>
          <p:cNvPicPr>
            <a:picLocks noChangeAspect="1"/>
          </p:cNvPicPr>
          <p:nvPr/>
        </p:nvPicPr>
        <p:blipFill>
          <a:blip r:embed="rId3"/>
          <a:srcRect r="39706"/>
          <a:stretch>
            <a:fillRect/>
          </a:stretch>
        </p:blipFill>
        <p:spPr>
          <a:xfrm>
            <a:off x="6515100" y="651141"/>
            <a:ext cx="4142636" cy="2768600"/>
          </a:xfrm>
          <a:prstGeom prst="rect">
            <a:avLst/>
          </a:prstGeom>
        </p:spPr>
      </p:pic>
      <p:pic>
        <p:nvPicPr>
          <p:cNvPr id="7" name="Picture 6" descr="A diagram of different types of circles&#10;&#10;AI-generated content may be incorrect.">
            <a:extLst>
              <a:ext uri="{FF2B5EF4-FFF2-40B4-BE49-F238E27FC236}">
                <a16:creationId xmlns:a16="http://schemas.microsoft.com/office/drawing/2014/main" id="{DDC1732A-DAD3-A9CF-494D-BBD54DFE41DE}"/>
              </a:ext>
            </a:extLst>
          </p:cNvPr>
          <p:cNvPicPr>
            <a:picLocks noChangeAspect="1"/>
          </p:cNvPicPr>
          <p:nvPr/>
        </p:nvPicPr>
        <p:blipFill>
          <a:blip r:embed="rId3"/>
          <a:srcRect l="62205"/>
          <a:stretch>
            <a:fillRect/>
          </a:stretch>
        </p:blipFill>
        <p:spPr>
          <a:xfrm>
            <a:off x="9359353" y="3264628"/>
            <a:ext cx="2596766" cy="2768600"/>
          </a:xfrm>
          <a:prstGeom prst="rect">
            <a:avLst/>
          </a:prstGeom>
        </p:spPr>
      </p:pic>
    </p:spTree>
    <p:extLst>
      <p:ext uri="{BB962C8B-B14F-4D97-AF65-F5344CB8AC3E}">
        <p14:creationId xmlns:p14="http://schemas.microsoft.com/office/powerpoint/2010/main" val="13201798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5B246-3488-AECA-6B3C-BD7835F461B3}"/>
            </a:ext>
          </a:extLst>
        </p:cNvPr>
        <p:cNvGrpSpPr/>
        <p:nvPr/>
      </p:nvGrpSpPr>
      <p:grpSpPr>
        <a:xfrm>
          <a:off x="0" y="0"/>
          <a:ext cx="0" cy="0"/>
          <a:chOff x="0" y="0"/>
          <a:chExt cx="0" cy="0"/>
        </a:xfrm>
      </p:grpSpPr>
      <p:pic>
        <p:nvPicPr>
          <p:cNvPr id="8" name="Picture 7" descr="A map of the united states&#10;&#10;AI-generated content may be incorrect.">
            <a:extLst>
              <a:ext uri="{FF2B5EF4-FFF2-40B4-BE49-F238E27FC236}">
                <a16:creationId xmlns:a16="http://schemas.microsoft.com/office/drawing/2014/main" id="{87D0B1A2-14A3-5D79-698F-0E0286461AE4}"/>
              </a:ext>
            </a:extLst>
          </p:cNvPr>
          <p:cNvPicPr>
            <a:picLocks noChangeAspect="1"/>
          </p:cNvPicPr>
          <p:nvPr/>
        </p:nvPicPr>
        <p:blipFill>
          <a:blip r:embed="rId2"/>
          <a:stretch>
            <a:fillRect/>
          </a:stretch>
        </p:blipFill>
        <p:spPr>
          <a:xfrm>
            <a:off x="4648200" y="1723544"/>
            <a:ext cx="7239000" cy="4432300"/>
          </a:xfrm>
          <a:prstGeom prst="rect">
            <a:avLst/>
          </a:prstGeom>
        </p:spPr>
      </p:pic>
      <p:sp>
        <p:nvSpPr>
          <p:cNvPr id="3" name="Content Placeholder 2">
            <a:extLst>
              <a:ext uri="{FF2B5EF4-FFF2-40B4-BE49-F238E27FC236}">
                <a16:creationId xmlns:a16="http://schemas.microsoft.com/office/drawing/2014/main" id="{9210E991-EFE2-131D-98AA-A346159CBCE7}"/>
              </a:ext>
            </a:extLst>
          </p:cNvPr>
          <p:cNvSpPr>
            <a:spLocks noGrp="1"/>
          </p:cNvSpPr>
          <p:nvPr>
            <p:ph idx="1"/>
          </p:nvPr>
        </p:nvSpPr>
        <p:spPr>
          <a:xfrm>
            <a:off x="581193" y="2180496"/>
            <a:ext cx="4067008" cy="3975348"/>
          </a:xfrm>
        </p:spPr>
        <p:txBody>
          <a:bodyPr anchor="t">
            <a:normAutofit/>
          </a:bodyPr>
          <a:lstStyle/>
          <a:p>
            <a:pPr marL="0" indent="0">
              <a:buNone/>
            </a:pPr>
            <a:r>
              <a:rPr lang="en-US" sz="2200" dirty="0"/>
              <a:t>Value-suppressing color pallets</a:t>
            </a:r>
          </a:p>
          <a:p>
            <a:r>
              <a:rPr lang="en-US" sz="2200" dirty="0"/>
              <a:t>Attempt to make perception difficult in proportion to uncertainty</a:t>
            </a:r>
          </a:p>
          <a:p>
            <a:r>
              <a:rPr lang="en-US" sz="2200" dirty="0"/>
              <a:t>Blends hues denoting value with gray proportional to how uncertain they are. As a result, the most uncertain values all appear as the same shade of gray </a:t>
            </a:r>
          </a:p>
        </p:txBody>
      </p:sp>
      <p:sp>
        <p:nvSpPr>
          <p:cNvPr id="4" name="TextBox 3">
            <a:extLst>
              <a:ext uri="{FF2B5EF4-FFF2-40B4-BE49-F238E27FC236}">
                <a16:creationId xmlns:a16="http://schemas.microsoft.com/office/drawing/2014/main" id="{8B7A778A-2780-9D40-27A8-180993CCD15E}"/>
              </a:ext>
            </a:extLst>
          </p:cNvPr>
          <p:cNvSpPr txBox="1"/>
          <p:nvPr/>
        </p:nvSpPr>
        <p:spPr>
          <a:xfrm>
            <a:off x="1705232" y="6323339"/>
            <a:ext cx="10486768" cy="523220"/>
          </a:xfrm>
          <a:prstGeom prst="rect">
            <a:avLst/>
          </a:prstGeom>
          <a:noFill/>
        </p:spPr>
        <p:txBody>
          <a:bodyPr wrap="square" rtlCol="0">
            <a:spAutoFit/>
          </a:bodyPr>
          <a:lstStyle/>
          <a:p>
            <a:r>
              <a:rPr lang="en-US" sz="1400" dirty="0"/>
              <a:t>Padilla, L., Kay, M. and Hullman, J. (2026). Uncertainty Visualization. In Wiley </a:t>
            </a:r>
            <a:r>
              <a:rPr lang="en-US" sz="1400" dirty="0" err="1"/>
              <a:t>StatsRef</a:t>
            </a:r>
            <a:r>
              <a:rPr lang="en-US" sz="1400" dirty="0"/>
              <a:t>: Statistics Reference Online (eds N. Balakrishnan, T. Colton, B. Everitt, W. </a:t>
            </a:r>
            <a:r>
              <a:rPr lang="en-US" sz="1400" dirty="0" err="1"/>
              <a:t>Piegorsch</a:t>
            </a:r>
            <a:r>
              <a:rPr lang="en-US" sz="1400" dirty="0"/>
              <a:t>, F. Ruggeri and J.L. </a:t>
            </a:r>
            <a:r>
              <a:rPr lang="en-US" sz="1400" dirty="0" err="1"/>
              <a:t>Teugels</a:t>
            </a:r>
            <a:r>
              <a:rPr lang="en-US" sz="1400" dirty="0"/>
              <a:t>). </a:t>
            </a:r>
            <a:r>
              <a:rPr lang="en-US" sz="1400" dirty="0">
                <a:hlinkClick r:id="rId3"/>
              </a:rPr>
              <a:t>https://doi.org/10.1002/9781118445112.stat08296</a:t>
            </a:r>
            <a:endParaRPr lang="en-US" sz="1400" dirty="0"/>
          </a:p>
        </p:txBody>
      </p:sp>
      <p:sp>
        <p:nvSpPr>
          <p:cNvPr id="5" name="Title 1">
            <a:extLst>
              <a:ext uri="{FF2B5EF4-FFF2-40B4-BE49-F238E27FC236}">
                <a16:creationId xmlns:a16="http://schemas.microsoft.com/office/drawing/2014/main" id="{EFABE43D-F2A4-FA10-DD71-179AD6363FAD}"/>
              </a:ext>
            </a:extLst>
          </p:cNvPr>
          <p:cNvSpPr>
            <a:spLocks noGrp="1"/>
          </p:cNvSpPr>
          <p:nvPr>
            <p:ph type="title"/>
          </p:nvPr>
        </p:nvSpPr>
        <p:spPr/>
        <p:txBody>
          <a:bodyPr/>
          <a:lstStyle/>
          <a:p>
            <a:r>
              <a:rPr lang="en-US" dirty="0"/>
              <a:t>Visualizing uncertainty</a:t>
            </a:r>
          </a:p>
        </p:txBody>
      </p:sp>
      <p:sp>
        <p:nvSpPr>
          <p:cNvPr id="6" name="TextBox 5">
            <a:extLst>
              <a:ext uri="{FF2B5EF4-FFF2-40B4-BE49-F238E27FC236}">
                <a16:creationId xmlns:a16="http://schemas.microsoft.com/office/drawing/2014/main" id="{6E73E433-519A-D103-2244-E0D99E1CBCAB}"/>
              </a:ext>
            </a:extLst>
          </p:cNvPr>
          <p:cNvSpPr txBox="1"/>
          <p:nvPr/>
        </p:nvSpPr>
        <p:spPr>
          <a:xfrm>
            <a:off x="10564587" y="1711308"/>
            <a:ext cx="1522638" cy="1200329"/>
          </a:xfrm>
          <a:prstGeom prst="rect">
            <a:avLst/>
          </a:prstGeom>
          <a:noFill/>
        </p:spPr>
        <p:txBody>
          <a:bodyPr wrap="square">
            <a:spAutoFit/>
          </a:bodyPr>
          <a:lstStyle/>
          <a:p>
            <a:r>
              <a:rPr lang="en-US" dirty="0"/>
              <a:t>Correll et al.. https://</a:t>
            </a:r>
            <a:r>
              <a:rPr lang="en-US" dirty="0" err="1"/>
              <a:t>doi.org</a:t>
            </a:r>
            <a:r>
              <a:rPr lang="en-US" dirty="0"/>
              <a:t>/10.1145/3173574.3174216</a:t>
            </a:r>
          </a:p>
        </p:txBody>
      </p:sp>
    </p:spTree>
    <p:extLst>
      <p:ext uri="{BB962C8B-B14F-4D97-AF65-F5344CB8AC3E}">
        <p14:creationId xmlns:p14="http://schemas.microsoft.com/office/powerpoint/2010/main" val="1825816612"/>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Dividend</Template>
  <TotalTime>1691</TotalTime>
  <Words>1718</Words>
  <Application>Microsoft Macintosh PowerPoint</Application>
  <PresentationFormat>Widescreen</PresentationFormat>
  <Paragraphs>102</Paragraphs>
  <Slides>15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Gill Sans MT</vt:lpstr>
      <vt:lpstr>source-serif-pro</vt:lpstr>
      <vt:lpstr>Wingdings 2</vt:lpstr>
      <vt:lpstr>Dividend</vt:lpstr>
      <vt:lpstr>Visual Analytics: uncertainty and bias </vt:lpstr>
      <vt:lpstr>Today’s plan</vt:lpstr>
      <vt:lpstr>Definition: Uncertainty</vt:lpstr>
      <vt:lpstr>Definition: Uncertainty</vt:lpstr>
      <vt:lpstr>Definition: Uncertainty</vt:lpstr>
      <vt:lpstr>Definition: Uncertainty</vt:lpstr>
      <vt:lpstr>Visualizing uncertainty</vt:lpstr>
      <vt:lpstr>Visualizing uncertainty</vt:lpstr>
      <vt:lpstr>Visualizing uncertainty</vt:lpstr>
      <vt:lpstr>Visualizing uncertainty</vt:lpstr>
      <vt:lpstr>Visualizing uncertainty</vt:lpstr>
      <vt:lpstr>Visualizing uncertainty</vt:lpstr>
      <vt:lpstr>Visualizing uncertainty</vt:lpstr>
      <vt:lpstr>Visualizing uncertainty</vt:lpstr>
      <vt:lpstr>Visualizing uncertainty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 Mosca</dc:creator>
  <cp:lastModifiedBy>Ab Mosca</cp:lastModifiedBy>
  <cp:revision>60</cp:revision>
  <dcterms:created xsi:type="dcterms:W3CDTF">2025-11-19T17:12:35Z</dcterms:created>
  <dcterms:modified xsi:type="dcterms:W3CDTF">2026-02-04T20:12:20Z</dcterms:modified>
</cp:coreProperties>
</file>