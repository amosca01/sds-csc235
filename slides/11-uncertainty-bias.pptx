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17"/>
  </p:notesMasterIdLst>
  <p:sldIdLst>
    <p:sldId id="256" r:id="rId2"/>
    <p:sldId id="257" r:id="rId3"/>
    <p:sldId id="258" r:id="rId4"/>
    <p:sldId id="259" r:id="rId5"/>
    <p:sldId id="260" r:id="rId6"/>
    <p:sldId id="289" r:id="rId7"/>
    <p:sldId id="290" r:id="rId8"/>
    <p:sldId id="291" r:id="rId9"/>
    <p:sldId id="292" r:id="rId10"/>
    <p:sldId id="293" r:id="rId11"/>
    <p:sldId id="294" r:id="rId12"/>
    <p:sldId id="295" r:id="rId13"/>
    <p:sldId id="296" r:id="rId14"/>
    <p:sldId id="297" r:id="rId15"/>
    <p:sldId id="298"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25"/>
    <p:restoredTop sz="77477"/>
  </p:normalViewPr>
  <p:slideViewPr>
    <p:cSldViewPr snapToGrid="0">
      <p:cViewPr>
        <p:scale>
          <a:sx n="110" d="100"/>
          <a:sy n="110" d="100"/>
        </p:scale>
        <p:origin x="176" y="6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42424"/>
                </a:solidFill>
                <a:effectLst/>
                <a:latin typeface="source-serif-pro"/>
              </a:rPr>
              <a:t>monthly jobs figures, as shown in this visualization based on data from the Bureau of Labor Statistics (BLS):</a:t>
            </a:r>
          </a:p>
          <a:p>
            <a:endParaRPr lang="en-US" b="0" i="0" dirty="0">
              <a:solidFill>
                <a:srgbClr val="242424"/>
              </a:solidFill>
              <a:effectLst/>
              <a:latin typeface="source-serif-pro"/>
            </a:endParaRPr>
          </a:p>
          <a:p>
            <a:r>
              <a:rPr lang="en-US" b="0" i="0" dirty="0">
                <a:solidFill>
                  <a:srgbClr val="242424"/>
                </a:solidFill>
                <a:effectLst/>
                <a:latin typeface="source-serif-pro"/>
              </a:rPr>
              <a:t>At first glance, we might interpret the values in the chart as the outcome of asking every person in the country if they are unemployed, or perhaps some proxy we imagine would capture that information, like the proportion of workers in the U.S. on unemployment insurance. In reality, the government relies on the Current Population Survey (CPS), which is a survey of 60,000 eligible households — roughly 110,000 people — that are selected to be representative of the U.S. population. Employment information from this sample is weighted by demographics to give an estimate of the unemployment rate in the U.S. population at large</a:t>
            </a:r>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4</a:t>
            </a:fld>
            <a:endParaRPr lang="en-US"/>
          </a:p>
        </p:txBody>
      </p:sp>
    </p:spTree>
    <p:extLst>
      <p:ext uri="{BB962C8B-B14F-4D97-AF65-F5344CB8AC3E}">
        <p14:creationId xmlns:p14="http://schemas.microsoft.com/office/powerpoint/2010/main" val="2916482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5</a:t>
            </a:fld>
            <a:endParaRPr lang="en-US"/>
          </a:p>
        </p:txBody>
      </p:sp>
    </p:spTree>
    <p:extLst>
      <p:ext uri="{BB962C8B-B14F-4D97-AF65-F5344CB8AC3E}">
        <p14:creationId xmlns:p14="http://schemas.microsoft.com/office/powerpoint/2010/main" val="32943556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0C466-BBF6-1F54-B798-57F3BAF67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97706-7471-70A0-32EC-5FAEA2EE6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ED0D7-2B7D-4391-4D46-752DFB0284B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242424"/>
                </a:solidFill>
                <a:effectLst/>
                <a:latin typeface="source-serif-pro"/>
              </a:rPr>
              <a:t>For the sake of explaining uncertainty, we created a statistical model that allows us to point to intervals, like 3.5% — 3.8%, and say that there is 95% chance that the interval contains the true unemployment value. Unfortunately, many intervals that we see, including from the BLS, are not so easily interpreted: the 95% instead refers to a property of the process used to construct the interval, not the chance that it contains the true value</a:t>
            </a:r>
            <a:endParaRPr lang="en-US" dirty="0"/>
          </a:p>
          <a:p>
            <a:endParaRPr lang="en-US" dirty="0"/>
          </a:p>
        </p:txBody>
      </p:sp>
      <p:sp>
        <p:nvSpPr>
          <p:cNvPr id="4" name="Slide Number Placeholder 3">
            <a:extLst>
              <a:ext uri="{FF2B5EF4-FFF2-40B4-BE49-F238E27FC236}">
                <a16:creationId xmlns:a16="http://schemas.microsoft.com/office/drawing/2014/main" id="{A5BECD9F-1FE7-1C34-FE9C-88CCAADD6898}"/>
              </a:ext>
            </a:extLst>
          </p:cNvPr>
          <p:cNvSpPr>
            <a:spLocks noGrp="1"/>
          </p:cNvSpPr>
          <p:nvPr>
            <p:ph type="sldNum" sz="quarter" idx="5"/>
          </p:nvPr>
        </p:nvSpPr>
        <p:spPr/>
        <p:txBody>
          <a:bodyPr/>
          <a:lstStyle/>
          <a:p>
            <a:fld id="{E666506D-5C9B-294C-B2AE-15ACE8B5B9F7}" type="slidenum">
              <a:rPr lang="en-US" smtClean="0"/>
              <a:t>6</a:t>
            </a:fld>
            <a:endParaRPr lang="en-US"/>
          </a:p>
        </p:txBody>
      </p:sp>
    </p:spTree>
    <p:extLst>
      <p:ext uri="{BB962C8B-B14F-4D97-AF65-F5344CB8AC3E}">
        <p14:creationId xmlns:p14="http://schemas.microsoft.com/office/powerpoint/2010/main" val="41363990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DD20-57F2-1A39-E202-B685E6547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9D4EB-59AE-FDF7-ACCE-3465E220CF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3CCB20-26D1-F5B0-BB2D-44F3FE9EBF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F57CC7-38C0-5F33-2870-C2F299FD41DE}"/>
              </a:ext>
            </a:extLst>
          </p:cNvPr>
          <p:cNvSpPr>
            <a:spLocks noGrp="1"/>
          </p:cNvSpPr>
          <p:nvPr>
            <p:ph type="sldNum" sz="quarter" idx="5"/>
          </p:nvPr>
        </p:nvSpPr>
        <p:spPr/>
        <p:txBody>
          <a:bodyPr/>
          <a:lstStyle/>
          <a:p>
            <a:fld id="{E666506D-5C9B-294C-B2AE-15ACE8B5B9F7}" type="slidenum">
              <a:rPr lang="en-US" smtClean="0"/>
              <a:t>7</a:t>
            </a:fld>
            <a:endParaRPr lang="en-US"/>
          </a:p>
        </p:txBody>
      </p:sp>
    </p:spTree>
    <p:extLst>
      <p:ext uri="{BB962C8B-B14F-4D97-AF65-F5344CB8AC3E}">
        <p14:creationId xmlns:p14="http://schemas.microsoft.com/office/powerpoint/2010/main" val="7503603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2/4/26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2/4/26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2/4/26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2/4/26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2/4/26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medium.com/multiple-views-visualization-research-explained/uncertainty-visualization-explained-67e7a73f031b"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medium.com/multiple-views-visualization-research-explained/uncertainty-visualization-explained-67e7a73f031b"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edium.com/multiple-views-visualization-research-explained/uncertainty-visualization-explained-67e7a73f031b" TargetMode="Externa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medium.com/multiple-views-visualization-research-explained/uncertainty-visualization-explained-67e7a73f031b"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 Id="rId4" Type="http://schemas.openxmlformats.org/officeDocument/2006/relationships/hyperlink" Target="https://doi.org/10.1371/journal.pone.0253644"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uncertainty and bias </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rmAutofit/>
          </a:bodyPr>
          <a:lstStyle/>
          <a:p>
            <a:pPr marL="0" indent="0">
              <a:buNone/>
            </a:pPr>
            <a:endParaRPr lang="en-US" sz="2400" dirty="0"/>
          </a:p>
          <a:p>
            <a:r>
              <a:rPr lang="en-US" sz="2400" dirty="0"/>
              <a:t>Uncertainty</a:t>
            </a:r>
          </a:p>
          <a:p>
            <a:pPr lvl="1"/>
            <a:r>
              <a:rPr lang="en-US" sz="2200" dirty="0"/>
              <a:t>Definition</a:t>
            </a:r>
          </a:p>
          <a:p>
            <a:pPr lvl="1"/>
            <a:r>
              <a:rPr lang="en-US" sz="2200" dirty="0"/>
              <a:t>Visualizing </a:t>
            </a:r>
          </a:p>
          <a:p>
            <a:r>
              <a:rPr lang="en-US" sz="2400" dirty="0"/>
              <a:t>Bias</a:t>
            </a:r>
          </a:p>
          <a:p>
            <a:pPr lvl="1"/>
            <a:r>
              <a:rPr lang="en-US" sz="2200" dirty="0"/>
              <a:t>Definition</a:t>
            </a:r>
          </a:p>
          <a:p>
            <a:pPr lvl="1"/>
            <a:r>
              <a:rPr lang="en-US" sz="2200" dirty="0"/>
              <a:t>Visualizing</a:t>
            </a:r>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519F2-F8EE-B1A7-5CDB-1B35D6A4D1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4D9C8-B257-9903-676E-09819D1E6E4C}"/>
              </a:ext>
            </a:extLst>
          </p:cNvPr>
          <p:cNvSpPr>
            <a:spLocks noGrp="1"/>
          </p:cNvSpPr>
          <p:nvPr>
            <p:ph type="title"/>
          </p:nvPr>
        </p:nvSpPr>
        <p:spPr/>
        <p:txBody>
          <a:bodyPr/>
          <a:lstStyle/>
          <a:p>
            <a:r>
              <a:rPr lang="en-US" dirty="0"/>
              <a:t>Definition: Uncertainty</a:t>
            </a:r>
          </a:p>
        </p:txBody>
      </p:sp>
      <p:sp>
        <p:nvSpPr>
          <p:cNvPr id="3" name="Content Placeholder 2">
            <a:extLst>
              <a:ext uri="{FF2B5EF4-FFF2-40B4-BE49-F238E27FC236}">
                <a16:creationId xmlns:a16="http://schemas.microsoft.com/office/drawing/2014/main" id="{ECDE2D69-B54A-1ABA-52D2-6427A9C7F6D1}"/>
              </a:ext>
            </a:extLst>
          </p:cNvPr>
          <p:cNvSpPr>
            <a:spLocks noGrp="1"/>
          </p:cNvSpPr>
          <p:nvPr>
            <p:ph idx="1"/>
          </p:nvPr>
        </p:nvSpPr>
        <p:spPr/>
        <p:txBody>
          <a:bodyPr anchor="t">
            <a:normAutofit/>
          </a:bodyPr>
          <a:lstStyle/>
          <a:p>
            <a:r>
              <a:rPr lang="en-US" sz="2400" dirty="0"/>
              <a:t>Three types of uncertainty:</a:t>
            </a:r>
          </a:p>
          <a:p>
            <a:pPr lvl="1"/>
            <a:r>
              <a:rPr lang="en-US" sz="2200" dirty="0"/>
              <a:t>Aleatoric: irreducible randomness inherent in a process</a:t>
            </a:r>
          </a:p>
          <a:p>
            <a:pPr lvl="1"/>
            <a:r>
              <a:rPr lang="en-US" sz="2200" dirty="0"/>
              <a:t>Epistemic: uncertainty from a lack of knowledge that could theoretically be reduced given more information</a:t>
            </a:r>
          </a:p>
          <a:p>
            <a:pPr lvl="1"/>
            <a:r>
              <a:rPr lang="en-US" sz="2200" dirty="0"/>
              <a:t>Ontological: uncertainty about how accurately the modeling describes reality, which can only be described subjectively</a:t>
            </a:r>
          </a:p>
          <a:p>
            <a:r>
              <a:rPr lang="en-US" sz="2400" dirty="0"/>
              <a:t>In visualization, when we refer to </a:t>
            </a:r>
            <a:r>
              <a:rPr lang="en-US" sz="2400" dirty="0">
                <a:effectLst>
                  <a:glow rad="228600">
                    <a:schemeClr val="accent5">
                      <a:satMod val="175000"/>
                      <a:alpha val="40000"/>
                    </a:schemeClr>
                  </a:glow>
                </a:effectLst>
              </a:rPr>
              <a:t>uncertainty</a:t>
            </a:r>
            <a:r>
              <a:rPr lang="en-US" sz="2400" dirty="0"/>
              <a:t>, we typically mean quantified uncertainty that can be visualized </a:t>
            </a:r>
          </a:p>
        </p:txBody>
      </p:sp>
      <p:sp>
        <p:nvSpPr>
          <p:cNvPr id="5" name="TextBox 4">
            <a:extLst>
              <a:ext uri="{FF2B5EF4-FFF2-40B4-BE49-F238E27FC236}">
                <a16:creationId xmlns:a16="http://schemas.microsoft.com/office/drawing/2014/main" id="{C3EB74E5-B82C-42E8-6891-8F1C641ECDC8}"/>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Tree>
    <p:extLst>
      <p:ext uri="{BB962C8B-B14F-4D97-AF65-F5344CB8AC3E}">
        <p14:creationId xmlns:p14="http://schemas.microsoft.com/office/powerpoint/2010/main" val="1168530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Definition: Uncertainty</a:t>
            </a:r>
          </a:p>
        </p:txBody>
      </p:sp>
      <p:pic>
        <p:nvPicPr>
          <p:cNvPr id="1026" name="Picture 2">
            <a:extLst>
              <a:ext uri="{FF2B5EF4-FFF2-40B4-BE49-F238E27FC236}">
                <a16:creationId xmlns:a16="http://schemas.microsoft.com/office/drawing/2014/main" id="{30FEF4A3-1FE9-1ED8-EDF1-4859AFEB14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2565530"/>
            <a:ext cx="7586624" cy="3793312"/>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ular Callout 8">
            <a:extLst>
              <a:ext uri="{FF2B5EF4-FFF2-40B4-BE49-F238E27FC236}">
                <a16:creationId xmlns:a16="http://schemas.microsoft.com/office/drawing/2014/main" id="{13DE2AA7-1F2C-664E-804D-407D0DCFD981}"/>
              </a:ext>
            </a:extLst>
          </p:cNvPr>
          <p:cNvSpPr/>
          <p:nvPr/>
        </p:nvSpPr>
        <p:spPr>
          <a:xfrm>
            <a:off x="8308184" y="3152472"/>
            <a:ext cx="2660073" cy="1139165"/>
          </a:xfrm>
          <a:prstGeom prst="wedgeRoundRectCallout">
            <a:avLst>
              <a:gd name="adj1" fmla="val -67710"/>
              <a:gd name="adj2" fmla="val 10603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How is this value calculated?</a:t>
            </a:r>
          </a:p>
        </p:txBody>
      </p:sp>
      <p:sp>
        <p:nvSpPr>
          <p:cNvPr id="6" name="TextBox 5">
            <a:extLst>
              <a:ext uri="{FF2B5EF4-FFF2-40B4-BE49-F238E27FC236}">
                <a16:creationId xmlns:a16="http://schemas.microsoft.com/office/drawing/2014/main" id="{A4F9468E-C215-950B-C3AD-B39ED50AD911}"/>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sp>
        <p:nvSpPr>
          <p:cNvPr id="8" name="TextBox 7">
            <a:extLst>
              <a:ext uri="{FF2B5EF4-FFF2-40B4-BE49-F238E27FC236}">
                <a16:creationId xmlns:a16="http://schemas.microsoft.com/office/drawing/2014/main" id="{6AF3F255-6B3B-CB5D-C228-EC159CAC1714}"/>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4"/>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2249818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Definition: Uncertainty</a:t>
            </a:r>
          </a:p>
        </p:txBody>
      </p:sp>
      <p:sp>
        <p:nvSpPr>
          <p:cNvPr id="7" name="Content Placeholder 2">
            <a:extLst>
              <a:ext uri="{FF2B5EF4-FFF2-40B4-BE49-F238E27FC236}">
                <a16:creationId xmlns:a16="http://schemas.microsoft.com/office/drawing/2014/main" id="{8331FD2F-B91F-DCC6-10E4-4C8A27C3B826}"/>
              </a:ext>
            </a:extLst>
          </p:cNvPr>
          <p:cNvSpPr>
            <a:spLocks noGrp="1"/>
          </p:cNvSpPr>
          <p:nvPr>
            <p:ph idx="1"/>
          </p:nvPr>
        </p:nvSpPr>
        <p:spPr>
          <a:xfrm>
            <a:off x="8464378" y="2026483"/>
            <a:ext cx="3146430" cy="4302075"/>
          </a:xfrm>
        </p:spPr>
        <p:txBody>
          <a:bodyPr vert="horz" lIns="91440" tIns="45720" rIns="91440" bIns="45720" rtlCol="0" anchor="t">
            <a:normAutofit fontScale="92500" lnSpcReduction="10000"/>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pic>
        <p:nvPicPr>
          <p:cNvPr id="2050" name="Picture 2">
            <a:extLst>
              <a:ext uri="{FF2B5EF4-FFF2-40B4-BE49-F238E27FC236}">
                <a16:creationId xmlns:a16="http://schemas.microsoft.com/office/drawing/2014/main" id="{7C0D2A66-0A79-9F07-58B1-921828F47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2475377"/>
            <a:ext cx="7689273" cy="38446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0F8E5A3-628F-A0E4-FC1E-CDF3EA754890}"/>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sp>
        <p:nvSpPr>
          <p:cNvPr id="4" name="TextBox 3">
            <a:extLst>
              <a:ext uri="{FF2B5EF4-FFF2-40B4-BE49-F238E27FC236}">
                <a16:creationId xmlns:a16="http://schemas.microsoft.com/office/drawing/2014/main" id="{1C20821A-9B55-9ACF-9985-1C39CAAC6B4E}"/>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4"/>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1124288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0EABE-7373-2B64-2DB0-374A9B9F6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E6ABD6-F85B-4034-9B5B-62E33113286E}"/>
              </a:ext>
            </a:extLst>
          </p:cNvPr>
          <p:cNvSpPr>
            <a:spLocks noGrp="1"/>
          </p:cNvSpPr>
          <p:nvPr>
            <p:ph type="title"/>
          </p:nvPr>
        </p:nvSpPr>
        <p:spPr/>
        <p:txBody>
          <a:bodyPr/>
          <a:lstStyle/>
          <a:p>
            <a:r>
              <a:rPr lang="en-US" dirty="0"/>
              <a:t>Definition: Uncertainty</a:t>
            </a:r>
          </a:p>
        </p:txBody>
      </p:sp>
      <p:sp>
        <p:nvSpPr>
          <p:cNvPr id="7" name="Content Placeholder 2">
            <a:extLst>
              <a:ext uri="{FF2B5EF4-FFF2-40B4-BE49-F238E27FC236}">
                <a16:creationId xmlns:a16="http://schemas.microsoft.com/office/drawing/2014/main" id="{23EE4E56-0083-0BE0-E627-713E8E35E7AA}"/>
              </a:ext>
            </a:extLst>
          </p:cNvPr>
          <p:cNvSpPr>
            <a:spLocks noGrp="1"/>
          </p:cNvSpPr>
          <p:nvPr>
            <p:ph idx="1"/>
          </p:nvPr>
        </p:nvSpPr>
        <p:spPr>
          <a:xfrm>
            <a:off x="8464378" y="2026483"/>
            <a:ext cx="3146430" cy="4302075"/>
          </a:xfrm>
        </p:spPr>
        <p:txBody>
          <a:bodyPr vert="horz" lIns="91440" tIns="45720" rIns="91440" bIns="45720" rtlCol="0" anchor="t">
            <a:normAutofit fontScale="92500" lnSpcReduction="10000"/>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pic>
        <p:nvPicPr>
          <p:cNvPr id="2050" name="Picture 2">
            <a:extLst>
              <a:ext uri="{FF2B5EF4-FFF2-40B4-BE49-F238E27FC236}">
                <a16:creationId xmlns:a16="http://schemas.microsoft.com/office/drawing/2014/main" id="{43E780B3-24F6-10DF-D6AB-DB9C8CFC4390}"/>
              </a:ext>
            </a:extLst>
          </p:cNvPr>
          <p:cNvPicPr>
            <a:picLocks noChangeAspect="1" noChangeArrowheads="1"/>
          </p:cNvPicPr>
          <p:nvPr/>
        </p:nvPicPr>
        <p:blipFill>
          <a:blip r:embed="rId3">
            <a:alphaModFix amt="20000"/>
            <a:extLst>
              <a:ext uri="{28A0092B-C50C-407E-A947-70E740481C1C}">
                <a14:useLocalDpi xmlns:a14="http://schemas.microsoft.com/office/drawing/2010/main" val="0"/>
              </a:ext>
            </a:extLst>
          </a:blip>
          <a:srcRect/>
          <a:stretch>
            <a:fillRect/>
          </a:stretch>
        </p:blipFill>
        <p:spPr bwMode="auto">
          <a:xfrm>
            <a:off x="581192" y="2475377"/>
            <a:ext cx="7689273" cy="38446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6A7E8CB-08C5-AEEA-4A67-F5C110359149}"/>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pic>
        <p:nvPicPr>
          <p:cNvPr id="4" name="Picture 2">
            <a:extLst>
              <a:ext uri="{FF2B5EF4-FFF2-40B4-BE49-F238E27FC236}">
                <a16:creationId xmlns:a16="http://schemas.microsoft.com/office/drawing/2014/main" id="{A84F7050-77F1-1CCD-6B09-661D9A314F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536" y="3038323"/>
            <a:ext cx="8360227" cy="23492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2390E42-EE0A-5149-6F99-BCF92F38B087}"/>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5"/>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852770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169E8-B143-3CFD-831B-5927E50F54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E1EB-8B2B-290D-368B-E89F5D98FD28}"/>
              </a:ext>
            </a:extLst>
          </p:cNvPr>
          <p:cNvSpPr>
            <a:spLocks noGrp="1"/>
          </p:cNvSpPr>
          <p:nvPr>
            <p:ph type="title"/>
          </p:nvPr>
        </p:nvSpPr>
        <p:spPr/>
        <p:txBody>
          <a:bodyPr/>
          <a:lstStyle/>
          <a:p>
            <a:r>
              <a:rPr lang="en-US" dirty="0"/>
              <a:t>Visualizing uncertainty</a:t>
            </a:r>
          </a:p>
        </p:txBody>
      </p:sp>
      <p:sp>
        <p:nvSpPr>
          <p:cNvPr id="7" name="Content Placeholder 2">
            <a:extLst>
              <a:ext uri="{FF2B5EF4-FFF2-40B4-BE49-F238E27FC236}">
                <a16:creationId xmlns:a16="http://schemas.microsoft.com/office/drawing/2014/main" id="{A7A5D088-D9BE-1F1F-4996-6D3187195392}"/>
              </a:ext>
            </a:extLst>
          </p:cNvPr>
          <p:cNvSpPr>
            <a:spLocks noGrp="1"/>
          </p:cNvSpPr>
          <p:nvPr>
            <p:ph idx="1"/>
          </p:nvPr>
        </p:nvSpPr>
        <p:spPr>
          <a:xfrm>
            <a:off x="581192" y="2026483"/>
            <a:ext cx="11029616" cy="4302075"/>
          </a:xfrm>
        </p:spPr>
        <p:txBody>
          <a:bodyPr vert="horz" lIns="91440" tIns="45720" rIns="91440" bIns="45720" rtlCol="0" anchor="t">
            <a:normAutofit/>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sp>
        <p:nvSpPr>
          <p:cNvPr id="5" name="Rounded Rectangle 4">
            <a:extLst>
              <a:ext uri="{FF2B5EF4-FFF2-40B4-BE49-F238E27FC236}">
                <a16:creationId xmlns:a16="http://schemas.microsoft.com/office/drawing/2014/main" id="{0B7C6828-2C13-F24D-3045-5431F2C65434}"/>
              </a:ext>
            </a:extLst>
          </p:cNvPr>
          <p:cNvSpPr/>
          <p:nvPr/>
        </p:nvSpPr>
        <p:spPr>
          <a:xfrm>
            <a:off x="2463113" y="4213653"/>
            <a:ext cx="7265773" cy="13839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Why is it important to communicate uncertainty?</a:t>
            </a:r>
          </a:p>
        </p:txBody>
      </p:sp>
      <p:sp>
        <p:nvSpPr>
          <p:cNvPr id="6" name="TextBox 5">
            <a:extLst>
              <a:ext uri="{FF2B5EF4-FFF2-40B4-BE49-F238E27FC236}">
                <a16:creationId xmlns:a16="http://schemas.microsoft.com/office/drawing/2014/main" id="{B4E1A92B-7C4D-0432-8273-4D0A54D81750}"/>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3"/>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3205404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6D2240-F7EB-757D-08EE-C5C4FF6CAD4F}"/>
              </a:ext>
            </a:extLst>
          </p:cNvPr>
          <p:cNvSpPr>
            <a:spLocks noGrp="1"/>
          </p:cNvSpPr>
          <p:nvPr>
            <p:ph idx="1"/>
          </p:nvPr>
        </p:nvSpPr>
        <p:spPr/>
        <p:txBody>
          <a:bodyPr anchor="t">
            <a:normAutofit/>
          </a:bodyPr>
          <a:lstStyle/>
          <a:p>
            <a:r>
              <a:rPr lang="en-US" sz="2200" dirty="0"/>
              <a:t>There are two broad categories of uncertainty visualization techniques:</a:t>
            </a:r>
          </a:p>
          <a:p>
            <a:endParaRPr lang="en-US" sz="2200" dirty="0"/>
          </a:p>
          <a:p>
            <a:pPr marL="666900" lvl="1" indent="-342900">
              <a:buFont typeface="+mj-lt"/>
              <a:buAutoNum type="arabicPeriod"/>
            </a:pPr>
            <a:r>
              <a:rPr lang="en-US" sz="2200" dirty="0"/>
              <a:t>Graphical annotations that show properties of a distribution</a:t>
            </a:r>
          </a:p>
          <a:p>
            <a:pPr marL="936900" lvl="2" indent="-342900"/>
            <a:r>
              <a:rPr lang="en-US" sz="2200" dirty="0"/>
              <a:t>Ex. error bars, animating between possible values</a:t>
            </a:r>
          </a:p>
          <a:p>
            <a:pPr marL="936900" lvl="2" indent="-342900"/>
            <a:endParaRPr lang="en-US" sz="2200" dirty="0"/>
          </a:p>
          <a:p>
            <a:pPr marL="666900" lvl="1" indent="-342900">
              <a:buFont typeface="+mj-lt"/>
              <a:buAutoNum type="arabicPeriod"/>
            </a:pPr>
            <a:r>
              <a:rPr lang="en-US" sz="2200" dirty="0"/>
              <a:t>Mapping probability or confidence to a visual encoding channel </a:t>
            </a:r>
          </a:p>
          <a:p>
            <a:pPr marL="936900" lvl="2" indent="-342900"/>
            <a:r>
              <a:rPr lang="en-US" sz="2200" dirty="0"/>
              <a:t>Ex. Make a mark more transparent if uncertainty is high</a:t>
            </a:r>
          </a:p>
        </p:txBody>
      </p:sp>
      <p:sp>
        <p:nvSpPr>
          <p:cNvPr id="4" name="TextBox 3">
            <a:extLst>
              <a:ext uri="{FF2B5EF4-FFF2-40B4-BE49-F238E27FC236}">
                <a16:creationId xmlns:a16="http://schemas.microsoft.com/office/drawing/2014/main" id="{F6E92AE3-AAE9-652F-E2DB-D5E7A88255A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AEBDA747-C60D-FD4E-718E-A42CD15083F1}"/>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1796075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7B4DB-520E-EE90-E9C9-DEBD6014D7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54DD86-EC45-0D20-E994-B18FDE50D00E}"/>
              </a:ext>
            </a:extLst>
          </p:cNvPr>
          <p:cNvSpPr>
            <a:spLocks noGrp="1"/>
          </p:cNvSpPr>
          <p:nvPr>
            <p:ph idx="1"/>
          </p:nvPr>
        </p:nvSpPr>
        <p:spPr>
          <a:xfrm>
            <a:off x="581193" y="2180496"/>
            <a:ext cx="3884886" cy="3678303"/>
          </a:xfrm>
        </p:spPr>
        <p:txBody>
          <a:bodyPr anchor="t">
            <a:normAutofit fontScale="92500" lnSpcReduction="10000"/>
          </a:bodyPr>
          <a:lstStyle/>
          <a:p>
            <a:pPr marL="0" indent="0">
              <a:buNone/>
            </a:pPr>
            <a:r>
              <a:rPr lang="en-US" sz="2000" dirty="0"/>
              <a:t>Icon Array</a:t>
            </a:r>
          </a:p>
          <a:p>
            <a:pPr lvl="1"/>
            <a:r>
              <a:rPr lang="en-US" sz="2000" dirty="0"/>
              <a:t>Oﬄoad cognition by allowing a viewer’s visual system to compare the denominator and the numerator in a frequency probability format</a:t>
            </a:r>
          </a:p>
          <a:p>
            <a:pPr lvl="1"/>
            <a:r>
              <a:rPr lang="en-US" sz="2000" dirty="0"/>
              <a:t>Visual comparisons of this nature are easier and faster than numerical calculations</a:t>
            </a:r>
          </a:p>
          <a:p>
            <a:pPr lvl="1"/>
            <a:r>
              <a:rPr lang="en-US" sz="2000" dirty="0"/>
              <a:t>Can reduce denominator neglect by allowing people to compare relative ratios visually</a:t>
            </a:r>
          </a:p>
        </p:txBody>
      </p:sp>
      <p:sp>
        <p:nvSpPr>
          <p:cNvPr id="4" name="TextBox 3">
            <a:extLst>
              <a:ext uri="{FF2B5EF4-FFF2-40B4-BE49-F238E27FC236}">
                <a16:creationId xmlns:a16="http://schemas.microsoft.com/office/drawing/2014/main" id="{10FA3675-9A47-E73C-4CC8-8F31F62F5573}"/>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CD61245C-CC4C-34A5-372C-17B3B4B04A2B}"/>
              </a:ext>
            </a:extLst>
          </p:cNvPr>
          <p:cNvSpPr>
            <a:spLocks noGrp="1"/>
          </p:cNvSpPr>
          <p:nvPr>
            <p:ph type="title"/>
          </p:nvPr>
        </p:nvSpPr>
        <p:spPr/>
        <p:txBody>
          <a:bodyPr/>
          <a:lstStyle/>
          <a:p>
            <a:r>
              <a:rPr lang="en-US" dirty="0"/>
              <a:t>Visualizing uncertainty</a:t>
            </a:r>
          </a:p>
        </p:txBody>
      </p:sp>
      <p:pic>
        <p:nvPicPr>
          <p:cNvPr id="1026" name="Picture 2" descr="Icon array presented in the survey">
            <a:extLst>
              <a:ext uri="{FF2B5EF4-FFF2-40B4-BE49-F238E27FC236}">
                <a16:creationId xmlns:a16="http://schemas.microsoft.com/office/drawing/2014/main" id="{8E625777-C44B-1926-F702-7B4E6963476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899"/>
          <a:stretch>
            <a:fillRect/>
          </a:stretch>
        </p:blipFill>
        <p:spPr bwMode="auto">
          <a:xfrm>
            <a:off x="4701591" y="1678290"/>
            <a:ext cx="7139148" cy="447755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527F3B0-7D9F-421F-2C92-58EC08EBE012}"/>
              </a:ext>
            </a:extLst>
          </p:cNvPr>
          <p:cNvSpPr txBox="1"/>
          <p:nvPr/>
        </p:nvSpPr>
        <p:spPr>
          <a:xfrm>
            <a:off x="10532960" y="2729708"/>
            <a:ext cx="1543291" cy="600164"/>
          </a:xfrm>
          <a:prstGeom prst="rect">
            <a:avLst/>
          </a:prstGeom>
          <a:noFill/>
        </p:spPr>
        <p:txBody>
          <a:bodyPr wrap="square">
            <a:spAutoFit/>
          </a:bodyPr>
          <a:lstStyle/>
          <a:p>
            <a:r>
              <a:rPr lang="en-US" sz="1100" dirty="0"/>
              <a:t>Scalia et al. (2021) </a:t>
            </a:r>
            <a:r>
              <a:rPr lang="en-US" sz="1100" dirty="0">
                <a:hlinkClick r:id="rId4"/>
              </a:rPr>
              <a:t>https://doi.org/10.1371/journal.pone.0253644</a:t>
            </a:r>
            <a:r>
              <a:rPr lang="en-US" sz="1100" dirty="0"/>
              <a:t> </a:t>
            </a:r>
          </a:p>
        </p:txBody>
      </p:sp>
    </p:spTree>
    <p:extLst>
      <p:ext uri="{BB962C8B-B14F-4D97-AF65-F5344CB8AC3E}">
        <p14:creationId xmlns:p14="http://schemas.microsoft.com/office/powerpoint/2010/main" val="1579655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75CEE-0796-8003-D32D-8B1C4C2680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18576C-34B4-33AB-7FCE-71B8BA75A4D0}"/>
              </a:ext>
            </a:extLst>
          </p:cNvPr>
          <p:cNvSpPr>
            <a:spLocks noGrp="1"/>
          </p:cNvSpPr>
          <p:nvPr>
            <p:ph idx="1"/>
          </p:nvPr>
        </p:nvSpPr>
        <p:spPr/>
        <p:txBody>
          <a:bodyPr anchor="t">
            <a:normAutofit/>
          </a:bodyPr>
          <a:lstStyle/>
          <a:p>
            <a:pPr marL="0" indent="0">
              <a:buNone/>
            </a:pPr>
            <a:r>
              <a:rPr lang="en-US" sz="2200" dirty="0"/>
              <a:t>Quantile </a:t>
            </a:r>
            <a:r>
              <a:rPr lang="en-US" sz="2200" dirty="0" err="1"/>
              <a:t>dotplot</a:t>
            </a:r>
            <a:endParaRPr lang="en-US" sz="2200"/>
          </a:p>
          <a:p>
            <a:endParaRPr lang="en-US" sz="2200" dirty="0"/>
          </a:p>
        </p:txBody>
      </p:sp>
      <p:sp>
        <p:nvSpPr>
          <p:cNvPr id="4" name="TextBox 3">
            <a:extLst>
              <a:ext uri="{FF2B5EF4-FFF2-40B4-BE49-F238E27FC236}">
                <a16:creationId xmlns:a16="http://schemas.microsoft.com/office/drawing/2014/main" id="{3A83250F-2E00-7ED6-0AF6-D79585FDBDA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F592CCAC-ED27-F4CC-4C03-4A3C16179482}"/>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2537730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3DAB-8AF8-63C1-DDBB-70ED5D943E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7B4B4C-81E2-A838-78A0-80F8460FBA04}"/>
              </a:ext>
            </a:extLst>
          </p:cNvPr>
          <p:cNvSpPr>
            <a:spLocks noGrp="1"/>
          </p:cNvSpPr>
          <p:nvPr>
            <p:ph idx="1"/>
          </p:nvPr>
        </p:nvSpPr>
        <p:spPr/>
        <p:txBody>
          <a:bodyPr anchor="t">
            <a:normAutofit/>
          </a:bodyPr>
          <a:lstStyle/>
          <a:p>
            <a:r>
              <a:rPr lang="en-US" sz="2200" dirty="0"/>
              <a:t>Hypothetical outcome plots (HOPs)</a:t>
            </a:r>
          </a:p>
        </p:txBody>
      </p:sp>
      <p:sp>
        <p:nvSpPr>
          <p:cNvPr id="4" name="TextBox 3">
            <a:extLst>
              <a:ext uri="{FF2B5EF4-FFF2-40B4-BE49-F238E27FC236}">
                <a16:creationId xmlns:a16="http://schemas.microsoft.com/office/drawing/2014/main" id="{EB6E58BC-E0FE-2071-3042-5529956C644D}"/>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3C3CC8B9-5223-89B4-0156-228C60FD16CC}"/>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2503566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47347-FE6B-A7AE-AAC8-ACECD6BF2E1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F5D8DB-90E4-DAAB-4232-EBB4092A198A}"/>
              </a:ext>
            </a:extLst>
          </p:cNvPr>
          <p:cNvSpPr>
            <a:spLocks noGrp="1"/>
          </p:cNvSpPr>
          <p:nvPr>
            <p:ph idx="1"/>
          </p:nvPr>
        </p:nvSpPr>
        <p:spPr/>
        <p:txBody>
          <a:bodyPr anchor="t">
            <a:normAutofit/>
          </a:bodyPr>
          <a:lstStyle/>
          <a:p>
            <a:r>
              <a:rPr lang="en-US" sz="2200" dirty="0"/>
              <a:t>Ensemble display</a:t>
            </a:r>
          </a:p>
        </p:txBody>
      </p:sp>
      <p:sp>
        <p:nvSpPr>
          <p:cNvPr id="4" name="TextBox 3">
            <a:extLst>
              <a:ext uri="{FF2B5EF4-FFF2-40B4-BE49-F238E27FC236}">
                <a16:creationId xmlns:a16="http://schemas.microsoft.com/office/drawing/2014/main" id="{BF3FC9F5-C253-C9D6-E833-BE8A2517477C}"/>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90A42B16-D56B-F54B-7E56-1222C9F56A78}"/>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13650655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E5D55-488D-9BDF-DAB0-C0FD7ECE359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F23546-05E0-F9D1-CEB7-E345602A391F}"/>
              </a:ext>
            </a:extLst>
          </p:cNvPr>
          <p:cNvSpPr>
            <a:spLocks noGrp="1"/>
          </p:cNvSpPr>
          <p:nvPr>
            <p:ph idx="1"/>
          </p:nvPr>
        </p:nvSpPr>
        <p:spPr/>
        <p:txBody>
          <a:bodyPr anchor="t">
            <a:normAutofit/>
          </a:bodyPr>
          <a:lstStyle/>
          <a:p>
            <a:r>
              <a:rPr lang="en-US" sz="2200" dirty="0"/>
              <a:t>Error bar alternatives</a:t>
            </a:r>
          </a:p>
        </p:txBody>
      </p:sp>
      <p:sp>
        <p:nvSpPr>
          <p:cNvPr id="4" name="TextBox 3">
            <a:extLst>
              <a:ext uri="{FF2B5EF4-FFF2-40B4-BE49-F238E27FC236}">
                <a16:creationId xmlns:a16="http://schemas.microsoft.com/office/drawing/2014/main" id="{2CFF1DD8-5160-67DB-AD39-818536E22D87}"/>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EA77AB9E-50F9-7069-6F55-A76BBF716D84}"/>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3088611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699D-4D31-A2FC-258D-3BA655D269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37E9C7-3CE3-AC02-B2AD-6D94DFFDC4AA}"/>
              </a:ext>
            </a:extLst>
          </p:cNvPr>
          <p:cNvSpPr>
            <a:spLocks noGrp="1"/>
          </p:cNvSpPr>
          <p:nvPr>
            <p:ph idx="1"/>
          </p:nvPr>
        </p:nvSpPr>
        <p:spPr/>
        <p:txBody>
          <a:bodyPr anchor="t">
            <a:normAutofit/>
          </a:bodyPr>
          <a:lstStyle/>
          <a:p>
            <a:r>
              <a:rPr lang="en-US" sz="2200" dirty="0"/>
              <a:t>Fuzziness, transparency, location, etc. </a:t>
            </a:r>
          </a:p>
        </p:txBody>
      </p:sp>
      <p:sp>
        <p:nvSpPr>
          <p:cNvPr id="4" name="TextBox 3">
            <a:extLst>
              <a:ext uri="{FF2B5EF4-FFF2-40B4-BE49-F238E27FC236}">
                <a16:creationId xmlns:a16="http://schemas.microsoft.com/office/drawing/2014/main" id="{93A45A34-B81B-B054-486D-E9D4F5658CD9}"/>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127936EE-C565-2FF4-D9E1-4F66837A256B}"/>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1320179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5B246-3488-AECA-6B3C-BD7835F461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10E991-EFE2-131D-98AA-A346159CBCE7}"/>
              </a:ext>
            </a:extLst>
          </p:cNvPr>
          <p:cNvSpPr>
            <a:spLocks noGrp="1"/>
          </p:cNvSpPr>
          <p:nvPr>
            <p:ph idx="1"/>
          </p:nvPr>
        </p:nvSpPr>
        <p:spPr/>
        <p:txBody>
          <a:bodyPr anchor="t">
            <a:normAutofit/>
          </a:bodyPr>
          <a:lstStyle/>
          <a:p>
            <a:r>
              <a:rPr lang="en-US" sz="2200" dirty="0"/>
              <a:t>Value-suppressing color pallet </a:t>
            </a:r>
          </a:p>
        </p:txBody>
      </p:sp>
      <p:sp>
        <p:nvSpPr>
          <p:cNvPr id="4" name="TextBox 3">
            <a:extLst>
              <a:ext uri="{FF2B5EF4-FFF2-40B4-BE49-F238E27FC236}">
                <a16:creationId xmlns:a16="http://schemas.microsoft.com/office/drawing/2014/main" id="{8B7A778A-2780-9D40-27A8-180993CCD15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EFABE43D-F2A4-FA10-DD71-179AD6363FAD}"/>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1825816612"/>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1622</TotalTime>
  <Words>1295</Words>
  <Application>Microsoft Macintosh PowerPoint</Application>
  <PresentationFormat>Widescreen</PresentationFormat>
  <Paragraphs>81</Paragraphs>
  <Slides>15</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Gill Sans MT</vt:lpstr>
      <vt:lpstr>source-serif-pro</vt:lpstr>
      <vt:lpstr>Wingdings 2</vt:lpstr>
      <vt:lpstr>Dividend</vt:lpstr>
      <vt:lpstr>Visual Analytics: uncertainty and bias </vt:lpstr>
      <vt:lpstr>Today’s plan</vt:lpstr>
      <vt:lpstr>Definition: Uncertainty</vt:lpstr>
      <vt:lpstr>Definition: Uncertainty</vt:lpstr>
      <vt:lpstr>Definition: Uncertainty</vt:lpstr>
      <vt:lpstr>Definition: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57</cp:revision>
  <dcterms:created xsi:type="dcterms:W3CDTF">2025-11-19T17:12:35Z</dcterms:created>
  <dcterms:modified xsi:type="dcterms:W3CDTF">2026-02-04T17:01:26Z</dcterms:modified>
</cp:coreProperties>
</file>