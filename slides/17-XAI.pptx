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60" r:id="rId1"/>
  </p:sldMasterIdLst>
  <p:notesMasterIdLst>
    <p:notesMasterId r:id="rId18"/>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72" r:id="rId15"/>
    <p:sldId id="270" r:id="rId16"/>
    <p:sldId id="271" r:id="rId17"/>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C0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25423"/>
    <p:restoredTop sz="64609"/>
  </p:normalViewPr>
  <p:slideViewPr>
    <p:cSldViewPr snapToGrid="0">
      <p:cViewPr varScale="1">
        <p:scale>
          <a:sx n="72" d="100"/>
          <a:sy n="72" d="100"/>
        </p:scale>
        <p:origin x="224" y="98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CD22518-F7FE-2E40-9C60-793856882CE6}" type="datetimeFigureOut">
              <a:rPr lang="en-US" smtClean="0"/>
              <a:t>2/27/26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62CD335-F0CB-D347-B8A5-7AB70F34C34F}" type="slidenum">
              <a:rPr lang="en-US" smtClean="0"/>
              <a:t>‹#›</a:t>
            </a:fld>
            <a:endParaRPr lang="en-US"/>
          </a:p>
        </p:txBody>
      </p:sp>
    </p:spTree>
    <p:extLst>
      <p:ext uri="{BB962C8B-B14F-4D97-AF65-F5344CB8AC3E}">
        <p14:creationId xmlns:p14="http://schemas.microsoft.com/office/powerpoint/2010/main" val="84406720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362CD335-F0CB-D347-B8A5-7AB70F34C34F}" type="slidenum">
              <a:rPr lang="en-US" smtClean="0"/>
              <a:t>1</a:t>
            </a:fld>
            <a:endParaRPr lang="en-US"/>
          </a:p>
        </p:txBody>
      </p:sp>
    </p:spTree>
    <p:extLst>
      <p:ext uri="{BB962C8B-B14F-4D97-AF65-F5344CB8AC3E}">
        <p14:creationId xmlns:p14="http://schemas.microsoft.com/office/powerpoint/2010/main" val="278317799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362CD335-F0CB-D347-B8A5-7AB70F34C34F}" type="slidenum">
              <a:rPr lang="en-US" smtClean="0"/>
              <a:t>2</a:t>
            </a:fld>
            <a:endParaRPr lang="en-US"/>
          </a:p>
        </p:txBody>
      </p:sp>
    </p:spTree>
    <p:extLst>
      <p:ext uri="{BB962C8B-B14F-4D97-AF65-F5344CB8AC3E}">
        <p14:creationId xmlns:p14="http://schemas.microsoft.com/office/powerpoint/2010/main" val="234497288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E7173CF-89CD-DBBE-6CF7-DD4D7934B29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F00C27B-8BB5-5C04-EB95-A8F5D6F3226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109D962-B12D-1C4C-8EDF-27A38CE4F142}"/>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23A44C81-543B-7259-D452-A44D3B4D7C91}"/>
              </a:ext>
            </a:extLst>
          </p:cNvPr>
          <p:cNvSpPr>
            <a:spLocks noGrp="1"/>
          </p:cNvSpPr>
          <p:nvPr>
            <p:ph type="sldNum" sz="quarter" idx="5"/>
          </p:nvPr>
        </p:nvSpPr>
        <p:spPr/>
        <p:txBody>
          <a:bodyPr/>
          <a:lstStyle/>
          <a:p>
            <a:fld id="{362CD335-F0CB-D347-B8A5-7AB70F34C34F}" type="slidenum">
              <a:rPr lang="en-US" smtClean="0"/>
              <a:t>3</a:t>
            </a:fld>
            <a:endParaRPr lang="en-US"/>
          </a:p>
        </p:txBody>
      </p:sp>
    </p:spTree>
    <p:extLst>
      <p:ext uri="{BB962C8B-B14F-4D97-AF65-F5344CB8AC3E}">
        <p14:creationId xmlns:p14="http://schemas.microsoft.com/office/powerpoint/2010/main" val="354576503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16C50D1-3DF5-A913-D62C-7D977212288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D2E6735-6967-621B-AED7-733349EC463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7F34A64-A61A-2C38-F6DF-B93861A461C7}"/>
              </a:ext>
            </a:extLst>
          </p:cNvPr>
          <p:cNvSpPr>
            <a:spLocks noGrp="1"/>
          </p:cNvSpPr>
          <p:nvPr>
            <p:ph type="body" idx="1"/>
          </p:nvPr>
        </p:nvSpPr>
        <p:spPr/>
        <p:txBody>
          <a:bodyPr/>
          <a:lstStyle/>
          <a:p>
            <a:r>
              <a:rPr lang="en-US" dirty="0"/>
              <a:t>Housing </a:t>
            </a:r>
          </a:p>
          <a:p>
            <a:r>
              <a:rPr lang="en-US" dirty="0"/>
              <a:t>Career opportunities</a:t>
            </a:r>
          </a:p>
          <a:p>
            <a:r>
              <a:rPr lang="en-US" dirty="0"/>
              <a:t>healthcare</a:t>
            </a:r>
          </a:p>
          <a:p>
            <a:r>
              <a:rPr lang="en-US" dirty="0"/>
              <a:t>credit </a:t>
            </a:r>
          </a:p>
          <a:p>
            <a:r>
              <a:rPr lang="en-US" dirty="0"/>
              <a:t>education </a:t>
            </a:r>
          </a:p>
          <a:p>
            <a:r>
              <a:rPr lang="en-US" dirty="0"/>
              <a:t>legalities </a:t>
            </a:r>
          </a:p>
          <a:p>
            <a:r>
              <a:rPr lang="en-US" dirty="0"/>
              <a:t>police surveillance </a:t>
            </a:r>
          </a:p>
          <a:p>
            <a:endParaRPr lang="en-US" dirty="0"/>
          </a:p>
        </p:txBody>
      </p:sp>
      <p:sp>
        <p:nvSpPr>
          <p:cNvPr id="4" name="Slide Number Placeholder 3">
            <a:extLst>
              <a:ext uri="{FF2B5EF4-FFF2-40B4-BE49-F238E27FC236}">
                <a16:creationId xmlns:a16="http://schemas.microsoft.com/office/drawing/2014/main" id="{DB8224B4-9CC3-4F2E-0198-81CB9868128E}"/>
              </a:ext>
            </a:extLst>
          </p:cNvPr>
          <p:cNvSpPr>
            <a:spLocks noGrp="1"/>
          </p:cNvSpPr>
          <p:nvPr>
            <p:ph type="sldNum" sz="quarter" idx="5"/>
          </p:nvPr>
        </p:nvSpPr>
        <p:spPr/>
        <p:txBody>
          <a:bodyPr/>
          <a:lstStyle/>
          <a:p>
            <a:fld id="{362CD335-F0CB-D347-B8A5-7AB70F34C34F}" type="slidenum">
              <a:rPr lang="en-US" smtClean="0"/>
              <a:t>4</a:t>
            </a:fld>
            <a:endParaRPr lang="en-US"/>
          </a:p>
        </p:txBody>
      </p:sp>
    </p:spTree>
    <p:extLst>
      <p:ext uri="{BB962C8B-B14F-4D97-AF65-F5344CB8AC3E}">
        <p14:creationId xmlns:p14="http://schemas.microsoft.com/office/powerpoint/2010/main" val="213472297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2EE1E6A-D72B-0441-746A-599E5818A8C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8BEF2AE-FAD6-B3B8-0119-D3FD5797C7D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E92CE7D-CCBE-5211-5326-AF9156EC362D}"/>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38733AE2-9453-1394-056B-FB1816BF0CC4}"/>
              </a:ext>
            </a:extLst>
          </p:cNvPr>
          <p:cNvSpPr>
            <a:spLocks noGrp="1"/>
          </p:cNvSpPr>
          <p:nvPr>
            <p:ph type="sldNum" sz="quarter" idx="5"/>
          </p:nvPr>
        </p:nvSpPr>
        <p:spPr/>
        <p:txBody>
          <a:bodyPr/>
          <a:lstStyle/>
          <a:p>
            <a:fld id="{362CD335-F0CB-D347-B8A5-7AB70F34C34F}" type="slidenum">
              <a:rPr lang="en-US" smtClean="0"/>
              <a:t>5</a:t>
            </a:fld>
            <a:endParaRPr lang="en-US"/>
          </a:p>
        </p:txBody>
      </p:sp>
    </p:spTree>
    <p:extLst>
      <p:ext uri="{BB962C8B-B14F-4D97-AF65-F5344CB8AC3E}">
        <p14:creationId xmlns:p14="http://schemas.microsoft.com/office/powerpoint/2010/main" val="196792922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1878F07-EA9B-AD5A-BFE8-EE155E5BDA2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1D7B123-3616-68CD-92FB-B10A83EF309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FE85477-1DD2-7F28-4AEF-B5E0091DFE58}"/>
              </a:ext>
            </a:extLst>
          </p:cNvPr>
          <p:cNvSpPr>
            <a:spLocks noGrp="1"/>
          </p:cNvSpPr>
          <p:nvPr>
            <p:ph type="body" idx="1"/>
          </p:nvPr>
        </p:nvSpPr>
        <p:spPr/>
        <p:txBody>
          <a:bodyPr/>
          <a:lstStyle/>
          <a:p>
            <a:r>
              <a:rPr lang="en-US" dirty="0"/>
              <a:t>Increasing drastically as time passes </a:t>
            </a:r>
          </a:p>
        </p:txBody>
      </p:sp>
      <p:sp>
        <p:nvSpPr>
          <p:cNvPr id="4" name="Slide Number Placeholder 3">
            <a:extLst>
              <a:ext uri="{FF2B5EF4-FFF2-40B4-BE49-F238E27FC236}">
                <a16:creationId xmlns:a16="http://schemas.microsoft.com/office/drawing/2014/main" id="{6AE6DADB-93AF-5C78-B8D9-A977DD2EEE5B}"/>
              </a:ext>
            </a:extLst>
          </p:cNvPr>
          <p:cNvSpPr>
            <a:spLocks noGrp="1"/>
          </p:cNvSpPr>
          <p:nvPr>
            <p:ph type="sldNum" sz="quarter" idx="5"/>
          </p:nvPr>
        </p:nvSpPr>
        <p:spPr/>
        <p:txBody>
          <a:bodyPr/>
          <a:lstStyle/>
          <a:p>
            <a:fld id="{362CD335-F0CB-D347-B8A5-7AB70F34C34F}" type="slidenum">
              <a:rPr lang="en-US" smtClean="0"/>
              <a:t>6</a:t>
            </a:fld>
            <a:endParaRPr lang="en-US"/>
          </a:p>
        </p:txBody>
      </p:sp>
    </p:spTree>
    <p:extLst>
      <p:ext uri="{BB962C8B-B14F-4D97-AF65-F5344CB8AC3E}">
        <p14:creationId xmlns:p14="http://schemas.microsoft.com/office/powerpoint/2010/main" val="310838110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C8F378-6AAC-D8CD-02D3-D44FEFB40EF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AAA523B-E528-D297-6D8A-31EED3100C0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0D7CB17-DBFA-0A9E-161D-3E0CFCD83229}"/>
              </a:ext>
            </a:extLst>
          </p:cNvPr>
          <p:cNvSpPr>
            <a:spLocks noGrp="1"/>
          </p:cNvSpPr>
          <p:nvPr>
            <p:ph type="body" idx="1"/>
          </p:nvPr>
        </p:nvSpPr>
        <p:spPr/>
        <p:txBody>
          <a:bodyPr/>
          <a:lstStyle/>
          <a:p>
            <a:r>
              <a:rPr lang="en-US" dirty="0"/>
              <a:t>The red boxes present a typical AI pipeline with four trust components in green. Lastly, the vivid yellow nodes refer to the research objectives (O1–O4) associated with the related results</a:t>
            </a:r>
          </a:p>
        </p:txBody>
      </p:sp>
      <p:sp>
        <p:nvSpPr>
          <p:cNvPr id="4" name="Slide Number Placeholder 3">
            <a:extLst>
              <a:ext uri="{FF2B5EF4-FFF2-40B4-BE49-F238E27FC236}">
                <a16:creationId xmlns:a16="http://schemas.microsoft.com/office/drawing/2014/main" id="{02CDCD0A-6DCB-8472-7977-CF2A2B4006EB}"/>
              </a:ext>
            </a:extLst>
          </p:cNvPr>
          <p:cNvSpPr>
            <a:spLocks noGrp="1"/>
          </p:cNvSpPr>
          <p:nvPr>
            <p:ph type="sldNum" sz="quarter" idx="5"/>
          </p:nvPr>
        </p:nvSpPr>
        <p:spPr/>
        <p:txBody>
          <a:bodyPr/>
          <a:lstStyle/>
          <a:p>
            <a:fld id="{362CD335-F0CB-D347-B8A5-7AB70F34C34F}" type="slidenum">
              <a:rPr lang="en-US" smtClean="0"/>
              <a:t>7</a:t>
            </a:fld>
            <a:endParaRPr lang="en-US"/>
          </a:p>
        </p:txBody>
      </p:sp>
    </p:spTree>
    <p:extLst>
      <p:ext uri="{BB962C8B-B14F-4D97-AF65-F5344CB8AC3E}">
        <p14:creationId xmlns:p14="http://schemas.microsoft.com/office/powerpoint/2010/main" val="229812198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78EAB64-AFB3-B1FC-2E18-F79D192D359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6D881DA-8241-5C1B-E65F-E47A0EE9A23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94C1A85-4DB6-D8B5-1513-35DE28F34506}"/>
              </a:ext>
            </a:extLst>
          </p:cNvPr>
          <p:cNvSpPr>
            <a:spLocks noGrp="1"/>
          </p:cNvSpPr>
          <p:nvPr>
            <p:ph type="body" idx="1"/>
          </p:nvPr>
        </p:nvSpPr>
        <p:spPr/>
        <p:txBody>
          <a:bodyPr/>
          <a:lstStyle/>
          <a:p>
            <a:pPr marL="171450" indent="-171450">
              <a:buFont typeface="Arial" panose="020B0604020202020204" pitchFamily="34" charset="0"/>
              <a:buChar char="•"/>
            </a:pPr>
            <a:r>
              <a:rPr lang="en-US" dirty="0"/>
              <a:t>VA dashboard designed to address instance hardness by employing highly configurable </a:t>
            </a:r>
            <a:r>
              <a:rPr lang="en-US" dirty="0" err="1"/>
              <a:t>undersampling</a:t>
            </a:r>
            <a:r>
              <a:rPr lang="en-US" dirty="0"/>
              <a:t> and oversampling methods </a:t>
            </a:r>
          </a:p>
          <a:p>
            <a:pPr marL="171450" indent="-171450">
              <a:buFont typeface="Arial" panose="020B0604020202020204" pitchFamily="34" charset="0"/>
              <a:buChar char="•"/>
            </a:pPr>
            <a:r>
              <a:rPr lang="en-US" dirty="0"/>
              <a:t>dashboard provides multiple coordinated views, enabling users to determine the optimal distribution of data types iteratively, selectively remove safe-to-discard samples, and interactively oversample others as needed. </a:t>
            </a:r>
          </a:p>
          <a:p>
            <a:pPr marL="171450" indent="-171450">
              <a:buFont typeface="Arial" panose="020B0604020202020204" pitchFamily="34" charset="0"/>
              <a:buChar char="•"/>
            </a:pPr>
            <a:r>
              <a:rPr lang="en-US" dirty="0"/>
              <a:t>It also supports the analysis of algorithmic recommendations by using diverse visual cues to validate the safety of proposed removals or additions. </a:t>
            </a:r>
          </a:p>
          <a:p>
            <a:pPr marL="171450" indent="-171450">
              <a:buFont typeface="Arial" panose="020B0604020202020204" pitchFamily="34" charset="0"/>
              <a:buChar char="•"/>
            </a:pPr>
            <a:r>
              <a:rPr lang="en-US" dirty="0"/>
              <a:t>This VA approach makes the entire process transparent by being effective in tackling instance hardness and class imbalance problems</a:t>
            </a:r>
          </a:p>
        </p:txBody>
      </p:sp>
      <p:sp>
        <p:nvSpPr>
          <p:cNvPr id="4" name="Slide Number Placeholder 3">
            <a:extLst>
              <a:ext uri="{FF2B5EF4-FFF2-40B4-BE49-F238E27FC236}">
                <a16:creationId xmlns:a16="http://schemas.microsoft.com/office/drawing/2014/main" id="{D9616D30-3019-69AB-9155-50CC54E87C91}"/>
              </a:ext>
            </a:extLst>
          </p:cNvPr>
          <p:cNvSpPr>
            <a:spLocks noGrp="1"/>
          </p:cNvSpPr>
          <p:nvPr>
            <p:ph type="sldNum" sz="quarter" idx="5"/>
          </p:nvPr>
        </p:nvSpPr>
        <p:spPr/>
        <p:txBody>
          <a:bodyPr/>
          <a:lstStyle/>
          <a:p>
            <a:fld id="{362CD335-F0CB-D347-B8A5-7AB70F34C34F}" type="slidenum">
              <a:rPr lang="en-US" smtClean="0"/>
              <a:t>8</a:t>
            </a:fld>
            <a:endParaRPr lang="en-US"/>
          </a:p>
        </p:txBody>
      </p:sp>
    </p:spTree>
    <p:extLst>
      <p:ext uri="{BB962C8B-B14F-4D97-AF65-F5344CB8AC3E}">
        <p14:creationId xmlns:p14="http://schemas.microsoft.com/office/powerpoint/2010/main" val="269045587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C89FE4-0FC6-5E0C-68A5-9179F481311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AF5EEB7-4AE2-4AD1-99E0-6587B897CE9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F9E2134-3D04-B831-DFDF-6C60430F9F79}"/>
              </a:ext>
            </a:extLst>
          </p:cNvPr>
          <p:cNvSpPr>
            <a:spLocks noGrp="1"/>
          </p:cNvSpPr>
          <p:nvPr>
            <p:ph type="body" idx="1"/>
          </p:nvPr>
        </p:nvSpPr>
        <p:spPr/>
        <p:txBody>
          <a:bodyPr/>
          <a:lstStyle/>
          <a:p>
            <a:r>
              <a:rPr lang="en-US" dirty="0"/>
              <a:t>FeatureEnVi13 is a</a:t>
            </a:r>
          </a:p>
          <a:p>
            <a:pPr marL="171450" indent="-171450">
              <a:buFont typeface="Arial" panose="020B0604020202020204" pitchFamily="34" charset="0"/>
              <a:buChar char="•"/>
            </a:pPr>
            <a:r>
              <a:rPr lang="en-US" dirty="0"/>
              <a:t>VA dashboard designed to support users in engineering features through stepwise feature selection and semiautomatic feature extraction methods  </a:t>
            </a:r>
          </a:p>
          <a:p>
            <a:pPr marL="171450" indent="-171450">
              <a:buFont typeface="Arial" panose="020B0604020202020204" pitchFamily="34" charset="0"/>
              <a:buChar char="•"/>
            </a:pPr>
            <a:r>
              <a:rPr lang="en-US" dirty="0"/>
              <a:t>The dashboard employs multiple coordinated views to assist users in selecting, transforming, and creating new features as part of a highly iterative workflow. </a:t>
            </a:r>
          </a:p>
          <a:p>
            <a:pPr marL="171450" indent="-171450">
              <a:buFont typeface="Arial" panose="020B0604020202020204" pitchFamily="34" charset="0"/>
              <a:buChar char="•"/>
            </a:pPr>
            <a:r>
              <a:rPr lang="en-US" dirty="0"/>
              <a:t>By examining the impact of features using various statistical metrics and automated feature selection techniques, users can enhance predictive performance, minimize computational resource requirements, and shorten training time. </a:t>
            </a:r>
          </a:p>
          <a:p>
            <a:pPr marL="171450" indent="-171450">
              <a:buFont typeface="Arial" panose="020B0604020202020204" pitchFamily="34" charset="0"/>
              <a:buChar char="•"/>
            </a:pPr>
            <a:r>
              <a:rPr lang="en-US" dirty="0"/>
              <a:t>This VA approach increases adaptability and transparency by improving the feature engineering process.</a:t>
            </a:r>
          </a:p>
        </p:txBody>
      </p:sp>
      <p:sp>
        <p:nvSpPr>
          <p:cNvPr id="4" name="Slide Number Placeholder 3">
            <a:extLst>
              <a:ext uri="{FF2B5EF4-FFF2-40B4-BE49-F238E27FC236}">
                <a16:creationId xmlns:a16="http://schemas.microsoft.com/office/drawing/2014/main" id="{EAACF4DE-6502-AF1E-8328-961BAAFDAFF6}"/>
              </a:ext>
            </a:extLst>
          </p:cNvPr>
          <p:cNvSpPr>
            <a:spLocks noGrp="1"/>
          </p:cNvSpPr>
          <p:nvPr>
            <p:ph type="sldNum" sz="quarter" idx="5"/>
          </p:nvPr>
        </p:nvSpPr>
        <p:spPr/>
        <p:txBody>
          <a:bodyPr/>
          <a:lstStyle/>
          <a:p>
            <a:fld id="{362CD335-F0CB-D347-B8A5-7AB70F34C34F}" type="slidenum">
              <a:rPr lang="en-US" smtClean="0"/>
              <a:t>9</a:t>
            </a:fld>
            <a:endParaRPr lang="en-US"/>
          </a:p>
        </p:txBody>
      </p:sp>
    </p:spTree>
    <p:extLst>
      <p:ext uri="{BB962C8B-B14F-4D97-AF65-F5344CB8AC3E}">
        <p14:creationId xmlns:p14="http://schemas.microsoft.com/office/powerpoint/2010/main" val="134899718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CF28610-7449-0EC6-CD07-0B75E4E0559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A0797B9-78D3-CE90-B5C8-81FAC1A0447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37245A2-5926-0E2D-B3CC-9C8D78C3CC9D}"/>
              </a:ext>
            </a:extLst>
          </p:cNvPr>
          <p:cNvSpPr>
            <a:spLocks noGrp="1"/>
          </p:cNvSpPr>
          <p:nvPr>
            <p:ph type="body" idx="1"/>
          </p:nvPr>
        </p:nvSpPr>
        <p:spPr/>
        <p:txBody>
          <a:bodyPr/>
          <a:lstStyle/>
          <a:p>
            <a:r>
              <a:rPr lang="en-US" dirty="0"/>
              <a:t>VisEvol14 is </a:t>
            </a:r>
          </a:p>
          <a:p>
            <a:pPr marL="171450" indent="-171450">
              <a:buFont typeface="Arial" panose="020B0604020202020204" pitchFamily="34" charset="0"/>
              <a:buChar char="•"/>
            </a:pPr>
            <a:r>
              <a:rPr lang="en-US" dirty="0"/>
              <a:t>VA dashboard designed to facilitate hyperparameter search using evolutionary optimization </a:t>
            </a:r>
          </a:p>
          <a:p>
            <a:pPr marL="171450" indent="-171450">
              <a:buFont typeface="Arial" panose="020B0604020202020204" pitchFamily="34" charset="0"/>
              <a:buChar char="•"/>
            </a:pPr>
            <a:r>
              <a:rPr lang="en-US" dirty="0"/>
              <a:t>By using multiple coordinated views, the dashboard enables users to create new hyperparameter sets and preserve robust ones within a majority-voting ensemble. </a:t>
            </a:r>
          </a:p>
          <a:p>
            <a:pPr marL="171450" indent="-171450">
              <a:buFont typeface="Arial" panose="020B0604020202020204" pitchFamily="34" charset="0"/>
              <a:buChar char="•"/>
            </a:pPr>
            <a:r>
              <a:rPr lang="en-US" dirty="0"/>
              <a:t>Examining the effects of adding or removing algorithms and models in a majority-voting ensemble from various perspectives, along with monitoring the crossover and mutation processes, provides users with clarity on selecting hyperparameters for a single model or complex ensembles that require a balance of performance and diversity</a:t>
            </a:r>
          </a:p>
        </p:txBody>
      </p:sp>
      <p:sp>
        <p:nvSpPr>
          <p:cNvPr id="4" name="Slide Number Placeholder 3">
            <a:extLst>
              <a:ext uri="{FF2B5EF4-FFF2-40B4-BE49-F238E27FC236}">
                <a16:creationId xmlns:a16="http://schemas.microsoft.com/office/drawing/2014/main" id="{2E80B6DA-6E60-9796-0983-E290C953CC6F}"/>
              </a:ext>
            </a:extLst>
          </p:cNvPr>
          <p:cNvSpPr>
            <a:spLocks noGrp="1"/>
          </p:cNvSpPr>
          <p:nvPr>
            <p:ph type="sldNum" sz="quarter" idx="5"/>
          </p:nvPr>
        </p:nvSpPr>
        <p:spPr/>
        <p:txBody>
          <a:bodyPr/>
          <a:lstStyle/>
          <a:p>
            <a:fld id="{362CD335-F0CB-D347-B8A5-7AB70F34C34F}" type="slidenum">
              <a:rPr lang="en-US" smtClean="0"/>
              <a:t>10</a:t>
            </a:fld>
            <a:endParaRPr lang="en-US"/>
          </a:p>
        </p:txBody>
      </p:sp>
    </p:spTree>
    <p:extLst>
      <p:ext uri="{BB962C8B-B14F-4D97-AF65-F5344CB8AC3E}">
        <p14:creationId xmlns:p14="http://schemas.microsoft.com/office/powerpoint/2010/main" val="203164422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71942AA-1BA1-2A89-BEB4-7A91669C9A5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54A0A89-DB2F-115B-8815-CF4C0B51EA6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EEF4260-BAEC-30A3-3AA2-DB287CCFEF55}"/>
              </a:ext>
            </a:extLst>
          </p:cNvPr>
          <p:cNvSpPr>
            <a:spLocks noGrp="1"/>
          </p:cNvSpPr>
          <p:nvPr>
            <p:ph type="body" idx="1"/>
          </p:nvPr>
        </p:nvSpPr>
        <p:spPr/>
        <p:txBody>
          <a:bodyPr/>
          <a:lstStyle/>
          <a:p>
            <a:r>
              <a:rPr lang="en-US" dirty="0"/>
              <a:t>t-SNE is a widely used method for visualizing multidimensional data, with numerous successful applications across various fields. However, interpreting t-SNE projections can be challenging and, at times, misleading, which can undermine the reliability of the results. Gaining insight into the workings of t-SNE and the underlying causes of specific patterns in its output can be particularly difficult, especially for those unfamiliar with dimensionality reduction techniques</a:t>
            </a:r>
          </a:p>
          <a:p>
            <a:endParaRPr lang="en-US" dirty="0"/>
          </a:p>
          <a:p>
            <a:r>
              <a:rPr lang="en-US" dirty="0"/>
              <a:t>t-viSNE15 is a VA dashboard designed for exploring t-SNE projections visually by partially unveiling the inner workings of the t-SNE algorithm</a:t>
            </a:r>
          </a:p>
          <a:p>
            <a:endParaRPr lang="en-US" dirty="0"/>
          </a:p>
        </p:txBody>
      </p:sp>
      <p:sp>
        <p:nvSpPr>
          <p:cNvPr id="4" name="Slide Number Placeholder 3">
            <a:extLst>
              <a:ext uri="{FF2B5EF4-FFF2-40B4-BE49-F238E27FC236}">
                <a16:creationId xmlns:a16="http://schemas.microsoft.com/office/drawing/2014/main" id="{25056DAA-2983-63CB-7077-F15F83F21C04}"/>
              </a:ext>
            </a:extLst>
          </p:cNvPr>
          <p:cNvSpPr>
            <a:spLocks noGrp="1"/>
          </p:cNvSpPr>
          <p:nvPr>
            <p:ph type="sldNum" sz="quarter" idx="5"/>
          </p:nvPr>
        </p:nvSpPr>
        <p:spPr/>
        <p:txBody>
          <a:bodyPr/>
          <a:lstStyle/>
          <a:p>
            <a:fld id="{362CD335-F0CB-D347-B8A5-7AB70F34C34F}" type="slidenum">
              <a:rPr lang="en-US" smtClean="0"/>
              <a:t>11</a:t>
            </a:fld>
            <a:endParaRPr lang="en-US"/>
          </a:p>
        </p:txBody>
      </p:sp>
    </p:spTree>
    <p:extLst>
      <p:ext uri="{BB962C8B-B14F-4D97-AF65-F5344CB8AC3E}">
        <p14:creationId xmlns:p14="http://schemas.microsoft.com/office/powerpoint/2010/main" val="182521117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07F9DE-F7DC-7BC1-0EBB-F01B80E918E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0706C87-ABE8-586B-F00A-4C9603F3E01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87F4683-74AA-89D8-27B7-43FAB038AC78}"/>
              </a:ext>
            </a:extLst>
          </p:cNvPr>
          <p:cNvSpPr>
            <a:spLocks noGrp="1"/>
          </p:cNvSpPr>
          <p:nvPr>
            <p:ph type="body" idx="1"/>
          </p:nvPr>
        </p:nvSpPr>
        <p:spPr/>
        <p:txBody>
          <a:bodyPr/>
          <a:lstStyle/>
          <a:p>
            <a:r>
              <a:rPr lang="en-US" dirty="0"/>
              <a:t>Bagging and boosting are widely used ensemble techniques in AI that generate multiple individual decision trees. Because of their ensemble nature, these methods often achieve better predictive performance compared to single decision trees or other AI models. However, each decision tree creates numerous decision paths, increasing the model’s complexity and limiting its application in fields requiring reliable and explainable outcomes. Therefore, as the number of decisions increases, the interpretability of algorithms, such as random forest and AdaBoost, diminishes</a:t>
            </a:r>
          </a:p>
          <a:p>
            <a:endParaRPr lang="en-US" dirty="0"/>
          </a:p>
          <a:p>
            <a:r>
              <a:rPr lang="en-US" dirty="0"/>
              <a:t>VA dashboard that enables users to examine a range of rules derived from bagged and boosted decision trees in order to reach a consensus on the final decision for each case</a:t>
            </a:r>
          </a:p>
          <a:p>
            <a:endParaRPr lang="en-US" dirty="0"/>
          </a:p>
          <a:p>
            <a:r>
              <a:rPr lang="en-US" dirty="0"/>
              <a:t>The dashboard’s multiple coordinated views support the selection of various high-performance models, analysis of feature contributions, management of multiple decisions, exploration of global decisions, and facilitation of case-based reasoning</a:t>
            </a:r>
          </a:p>
        </p:txBody>
      </p:sp>
      <p:sp>
        <p:nvSpPr>
          <p:cNvPr id="4" name="Slide Number Placeholder 3">
            <a:extLst>
              <a:ext uri="{FF2B5EF4-FFF2-40B4-BE49-F238E27FC236}">
                <a16:creationId xmlns:a16="http://schemas.microsoft.com/office/drawing/2014/main" id="{BEED94F0-CC51-4F16-07CC-6C018235E129}"/>
              </a:ext>
            </a:extLst>
          </p:cNvPr>
          <p:cNvSpPr>
            <a:spLocks noGrp="1"/>
          </p:cNvSpPr>
          <p:nvPr>
            <p:ph type="sldNum" sz="quarter" idx="5"/>
          </p:nvPr>
        </p:nvSpPr>
        <p:spPr/>
        <p:txBody>
          <a:bodyPr/>
          <a:lstStyle/>
          <a:p>
            <a:fld id="{362CD335-F0CB-D347-B8A5-7AB70F34C34F}" type="slidenum">
              <a:rPr lang="en-US" smtClean="0"/>
              <a:t>12</a:t>
            </a:fld>
            <a:endParaRPr lang="en-US"/>
          </a:p>
        </p:txBody>
      </p:sp>
    </p:spTree>
    <p:extLst>
      <p:ext uri="{BB962C8B-B14F-4D97-AF65-F5344CB8AC3E}">
        <p14:creationId xmlns:p14="http://schemas.microsoft.com/office/powerpoint/2010/main" val="279168792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75A6BD8-4692-CDBE-966F-BE8106BF69B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B03E374-0456-BE55-F225-2DCA452BD5A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BA0D0E2-EB94-B8AF-710C-FAB3F1EF5CB1}"/>
              </a:ext>
            </a:extLst>
          </p:cNvPr>
          <p:cNvSpPr>
            <a:spLocks noGrp="1"/>
          </p:cNvSpPr>
          <p:nvPr>
            <p:ph type="body" idx="1"/>
          </p:nvPr>
        </p:nvSpPr>
        <p:spPr/>
        <p:txBody>
          <a:bodyPr/>
          <a:lstStyle/>
          <a:p>
            <a:r>
              <a:rPr lang="en-US" dirty="0"/>
              <a:t>Stacking is an ensemble method that integrates various base models, organized in at least one layer, and uses a metamodel to aggregate their predictions. While it can significantly improve the predictive accuracy of AI, creating a model stack from the ground up often involves a time-consuming trial-and-error process. This difficulty arises due to the vast range of possible solutions, including varying sets of data instances and features for training, a wide selection of algorithms, and different parameter settings (i.e., models) that yield different performances based on various metrics.</a:t>
            </a:r>
          </a:p>
          <a:p>
            <a:endParaRPr lang="en-US" dirty="0"/>
          </a:p>
          <a:p>
            <a:r>
              <a:rPr lang="en-US" dirty="0"/>
              <a:t>VA dashboard designed for aligning data, algorithms, and models in stacking ensemble. Through multiple coordinated views, users can create an effective stacking ensemble from scratch. </a:t>
            </a:r>
          </a:p>
          <a:p>
            <a:endParaRPr lang="en-US" dirty="0"/>
          </a:p>
          <a:p>
            <a:r>
              <a:rPr lang="en-US" dirty="0"/>
              <a:t>By exploring the algorithms, data, and models from various perspectives and monitoring the training process, users can confidently determine the next steps in developing complex stacks of models, requiring a combination of both the highest performing and the most diverse individual AI models.</a:t>
            </a:r>
          </a:p>
        </p:txBody>
      </p:sp>
      <p:sp>
        <p:nvSpPr>
          <p:cNvPr id="4" name="Slide Number Placeholder 3">
            <a:extLst>
              <a:ext uri="{FF2B5EF4-FFF2-40B4-BE49-F238E27FC236}">
                <a16:creationId xmlns:a16="http://schemas.microsoft.com/office/drawing/2014/main" id="{0DADA9C3-20F4-115A-96ED-5B439D469C9F}"/>
              </a:ext>
            </a:extLst>
          </p:cNvPr>
          <p:cNvSpPr>
            <a:spLocks noGrp="1"/>
          </p:cNvSpPr>
          <p:nvPr>
            <p:ph type="sldNum" sz="quarter" idx="5"/>
          </p:nvPr>
        </p:nvSpPr>
        <p:spPr/>
        <p:txBody>
          <a:bodyPr/>
          <a:lstStyle/>
          <a:p>
            <a:fld id="{362CD335-F0CB-D347-B8A5-7AB70F34C34F}" type="slidenum">
              <a:rPr lang="en-US" smtClean="0"/>
              <a:t>13</a:t>
            </a:fld>
            <a:endParaRPr lang="en-US"/>
          </a:p>
        </p:txBody>
      </p:sp>
    </p:spTree>
    <p:extLst>
      <p:ext uri="{BB962C8B-B14F-4D97-AF65-F5344CB8AC3E}">
        <p14:creationId xmlns:p14="http://schemas.microsoft.com/office/powerpoint/2010/main" val="145052159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74E5B1-04CD-0AF4-5633-76AFDA6DFD8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F53844C-A5F5-2C52-2CFF-B9D04B27683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0260A87-6E38-D3A1-536F-58E2220B46B8}"/>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1650AE7F-110A-0EB4-2195-102AA4298AB4}"/>
              </a:ext>
            </a:extLst>
          </p:cNvPr>
          <p:cNvSpPr>
            <a:spLocks noGrp="1"/>
          </p:cNvSpPr>
          <p:nvPr>
            <p:ph type="sldNum" sz="quarter" idx="5"/>
          </p:nvPr>
        </p:nvSpPr>
        <p:spPr/>
        <p:txBody>
          <a:bodyPr/>
          <a:lstStyle/>
          <a:p>
            <a:fld id="{362CD335-F0CB-D347-B8A5-7AB70F34C34F}" type="slidenum">
              <a:rPr lang="en-US" smtClean="0"/>
              <a:t>14</a:t>
            </a:fld>
            <a:endParaRPr lang="en-US"/>
          </a:p>
        </p:txBody>
      </p:sp>
    </p:spTree>
    <p:extLst>
      <p:ext uri="{BB962C8B-B14F-4D97-AF65-F5344CB8AC3E}">
        <p14:creationId xmlns:p14="http://schemas.microsoft.com/office/powerpoint/2010/main" val="1334900817"/>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3B6A4A-44CF-9A43-AD3E-F7298149DD5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F3349E0-6A9E-5041-B197-014044D7A6C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ADFD6D8-A398-3CC6-4A89-A9C5A209CD4C}"/>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132D3FE6-FB4B-EDF4-3966-8638B5736530}"/>
              </a:ext>
            </a:extLst>
          </p:cNvPr>
          <p:cNvSpPr>
            <a:spLocks noGrp="1"/>
          </p:cNvSpPr>
          <p:nvPr>
            <p:ph type="sldNum" sz="quarter" idx="5"/>
          </p:nvPr>
        </p:nvSpPr>
        <p:spPr/>
        <p:txBody>
          <a:bodyPr/>
          <a:lstStyle/>
          <a:p>
            <a:fld id="{362CD335-F0CB-D347-B8A5-7AB70F34C34F}" type="slidenum">
              <a:rPr lang="en-US" smtClean="0"/>
              <a:t>15</a:t>
            </a:fld>
            <a:endParaRPr lang="en-US"/>
          </a:p>
        </p:txBody>
      </p:sp>
    </p:spTree>
    <p:extLst>
      <p:ext uri="{BB962C8B-B14F-4D97-AF65-F5344CB8AC3E}">
        <p14:creationId xmlns:p14="http://schemas.microsoft.com/office/powerpoint/2010/main" val="985741984"/>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DF1AB97-3219-B6DE-1760-1F5947385BE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80B9E2A-A459-E3C1-49AC-682B26F3EA8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EF725AE-8FDD-7EB6-F75A-985424C42D6B}"/>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68FDFEF7-9D1F-4484-E2EA-A999ADA455AE}"/>
              </a:ext>
            </a:extLst>
          </p:cNvPr>
          <p:cNvSpPr>
            <a:spLocks noGrp="1"/>
          </p:cNvSpPr>
          <p:nvPr>
            <p:ph type="sldNum" sz="quarter" idx="5"/>
          </p:nvPr>
        </p:nvSpPr>
        <p:spPr/>
        <p:txBody>
          <a:bodyPr/>
          <a:lstStyle/>
          <a:p>
            <a:fld id="{362CD335-F0CB-D347-B8A5-7AB70F34C34F}" type="slidenum">
              <a:rPr lang="en-US" smtClean="0"/>
              <a:t>16</a:t>
            </a:fld>
            <a:endParaRPr lang="en-US"/>
          </a:p>
        </p:txBody>
      </p:sp>
    </p:spTree>
    <p:extLst>
      <p:ext uri="{BB962C8B-B14F-4D97-AF65-F5344CB8AC3E}">
        <p14:creationId xmlns:p14="http://schemas.microsoft.com/office/powerpoint/2010/main" val="144123672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7" name="Rectangle 6"/>
          <p:cNvSpPr/>
          <p:nvPr/>
        </p:nvSpPr>
        <p:spPr>
          <a:xfrm>
            <a:off x="446534" y="3085765"/>
            <a:ext cx="11262866" cy="330480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 name="Title 1"/>
          <p:cNvSpPr>
            <a:spLocks noGrp="1"/>
          </p:cNvSpPr>
          <p:nvPr>
            <p:ph type="ctrTitle"/>
          </p:nvPr>
        </p:nvSpPr>
        <p:spPr>
          <a:xfrm>
            <a:off x="581191" y="1020431"/>
            <a:ext cx="10993549" cy="1475013"/>
          </a:xfrm>
          <a:effectLst/>
        </p:spPr>
        <p:txBody>
          <a:bodyPr anchor="b">
            <a:normAutofit/>
          </a:bodyPr>
          <a:lstStyle>
            <a:lvl1pPr>
              <a:defRPr sz="36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581194" y="2495445"/>
            <a:ext cx="10993546" cy="590321"/>
          </a:xfrm>
        </p:spPr>
        <p:txBody>
          <a:bodyPr anchor="t">
            <a:normAutofit/>
          </a:bodyPr>
          <a:lstStyle>
            <a:lvl1pPr marL="0" indent="0" algn="l">
              <a:buNone/>
              <a:defRPr sz="1600" cap="all">
                <a:solidFill>
                  <a:schemeClr val="accent2"/>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a:xfrm>
            <a:off x="7605951" y="5956137"/>
            <a:ext cx="2844800" cy="365125"/>
          </a:xfrm>
        </p:spPr>
        <p:txBody>
          <a:bodyPr/>
          <a:lstStyle>
            <a:lvl1pPr>
              <a:defRPr>
                <a:solidFill>
                  <a:schemeClr val="accent1">
                    <a:lumMod val="75000"/>
                    <a:lumOff val="25000"/>
                  </a:schemeClr>
                </a:solidFill>
              </a:defRPr>
            </a:lvl1pPr>
          </a:lstStyle>
          <a:p>
            <a:fld id="{B61BEF0D-F0BB-DE4B-95CE-6DB70DBA9567}" type="datetimeFigureOut">
              <a:rPr lang="en-US" smtClean="0"/>
              <a:pPr/>
              <a:t>2/27/26</a:t>
            </a:fld>
            <a:endParaRPr lang="en-US" dirty="0"/>
          </a:p>
        </p:txBody>
      </p:sp>
      <p:sp>
        <p:nvSpPr>
          <p:cNvPr id="5" name="Footer Placeholder 4"/>
          <p:cNvSpPr>
            <a:spLocks noGrp="1"/>
          </p:cNvSpPr>
          <p:nvPr>
            <p:ph type="ftr" sz="quarter" idx="11"/>
          </p:nvPr>
        </p:nvSpPr>
        <p:spPr>
          <a:xfrm>
            <a:off x="581192" y="5951811"/>
            <a:ext cx="6917210" cy="365125"/>
          </a:xfrm>
        </p:spPr>
        <p:txBody>
          <a:bodyPr/>
          <a:lstStyle>
            <a:lvl1pPr>
              <a:defRPr>
                <a:solidFill>
                  <a:schemeClr val="accent1">
                    <a:lumMod val="75000"/>
                    <a:lumOff val="25000"/>
                  </a:schemeClr>
                </a:solidFill>
              </a:defRPr>
            </a:lvl1pPr>
          </a:lstStyle>
          <a:p>
            <a:endParaRPr lang="en-US" dirty="0"/>
          </a:p>
        </p:txBody>
      </p:sp>
      <p:sp>
        <p:nvSpPr>
          <p:cNvPr id="6" name="Slide Number Placeholder 5"/>
          <p:cNvSpPr>
            <a:spLocks noGrp="1"/>
          </p:cNvSpPr>
          <p:nvPr>
            <p:ph type="sldNum" sz="quarter" idx="12"/>
          </p:nvPr>
        </p:nvSpPr>
        <p:spPr>
          <a:xfrm>
            <a:off x="10558300" y="5956137"/>
            <a:ext cx="1016440" cy="365125"/>
          </a:xfrm>
        </p:spPr>
        <p:txBody>
          <a:bodyPr/>
          <a:lstStyle>
            <a:lvl1pPr>
              <a:defRPr>
                <a:solidFill>
                  <a:schemeClr val="accent1">
                    <a:lumMod val="75000"/>
                    <a:lumOff val="25000"/>
                  </a:schemeClr>
                </a:solidFill>
              </a:defRPr>
            </a:lvl1p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25123727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7" name="Rectangle 6"/>
          <p:cNvSpPr>
            <a:spLocks noChangeAspect="1"/>
          </p:cNvSpPr>
          <p:nvPr/>
        </p:nvSpPr>
        <p:spPr>
          <a:xfrm>
            <a:off x="440286" y="614407"/>
            <a:ext cx="11309338" cy="1189298"/>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 name="Title 1"/>
          <p:cNvSpPr>
            <a:spLocks noGrp="1"/>
          </p:cNvSpPr>
          <p:nvPr>
            <p:ph type="title"/>
          </p:nvPr>
        </p:nvSpPr>
        <p:spPr>
          <a:xfrm>
            <a:off x="581192" y="702156"/>
            <a:ext cx="11029616" cy="1013800"/>
          </a:xfrm>
        </p:spPr>
        <p:txBody>
          <a:bodyPr/>
          <a:lstStyle/>
          <a:p>
            <a:r>
              <a:rPr lang="en-US"/>
              <a:t>Click to edit Master title style</a:t>
            </a:r>
            <a:endParaRPr lang="en-US" dirty="0"/>
          </a:p>
        </p:txBody>
      </p:sp>
      <p:sp>
        <p:nvSpPr>
          <p:cNvPr id="3" name="Content Placeholder 2"/>
          <p:cNvSpPr>
            <a:spLocks noGrp="1"/>
          </p:cNvSpPr>
          <p:nvPr>
            <p:ph idx="1"/>
          </p:nvPr>
        </p:nvSpPr>
        <p:spPr>
          <a:xfrm>
            <a:off x="581192" y="2180496"/>
            <a:ext cx="11029615" cy="367830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2/27/26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a:xfrm>
            <a:off x="10558300" y="5956137"/>
            <a:ext cx="1052508" cy="365125"/>
          </a:xfrm>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58616988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8" name="Rectangle 7"/>
          <p:cNvSpPr>
            <a:spLocks noChangeAspect="1"/>
          </p:cNvSpPr>
          <p:nvPr/>
        </p:nvSpPr>
        <p:spPr>
          <a:xfrm>
            <a:off x="447817" y="5141974"/>
            <a:ext cx="11290860"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81193" y="3043910"/>
            <a:ext cx="11029615" cy="1497507"/>
          </a:xfrm>
        </p:spPr>
        <p:txBody>
          <a:bodyPr anchor="b">
            <a:normAutofit/>
          </a:bodyPr>
          <a:lstStyle>
            <a:lvl1pPr algn="l">
              <a:defRPr sz="3600" b="0" cap="all">
                <a:solidFill>
                  <a:schemeClr val="accent1"/>
                </a:solidFill>
              </a:defRPr>
            </a:lvl1pPr>
          </a:lstStyle>
          <a:p>
            <a:r>
              <a:rPr lang="en-US"/>
              <a:t>Click to edit Master title style</a:t>
            </a:r>
            <a:endParaRPr lang="en-US" dirty="0"/>
          </a:p>
        </p:txBody>
      </p:sp>
      <p:sp>
        <p:nvSpPr>
          <p:cNvPr id="3" name="Text Placeholder 2"/>
          <p:cNvSpPr>
            <a:spLocks noGrp="1"/>
          </p:cNvSpPr>
          <p:nvPr>
            <p:ph type="body" idx="1"/>
          </p:nvPr>
        </p:nvSpPr>
        <p:spPr>
          <a:xfrm>
            <a:off x="581192" y="4541417"/>
            <a:ext cx="11029615" cy="600556"/>
          </a:xfrm>
        </p:spPr>
        <p:txBody>
          <a:bodyPr anchor="t">
            <a:normAutofit/>
          </a:bodyPr>
          <a:lstStyle>
            <a:lvl1pPr marL="0" indent="0" algn="l">
              <a:buNone/>
              <a:defRPr sz="1800" cap="all">
                <a:solidFill>
                  <a:schemeClr val="accent2"/>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lvl1pPr>
              <a:defRPr>
                <a:solidFill>
                  <a:schemeClr val="accent1">
                    <a:lumMod val="75000"/>
                    <a:lumOff val="25000"/>
                  </a:schemeClr>
                </a:solidFill>
              </a:defRPr>
            </a:lvl1pPr>
          </a:lstStyle>
          <a:p>
            <a:fld id="{B61BEF0D-F0BB-DE4B-95CE-6DB70DBA9567}" type="datetimeFigureOut">
              <a:rPr lang="en-US" smtClean="0"/>
              <a:pPr/>
              <a:t>2/27/26</a:t>
            </a:fld>
            <a:endParaRPr lang="en-US" dirty="0"/>
          </a:p>
        </p:txBody>
      </p:sp>
      <p:sp>
        <p:nvSpPr>
          <p:cNvPr id="5" name="Footer Placeholder 4"/>
          <p:cNvSpPr>
            <a:spLocks noGrp="1"/>
          </p:cNvSpPr>
          <p:nvPr>
            <p:ph type="ftr" sz="quarter" idx="11"/>
          </p:nvPr>
        </p:nvSpPr>
        <p:spPr/>
        <p:txBody>
          <a:bodyPr/>
          <a:lstStyle>
            <a:lvl1pPr>
              <a:defRPr>
                <a:solidFill>
                  <a:schemeClr val="accent1">
                    <a:lumMod val="75000"/>
                    <a:lumOff val="25000"/>
                  </a:schemeClr>
                </a:solidFill>
              </a:defRPr>
            </a:lvl1pPr>
          </a:lstStyle>
          <a:p>
            <a:endParaRPr lang="en-US" dirty="0"/>
          </a:p>
        </p:txBody>
      </p:sp>
      <p:sp>
        <p:nvSpPr>
          <p:cNvPr id="6" name="Slide Number Placeholder 5"/>
          <p:cNvSpPr>
            <a:spLocks noGrp="1"/>
          </p:cNvSpPr>
          <p:nvPr>
            <p:ph type="sldNum" sz="quarter" idx="12"/>
          </p:nvPr>
        </p:nvSpPr>
        <p:spPr/>
        <p:txBody>
          <a:bodyPr/>
          <a:lstStyle>
            <a:lvl1pPr>
              <a:defRPr>
                <a:solidFill>
                  <a:schemeClr val="accent1">
                    <a:lumMod val="75000"/>
                    <a:lumOff val="25000"/>
                  </a:schemeClr>
                </a:solidFill>
              </a:defRPr>
            </a:lvl1p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44966516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Rectangle 7"/>
          <p:cNvSpPr>
            <a:spLocks noChangeAspect="1"/>
          </p:cNvSpPr>
          <p:nvPr/>
        </p:nvSpPr>
        <p:spPr>
          <a:xfrm>
            <a:off x="445982" y="606554"/>
            <a:ext cx="11300036"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 name="Title 1"/>
          <p:cNvSpPr>
            <a:spLocks noGrp="1"/>
          </p:cNvSpPr>
          <p:nvPr>
            <p:ph type="title"/>
          </p:nvPr>
        </p:nvSpPr>
        <p:spPr>
          <a:xfrm>
            <a:off x="581193" y="729658"/>
            <a:ext cx="11029616" cy="988332"/>
          </a:xfrm>
        </p:spPr>
        <p:txBody>
          <a:bodyPr/>
          <a:lstStyle/>
          <a:p>
            <a:r>
              <a:rPr lang="en-US"/>
              <a:t>Click to edit Master title style</a:t>
            </a:r>
            <a:endParaRPr lang="en-US" dirty="0"/>
          </a:p>
        </p:txBody>
      </p:sp>
      <p:sp>
        <p:nvSpPr>
          <p:cNvPr id="3" name="Content Placeholder 2"/>
          <p:cNvSpPr>
            <a:spLocks noGrp="1"/>
          </p:cNvSpPr>
          <p:nvPr>
            <p:ph sz="half" idx="1"/>
          </p:nvPr>
        </p:nvSpPr>
        <p:spPr>
          <a:xfrm>
            <a:off x="581193" y="2228003"/>
            <a:ext cx="5422390" cy="363304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88417" y="2228003"/>
            <a:ext cx="5422392" cy="363304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B61BEF0D-F0BB-DE4B-95CE-6DB70DBA9567}" type="datetimeFigureOut">
              <a:rPr lang="en-US" smtClean="0"/>
              <a:pPr/>
              <a:t>2/27/26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87455803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1" name="Rectangle 10"/>
          <p:cNvSpPr>
            <a:spLocks noChangeAspect="1"/>
          </p:cNvSpPr>
          <p:nvPr/>
        </p:nvSpPr>
        <p:spPr>
          <a:xfrm>
            <a:off x="445982" y="606554"/>
            <a:ext cx="11300036"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12" name="Title 1"/>
          <p:cNvSpPr>
            <a:spLocks noGrp="1"/>
          </p:cNvSpPr>
          <p:nvPr>
            <p:ph type="title"/>
          </p:nvPr>
        </p:nvSpPr>
        <p:spPr>
          <a:xfrm>
            <a:off x="581193" y="729658"/>
            <a:ext cx="11029616" cy="988332"/>
          </a:xfrm>
        </p:spPr>
        <p:txBody>
          <a:bodyPr/>
          <a:lstStyle/>
          <a:p>
            <a:r>
              <a:rPr lang="en-US"/>
              <a:t>Click to edit Master title style</a:t>
            </a:r>
            <a:endParaRPr lang="en-US" dirty="0"/>
          </a:p>
        </p:txBody>
      </p:sp>
      <p:sp>
        <p:nvSpPr>
          <p:cNvPr id="3" name="Text Placeholder 2"/>
          <p:cNvSpPr>
            <a:spLocks noGrp="1"/>
          </p:cNvSpPr>
          <p:nvPr>
            <p:ph type="body" idx="1"/>
          </p:nvPr>
        </p:nvSpPr>
        <p:spPr>
          <a:xfrm>
            <a:off x="887219" y="2250892"/>
            <a:ext cx="5087075" cy="536005"/>
          </a:xfrm>
        </p:spPr>
        <p:txBody>
          <a:bodyPr anchor="b">
            <a:noAutofit/>
          </a:bodyPr>
          <a:lstStyle>
            <a:lvl1pPr marL="0" indent="0">
              <a:buNone/>
              <a:defRPr sz="22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581194" y="2926052"/>
            <a:ext cx="5393100" cy="2934999"/>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523735" y="2250892"/>
            <a:ext cx="5087073" cy="553373"/>
          </a:xfrm>
        </p:spPr>
        <p:txBody>
          <a:bodyPr anchor="b">
            <a:noAutofit/>
          </a:bodyPr>
          <a:lstStyle>
            <a:lvl1pPr marL="0" indent="0">
              <a:buNone/>
              <a:defRPr sz="22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217709" y="2926052"/>
            <a:ext cx="5393100" cy="2934999"/>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61BEF0D-F0BB-DE4B-95CE-6DB70DBA9567}" type="datetimeFigureOut">
              <a:rPr lang="en-US" smtClean="0"/>
              <a:pPr/>
              <a:t>2/27/26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76542207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3" name="Date Placeholder 2"/>
          <p:cNvSpPr>
            <a:spLocks noGrp="1"/>
          </p:cNvSpPr>
          <p:nvPr>
            <p:ph type="dt" sz="half" idx="10"/>
          </p:nvPr>
        </p:nvSpPr>
        <p:spPr/>
        <p:txBody>
          <a:bodyPr/>
          <a:lstStyle/>
          <a:p>
            <a:fld id="{B61BEF0D-F0BB-DE4B-95CE-6DB70DBA9567}" type="datetimeFigureOut">
              <a:rPr lang="en-US" smtClean="0"/>
              <a:pPr/>
              <a:t>2/27/26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smtClean="0"/>
              <a:pPr/>
              <a:t>‹#›</a:t>
            </a:fld>
            <a:endParaRPr lang="en-US" dirty="0"/>
          </a:p>
        </p:txBody>
      </p:sp>
      <p:sp>
        <p:nvSpPr>
          <p:cNvPr id="7" name="Rectangle 6"/>
          <p:cNvSpPr>
            <a:spLocks noChangeAspect="1"/>
          </p:cNvSpPr>
          <p:nvPr/>
        </p:nvSpPr>
        <p:spPr>
          <a:xfrm>
            <a:off x="440683" y="606554"/>
            <a:ext cx="11300036"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8" name="Title 1"/>
          <p:cNvSpPr>
            <a:spLocks noGrp="1"/>
          </p:cNvSpPr>
          <p:nvPr>
            <p:ph type="title"/>
          </p:nvPr>
        </p:nvSpPr>
        <p:spPr>
          <a:xfrm>
            <a:off x="575894" y="729658"/>
            <a:ext cx="11029616" cy="988332"/>
          </a:xfrm>
        </p:spPr>
        <p:txBody>
          <a:bodyPr/>
          <a:lstStyle/>
          <a:p>
            <a:r>
              <a:rPr lang="en-US"/>
              <a:t>Click to edit Master title style</a:t>
            </a:r>
            <a:endParaRPr lang="en-US" dirty="0"/>
          </a:p>
        </p:txBody>
      </p:sp>
    </p:spTree>
    <p:extLst>
      <p:ext uri="{BB962C8B-B14F-4D97-AF65-F5344CB8AC3E}">
        <p14:creationId xmlns:p14="http://schemas.microsoft.com/office/powerpoint/2010/main" val="375474563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1BEF0D-F0BB-DE4B-95CE-6DB70DBA9567}" type="datetimeFigureOut">
              <a:rPr lang="en-US" smtClean="0"/>
              <a:pPr/>
              <a:t>2/27/26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58915908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9" name="Rectangle 8"/>
          <p:cNvSpPr>
            <a:spLocks noChangeAspect="1"/>
          </p:cNvSpPr>
          <p:nvPr/>
        </p:nvSpPr>
        <p:spPr>
          <a:xfrm>
            <a:off x="447817" y="5141973"/>
            <a:ext cx="11298200" cy="1274702"/>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81192" y="5262296"/>
            <a:ext cx="4909445" cy="689514"/>
          </a:xfrm>
        </p:spPr>
        <p:txBody>
          <a:bodyPr anchor="ctr"/>
          <a:lstStyle>
            <a:lvl1pPr algn="l">
              <a:defRPr sz="2000" b="0">
                <a:solidFill>
                  <a:schemeClr val="accent1">
                    <a:lumMod val="75000"/>
                    <a:lumOff val="25000"/>
                  </a:schemeClr>
                </a:solidFill>
              </a:defRPr>
            </a:lvl1pPr>
          </a:lstStyle>
          <a:p>
            <a:r>
              <a:rPr lang="en-US"/>
              <a:t>Click to edit Master title style</a:t>
            </a:r>
            <a:endParaRPr lang="en-US" dirty="0"/>
          </a:p>
        </p:txBody>
      </p:sp>
      <p:sp>
        <p:nvSpPr>
          <p:cNvPr id="3" name="Content Placeholder 2"/>
          <p:cNvSpPr>
            <a:spLocks noGrp="1"/>
          </p:cNvSpPr>
          <p:nvPr>
            <p:ph idx="1"/>
          </p:nvPr>
        </p:nvSpPr>
        <p:spPr>
          <a:xfrm>
            <a:off x="447816" y="601200"/>
            <a:ext cx="11292840" cy="4204800"/>
          </a:xfrm>
        </p:spPr>
        <p:txBody>
          <a:bodyPr anchor="ctr">
            <a:normAutofit/>
          </a:bodyPr>
          <a:lstStyle>
            <a:lvl1pPr>
              <a:defRPr sz="2000">
                <a:solidFill>
                  <a:schemeClr val="tx2"/>
                </a:solidFill>
              </a:defRPr>
            </a:lvl1pPr>
            <a:lvl2pPr>
              <a:defRPr sz="1800">
                <a:solidFill>
                  <a:schemeClr val="tx2"/>
                </a:solidFill>
              </a:defRPr>
            </a:lvl2pPr>
            <a:lvl3pPr>
              <a:defRPr sz="1600">
                <a:solidFill>
                  <a:schemeClr val="tx2"/>
                </a:solidFill>
              </a:defRPr>
            </a:lvl3pPr>
            <a:lvl4pPr>
              <a:defRPr sz="1400">
                <a:solidFill>
                  <a:schemeClr val="tx2"/>
                </a:solidFill>
              </a:defRPr>
            </a:lvl4pPr>
            <a:lvl5pPr>
              <a:defRPr sz="1400">
                <a:solidFill>
                  <a:schemeClr val="tx2"/>
                </a:solidFill>
              </a:defRPr>
            </a:lvl5pPr>
            <a:lvl6pPr>
              <a:defRPr sz="1400">
                <a:solidFill>
                  <a:schemeClr val="tx2"/>
                </a:solidFill>
              </a:defRPr>
            </a:lvl6pPr>
            <a:lvl7pPr>
              <a:defRPr sz="1400">
                <a:solidFill>
                  <a:schemeClr val="tx2"/>
                </a:solidFill>
              </a:defRPr>
            </a:lvl7pPr>
            <a:lvl8pPr>
              <a:defRPr sz="1400">
                <a:solidFill>
                  <a:schemeClr val="tx2"/>
                </a:solidFill>
              </a:defRPr>
            </a:lvl8pPr>
            <a:lvl9pPr>
              <a:defRPr sz="1400">
                <a:solidFill>
                  <a:schemeClr val="tx2"/>
                </a:solidFill>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5740823" y="5262296"/>
            <a:ext cx="5869987" cy="689515"/>
          </a:xfrm>
        </p:spPr>
        <p:txBody>
          <a:bodyPr anchor="ctr">
            <a:normAutofit/>
          </a:bodyPr>
          <a:lstStyle>
            <a:lvl1pPr marL="0" indent="0" algn="r">
              <a:buNone/>
              <a:defRPr sz="1100">
                <a:solidFill>
                  <a:schemeClr val="bg1"/>
                </a:solidFill>
              </a:defRPr>
            </a:lvl1pPr>
            <a:lvl2pPr marL="457200" indent="0">
              <a:buNone/>
              <a:defRPr sz="11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lvl1pPr>
              <a:defRPr>
                <a:solidFill>
                  <a:schemeClr val="accent1">
                    <a:lumMod val="75000"/>
                    <a:lumOff val="25000"/>
                  </a:schemeClr>
                </a:solidFill>
              </a:defRPr>
            </a:lvl1pPr>
          </a:lstStyle>
          <a:p>
            <a:fld id="{B61BEF0D-F0BB-DE4B-95CE-6DB70DBA9567}" type="datetimeFigureOut">
              <a:rPr lang="en-US" smtClean="0"/>
              <a:pPr/>
              <a:t>2/27/26</a:t>
            </a:fld>
            <a:endParaRPr lang="en-US" dirty="0"/>
          </a:p>
        </p:txBody>
      </p:sp>
      <p:sp>
        <p:nvSpPr>
          <p:cNvPr id="6" name="Footer Placeholder 5"/>
          <p:cNvSpPr>
            <a:spLocks noGrp="1"/>
          </p:cNvSpPr>
          <p:nvPr>
            <p:ph type="ftr" sz="quarter" idx="11"/>
          </p:nvPr>
        </p:nvSpPr>
        <p:spPr/>
        <p:txBody>
          <a:bodyPr/>
          <a:lstStyle>
            <a:lvl1pPr>
              <a:defRPr>
                <a:solidFill>
                  <a:schemeClr val="accent1">
                    <a:lumMod val="75000"/>
                    <a:lumOff val="25000"/>
                  </a:schemeClr>
                </a:solidFill>
              </a:defRPr>
            </a:lvl1pPr>
          </a:lstStyle>
          <a:p>
            <a:endParaRPr lang="en-US" dirty="0"/>
          </a:p>
        </p:txBody>
      </p:sp>
      <p:sp>
        <p:nvSpPr>
          <p:cNvPr id="7" name="Slide Number Placeholder 6"/>
          <p:cNvSpPr>
            <a:spLocks noGrp="1"/>
          </p:cNvSpPr>
          <p:nvPr>
            <p:ph type="sldNum" sz="quarter" idx="12"/>
          </p:nvPr>
        </p:nvSpPr>
        <p:spPr/>
        <p:txBody>
          <a:bodyPr/>
          <a:lstStyle>
            <a:lvl1pPr>
              <a:defRPr>
                <a:solidFill>
                  <a:schemeClr val="accent1">
                    <a:lumMod val="75000"/>
                    <a:lumOff val="25000"/>
                  </a:schemeClr>
                </a:solidFill>
              </a:defRPr>
            </a:lvl1p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74140164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81193" y="4693389"/>
            <a:ext cx="11029616" cy="566738"/>
          </a:xfrm>
        </p:spPr>
        <p:txBody>
          <a:bodyPr anchor="b">
            <a:normAutofit/>
          </a:bodyPr>
          <a:lstStyle>
            <a:lvl1pPr algn="l">
              <a:defRPr sz="2400" b="0">
                <a:solidFill>
                  <a:schemeClr val="accent1"/>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447817" y="599725"/>
            <a:ext cx="11290859" cy="3557252"/>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581192" y="5260127"/>
            <a:ext cx="11029617" cy="598671"/>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B61BEF0D-F0BB-DE4B-95CE-6DB70DBA9567}" type="datetimeFigureOut">
              <a:rPr lang="en-US" smtClean="0"/>
              <a:pPr/>
              <a:t>2/27/26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54974945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8" name="Rectangle 7"/>
          <p:cNvSpPr>
            <a:spLocks noChangeAspect="1"/>
          </p:cNvSpPr>
          <p:nvPr/>
        </p:nvSpPr>
        <p:spPr>
          <a:xfrm>
            <a:off x="440286" y="614407"/>
            <a:ext cx="11309338" cy="1189298"/>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9" name="Title 1"/>
          <p:cNvSpPr>
            <a:spLocks noGrp="1"/>
          </p:cNvSpPr>
          <p:nvPr>
            <p:ph type="title"/>
          </p:nvPr>
        </p:nvSpPr>
        <p:spPr>
          <a:xfrm>
            <a:off x="581192" y="702156"/>
            <a:ext cx="11029616" cy="1013800"/>
          </a:xfrm>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lvl1pPr algn="l">
              <a:defRPr/>
            </a:lvl1pPr>
            <a:lvl2pPr algn="l">
              <a:defRPr/>
            </a:lvl2pPr>
            <a:lvl3pPr algn="l">
              <a:defRPr/>
            </a:lvl3pPr>
            <a:lvl4pPr algn="l">
              <a:defRPr/>
            </a:lvl4pPr>
            <a:lvl5pPr algn="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2/27/26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82598906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7" name="Rectangle 6"/>
          <p:cNvSpPr>
            <a:spLocks noChangeAspect="1"/>
          </p:cNvSpPr>
          <p:nvPr/>
        </p:nvSpPr>
        <p:spPr>
          <a:xfrm>
            <a:off x="8839201" y="599725"/>
            <a:ext cx="2906817" cy="581695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Vertical Title 1"/>
          <p:cNvSpPr>
            <a:spLocks noGrp="1"/>
          </p:cNvSpPr>
          <p:nvPr>
            <p:ph type="title" orient="vert"/>
          </p:nvPr>
        </p:nvSpPr>
        <p:spPr>
          <a:xfrm>
            <a:off x="8839201" y="675726"/>
            <a:ext cx="2004164" cy="5183073"/>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774923" y="675726"/>
            <a:ext cx="7896279" cy="5183073"/>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8993673" y="5956137"/>
            <a:ext cx="1328141" cy="365125"/>
          </a:xfrm>
        </p:spPr>
        <p:txBody>
          <a:bodyPr/>
          <a:lstStyle>
            <a:lvl1pPr>
              <a:defRPr>
                <a:solidFill>
                  <a:schemeClr val="accent1">
                    <a:lumMod val="75000"/>
                    <a:lumOff val="25000"/>
                  </a:schemeClr>
                </a:solidFill>
              </a:defRPr>
            </a:lvl1pPr>
          </a:lstStyle>
          <a:p>
            <a:fld id="{B61BEF0D-F0BB-DE4B-95CE-6DB70DBA9567}" type="datetimeFigureOut">
              <a:rPr lang="en-US" smtClean="0"/>
              <a:pPr/>
              <a:t>2/27/26</a:t>
            </a:fld>
            <a:endParaRPr lang="en-US" dirty="0"/>
          </a:p>
        </p:txBody>
      </p:sp>
      <p:sp>
        <p:nvSpPr>
          <p:cNvPr id="5" name="Footer Placeholder 4"/>
          <p:cNvSpPr>
            <a:spLocks noGrp="1"/>
          </p:cNvSpPr>
          <p:nvPr>
            <p:ph type="ftr" sz="quarter" idx="11"/>
          </p:nvPr>
        </p:nvSpPr>
        <p:spPr>
          <a:xfrm>
            <a:off x="774923" y="5951811"/>
            <a:ext cx="7896279" cy="365125"/>
          </a:xfrm>
        </p:spPr>
        <p:txBody>
          <a:bodyPr/>
          <a:lstStyle/>
          <a:p>
            <a:endParaRPr lang="en-US" dirty="0"/>
          </a:p>
        </p:txBody>
      </p:sp>
      <p:sp>
        <p:nvSpPr>
          <p:cNvPr id="6" name="Slide Number Placeholder 5"/>
          <p:cNvSpPr>
            <a:spLocks noGrp="1"/>
          </p:cNvSpPr>
          <p:nvPr>
            <p:ph type="sldNum" sz="quarter" idx="12"/>
          </p:nvPr>
        </p:nvSpPr>
        <p:spPr>
          <a:xfrm>
            <a:off x="10446615" y="5956137"/>
            <a:ext cx="1164195" cy="365125"/>
          </a:xfrm>
        </p:spPr>
        <p:txBody>
          <a:bodyPr/>
          <a:lstStyle>
            <a:lvl1pPr>
              <a:defRPr>
                <a:solidFill>
                  <a:schemeClr val="accent1">
                    <a:lumMod val="75000"/>
                    <a:lumOff val="25000"/>
                  </a:schemeClr>
                </a:solidFill>
              </a:defRPr>
            </a:lvl1p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73227985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581192" y="705124"/>
            <a:ext cx="11029616" cy="1189554"/>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581192" y="2336003"/>
            <a:ext cx="11029616" cy="3522794"/>
          </a:xfrm>
          <a:prstGeom prst="rect">
            <a:avLst/>
          </a:prstGeom>
        </p:spPr>
        <p:txBody>
          <a:bodyPr vert="horz" lIns="91440" tIns="45720" rIns="91440" bIns="45720" rtlCol="0"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605951" y="5956137"/>
            <a:ext cx="2844799" cy="365125"/>
          </a:xfrm>
          <a:prstGeom prst="rect">
            <a:avLst/>
          </a:prstGeom>
        </p:spPr>
        <p:txBody>
          <a:bodyPr vert="horz" lIns="91440" tIns="45720" rIns="91440" bIns="45720" rtlCol="0" anchor="ctr"/>
          <a:lstStyle>
            <a:lvl1pPr algn="r">
              <a:defRPr sz="900">
                <a:solidFill>
                  <a:schemeClr val="accent2"/>
                </a:solidFill>
              </a:defRPr>
            </a:lvl1pPr>
          </a:lstStyle>
          <a:p>
            <a:fld id="{B61BEF0D-F0BB-DE4B-95CE-6DB70DBA9567}" type="datetimeFigureOut">
              <a:rPr lang="en-US" smtClean="0"/>
              <a:pPr/>
              <a:t>2/27/26</a:t>
            </a:fld>
            <a:endParaRPr lang="en-US" dirty="0"/>
          </a:p>
        </p:txBody>
      </p:sp>
      <p:sp>
        <p:nvSpPr>
          <p:cNvPr id="5" name="Footer Placeholder 4"/>
          <p:cNvSpPr>
            <a:spLocks noGrp="1"/>
          </p:cNvSpPr>
          <p:nvPr>
            <p:ph type="ftr" sz="quarter" idx="3"/>
          </p:nvPr>
        </p:nvSpPr>
        <p:spPr>
          <a:xfrm>
            <a:off x="581192" y="5951811"/>
            <a:ext cx="6917210" cy="365125"/>
          </a:xfrm>
          <a:prstGeom prst="rect">
            <a:avLst/>
          </a:prstGeom>
        </p:spPr>
        <p:txBody>
          <a:bodyPr vert="horz" lIns="91440" tIns="45720" rIns="91440" bIns="45720" rtlCol="0" anchor="ctr"/>
          <a:lstStyle>
            <a:lvl1pPr algn="l">
              <a:defRPr sz="900" cap="all">
                <a:solidFill>
                  <a:schemeClr val="accent2"/>
                </a:solidFill>
              </a:defRPr>
            </a:lvl1pPr>
          </a:lstStyle>
          <a:p>
            <a:endParaRPr lang="en-US" dirty="0"/>
          </a:p>
        </p:txBody>
      </p:sp>
      <p:sp>
        <p:nvSpPr>
          <p:cNvPr id="6" name="Slide Number Placeholder 5"/>
          <p:cNvSpPr>
            <a:spLocks noGrp="1"/>
          </p:cNvSpPr>
          <p:nvPr>
            <p:ph type="sldNum" sz="quarter" idx="4"/>
          </p:nvPr>
        </p:nvSpPr>
        <p:spPr>
          <a:xfrm>
            <a:off x="10558300" y="5956137"/>
            <a:ext cx="1052510" cy="365125"/>
          </a:xfrm>
          <a:prstGeom prst="rect">
            <a:avLst/>
          </a:prstGeom>
        </p:spPr>
        <p:txBody>
          <a:bodyPr vert="horz" lIns="91440" tIns="45720" rIns="91440" bIns="45720" rtlCol="0" anchor="ctr"/>
          <a:lstStyle>
            <a:lvl1pPr algn="r">
              <a:defRPr sz="900">
                <a:solidFill>
                  <a:schemeClr val="accent2"/>
                </a:solidFill>
              </a:defRPr>
            </a:lvl1pPr>
          </a:lstStyle>
          <a:p>
            <a:fld id="{D57F1E4F-1CFF-5643-939E-217C01CDF565}" type="slidenum">
              <a:rPr lang="en-US" smtClean="0"/>
              <a:pPr/>
              <a:t>‹#›</a:t>
            </a:fld>
            <a:endParaRPr lang="en-US" dirty="0"/>
          </a:p>
        </p:txBody>
      </p:sp>
      <p:sp>
        <p:nvSpPr>
          <p:cNvPr id="9" name="Rectangle 8"/>
          <p:cNvSpPr/>
          <p:nvPr/>
        </p:nvSpPr>
        <p:spPr>
          <a:xfrm>
            <a:off x="446534" y="457200"/>
            <a:ext cx="3703320" cy="9499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0" name="Rectangle 9"/>
          <p:cNvSpPr/>
          <p:nvPr/>
        </p:nvSpPr>
        <p:spPr>
          <a:xfrm>
            <a:off x="8042147" y="453643"/>
            <a:ext cx="3703320" cy="98554"/>
          </a:xfrm>
          <a:prstGeom prst="rect">
            <a:avLst/>
          </a:prstGeom>
          <a:solidFill>
            <a:schemeClr val="accent4"/>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1" name="Rectangle 10"/>
          <p:cNvSpPr/>
          <p:nvPr/>
        </p:nvSpPr>
        <p:spPr>
          <a:xfrm>
            <a:off x="4241830" y="457200"/>
            <a:ext cx="3703320" cy="91440"/>
          </a:xfrm>
          <a:prstGeom prst="rect">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Tree>
    <p:extLst>
      <p:ext uri="{BB962C8B-B14F-4D97-AF65-F5344CB8AC3E}">
        <p14:creationId xmlns:p14="http://schemas.microsoft.com/office/powerpoint/2010/main" val="550543954"/>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457200" rtl="0" eaLnBrk="1" latinLnBrk="0" hangingPunct="1">
        <a:spcBef>
          <a:spcPct val="0"/>
        </a:spcBef>
        <a:buNone/>
        <a:defRPr sz="2800" b="0" kern="1200" cap="all">
          <a:solidFill>
            <a:schemeClr val="bg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06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800" kern="1200">
          <a:solidFill>
            <a:schemeClr val="tx2"/>
          </a:solidFill>
          <a:latin typeface="+mn-lt"/>
          <a:ea typeface="+mn-ea"/>
          <a:cs typeface="+mn-cs"/>
        </a:defRPr>
      </a:lvl1pPr>
      <a:lvl2pPr marL="630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600" kern="1200">
          <a:solidFill>
            <a:schemeClr val="tx2"/>
          </a:solidFill>
          <a:latin typeface="+mn-lt"/>
          <a:ea typeface="+mn-ea"/>
          <a:cs typeface="+mn-cs"/>
        </a:defRPr>
      </a:lvl2pPr>
      <a:lvl3pPr marL="900000" indent="-270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400" kern="1200">
          <a:solidFill>
            <a:schemeClr val="tx2"/>
          </a:solidFill>
          <a:latin typeface="+mn-lt"/>
          <a:ea typeface="+mn-ea"/>
          <a:cs typeface="+mn-cs"/>
        </a:defRPr>
      </a:lvl3pPr>
      <a:lvl4pPr marL="124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4pPr>
      <a:lvl5pPr marL="160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5pPr>
      <a:lvl6pPr marL="19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2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5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8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hyperlink" Target="https://data-feminism.mitpress.mit.edu/pub/vi8obxh7" TargetMode="External"/><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hyperlink" Target="https://vimeo.com/772796696" TargetMode="External"/><Relationship Id="rId2" Type="http://schemas.openxmlformats.org/officeDocument/2006/relationships/notesSlide" Target="../notesSlides/notesSlide8.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9.xml.rels><?xml version="1.0" encoding="UTF-8" standalone="yes"?>
<Relationships xmlns="http://schemas.openxmlformats.org/package/2006/relationships"><Relationship Id="rId3" Type="http://schemas.openxmlformats.org/officeDocument/2006/relationships/hyperlink" Target="https://vimeo.com/662536366" TargetMode="External"/><Relationship Id="rId2" Type="http://schemas.openxmlformats.org/officeDocument/2006/relationships/notesSlide" Target="../notesSlides/notesSlide9.xml"/><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10.xml.rels><?xml version="1.0" encoding="UTF-8" standalone="yes"?>
<Relationships xmlns="http://schemas.openxmlformats.org/package/2006/relationships"><Relationship Id="rId3" Type="http://schemas.openxmlformats.org/officeDocument/2006/relationships/hyperlink" Target="https://diglib.eg.org/items/df6b539d-af1e-4a1a-b507-35a6d23c2d6f" TargetMode="External"/><Relationship Id="rId2" Type="http://schemas.openxmlformats.org/officeDocument/2006/relationships/notesSlide" Target="../notesSlides/notesSlide10.xml"/><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11.xml.rels><?xml version="1.0" encoding="UTF-8" standalone="yes"?>
<Relationships xmlns="http://schemas.openxmlformats.org/package/2006/relationships"><Relationship Id="rId3" Type="http://schemas.openxmlformats.org/officeDocument/2006/relationships/hyperlink" Target="https://ieeexplore.ieee.org/document/9064929/media#media" TargetMode="External"/><Relationship Id="rId2" Type="http://schemas.openxmlformats.org/officeDocument/2006/relationships/notesSlide" Target="../notesSlides/notesSlide11.xml"/><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12.xml.rels><?xml version="1.0" encoding="UTF-8" standalone="yes"?>
<Relationships xmlns="http://schemas.openxmlformats.org/package/2006/relationships"><Relationship Id="rId3" Type="http://schemas.openxmlformats.org/officeDocument/2006/relationships/hyperlink" Target="https://journals.sagepub.com/doi/10.1177/14738716221142005#supplementary-materials" TargetMode="External"/><Relationship Id="rId2" Type="http://schemas.openxmlformats.org/officeDocument/2006/relationships/notesSlide" Target="../notesSlides/notesSlide12.xml"/><Relationship Id="rId1" Type="http://schemas.openxmlformats.org/officeDocument/2006/relationships/slideLayout" Target="../slideLayouts/slideLayout2.xml"/><Relationship Id="rId4" Type="http://schemas.openxmlformats.org/officeDocument/2006/relationships/image" Target="../media/image7.jpeg"/></Relationships>
</file>

<file path=ppt/slides/_rels/slide13.xml.rels><?xml version="1.0" encoding="UTF-8" standalone="yes"?>
<Relationships xmlns="http://schemas.openxmlformats.org/package/2006/relationships"><Relationship Id="rId3" Type="http://schemas.openxmlformats.org/officeDocument/2006/relationships/hyperlink" Target="https://ieeexplore.ieee.org/document/9222343/media#media" TargetMode="External"/><Relationship Id="rId2" Type="http://schemas.openxmlformats.org/officeDocument/2006/relationships/notesSlide" Target="../notesSlides/notesSlide13.xml"/><Relationship Id="rId1" Type="http://schemas.openxmlformats.org/officeDocument/2006/relationships/slideLayout" Target="../slideLayouts/slideLayout2.xml"/><Relationship Id="rId4" Type="http://schemas.openxmlformats.org/officeDocument/2006/relationships/image" Target="../media/image8.png"/></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hyperlink" Target="https://trustmlvis.lnu.se/" TargetMode="External"/><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CDBFC0-8BA3-DEDC-7E39-89EC7856846E}"/>
              </a:ext>
            </a:extLst>
          </p:cNvPr>
          <p:cNvSpPr>
            <a:spLocks noGrp="1"/>
          </p:cNvSpPr>
          <p:nvPr>
            <p:ph type="ctrTitle"/>
          </p:nvPr>
        </p:nvSpPr>
        <p:spPr/>
        <p:txBody>
          <a:bodyPr>
            <a:normAutofit/>
          </a:bodyPr>
          <a:lstStyle/>
          <a:p>
            <a:r>
              <a:rPr lang="en-US" dirty="0"/>
              <a:t>Visual Analytics: explainable ai</a:t>
            </a:r>
          </a:p>
        </p:txBody>
      </p:sp>
      <p:sp>
        <p:nvSpPr>
          <p:cNvPr id="3" name="Subtitle 2">
            <a:extLst>
              <a:ext uri="{FF2B5EF4-FFF2-40B4-BE49-F238E27FC236}">
                <a16:creationId xmlns:a16="http://schemas.microsoft.com/office/drawing/2014/main" id="{EECBEFAC-62BD-EFDC-63B4-33E49BD33BA5}"/>
              </a:ext>
            </a:extLst>
          </p:cNvPr>
          <p:cNvSpPr>
            <a:spLocks noGrp="1"/>
          </p:cNvSpPr>
          <p:nvPr>
            <p:ph type="subTitle" idx="1"/>
          </p:nvPr>
        </p:nvSpPr>
        <p:spPr/>
        <p:txBody>
          <a:bodyPr/>
          <a:lstStyle/>
          <a:p>
            <a:r>
              <a:rPr lang="en-US" dirty="0"/>
              <a:t>Ab Mosca (they/them)</a:t>
            </a:r>
          </a:p>
        </p:txBody>
      </p:sp>
    </p:spTree>
    <p:extLst>
      <p:ext uri="{BB962C8B-B14F-4D97-AF65-F5344CB8AC3E}">
        <p14:creationId xmlns:p14="http://schemas.microsoft.com/office/powerpoint/2010/main" val="54738887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CDCEEC-DA3B-FF6E-BAEB-9400A30851F6}"/>
              </a:ext>
            </a:extLst>
          </p:cNvPr>
          <p:cNvSpPr>
            <a:spLocks noGrp="1"/>
          </p:cNvSpPr>
          <p:nvPr>
            <p:ph type="title"/>
          </p:nvPr>
        </p:nvSpPr>
        <p:spPr/>
        <p:txBody>
          <a:bodyPr/>
          <a:lstStyle/>
          <a:p>
            <a:r>
              <a:rPr lang="en-US" dirty="0"/>
              <a:t>Today’s plan</a:t>
            </a:r>
          </a:p>
        </p:txBody>
      </p:sp>
      <p:sp>
        <p:nvSpPr>
          <p:cNvPr id="3" name="Content Placeholder 2">
            <a:extLst>
              <a:ext uri="{FF2B5EF4-FFF2-40B4-BE49-F238E27FC236}">
                <a16:creationId xmlns:a16="http://schemas.microsoft.com/office/drawing/2014/main" id="{2C0A6356-47F4-DF13-CFDC-C996D4E40A01}"/>
              </a:ext>
            </a:extLst>
          </p:cNvPr>
          <p:cNvSpPr>
            <a:spLocks noGrp="1"/>
          </p:cNvSpPr>
          <p:nvPr>
            <p:ph idx="1"/>
          </p:nvPr>
        </p:nvSpPr>
        <p:spPr/>
        <p:txBody>
          <a:bodyPr anchor="t">
            <a:noAutofit/>
          </a:bodyPr>
          <a:lstStyle/>
          <a:p>
            <a:r>
              <a:rPr lang="en-US" sz="2400" dirty="0"/>
              <a:t>Why XAI Matters </a:t>
            </a:r>
          </a:p>
          <a:p>
            <a:r>
              <a:rPr lang="en-US" sz="2400" dirty="0"/>
              <a:t>XAI and Visualization</a:t>
            </a:r>
          </a:p>
          <a:p>
            <a:r>
              <a:rPr lang="en-US" sz="2400" dirty="0"/>
              <a:t>Open Areas</a:t>
            </a:r>
          </a:p>
          <a:p>
            <a:endParaRPr lang="en-US" sz="2400" dirty="0"/>
          </a:p>
        </p:txBody>
      </p:sp>
    </p:spTree>
    <p:extLst>
      <p:ext uri="{BB962C8B-B14F-4D97-AF65-F5344CB8AC3E}">
        <p14:creationId xmlns:p14="http://schemas.microsoft.com/office/powerpoint/2010/main" val="205756090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E620C02-D315-09A1-5BA2-FAC91B81B16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CACCC7D-C0E0-D3F5-F617-9BC3AC2FEAAA}"/>
              </a:ext>
            </a:extLst>
          </p:cNvPr>
          <p:cNvSpPr>
            <a:spLocks noGrp="1"/>
          </p:cNvSpPr>
          <p:nvPr>
            <p:ph type="title"/>
          </p:nvPr>
        </p:nvSpPr>
        <p:spPr/>
        <p:txBody>
          <a:bodyPr/>
          <a:lstStyle/>
          <a:p>
            <a:r>
              <a:rPr lang="en-US" dirty="0"/>
              <a:t>why </a:t>
            </a:r>
            <a:r>
              <a:rPr lang="en-US" dirty="0" err="1"/>
              <a:t>xai</a:t>
            </a:r>
            <a:r>
              <a:rPr lang="en-US" dirty="0"/>
              <a:t> matters</a:t>
            </a:r>
          </a:p>
        </p:txBody>
      </p:sp>
      <p:sp>
        <p:nvSpPr>
          <p:cNvPr id="3" name="Content Placeholder 2">
            <a:extLst>
              <a:ext uri="{FF2B5EF4-FFF2-40B4-BE49-F238E27FC236}">
                <a16:creationId xmlns:a16="http://schemas.microsoft.com/office/drawing/2014/main" id="{36BCB9C1-6099-977B-F8C4-66275F8E7D93}"/>
              </a:ext>
            </a:extLst>
          </p:cNvPr>
          <p:cNvSpPr>
            <a:spLocks noGrp="1"/>
          </p:cNvSpPr>
          <p:nvPr>
            <p:ph idx="1"/>
          </p:nvPr>
        </p:nvSpPr>
        <p:spPr/>
        <p:txBody>
          <a:bodyPr anchor="t">
            <a:noAutofit/>
          </a:bodyPr>
          <a:lstStyle/>
          <a:p>
            <a:r>
              <a:rPr lang="en-US" sz="2400" dirty="0">
                <a:effectLst>
                  <a:glow rad="228600">
                    <a:schemeClr val="accent5">
                      <a:satMod val="175000"/>
                      <a:alpha val="40000"/>
                    </a:schemeClr>
                  </a:glow>
                </a:effectLst>
              </a:rPr>
              <a:t>Power </a:t>
            </a:r>
            <a:r>
              <a:rPr lang="en-US" sz="2400" dirty="0"/>
              <a:t>describes the current configuration of structural privilege and structural oppression, in which some groups experience unearned advantages—because various systems have been designed by people like them and work for people them—and other groups experience systematic disadvantages—because those same systems were not designed by them or with people like them in mind</a:t>
            </a:r>
          </a:p>
          <a:p>
            <a:endParaRPr lang="en-US" sz="2400" dirty="0"/>
          </a:p>
          <a:p>
            <a:r>
              <a:rPr lang="en-US" sz="2400" dirty="0"/>
              <a:t>Who has structural privilege in data science / computer science? </a:t>
            </a:r>
          </a:p>
          <a:p>
            <a:r>
              <a:rPr lang="en-US" sz="2400" dirty="0"/>
              <a:t>Who is structurally oppressed by data science / computer science? </a:t>
            </a:r>
          </a:p>
        </p:txBody>
      </p:sp>
      <p:sp>
        <p:nvSpPr>
          <p:cNvPr id="5" name="TextBox 4">
            <a:extLst>
              <a:ext uri="{FF2B5EF4-FFF2-40B4-BE49-F238E27FC236}">
                <a16:creationId xmlns:a16="http://schemas.microsoft.com/office/drawing/2014/main" id="{B76EFC03-485C-A725-22FD-B1B0E4E255B0}"/>
              </a:ext>
            </a:extLst>
          </p:cNvPr>
          <p:cNvSpPr txBox="1"/>
          <p:nvPr/>
        </p:nvSpPr>
        <p:spPr>
          <a:xfrm>
            <a:off x="5288280" y="6155844"/>
            <a:ext cx="7452360" cy="646331"/>
          </a:xfrm>
          <a:prstGeom prst="rect">
            <a:avLst/>
          </a:prstGeom>
          <a:noFill/>
        </p:spPr>
        <p:txBody>
          <a:bodyPr wrap="square">
            <a:spAutoFit/>
          </a:bodyPr>
          <a:lstStyle/>
          <a:p>
            <a:r>
              <a:rPr lang="en-US" dirty="0" err="1"/>
              <a:t>D’Ignazio</a:t>
            </a:r>
            <a:r>
              <a:rPr lang="en-US" dirty="0"/>
              <a:t>, C., &amp; Klein, L. (2020). 1. The Power Chapter. In Data Feminism. Retrieved from </a:t>
            </a:r>
            <a:r>
              <a:rPr lang="en-US" dirty="0">
                <a:hlinkClick r:id="rId3"/>
              </a:rPr>
              <a:t>https://data-feminism.mitpress.mit.edu/pub/vi8obxh7</a:t>
            </a:r>
            <a:r>
              <a:rPr lang="en-US" dirty="0"/>
              <a:t> </a:t>
            </a:r>
          </a:p>
        </p:txBody>
      </p:sp>
    </p:spTree>
    <p:extLst>
      <p:ext uri="{BB962C8B-B14F-4D97-AF65-F5344CB8AC3E}">
        <p14:creationId xmlns:p14="http://schemas.microsoft.com/office/powerpoint/2010/main" val="382090802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F64BA41-34BA-8838-A457-1281080AAB7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493ABF1-F625-FCB6-99F3-9C623F46FA73}"/>
              </a:ext>
            </a:extLst>
          </p:cNvPr>
          <p:cNvSpPr>
            <a:spLocks noGrp="1"/>
          </p:cNvSpPr>
          <p:nvPr>
            <p:ph type="title"/>
          </p:nvPr>
        </p:nvSpPr>
        <p:spPr/>
        <p:txBody>
          <a:bodyPr/>
          <a:lstStyle/>
          <a:p>
            <a:r>
              <a:rPr lang="en-US" dirty="0"/>
              <a:t>why </a:t>
            </a:r>
            <a:r>
              <a:rPr lang="en-US" dirty="0" err="1"/>
              <a:t>xai</a:t>
            </a:r>
            <a:r>
              <a:rPr lang="en-US" dirty="0"/>
              <a:t> matters</a:t>
            </a:r>
          </a:p>
        </p:txBody>
      </p:sp>
      <p:sp>
        <p:nvSpPr>
          <p:cNvPr id="3" name="Content Placeholder 2">
            <a:extLst>
              <a:ext uri="{FF2B5EF4-FFF2-40B4-BE49-F238E27FC236}">
                <a16:creationId xmlns:a16="http://schemas.microsoft.com/office/drawing/2014/main" id="{0878BD1E-7A47-D4D6-E303-8B14BE4D961C}"/>
              </a:ext>
            </a:extLst>
          </p:cNvPr>
          <p:cNvSpPr>
            <a:spLocks noGrp="1"/>
          </p:cNvSpPr>
          <p:nvPr>
            <p:ph idx="1"/>
          </p:nvPr>
        </p:nvSpPr>
        <p:spPr/>
        <p:txBody>
          <a:bodyPr anchor="t">
            <a:noAutofit/>
          </a:bodyPr>
          <a:lstStyle/>
          <a:p>
            <a:r>
              <a:rPr lang="en-US" sz="2400" dirty="0">
                <a:effectLst/>
              </a:rPr>
              <a:t>Name three examples of how AI is used for decision making</a:t>
            </a:r>
          </a:p>
          <a:p>
            <a:endParaRPr lang="en-US" sz="2400" dirty="0">
              <a:effectLst/>
            </a:endParaRPr>
          </a:p>
          <a:p>
            <a:endParaRPr lang="en-US" sz="2400" dirty="0">
              <a:effectLst/>
            </a:endParaRPr>
          </a:p>
          <a:p>
            <a:r>
              <a:rPr lang="en-US" sz="2400" dirty="0">
                <a:effectLst/>
              </a:rPr>
              <a:t>What recourse do the people impacted by these decisions have if they disagree? </a:t>
            </a:r>
          </a:p>
        </p:txBody>
      </p:sp>
    </p:spTree>
    <p:extLst>
      <p:ext uri="{BB962C8B-B14F-4D97-AF65-F5344CB8AC3E}">
        <p14:creationId xmlns:p14="http://schemas.microsoft.com/office/powerpoint/2010/main" val="199907209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BC2FC27-CB76-18B3-66BE-67A99476EB4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2F97C9F-836D-6E8A-C625-DABE2544F7DD}"/>
              </a:ext>
            </a:extLst>
          </p:cNvPr>
          <p:cNvSpPr>
            <a:spLocks noGrp="1"/>
          </p:cNvSpPr>
          <p:nvPr>
            <p:ph type="title"/>
          </p:nvPr>
        </p:nvSpPr>
        <p:spPr/>
        <p:txBody>
          <a:bodyPr/>
          <a:lstStyle/>
          <a:p>
            <a:r>
              <a:rPr lang="en-US" dirty="0"/>
              <a:t>why </a:t>
            </a:r>
            <a:r>
              <a:rPr lang="en-US" dirty="0" err="1"/>
              <a:t>xai</a:t>
            </a:r>
            <a:r>
              <a:rPr lang="en-US" dirty="0"/>
              <a:t> matters</a:t>
            </a:r>
          </a:p>
        </p:txBody>
      </p:sp>
      <p:sp>
        <p:nvSpPr>
          <p:cNvPr id="3" name="Content Placeholder 2">
            <a:extLst>
              <a:ext uri="{FF2B5EF4-FFF2-40B4-BE49-F238E27FC236}">
                <a16:creationId xmlns:a16="http://schemas.microsoft.com/office/drawing/2014/main" id="{45E83257-187B-2D18-9B65-A4971792FDDB}"/>
              </a:ext>
            </a:extLst>
          </p:cNvPr>
          <p:cNvSpPr>
            <a:spLocks noGrp="1"/>
          </p:cNvSpPr>
          <p:nvPr>
            <p:ph idx="1"/>
          </p:nvPr>
        </p:nvSpPr>
        <p:spPr/>
        <p:txBody>
          <a:bodyPr anchor="t">
            <a:noAutofit/>
          </a:bodyPr>
          <a:lstStyle/>
          <a:p>
            <a:r>
              <a:rPr lang="en-US" sz="2400" dirty="0">
                <a:effectLst/>
              </a:rPr>
              <a:t>One method by which we can reduce the power discrepancies in AI decision making is by revealing the algorithmic process behind the decisions, or in other words developing </a:t>
            </a:r>
            <a:r>
              <a:rPr lang="en-US" sz="2400" dirty="0">
                <a:effectLst>
                  <a:glow rad="228600">
                    <a:schemeClr val="accent5">
                      <a:satMod val="175000"/>
                      <a:alpha val="40000"/>
                    </a:schemeClr>
                  </a:glow>
                </a:effectLst>
              </a:rPr>
              <a:t>methods to explain AI output (Explainable AI) </a:t>
            </a:r>
          </a:p>
          <a:p>
            <a:r>
              <a:rPr lang="en-US" sz="2400" dirty="0">
                <a:effectLst/>
              </a:rPr>
              <a:t>XAI focuses on topics including:</a:t>
            </a:r>
          </a:p>
          <a:p>
            <a:pPr lvl="1"/>
            <a:r>
              <a:rPr lang="en-US" sz="2200" dirty="0">
                <a:effectLst/>
              </a:rPr>
              <a:t>Trust </a:t>
            </a:r>
          </a:p>
          <a:p>
            <a:pPr lvl="1"/>
            <a:r>
              <a:rPr lang="en-US" sz="2200" dirty="0">
                <a:effectLst/>
              </a:rPr>
              <a:t>Interpretability </a:t>
            </a:r>
          </a:p>
          <a:p>
            <a:pPr lvl="1"/>
            <a:r>
              <a:rPr lang="en-US" sz="2200" dirty="0">
                <a:effectLst/>
              </a:rPr>
              <a:t>Explainability </a:t>
            </a:r>
          </a:p>
        </p:txBody>
      </p:sp>
      <p:sp>
        <p:nvSpPr>
          <p:cNvPr id="5" name="TextBox 4">
            <a:extLst>
              <a:ext uri="{FF2B5EF4-FFF2-40B4-BE49-F238E27FC236}">
                <a16:creationId xmlns:a16="http://schemas.microsoft.com/office/drawing/2014/main" id="{882F3655-2385-2023-CA0C-36531DA70838}"/>
              </a:ext>
            </a:extLst>
          </p:cNvPr>
          <p:cNvSpPr txBox="1"/>
          <p:nvPr/>
        </p:nvSpPr>
        <p:spPr>
          <a:xfrm>
            <a:off x="6248400" y="6155844"/>
            <a:ext cx="6294120" cy="584775"/>
          </a:xfrm>
          <a:prstGeom prst="rect">
            <a:avLst/>
          </a:prstGeom>
          <a:noFill/>
        </p:spPr>
        <p:txBody>
          <a:bodyPr wrap="square">
            <a:spAutoFit/>
          </a:bodyPr>
          <a:lstStyle/>
          <a:p>
            <a:r>
              <a:rPr lang="en-US" sz="1600" b="0" i="0" dirty="0">
                <a:solidFill>
                  <a:srgbClr val="333333"/>
                </a:solidFill>
                <a:effectLst/>
                <a:latin typeface="+mj-lt"/>
              </a:rPr>
              <a:t>A. </a:t>
            </a:r>
            <a:r>
              <a:rPr lang="en-US" sz="1600" b="0" i="0" dirty="0" err="1">
                <a:solidFill>
                  <a:srgbClr val="333333"/>
                </a:solidFill>
                <a:effectLst/>
                <a:latin typeface="+mj-lt"/>
              </a:rPr>
              <a:t>Chatzimparmpas</a:t>
            </a:r>
            <a:r>
              <a:rPr lang="en-US" sz="1600" b="0" i="0" dirty="0">
                <a:solidFill>
                  <a:srgbClr val="333333"/>
                </a:solidFill>
                <a:effectLst/>
                <a:latin typeface="+mj-lt"/>
              </a:rPr>
              <a:t>, "Visual Analytics for Explainable and Trustworthy Artificial Intelligence,” 2025, </a:t>
            </a:r>
            <a:r>
              <a:rPr lang="en-US" sz="1600" b="0" i="0" dirty="0" err="1">
                <a:solidFill>
                  <a:srgbClr val="333333"/>
                </a:solidFill>
                <a:effectLst/>
                <a:latin typeface="+mj-lt"/>
              </a:rPr>
              <a:t>doi</a:t>
            </a:r>
            <a:r>
              <a:rPr lang="en-US" sz="1600" b="0" i="0" dirty="0">
                <a:solidFill>
                  <a:srgbClr val="333333"/>
                </a:solidFill>
                <a:effectLst/>
                <a:latin typeface="+mj-lt"/>
              </a:rPr>
              <a:t>: 10.1109/MCG.2025.3533806</a:t>
            </a:r>
            <a:r>
              <a:rPr lang="en-US" sz="1600" dirty="0">
                <a:solidFill>
                  <a:srgbClr val="333333"/>
                </a:solidFill>
                <a:latin typeface="+mj-lt"/>
              </a:rPr>
              <a:t> </a:t>
            </a:r>
            <a:endParaRPr lang="en-US" sz="1600" dirty="0">
              <a:latin typeface="+mj-lt"/>
            </a:endParaRPr>
          </a:p>
        </p:txBody>
      </p:sp>
    </p:spTree>
    <p:extLst>
      <p:ext uri="{BB962C8B-B14F-4D97-AF65-F5344CB8AC3E}">
        <p14:creationId xmlns:p14="http://schemas.microsoft.com/office/powerpoint/2010/main" val="356560710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6DAE32D-A06B-551E-3C79-A2777FB9893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E120BBB-B7E2-0E88-7252-C78BB70E22CE}"/>
              </a:ext>
            </a:extLst>
          </p:cNvPr>
          <p:cNvSpPr>
            <a:spLocks noGrp="1"/>
          </p:cNvSpPr>
          <p:nvPr>
            <p:ph type="title"/>
          </p:nvPr>
        </p:nvSpPr>
        <p:spPr/>
        <p:txBody>
          <a:bodyPr/>
          <a:lstStyle/>
          <a:p>
            <a:r>
              <a:rPr lang="en-US" dirty="0" err="1"/>
              <a:t>xai</a:t>
            </a:r>
            <a:r>
              <a:rPr lang="en-US" dirty="0"/>
              <a:t> and Visualization</a:t>
            </a:r>
          </a:p>
        </p:txBody>
      </p:sp>
      <p:sp>
        <p:nvSpPr>
          <p:cNvPr id="5" name="TextBox 4">
            <a:extLst>
              <a:ext uri="{FF2B5EF4-FFF2-40B4-BE49-F238E27FC236}">
                <a16:creationId xmlns:a16="http://schemas.microsoft.com/office/drawing/2014/main" id="{EA1658A4-3B9A-8C14-3C1B-64291F203579}"/>
              </a:ext>
            </a:extLst>
          </p:cNvPr>
          <p:cNvSpPr txBox="1"/>
          <p:nvPr/>
        </p:nvSpPr>
        <p:spPr>
          <a:xfrm>
            <a:off x="838200" y="6554793"/>
            <a:ext cx="13030200" cy="307777"/>
          </a:xfrm>
          <a:prstGeom prst="rect">
            <a:avLst/>
          </a:prstGeom>
          <a:noFill/>
        </p:spPr>
        <p:txBody>
          <a:bodyPr wrap="square">
            <a:spAutoFit/>
          </a:bodyPr>
          <a:lstStyle/>
          <a:p>
            <a:r>
              <a:rPr lang="en-US" sz="1400" b="0" i="0" dirty="0">
                <a:solidFill>
                  <a:srgbClr val="333333"/>
                </a:solidFill>
                <a:effectLst/>
                <a:latin typeface="+mj-lt"/>
              </a:rPr>
              <a:t>A. </a:t>
            </a:r>
            <a:r>
              <a:rPr lang="en-US" sz="1400" b="0" i="0" dirty="0" err="1">
                <a:solidFill>
                  <a:srgbClr val="333333"/>
                </a:solidFill>
                <a:effectLst/>
                <a:latin typeface="+mj-lt"/>
              </a:rPr>
              <a:t>Chatzimparmpas</a:t>
            </a:r>
            <a:r>
              <a:rPr lang="en-US" sz="1400" b="0" i="0" dirty="0">
                <a:solidFill>
                  <a:srgbClr val="333333"/>
                </a:solidFill>
                <a:effectLst/>
                <a:latin typeface="+mj-lt"/>
              </a:rPr>
              <a:t> et al</a:t>
            </a:r>
            <a:r>
              <a:rPr lang="en-US" sz="1400" dirty="0">
                <a:solidFill>
                  <a:srgbClr val="333333"/>
                </a:solidFill>
                <a:latin typeface="+mj-lt"/>
              </a:rPr>
              <a:t>., "</a:t>
            </a:r>
            <a:r>
              <a:rPr lang="en-US" sz="1400" dirty="0">
                <a:latin typeface="+mj-lt"/>
              </a:rPr>
              <a:t> A survey of surveys on the use of visualization for interpreting machine learning models</a:t>
            </a:r>
            <a:r>
              <a:rPr lang="en-US" sz="1400" dirty="0">
                <a:solidFill>
                  <a:srgbClr val="333333"/>
                </a:solidFill>
                <a:latin typeface="+mj-lt"/>
              </a:rPr>
              <a:t>,” </a:t>
            </a:r>
            <a:r>
              <a:rPr lang="en-US" sz="1400" b="0" i="0" dirty="0">
                <a:solidFill>
                  <a:srgbClr val="333333"/>
                </a:solidFill>
                <a:effectLst/>
                <a:latin typeface="+mj-lt"/>
              </a:rPr>
              <a:t>2020, </a:t>
            </a:r>
            <a:r>
              <a:rPr lang="en-US" sz="1400" b="0" i="0" dirty="0" err="1">
                <a:solidFill>
                  <a:srgbClr val="333333"/>
                </a:solidFill>
                <a:effectLst/>
                <a:latin typeface="+mj-lt"/>
              </a:rPr>
              <a:t>doi</a:t>
            </a:r>
            <a:r>
              <a:rPr lang="en-US" sz="1400" b="0" i="0" dirty="0">
                <a:solidFill>
                  <a:srgbClr val="333333"/>
                </a:solidFill>
                <a:effectLst/>
                <a:latin typeface="+mj-lt"/>
              </a:rPr>
              <a:t>: </a:t>
            </a:r>
            <a:r>
              <a:rPr lang="en-US" sz="1400" dirty="0">
                <a:solidFill>
                  <a:srgbClr val="333333"/>
                </a:solidFill>
                <a:latin typeface="+mj-lt"/>
              </a:rPr>
              <a:t>10.1177/1473871620904671 </a:t>
            </a:r>
            <a:endParaRPr lang="en-US" sz="1400" dirty="0">
              <a:latin typeface="+mj-lt"/>
            </a:endParaRPr>
          </a:p>
        </p:txBody>
      </p:sp>
      <p:pic>
        <p:nvPicPr>
          <p:cNvPr id="18" name="Content Placeholder 17" descr="A graph with blue squares&#10;&#10;AI-generated content may be incorrect.">
            <a:extLst>
              <a:ext uri="{FF2B5EF4-FFF2-40B4-BE49-F238E27FC236}">
                <a16:creationId xmlns:a16="http://schemas.microsoft.com/office/drawing/2014/main" id="{9701B955-8CEF-8BE3-E779-98402B72B296}"/>
              </a:ext>
            </a:extLst>
          </p:cNvPr>
          <p:cNvPicPr>
            <a:picLocks noGrp="1" noChangeAspect="1"/>
          </p:cNvPicPr>
          <p:nvPr>
            <p:ph idx="1"/>
          </p:nvPr>
        </p:nvPicPr>
        <p:blipFill>
          <a:blip r:embed="rId3"/>
          <a:stretch>
            <a:fillRect/>
          </a:stretch>
        </p:blipFill>
        <p:spPr>
          <a:xfrm rot="5400000">
            <a:off x="3301070" y="-1070802"/>
            <a:ext cx="4756581" cy="10566241"/>
          </a:xfrm>
          <a:prstGeom prst="rect">
            <a:avLst/>
          </a:prstGeom>
        </p:spPr>
      </p:pic>
    </p:spTree>
    <p:extLst>
      <p:ext uri="{BB962C8B-B14F-4D97-AF65-F5344CB8AC3E}">
        <p14:creationId xmlns:p14="http://schemas.microsoft.com/office/powerpoint/2010/main" val="24350759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D1751E0-B042-C3D8-E9C5-A228E6DE8BD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98B831B-A422-10BC-6F2F-3FCA2C81FEB8}"/>
              </a:ext>
            </a:extLst>
          </p:cNvPr>
          <p:cNvSpPr>
            <a:spLocks noGrp="1"/>
          </p:cNvSpPr>
          <p:nvPr>
            <p:ph type="title"/>
          </p:nvPr>
        </p:nvSpPr>
        <p:spPr/>
        <p:txBody>
          <a:bodyPr/>
          <a:lstStyle/>
          <a:p>
            <a:r>
              <a:rPr lang="en-US" dirty="0" err="1"/>
              <a:t>xai</a:t>
            </a:r>
            <a:r>
              <a:rPr lang="en-US" dirty="0"/>
              <a:t> and Visualization: design space</a:t>
            </a:r>
          </a:p>
        </p:txBody>
      </p:sp>
      <p:pic>
        <p:nvPicPr>
          <p:cNvPr id="7" name="Content Placeholder 6" descr="A diagram of a software development&#10;&#10;AI-generated content may be incorrect.">
            <a:extLst>
              <a:ext uri="{FF2B5EF4-FFF2-40B4-BE49-F238E27FC236}">
                <a16:creationId xmlns:a16="http://schemas.microsoft.com/office/drawing/2014/main" id="{79643AEE-38C7-50A0-8BAE-D834D9D8DBD9}"/>
              </a:ext>
            </a:extLst>
          </p:cNvPr>
          <p:cNvPicPr>
            <a:picLocks noGrp="1" noChangeAspect="1"/>
          </p:cNvPicPr>
          <p:nvPr>
            <p:ph idx="1"/>
          </p:nvPr>
        </p:nvPicPr>
        <p:blipFill>
          <a:blip r:embed="rId3"/>
          <a:stretch>
            <a:fillRect/>
          </a:stretch>
        </p:blipFill>
        <p:spPr>
          <a:xfrm>
            <a:off x="1399670" y="1879421"/>
            <a:ext cx="9392660" cy="4276423"/>
          </a:xfrm>
          <a:prstGeom prst="rect">
            <a:avLst/>
          </a:prstGeom>
        </p:spPr>
      </p:pic>
      <p:sp>
        <p:nvSpPr>
          <p:cNvPr id="8" name="TextBox 7">
            <a:extLst>
              <a:ext uri="{FF2B5EF4-FFF2-40B4-BE49-F238E27FC236}">
                <a16:creationId xmlns:a16="http://schemas.microsoft.com/office/drawing/2014/main" id="{6121A214-7C26-4495-6247-8ECBAF744113}"/>
              </a:ext>
            </a:extLst>
          </p:cNvPr>
          <p:cNvSpPr txBox="1"/>
          <p:nvPr/>
        </p:nvSpPr>
        <p:spPr>
          <a:xfrm>
            <a:off x="6248400" y="6155844"/>
            <a:ext cx="6294120" cy="584775"/>
          </a:xfrm>
          <a:prstGeom prst="rect">
            <a:avLst/>
          </a:prstGeom>
          <a:noFill/>
        </p:spPr>
        <p:txBody>
          <a:bodyPr wrap="square">
            <a:spAutoFit/>
          </a:bodyPr>
          <a:lstStyle/>
          <a:p>
            <a:r>
              <a:rPr lang="en-US" sz="1600" b="0" i="0" dirty="0">
                <a:solidFill>
                  <a:srgbClr val="333333"/>
                </a:solidFill>
                <a:effectLst/>
                <a:latin typeface="+mj-lt"/>
              </a:rPr>
              <a:t>A. </a:t>
            </a:r>
            <a:r>
              <a:rPr lang="en-US" sz="1600" b="0" i="0" dirty="0" err="1">
                <a:solidFill>
                  <a:srgbClr val="333333"/>
                </a:solidFill>
                <a:effectLst/>
                <a:latin typeface="+mj-lt"/>
              </a:rPr>
              <a:t>Chatzimparmpas</a:t>
            </a:r>
            <a:r>
              <a:rPr lang="en-US" sz="1600" b="0" i="0" dirty="0">
                <a:solidFill>
                  <a:srgbClr val="333333"/>
                </a:solidFill>
                <a:effectLst/>
                <a:latin typeface="+mj-lt"/>
              </a:rPr>
              <a:t>, "Visual Analytics for Explainable and Trustworthy Artificial Intelligence,” 2025, </a:t>
            </a:r>
            <a:r>
              <a:rPr lang="en-US" sz="1600" b="0" i="0" dirty="0" err="1">
                <a:solidFill>
                  <a:srgbClr val="333333"/>
                </a:solidFill>
                <a:effectLst/>
                <a:latin typeface="+mj-lt"/>
              </a:rPr>
              <a:t>doi</a:t>
            </a:r>
            <a:r>
              <a:rPr lang="en-US" sz="1600" b="0" i="0" dirty="0">
                <a:solidFill>
                  <a:srgbClr val="333333"/>
                </a:solidFill>
                <a:effectLst/>
                <a:latin typeface="+mj-lt"/>
              </a:rPr>
              <a:t>: 10.1109/MCG.2025.3533806</a:t>
            </a:r>
            <a:r>
              <a:rPr lang="en-US" sz="1600" dirty="0">
                <a:solidFill>
                  <a:srgbClr val="333333"/>
                </a:solidFill>
                <a:latin typeface="+mj-lt"/>
              </a:rPr>
              <a:t> </a:t>
            </a:r>
            <a:endParaRPr lang="en-US" sz="1600" dirty="0">
              <a:latin typeface="+mj-lt"/>
            </a:endParaRPr>
          </a:p>
        </p:txBody>
      </p:sp>
    </p:spTree>
    <p:extLst>
      <p:ext uri="{BB962C8B-B14F-4D97-AF65-F5344CB8AC3E}">
        <p14:creationId xmlns:p14="http://schemas.microsoft.com/office/powerpoint/2010/main" val="307808974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C266046-2275-5889-E1C4-8F11E6AA0F8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ED991B0-B933-231F-134D-AC91E47B067E}"/>
              </a:ext>
            </a:extLst>
          </p:cNvPr>
          <p:cNvSpPr>
            <a:spLocks noGrp="1"/>
          </p:cNvSpPr>
          <p:nvPr>
            <p:ph type="title"/>
          </p:nvPr>
        </p:nvSpPr>
        <p:spPr/>
        <p:txBody>
          <a:bodyPr/>
          <a:lstStyle/>
          <a:p>
            <a:r>
              <a:rPr lang="en-US" dirty="0" err="1"/>
              <a:t>xai</a:t>
            </a:r>
            <a:r>
              <a:rPr lang="en-US" dirty="0"/>
              <a:t> and Visualization: data processing </a:t>
            </a:r>
          </a:p>
        </p:txBody>
      </p:sp>
      <p:sp>
        <p:nvSpPr>
          <p:cNvPr id="8" name="TextBox 7">
            <a:extLst>
              <a:ext uri="{FF2B5EF4-FFF2-40B4-BE49-F238E27FC236}">
                <a16:creationId xmlns:a16="http://schemas.microsoft.com/office/drawing/2014/main" id="{4E14EF2B-D06F-6F9E-EDE5-2E72F0366AF1}"/>
              </a:ext>
            </a:extLst>
          </p:cNvPr>
          <p:cNvSpPr txBox="1"/>
          <p:nvPr/>
        </p:nvSpPr>
        <p:spPr>
          <a:xfrm>
            <a:off x="5013960" y="6030951"/>
            <a:ext cx="7437120" cy="584775"/>
          </a:xfrm>
          <a:prstGeom prst="rect">
            <a:avLst/>
          </a:prstGeom>
          <a:noFill/>
        </p:spPr>
        <p:txBody>
          <a:bodyPr wrap="square">
            <a:spAutoFit/>
          </a:bodyPr>
          <a:lstStyle/>
          <a:p>
            <a:r>
              <a:rPr lang="en-US" sz="1600" dirty="0" err="1">
                <a:solidFill>
                  <a:srgbClr val="333333"/>
                </a:solidFill>
                <a:latin typeface="+mj-lt"/>
              </a:rPr>
              <a:t>Chatzimparmpas</a:t>
            </a:r>
            <a:r>
              <a:rPr lang="en-US" sz="1600" dirty="0">
                <a:solidFill>
                  <a:srgbClr val="333333"/>
                </a:solidFill>
                <a:latin typeface="+mj-lt"/>
              </a:rPr>
              <a:t>, et al. (2022). </a:t>
            </a:r>
            <a:r>
              <a:rPr lang="en-US" sz="1600" dirty="0" err="1">
                <a:solidFill>
                  <a:srgbClr val="333333"/>
                </a:solidFill>
                <a:latin typeface="+mj-lt"/>
              </a:rPr>
              <a:t>HardVis</a:t>
            </a:r>
            <a:r>
              <a:rPr lang="en-US" sz="1600" dirty="0">
                <a:solidFill>
                  <a:srgbClr val="333333"/>
                </a:solidFill>
                <a:latin typeface="+mj-lt"/>
              </a:rPr>
              <a:t>: Visual Analytics to Handle Instance Hardness Using </a:t>
            </a:r>
            <a:r>
              <a:rPr lang="en-US" sz="1600" dirty="0" err="1">
                <a:solidFill>
                  <a:srgbClr val="333333"/>
                </a:solidFill>
                <a:latin typeface="+mj-lt"/>
              </a:rPr>
              <a:t>Undersampling</a:t>
            </a:r>
            <a:r>
              <a:rPr lang="en-US" sz="1600" dirty="0">
                <a:solidFill>
                  <a:srgbClr val="333333"/>
                </a:solidFill>
                <a:latin typeface="+mj-lt"/>
              </a:rPr>
              <a:t> and Oversampling Techniques. 42. 10.1111/cgf.14726.</a:t>
            </a:r>
            <a:endParaRPr lang="en-US" sz="1600" dirty="0">
              <a:latin typeface="+mj-lt"/>
            </a:endParaRPr>
          </a:p>
        </p:txBody>
      </p:sp>
      <p:sp>
        <p:nvSpPr>
          <p:cNvPr id="4" name="Content Placeholder 3">
            <a:extLst>
              <a:ext uri="{FF2B5EF4-FFF2-40B4-BE49-F238E27FC236}">
                <a16:creationId xmlns:a16="http://schemas.microsoft.com/office/drawing/2014/main" id="{E90FD46A-8B05-6366-A2CB-C4AA63BBE281}"/>
              </a:ext>
            </a:extLst>
          </p:cNvPr>
          <p:cNvSpPr>
            <a:spLocks noGrp="1"/>
          </p:cNvSpPr>
          <p:nvPr>
            <p:ph idx="1"/>
          </p:nvPr>
        </p:nvSpPr>
        <p:spPr>
          <a:xfrm>
            <a:off x="581193" y="2180496"/>
            <a:ext cx="2558248" cy="3678303"/>
          </a:xfrm>
        </p:spPr>
        <p:txBody>
          <a:bodyPr>
            <a:normAutofit/>
          </a:bodyPr>
          <a:lstStyle/>
          <a:p>
            <a:r>
              <a:rPr lang="en-US" sz="2400" dirty="0" err="1"/>
              <a:t>HardVis</a:t>
            </a:r>
            <a:endParaRPr lang="en-US" sz="2400" dirty="0"/>
          </a:p>
          <a:p>
            <a:r>
              <a:rPr lang="en-US" sz="2400" dirty="0">
                <a:hlinkClick r:id="rId3"/>
              </a:rPr>
              <a:t>https://vimeo.com/772796696</a:t>
            </a:r>
            <a:r>
              <a:rPr lang="en-US" sz="2400" dirty="0"/>
              <a:t>  </a:t>
            </a:r>
          </a:p>
          <a:p>
            <a:endParaRPr lang="en-US" sz="2400" dirty="0"/>
          </a:p>
        </p:txBody>
      </p:sp>
      <p:pic>
        <p:nvPicPr>
          <p:cNvPr id="6" name="Picture 5" descr="A screenshot of a computer&#10;&#10;AI-generated content may be incorrect.">
            <a:extLst>
              <a:ext uri="{FF2B5EF4-FFF2-40B4-BE49-F238E27FC236}">
                <a16:creationId xmlns:a16="http://schemas.microsoft.com/office/drawing/2014/main" id="{3FA859C1-91D4-1413-65C5-8548934360C9}"/>
              </a:ext>
            </a:extLst>
          </p:cNvPr>
          <p:cNvPicPr>
            <a:picLocks noChangeAspect="1"/>
          </p:cNvPicPr>
          <p:nvPr/>
        </p:nvPicPr>
        <p:blipFill>
          <a:blip r:embed="rId4"/>
          <a:stretch>
            <a:fillRect/>
          </a:stretch>
        </p:blipFill>
        <p:spPr>
          <a:xfrm>
            <a:off x="3976023" y="1677067"/>
            <a:ext cx="7772400" cy="4392774"/>
          </a:xfrm>
          <a:prstGeom prst="rect">
            <a:avLst/>
          </a:prstGeom>
        </p:spPr>
      </p:pic>
    </p:spTree>
    <p:extLst>
      <p:ext uri="{BB962C8B-B14F-4D97-AF65-F5344CB8AC3E}">
        <p14:creationId xmlns:p14="http://schemas.microsoft.com/office/powerpoint/2010/main" val="212287624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5EB96E-25CC-A2B2-5CB0-4E1AE00D8E7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B49EE9C-8642-A260-45AD-515022DBD896}"/>
              </a:ext>
            </a:extLst>
          </p:cNvPr>
          <p:cNvSpPr>
            <a:spLocks noGrp="1"/>
          </p:cNvSpPr>
          <p:nvPr>
            <p:ph type="title"/>
          </p:nvPr>
        </p:nvSpPr>
        <p:spPr/>
        <p:txBody>
          <a:bodyPr/>
          <a:lstStyle/>
          <a:p>
            <a:r>
              <a:rPr lang="en-US" dirty="0" err="1"/>
              <a:t>xai</a:t>
            </a:r>
            <a:r>
              <a:rPr lang="en-US" dirty="0"/>
              <a:t> and Visualization: feature engineering </a:t>
            </a:r>
          </a:p>
        </p:txBody>
      </p:sp>
      <p:sp>
        <p:nvSpPr>
          <p:cNvPr id="8" name="TextBox 7">
            <a:extLst>
              <a:ext uri="{FF2B5EF4-FFF2-40B4-BE49-F238E27FC236}">
                <a16:creationId xmlns:a16="http://schemas.microsoft.com/office/drawing/2014/main" id="{EAAE7C8F-49D7-E7C7-CE07-2DF9F5848243}"/>
              </a:ext>
            </a:extLst>
          </p:cNvPr>
          <p:cNvSpPr txBox="1"/>
          <p:nvPr/>
        </p:nvSpPr>
        <p:spPr>
          <a:xfrm>
            <a:off x="3002280" y="6155844"/>
            <a:ext cx="9540240" cy="646331"/>
          </a:xfrm>
          <a:prstGeom prst="rect">
            <a:avLst/>
          </a:prstGeom>
          <a:noFill/>
        </p:spPr>
        <p:txBody>
          <a:bodyPr wrap="square">
            <a:spAutoFit/>
          </a:bodyPr>
          <a:lstStyle/>
          <a:p>
            <a:r>
              <a:rPr lang="en-US" dirty="0"/>
              <a:t>A. </a:t>
            </a:r>
            <a:r>
              <a:rPr lang="en-US" dirty="0" err="1"/>
              <a:t>Chatzimparmpas</a:t>
            </a:r>
            <a:r>
              <a:rPr lang="en-US" dirty="0"/>
              <a:t>, et al., "</a:t>
            </a:r>
            <a:r>
              <a:rPr lang="en-US" dirty="0" err="1"/>
              <a:t>FeatureEnVi</a:t>
            </a:r>
            <a:r>
              <a:rPr lang="en-US" dirty="0"/>
              <a:t>: Visual Analytics for Feature Engineering Using Stepwise Selection and Semi-Automatic Extraction Approaches," 2022, </a:t>
            </a:r>
            <a:r>
              <a:rPr lang="en-US" dirty="0" err="1"/>
              <a:t>doi</a:t>
            </a:r>
            <a:r>
              <a:rPr lang="en-US" dirty="0"/>
              <a:t>: 10.1109/TVCG.2022.3141040</a:t>
            </a:r>
            <a:endParaRPr lang="en-US" sz="1600" dirty="0">
              <a:latin typeface="+mj-lt"/>
            </a:endParaRPr>
          </a:p>
        </p:txBody>
      </p:sp>
      <p:sp>
        <p:nvSpPr>
          <p:cNvPr id="4" name="Content Placeholder 3">
            <a:extLst>
              <a:ext uri="{FF2B5EF4-FFF2-40B4-BE49-F238E27FC236}">
                <a16:creationId xmlns:a16="http://schemas.microsoft.com/office/drawing/2014/main" id="{7D9ED6DA-A577-D992-2126-0B1A1FA63B9D}"/>
              </a:ext>
            </a:extLst>
          </p:cNvPr>
          <p:cNvSpPr>
            <a:spLocks noGrp="1"/>
          </p:cNvSpPr>
          <p:nvPr>
            <p:ph idx="1"/>
          </p:nvPr>
        </p:nvSpPr>
        <p:spPr>
          <a:xfrm>
            <a:off x="581193" y="2180496"/>
            <a:ext cx="2253448" cy="3678303"/>
          </a:xfrm>
        </p:spPr>
        <p:txBody>
          <a:bodyPr>
            <a:normAutofit/>
          </a:bodyPr>
          <a:lstStyle/>
          <a:p>
            <a:r>
              <a:rPr lang="en-US" sz="2400" dirty="0" err="1"/>
              <a:t>FeatureEnVi</a:t>
            </a:r>
            <a:endParaRPr lang="en-US" sz="2400" dirty="0"/>
          </a:p>
          <a:p>
            <a:r>
              <a:rPr lang="en-US" sz="2400" dirty="0">
                <a:hlinkClick r:id="rId3"/>
              </a:rPr>
              <a:t>https://vimeo.com/662536366</a:t>
            </a:r>
            <a:r>
              <a:rPr lang="en-US" sz="2400" dirty="0"/>
              <a:t> </a:t>
            </a:r>
          </a:p>
        </p:txBody>
      </p:sp>
      <p:pic>
        <p:nvPicPr>
          <p:cNvPr id="5" name="Picture 4" descr="A screenshot of a computer&#10;&#10;AI-generated content may be incorrect.">
            <a:extLst>
              <a:ext uri="{FF2B5EF4-FFF2-40B4-BE49-F238E27FC236}">
                <a16:creationId xmlns:a16="http://schemas.microsoft.com/office/drawing/2014/main" id="{3D2DF1EF-83F7-0E68-B489-DEF80CB6D3CB}"/>
              </a:ext>
            </a:extLst>
          </p:cNvPr>
          <p:cNvPicPr>
            <a:picLocks noChangeAspect="1"/>
          </p:cNvPicPr>
          <p:nvPr/>
        </p:nvPicPr>
        <p:blipFill>
          <a:blip r:embed="rId4"/>
          <a:stretch>
            <a:fillRect/>
          </a:stretch>
        </p:blipFill>
        <p:spPr>
          <a:xfrm>
            <a:off x="3350727" y="1715956"/>
            <a:ext cx="8260080" cy="4372984"/>
          </a:xfrm>
          <a:prstGeom prst="rect">
            <a:avLst/>
          </a:prstGeom>
        </p:spPr>
      </p:pic>
    </p:spTree>
    <p:extLst>
      <p:ext uri="{BB962C8B-B14F-4D97-AF65-F5344CB8AC3E}">
        <p14:creationId xmlns:p14="http://schemas.microsoft.com/office/powerpoint/2010/main" val="55848061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C0EC366-0E63-0226-90F6-7AB9F4E291E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1CFAFF6-9471-259A-C9E2-199EB796D16D}"/>
              </a:ext>
            </a:extLst>
          </p:cNvPr>
          <p:cNvSpPr>
            <a:spLocks noGrp="1"/>
          </p:cNvSpPr>
          <p:nvPr>
            <p:ph type="title"/>
          </p:nvPr>
        </p:nvSpPr>
        <p:spPr/>
        <p:txBody>
          <a:bodyPr/>
          <a:lstStyle/>
          <a:p>
            <a:r>
              <a:rPr lang="en-US" dirty="0" err="1"/>
              <a:t>xai</a:t>
            </a:r>
            <a:r>
              <a:rPr lang="en-US" dirty="0"/>
              <a:t> and Visualization: hyperparameter tuning </a:t>
            </a:r>
          </a:p>
        </p:txBody>
      </p:sp>
      <p:sp>
        <p:nvSpPr>
          <p:cNvPr id="8" name="TextBox 7">
            <a:extLst>
              <a:ext uri="{FF2B5EF4-FFF2-40B4-BE49-F238E27FC236}">
                <a16:creationId xmlns:a16="http://schemas.microsoft.com/office/drawing/2014/main" id="{668BF00C-D5A3-BC34-1DB1-39C41D76FAEB}"/>
              </a:ext>
            </a:extLst>
          </p:cNvPr>
          <p:cNvSpPr txBox="1"/>
          <p:nvPr/>
        </p:nvSpPr>
        <p:spPr>
          <a:xfrm>
            <a:off x="6248400" y="6155844"/>
            <a:ext cx="6294120" cy="584775"/>
          </a:xfrm>
          <a:prstGeom prst="rect">
            <a:avLst/>
          </a:prstGeom>
          <a:noFill/>
        </p:spPr>
        <p:txBody>
          <a:bodyPr wrap="square">
            <a:spAutoFit/>
          </a:bodyPr>
          <a:lstStyle/>
          <a:p>
            <a:r>
              <a:rPr lang="en-US" sz="1600" b="0" i="0" dirty="0">
                <a:solidFill>
                  <a:srgbClr val="333333"/>
                </a:solidFill>
                <a:effectLst/>
                <a:latin typeface="+mj-lt"/>
              </a:rPr>
              <a:t>A. </a:t>
            </a:r>
            <a:r>
              <a:rPr lang="en-US" sz="1600" b="0" i="0" dirty="0" err="1">
                <a:solidFill>
                  <a:srgbClr val="333333"/>
                </a:solidFill>
                <a:effectLst/>
                <a:latin typeface="+mj-lt"/>
              </a:rPr>
              <a:t>Chatzimparmpas</a:t>
            </a:r>
            <a:r>
              <a:rPr lang="en-US" sz="1600" b="0" i="0" dirty="0">
                <a:solidFill>
                  <a:srgbClr val="333333"/>
                </a:solidFill>
                <a:effectLst/>
                <a:latin typeface="+mj-lt"/>
              </a:rPr>
              <a:t>, "Visual Analytics for Explainable and Trustworthy Artificial Intelligence,” 2025, </a:t>
            </a:r>
            <a:r>
              <a:rPr lang="en-US" sz="1600" b="0" i="0" dirty="0" err="1">
                <a:solidFill>
                  <a:srgbClr val="333333"/>
                </a:solidFill>
                <a:effectLst/>
                <a:latin typeface="+mj-lt"/>
              </a:rPr>
              <a:t>doi</a:t>
            </a:r>
            <a:r>
              <a:rPr lang="en-US" sz="1600" b="0" i="0" dirty="0">
                <a:solidFill>
                  <a:srgbClr val="333333"/>
                </a:solidFill>
                <a:effectLst/>
                <a:latin typeface="+mj-lt"/>
              </a:rPr>
              <a:t>: 10.1109/MCG.2025.3533806</a:t>
            </a:r>
            <a:r>
              <a:rPr lang="en-US" sz="1600" dirty="0">
                <a:solidFill>
                  <a:srgbClr val="333333"/>
                </a:solidFill>
                <a:latin typeface="+mj-lt"/>
              </a:rPr>
              <a:t> </a:t>
            </a:r>
            <a:endParaRPr lang="en-US" sz="1600" dirty="0">
              <a:latin typeface="+mj-lt"/>
            </a:endParaRPr>
          </a:p>
        </p:txBody>
      </p:sp>
      <p:sp>
        <p:nvSpPr>
          <p:cNvPr id="4" name="Content Placeholder 3">
            <a:extLst>
              <a:ext uri="{FF2B5EF4-FFF2-40B4-BE49-F238E27FC236}">
                <a16:creationId xmlns:a16="http://schemas.microsoft.com/office/drawing/2014/main" id="{8EA5B275-9013-B931-6245-000025B81A5D}"/>
              </a:ext>
            </a:extLst>
          </p:cNvPr>
          <p:cNvSpPr>
            <a:spLocks noGrp="1"/>
          </p:cNvSpPr>
          <p:nvPr>
            <p:ph idx="1"/>
          </p:nvPr>
        </p:nvSpPr>
        <p:spPr>
          <a:xfrm>
            <a:off x="581193" y="2180496"/>
            <a:ext cx="2710648" cy="3678303"/>
          </a:xfrm>
        </p:spPr>
        <p:txBody>
          <a:bodyPr>
            <a:normAutofit/>
          </a:bodyPr>
          <a:lstStyle/>
          <a:p>
            <a:r>
              <a:rPr lang="en-US" sz="2400" dirty="0" err="1"/>
              <a:t>VisEvol</a:t>
            </a:r>
            <a:endParaRPr lang="en-US" sz="2400" dirty="0"/>
          </a:p>
          <a:p>
            <a:r>
              <a:rPr lang="en-US" sz="2400" dirty="0">
                <a:hlinkClick r:id="rId3"/>
              </a:rPr>
              <a:t>https://diglib.eg.org/items/df6b539d-af1e-4a1a-b507-35a6d23c2d6f</a:t>
            </a:r>
            <a:r>
              <a:rPr lang="en-US" sz="2400" dirty="0"/>
              <a:t> </a:t>
            </a:r>
          </a:p>
        </p:txBody>
      </p:sp>
      <p:pic>
        <p:nvPicPr>
          <p:cNvPr id="5" name="Picture 4" descr="A screenshot of a computer&#10;&#10;AI-generated content may be incorrect.">
            <a:extLst>
              <a:ext uri="{FF2B5EF4-FFF2-40B4-BE49-F238E27FC236}">
                <a16:creationId xmlns:a16="http://schemas.microsoft.com/office/drawing/2014/main" id="{31F4177D-5EA1-D369-8C1F-E1699A0F2777}"/>
              </a:ext>
            </a:extLst>
          </p:cNvPr>
          <p:cNvPicPr>
            <a:picLocks noChangeAspect="1"/>
          </p:cNvPicPr>
          <p:nvPr/>
        </p:nvPicPr>
        <p:blipFill>
          <a:blip r:embed="rId4"/>
          <a:stretch>
            <a:fillRect/>
          </a:stretch>
        </p:blipFill>
        <p:spPr>
          <a:xfrm>
            <a:off x="3481003" y="1822336"/>
            <a:ext cx="8129804" cy="4333508"/>
          </a:xfrm>
          <a:prstGeom prst="rect">
            <a:avLst/>
          </a:prstGeom>
        </p:spPr>
      </p:pic>
    </p:spTree>
    <p:extLst>
      <p:ext uri="{BB962C8B-B14F-4D97-AF65-F5344CB8AC3E}">
        <p14:creationId xmlns:p14="http://schemas.microsoft.com/office/powerpoint/2010/main" val="6719811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9844DFF-AAC7-17B8-9165-1B91858B5CD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8A0C865-9280-14E3-BE28-760D884F9860}"/>
              </a:ext>
            </a:extLst>
          </p:cNvPr>
          <p:cNvSpPr>
            <a:spLocks noGrp="1"/>
          </p:cNvSpPr>
          <p:nvPr>
            <p:ph type="title"/>
          </p:nvPr>
        </p:nvSpPr>
        <p:spPr/>
        <p:txBody>
          <a:bodyPr/>
          <a:lstStyle/>
          <a:p>
            <a:r>
              <a:rPr lang="en-US" dirty="0" err="1"/>
              <a:t>xai</a:t>
            </a:r>
            <a:r>
              <a:rPr lang="en-US" dirty="0"/>
              <a:t> and Visualization: model understanding</a:t>
            </a:r>
          </a:p>
        </p:txBody>
      </p:sp>
      <p:sp>
        <p:nvSpPr>
          <p:cNvPr id="8" name="TextBox 7">
            <a:extLst>
              <a:ext uri="{FF2B5EF4-FFF2-40B4-BE49-F238E27FC236}">
                <a16:creationId xmlns:a16="http://schemas.microsoft.com/office/drawing/2014/main" id="{CFD54D96-0173-081A-6A7C-10166FBF235D}"/>
              </a:ext>
            </a:extLst>
          </p:cNvPr>
          <p:cNvSpPr txBox="1"/>
          <p:nvPr/>
        </p:nvSpPr>
        <p:spPr>
          <a:xfrm>
            <a:off x="5494468" y="6190121"/>
            <a:ext cx="6697532" cy="584775"/>
          </a:xfrm>
          <a:prstGeom prst="rect">
            <a:avLst/>
          </a:prstGeom>
          <a:noFill/>
        </p:spPr>
        <p:txBody>
          <a:bodyPr wrap="square">
            <a:spAutoFit/>
          </a:bodyPr>
          <a:lstStyle/>
          <a:p>
            <a:r>
              <a:rPr lang="en-US" sz="1600" b="0" i="0" dirty="0">
                <a:solidFill>
                  <a:srgbClr val="333333"/>
                </a:solidFill>
                <a:effectLst/>
                <a:latin typeface="+mj-lt"/>
              </a:rPr>
              <a:t>A. </a:t>
            </a:r>
            <a:r>
              <a:rPr lang="en-US" sz="1600" b="0" i="0" dirty="0" err="1">
                <a:solidFill>
                  <a:srgbClr val="333333"/>
                </a:solidFill>
                <a:effectLst/>
                <a:latin typeface="+mj-lt"/>
              </a:rPr>
              <a:t>Chatzimparmpas</a:t>
            </a:r>
            <a:r>
              <a:rPr lang="en-US" sz="1600" b="0" i="0" dirty="0">
                <a:solidFill>
                  <a:srgbClr val="333333"/>
                </a:solidFill>
                <a:effectLst/>
                <a:latin typeface="+mj-lt"/>
              </a:rPr>
              <a:t>, et al. " t-</a:t>
            </a:r>
            <a:r>
              <a:rPr lang="en-US" sz="1600" b="0" i="0" dirty="0" err="1">
                <a:solidFill>
                  <a:srgbClr val="333333"/>
                </a:solidFill>
                <a:effectLst/>
                <a:latin typeface="+mj-lt"/>
              </a:rPr>
              <a:t>viSNE</a:t>
            </a:r>
            <a:r>
              <a:rPr lang="en-US" sz="1600" b="0" i="0" dirty="0">
                <a:solidFill>
                  <a:srgbClr val="333333"/>
                </a:solidFill>
                <a:effectLst/>
                <a:latin typeface="+mj-lt"/>
              </a:rPr>
              <a:t>: Interactive Assessment and Interpretation of t-SNE Projections,” 2020, </a:t>
            </a:r>
            <a:r>
              <a:rPr lang="en-US" sz="1600" b="0" i="0" dirty="0" err="1">
                <a:solidFill>
                  <a:srgbClr val="333333"/>
                </a:solidFill>
                <a:effectLst/>
                <a:latin typeface="+mj-lt"/>
              </a:rPr>
              <a:t>doi</a:t>
            </a:r>
            <a:r>
              <a:rPr lang="en-US" sz="1600" b="0" i="0" dirty="0">
                <a:solidFill>
                  <a:srgbClr val="333333"/>
                </a:solidFill>
                <a:effectLst/>
                <a:latin typeface="+mj-lt"/>
              </a:rPr>
              <a:t>: 10.1109/TVCG.2020.2986996</a:t>
            </a:r>
            <a:endParaRPr lang="en-US" sz="1600" dirty="0">
              <a:latin typeface="+mj-lt"/>
            </a:endParaRPr>
          </a:p>
        </p:txBody>
      </p:sp>
      <p:sp>
        <p:nvSpPr>
          <p:cNvPr id="4" name="Content Placeholder 3">
            <a:extLst>
              <a:ext uri="{FF2B5EF4-FFF2-40B4-BE49-F238E27FC236}">
                <a16:creationId xmlns:a16="http://schemas.microsoft.com/office/drawing/2014/main" id="{A1215712-F255-3CC2-AD30-5953E436D8BE}"/>
              </a:ext>
            </a:extLst>
          </p:cNvPr>
          <p:cNvSpPr>
            <a:spLocks noGrp="1"/>
          </p:cNvSpPr>
          <p:nvPr>
            <p:ph idx="1"/>
          </p:nvPr>
        </p:nvSpPr>
        <p:spPr>
          <a:xfrm>
            <a:off x="581192" y="2180496"/>
            <a:ext cx="2502667" cy="3678303"/>
          </a:xfrm>
        </p:spPr>
        <p:txBody>
          <a:bodyPr>
            <a:normAutofit/>
          </a:bodyPr>
          <a:lstStyle/>
          <a:p>
            <a:r>
              <a:rPr lang="en-US" sz="2400" dirty="0"/>
              <a:t>t-</a:t>
            </a:r>
            <a:r>
              <a:rPr lang="en-US" sz="2400" dirty="0" err="1"/>
              <a:t>viSNE</a:t>
            </a:r>
            <a:endParaRPr lang="en-US" sz="2400" dirty="0"/>
          </a:p>
          <a:p>
            <a:r>
              <a:rPr lang="en-US" sz="2400" dirty="0">
                <a:hlinkClick r:id="rId3"/>
              </a:rPr>
              <a:t>https://ieeexplore.ieee.org/document/9064929/media#media</a:t>
            </a:r>
            <a:r>
              <a:rPr lang="en-US" sz="2400" dirty="0"/>
              <a:t> </a:t>
            </a:r>
          </a:p>
        </p:txBody>
      </p:sp>
      <p:pic>
        <p:nvPicPr>
          <p:cNvPr id="7" name="Picture 6" descr="A screenshot of a computer&#10;&#10;AI-generated content may be incorrect.">
            <a:extLst>
              <a:ext uri="{FF2B5EF4-FFF2-40B4-BE49-F238E27FC236}">
                <a16:creationId xmlns:a16="http://schemas.microsoft.com/office/drawing/2014/main" id="{EA52A1D8-8529-16C0-8A69-A91BF8B19F1C}"/>
              </a:ext>
            </a:extLst>
          </p:cNvPr>
          <p:cNvPicPr>
            <a:picLocks noChangeAspect="1"/>
          </p:cNvPicPr>
          <p:nvPr/>
        </p:nvPicPr>
        <p:blipFill>
          <a:blip r:embed="rId4"/>
          <a:stretch>
            <a:fillRect/>
          </a:stretch>
        </p:blipFill>
        <p:spPr>
          <a:xfrm>
            <a:off x="3721867" y="1715956"/>
            <a:ext cx="7888941" cy="4471928"/>
          </a:xfrm>
          <a:prstGeom prst="rect">
            <a:avLst/>
          </a:prstGeom>
        </p:spPr>
      </p:pic>
    </p:spTree>
    <p:extLst>
      <p:ext uri="{BB962C8B-B14F-4D97-AF65-F5344CB8AC3E}">
        <p14:creationId xmlns:p14="http://schemas.microsoft.com/office/powerpoint/2010/main" val="267601583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F582120-04D4-0D05-1AB7-27B96A25560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0CB7677-5E2F-F2DB-F73A-E2967A39A333}"/>
              </a:ext>
            </a:extLst>
          </p:cNvPr>
          <p:cNvSpPr>
            <a:spLocks noGrp="1"/>
          </p:cNvSpPr>
          <p:nvPr>
            <p:ph type="title"/>
          </p:nvPr>
        </p:nvSpPr>
        <p:spPr/>
        <p:txBody>
          <a:bodyPr/>
          <a:lstStyle/>
          <a:p>
            <a:r>
              <a:rPr lang="en-US" dirty="0" err="1"/>
              <a:t>xai</a:t>
            </a:r>
            <a:r>
              <a:rPr lang="en-US" dirty="0"/>
              <a:t> and Visualization: model debugging</a:t>
            </a:r>
          </a:p>
        </p:txBody>
      </p:sp>
      <p:sp>
        <p:nvSpPr>
          <p:cNvPr id="8" name="TextBox 7">
            <a:extLst>
              <a:ext uri="{FF2B5EF4-FFF2-40B4-BE49-F238E27FC236}">
                <a16:creationId xmlns:a16="http://schemas.microsoft.com/office/drawing/2014/main" id="{8D517C81-872F-ED81-843C-E7929F344AB8}"/>
              </a:ext>
            </a:extLst>
          </p:cNvPr>
          <p:cNvSpPr txBox="1"/>
          <p:nvPr/>
        </p:nvSpPr>
        <p:spPr>
          <a:xfrm>
            <a:off x="4876799" y="6273225"/>
            <a:ext cx="7558144" cy="584775"/>
          </a:xfrm>
          <a:prstGeom prst="rect">
            <a:avLst/>
          </a:prstGeom>
          <a:noFill/>
        </p:spPr>
        <p:txBody>
          <a:bodyPr wrap="square">
            <a:spAutoFit/>
          </a:bodyPr>
          <a:lstStyle/>
          <a:p>
            <a:r>
              <a:rPr lang="en-US" sz="1600" b="0" i="0" dirty="0">
                <a:solidFill>
                  <a:srgbClr val="333333"/>
                </a:solidFill>
                <a:effectLst/>
                <a:latin typeface="+mj-lt"/>
              </a:rPr>
              <a:t>A. </a:t>
            </a:r>
            <a:r>
              <a:rPr lang="en-US" sz="1600" b="0" i="0" dirty="0" err="1">
                <a:solidFill>
                  <a:srgbClr val="333333"/>
                </a:solidFill>
                <a:effectLst/>
                <a:latin typeface="+mj-lt"/>
              </a:rPr>
              <a:t>Chatzimparmpas</a:t>
            </a:r>
            <a:r>
              <a:rPr lang="en-US" sz="1600" b="0" i="0" dirty="0">
                <a:solidFill>
                  <a:srgbClr val="333333"/>
                </a:solidFill>
                <a:effectLst/>
                <a:latin typeface="+mj-lt"/>
              </a:rPr>
              <a:t>,  et al." </a:t>
            </a:r>
            <a:r>
              <a:rPr lang="en-US" sz="1600" b="0" i="0" dirty="0" err="1">
                <a:solidFill>
                  <a:srgbClr val="333333"/>
                </a:solidFill>
                <a:effectLst/>
                <a:latin typeface="+mj-lt"/>
              </a:rPr>
              <a:t>VisRuler</a:t>
            </a:r>
            <a:r>
              <a:rPr lang="en-US" sz="1600" b="0" i="0" dirty="0">
                <a:solidFill>
                  <a:srgbClr val="333333"/>
                </a:solidFill>
                <a:effectLst/>
                <a:latin typeface="+mj-lt"/>
              </a:rPr>
              <a:t>: Visual analytics for extracting decision rules from bagged and boosted decision trees,” 2023, </a:t>
            </a:r>
            <a:r>
              <a:rPr lang="en-US" sz="1600" b="0" i="0" dirty="0" err="1">
                <a:solidFill>
                  <a:srgbClr val="333333"/>
                </a:solidFill>
                <a:effectLst/>
                <a:latin typeface="+mj-lt"/>
              </a:rPr>
              <a:t>doi</a:t>
            </a:r>
            <a:r>
              <a:rPr lang="en-US" sz="1600" b="0" i="0" dirty="0">
                <a:solidFill>
                  <a:srgbClr val="333333"/>
                </a:solidFill>
                <a:effectLst/>
                <a:latin typeface="+mj-lt"/>
              </a:rPr>
              <a:t>: 10.1177/14738716221142005 </a:t>
            </a:r>
            <a:endParaRPr lang="en-US" sz="1600" dirty="0">
              <a:latin typeface="+mj-lt"/>
            </a:endParaRPr>
          </a:p>
        </p:txBody>
      </p:sp>
      <p:sp>
        <p:nvSpPr>
          <p:cNvPr id="4" name="Content Placeholder 3">
            <a:extLst>
              <a:ext uri="{FF2B5EF4-FFF2-40B4-BE49-F238E27FC236}">
                <a16:creationId xmlns:a16="http://schemas.microsoft.com/office/drawing/2014/main" id="{3DA5D462-3FEC-28E7-875D-86487C33D1A8}"/>
              </a:ext>
            </a:extLst>
          </p:cNvPr>
          <p:cNvSpPr>
            <a:spLocks noGrp="1"/>
          </p:cNvSpPr>
          <p:nvPr>
            <p:ph idx="1"/>
          </p:nvPr>
        </p:nvSpPr>
        <p:spPr>
          <a:xfrm>
            <a:off x="581193" y="2180496"/>
            <a:ext cx="2825396" cy="3678303"/>
          </a:xfrm>
        </p:spPr>
        <p:txBody>
          <a:bodyPr>
            <a:normAutofit/>
          </a:bodyPr>
          <a:lstStyle/>
          <a:p>
            <a:r>
              <a:rPr lang="en-US" sz="2400" dirty="0" err="1"/>
              <a:t>VisRuler</a:t>
            </a:r>
            <a:endParaRPr lang="en-US" sz="2400" dirty="0"/>
          </a:p>
          <a:p>
            <a:r>
              <a:rPr lang="en-US" sz="2400" dirty="0">
                <a:hlinkClick r:id="rId3"/>
              </a:rPr>
              <a:t>https://journals.sagepub.com/doi/10.1177/14738716221142005#supplementary-materials</a:t>
            </a:r>
            <a:r>
              <a:rPr lang="en-US" sz="2400" dirty="0"/>
              <a:t> </a:t>
            </a:r>
          </a:p>
        </p:txBody>
      </p:sp>
      <p:pic>
        <p:nvPicPr>
          <p:cNvPr id="2050" name="Picture 2">
            <a:extLst>
              <a:ext uri="{FF2B5EF4-FFF2-40B4-BE49-F238E27FC236}">
                <a16:creationId xmlns:a16="http://schemas.microsoft.com/office/drawing/2014/main" id="{1821AF9F-1422-92E5-AE3D-D5720D00C7EB}"/>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553493" y="1691470"/>
            <a:ext cx="8057314" cy="458175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82647401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2EBC8F-A860-1C97-185E-3518558CFC6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BEABFCC-2C9E-5700-6AFB-C8A7E5CEA4BA}"/>
              </a:ext>
            </a:extLst>
          </p:cNvPr>
          <p:cNvSpPr>
            <a:spLocks noGrp="1"/>
          </p:cNvSpPr>
          <p:nvPr>
            <p:ph type="title"/>
          </p:nvPr>
        </p:nvSpPr>
        <p:spPr/>
        <p:txBody>
          <a:bodyPr/>
          <a:lstStyle/>
          <a:p>
            <a:r>
              <a:rPr lang="en-US" dirty="0" err="1"/>
              <a:t>xai</a:t>
            </a:r>
            <a:r>
              <a:rPr lang="en-US" dirty="0"/>
              <a:t> and Visualization: model comparisons</a:t>
            </a:r>
          </a:p>
        </p:txBody>
      </p:sp>
      <p:sp>
        <p:nvSpPr>
          <p:cNvPr id="8" name="TextBox 7">
            <a:extLst>
              <a:ext uri="{FF2B5EF4-FFF2-40B4-BE49-F238E27FC236}">
                <a16:creationId xmlns:a16="http://schemas.microsoft.com/office/drawing/2014/main" id="{3D4C4681-444D-E81D-594C-9174BC30FC43}"/>
              </a:ext>
            </a:extLst>
          </p:cNvPr>
          <p:cNvSpPr txBox="1"/>
          <p:nvPr/>
        </p:nvSpPr>
        <p:spPr>
          <a:xfrm>
            <a:off x="4024256" y="6155844"/>
            <a:ext cx="8167744" cy="584775"/>
          </a:xfrm>
          <a:prstGeom prst="rect">
            <a:avLst/>
          </a:prstGeom>
          <a:noFill/>
        </p:spPr>
        <p:txBody>
          <a:bodyPr wrap="square">
            <a:spAutoFit/>
          </a:bodyPr>
          <a:lstStyle/>
          <a:p>
            <a:r>
              <a:rPr lang="en-US" sz="1600" b="0" i="0" dirty="0">
                <a:solidFill>
                  <a:srgbClr val="333333"/>
                </a:solidFill>
                <a:effectLst/>
                <a:latin typeface="+mj-lt"/>
              </a:rPr>
              <a:t>A. </a:t>
            </a:r>
            <a:r>
              <a:rPr lang="en-US" sz="1600" b="0" i="0" dirty="0" err="1">
                <a:solidFill>
                  <a:srgbClr val="333333"/>
                </a:solidFill>
                <a:effectLst/>
                <a:latin typeface="+mj-lt"/>
              </a:rPr>
              <a:t>Chatzimparmpas</a:t>
            </a:r>
            <a:r>
              <a:rPr lang="en-US" sz="1600" b="0" i="0" dirty="0">
                <a:solidFill>
                  <a:srgbClr val="333333"/>
                </a:solidFill>
                <a:effectLst/>
                <a:latin typeface="+mj-lt"/>
              </a:rPr>
              <a:t>, et al. " </a:t>
            </a:r>
            <a:r>
              <a:rPr lang="en-US" sz="1600" b="0" i="0" dirty="0" err="1">
                <a:solidFill>
                  <a:srgbClr val="333333"/>
                </a:solidFill>
                <a:effectLst/>
                <a:latin typeface="+mj-lt"/>
              </a:rPr>
              <a:t>StackGenVis</a:t>
            </a:r>
            <a:r>
              <a:rPr lang="en-US" sz="1600" b="0" i="0" dirty="0">
                <a:solidFill>
                  <a:srgbClr val="333333"/>
                </a:solidFill>
                <a:effectLst/>
                <a:latin typeface="+mj-lt"/>
              </a:rPr>
              <a:t>: Alignment of Data, Algorithms, and Models for Stacking Ensemble Learning Using Performance Metrics,” 2021, </a:t>
            </a:r>
            <a:r>
              <a:rPr lang="en-US" sz="1600" b="0" i="0" dirty="0" err="1">
                <a:solidFill>
                  <a:srgbClr val="333333"/>
                </a:solidFill>
                <a:effectLst/>
                <a:latin typeface="+mj-lt"/>
              </a:rPr>
              <a:t>doi</a:t>
            </a:r>
            <a:r>
              <a:rPr lang="en-US" sz="1600" b="0" i="0" dirty="0">
                <a:solidFill>
                  <a:srgbClr val="333333"/>
                </a:solidFill>
                <a:effectLst/>
                <a:latin typeface="+mj-lt"/>
              </a:rPr>
              <a:t>: 10.1109/TVCG.2020.3030352 </a:t>
            </a:r>
            <a:endParaRPr lang="en-US" sz="1600" dirty="0">
              <a:latin typeface="+mj-lt"/>
            </a:endParaRPr>
          </a:p>
        </p:txBody>
      </p:sp>
      <p:sp>
        <p:nvSpPr>
          <p:cNvPr id="4" name="Content Placeholder 3">
            <a:extLst>
              <a:ext uri="{FF2B5EF4-FFF2-40B4-BE49-F238E27FC236}">
                <a16:creationId xmlns:a16="http://schemas.microsoft.com/office/drawing/2014/main" id="{41C89E79-8E8B-F5AA-737F-98E55EF181B1}"/>
              </a:ext>
            </a:extLst>
          </p:cNvPr>
          <p:cNvSpPr>
            <a:spLocks noGrp="1"/>
          </p:cNvSpPr>
          <p:nvPr>
            <p:ph idx="1"/>
          </p:nvPr>
        </p:nvSpPr>
        <p:spPr>
          <a:xfrm>
            <a:off x="581193" y="2180496"/>
            <a:ext cx="3443064" cy="3678303"/>
          </a:xfrm>
        </p:spPr>
        <p:txBody>
          <a:bodyPr>
            <a:normAutofit/>
          </a:bodyPr>
          <a:lstStyle/>
          <a:p>
            <a:r>
              <a:rPr lang="en-US" sz="2400" dirty="0" err="1"/>
              <a:t>StackGenVis</a:t>
            </a:r>
            <a:endParaRPr lang="en-US" sz="2400" dirty="0"/>
          </a:p>
          <a:p>
            <a:r>
              <a:rPr lang="en-US" sz="2400" dirty="0">
                <a:hlinkClick r:id="rId3"/>
              </a:rPr>
              <a:t>https://ieeexplore.ieee.org/document/9222343/media#media</a:t>
            </a:r>
            <a:r>
              <a:rPr lang="en-US" sz="2400" dirty="0"/>
              <a:t> </a:t>
            </a:r>
          </a:p>
        </p:txBody>
      </p:sp>
      <p:pic>
        <p:nvPicPr>
          <p:cNvPr id="5" name="Picture 4" descr="A screenshot of a computer&#10;&#10;AI-generated content may be incorrect.">
            <a:extLst>
              <a:ext uri="{FF2B5EF4-FFF2-40B4-BE49-F238E27FC236}">
                <a16:creationId xmlns:a16="http://schemas.microsoft.com/office/drawing/2014/main" id="{24451CDB-1334-3F3A-DE64-275E8B49503B}"/>
              </a:ext>
            </a:extLst>
          </p:cNvPr>
          <p:cNvPicPr>
            <a:picLocks noChangeAspect="1"/>
          </p:cNvPicPr>
          <p:nvPr/>
        </p:nvPicPr>
        <p:blipFill>
          <a:blip r:embed="rId4"/>
          <a:stretch>
            <a:fillRect/>
          </a:stretch>
        </p:blipFill>
        <p:spPr>
          <a:xfrm>
            <a:off x="4024256" y="1715956"/>
            <a:ext cx="7772400" cy="4340108"/>
          </a:xfrm>
          <a:prstGeom prst="rect">
            <a:avLst/>
          </a:prstGeom>
        </p:spPr>
      </p:pic>
    </p:spTree>
    <p:extLst>
      <p:ext uri="{BB962C8B-B14F-4D97-AF65-F5344CB8AC3E}">
        <p14:creationId xmlns:p14="http://schemas.microsoft.com/office/powerpoint/2010/main" val="27861825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3F7AEAB-2A9B-FB15-E76C-AEC97502E35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E5F11EB-4594-3015-6B0F-E1050AF0F24C}"/>
              </a:ext>
            </a:extLst>
          </p:cNvPr>
          <p:cNvSpPr>
            <a:spLocks noGrp="1"/>
          </p:cNvSpPr>
          <p:nvPr>
            <p:ph type="title"/>
          </p:nvPr>
        </p:nvSpPr>
        <p:spPr/>
        <p:txBody>
          <a:bodyPr/>
          <a:lstStyle/>
          <a:p>
            <a:r>
              <a:rPr lang="en-US" dirty="0"/>
              <a:t>open areas: over focus on Neural nets </a:t>
            </a:r>
          </a:p>
        </p:txBody>
      </p:sp>
      <p:sp>
        <p:nvSpPr>
          <p:cNvPr id="8" name="TextBox 7">
            <a:extLst>
              <a:ext uri="{FF2B5EF4-FFF2-40B4-BE49-F238E27FC236}">
                <a16:creationId xmlns:a16="http://schemas.microsoft.com/office/drawing/2014/main" id="{143DE536-5BAD-4707-9F32-C0D08F5C8B1A}"/>
              </a:ext>
            </a:extLst>
          </p:cNvPr>
          <p:cNvSpPr txBox="1"/>
          <p:nvPr/>
        </p:nvSpPr>
        <p:spPr>
          <a:xfrm>
            <a:off x="6248400" y="6155844"/>
            <a:ext cx="6294120" cy="584775"/>
          </a:xfrm>
          <a:prstGeom prst="rect">
            <a:avLst/>
          </a:prstGeom>
          <a:noFill/>
        </p:spPr>
        <p:txBody>
          <a:bodyPr wrap="square">
            <a:spAutoFit/>
          </a:bodyPr>
          <a:lstStyle/>
          <a:p>
            <a:r>
              <a:rPr lang="en-US" sz="1600" b="0" i="0" dirty="0">
                <a:solidFill>
                  <a:srgbClr val="333333"/>
                </a:solidFill>
                <a:effectLst/>
                <a:latin typeface="+mj-lt"/>
              </a:rPr>
              <a:t>A. </a:t>
            </a:r>
            <a:r>
              <a:rPr lang="en-US" sz="1600" b="0" i="0" dirty="0" err="1">
                <a:solidFill>
                  <a:srgbClr val="333333"/>
                </a:solidFill>
                <a:effectLst/>
                <a:latin typeface="+mj-lt"/>
              </a:rPr>
              <a:t>Chatzimparmpas</a:t>
            </a:r>
            <a:r>
              <a:rPr lang="en-US" sz="1600" b="0" i="0" dirty="0">
                <a:solidFill>
                  <a:srgbClr val="333333"/>
                </a:solidFill>
                <a:effectLst/>
                <a:latin typeface="+mj-lt"/>
              </a:rPr>
              <a:t>, "Visual Analytics for Explainable and Trustworthy Artificial Intelligence,” 2025, </a:t>
            </a:r>
            <a:r>
              <a:rPr lang="en-US" sz="1600" b="0" i="0" dirty="0" err="1">
                <a:solidFill>
                  <a:srgbClr val="333333"/>
                </a:solidFill>
                <a:effectLst/>
                <a:latin typeface="+mj-lt"/>
              </a:rPr>
              <a:t>doi</a:t>
            </a:r>
            <a:r>
              <a:rPr lang="en-US" sz="1600" b="0" i="0" dirty="0">
                <a:solidFill>
                  <a:srgbClr val="333333"/>
                </a:solidFill>
                <a:effectLst/>
                <a:latin typeface="+mj-lt"/>
              </a:rPr>
              <a:t>: 10.1109/MCG.2025.3533806</a:t>
            </a:r>
            <a:r>
              <a:rPr lang="en-US" sz="1600" dirty="0">
                <a:solidFill>
                  <a:srgbClr val="333333"/>
                </a:solidFill>
                <a:latin typeface="+mj-lt"/>
              </a:rPr>
              <a:t> </a:t>
            </a:r>
            <a:endParaRPr lang="en-US" sz="1600" dirty="0">
              <a:latin typeface="+mj-lt"/>
            </a:endParaRPr>
          </a:p>
        </p:txBody>
      </p:sp>
      <p:sp>
        <p:nvSpPr>
          <p:cNvPr id="4" name="Content Placeholder 3">
            <a:extLst>
              <a:ext uri="{FF2B5EF4-FFF2-40B4-BE49-F238E27FC236}">
                <a16:creationId xmlns:a16="http://schemas.microsoft.com/office/drawing/2014/main" id="{F2A9FB0E-7128-98BD-74B0-AFC5366B8283}"/>
              </a:ext>
            </a:extLst>
          </p:cNvPr>
          <p:cNvSpPr>
            <a:spLocks noGrp="1"/>
          </p:cNvSpPr>
          <p:nvPr>
            <p:ph idx="1"/>
          </p:nvPr>
        </p:nvSpPr>
        <p:spPr/>
        <p:txBody>
          <a:bodyPr>
            <a:normAutofit/>
          </a:bodyPr>
          <a:lstStyle/>
          <a:p>
            <a:r>
              <a:rPr lang="en-US" sz="2200" dirty="0"/>
              <a:t>The majority of XAI work in the VA community focuses on NNs for image data</a:t>
            </a:r>
          </a:p>
          <a:p>
            <a:r>
              <a:rPr lang="en-US" sz="2200" dirty="0"/>
              <a:t>Out of 542 visualization papers surveyed on enhancing trust in AI, 345 primarily addressed NN models, while only 114 concentrated on ensembles. </a:t>
            </a:r>
          </a:p>
          <a:p>
            <a:r>
              <a:rPr lang="en-US" sz="2200" dirty="0"/>
              <a:t>Although image analysis is undeniably an important research domain—especially in fields, such as medicine, where NNs excel with high-dimensional data—other application areas should not be overlooked </a:t>
            </a:r>
          </a:p>
          <a:p>
            <a:r>
              <a:rPr lang="en-US" sz="2200" dirty="0"/>
              <a:t>Tabular data still represent the majority of datasets employed in AI workflows, where ensemble learning models often surpass NNs in performance</a:t>
            </a:r>
          </a:p>
        </p:txBody>
      </p:sp>
    </p:spTree>
    <p:extLst>
      <p:ext uri="{BB962C8B-B14F-4D97-AF65-F5344CB8AC3E}">
        <p14:creationId xmlns:p14="http://schemas.microsoft.com/office/powerpoint/2010/main" val="333581015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6761A0-0957-77EE-34D9-8B157EF06BE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CDAB4DC-A7B1-C360-0DA6-10BFE7E0CFD5}"/>
              </a:ext>
            </a:extLst>
          </p:cNvPr>
          <p:cNvSpPr>
            <a:spLocks noGrp="1"/>
          </p:cNvSpPr>
          <p:nvPr>
            <p:ph type="title"/>
          </p:nvPr>
        </p:nvSpPr>
        <p:spPr/>
        <p:txBody>
          <a:bodyPr/>
          <a:lstStyle/>
          <a:p>
            <a:r>
              <a:rPr lang="en-US" dirty="0"/>
              <a:t>open areas: Underexplored opportunities </a:t>
            </a:r>
          </a:p>
        </p:txBody>
      </p:sp>
      <p:sp>
        <p:nvSpPr>
          <p:cNvPr id="8" name="TextBox 7">
            <a:extLst>
              <a:ext uri="{FF2B5EF4-FFF2-40B4-BE49-F238E27FC236}">
                <a16:creationId xmlns:a16="http://schemas.microsoft.com/office/drawing/2014/main" id="{754CEA08-3D03-58AF-916D-D12A7D0D74A3}"/>
              </a:ext>
            </a:extLst>
          </p:cNvPr>
          <p:cNvSpPr txBox="1"/>
          <p:nvPr/>
        </p:nvSpPr>
        <p:spPr>
          <a:xfrm>
            <a:off x="6248400" y="6155844"/>
            <a:ext cx="6294120" cy="584775"/>
          </a:xfrm>
          <a:prstGeom prst="rect">
            <a:avLst/>
          </a:prstGeom>
          <a:noFill/>
        </p:spPr>
        <p:txBody>
          <a:bodyPr wrap="square">
            <a:spAutoFit/>
          </a:bodyPr>
          <a:lstStyle/>
          <a:p>
            <a:r>
              <a:rPr lang="en-US" sz="1600" b="0" i="0" dirty="0">
                <a:solidFill>
                  <a:srgbClr val="333333"/>
                </a:solidFill>
                <a:effectLst/>
                <a:latin typeface="+mj-lt"/>
              </a:rPr>
              <a:t>A. </a:t>
            </a:r>
            <a:r>
              <a:rPr lang="en-US" sz="1600" b="0" i="0" dirty="0" err="1">
                <a:solidFill>
                  <a:srgbClr val="333333"/>
                </a:solidFill>
                <a:effectLst/>
                <a:latin typeface="+mj-lt"/>
              </a:rPr>
              <a:t>Chatzimparmpas</a:t>
            </a:r>
            <a:r>
              <a:rPr lang="en-US" sz="1600" b="0" i="0" dirty="0">
                <a:solidFill>
                  <a:srgbClr val="333333"/>
                </a:solidFill>
                <a:effectLst/>
                <a:latin typeface="+mj-lt"/>
              </a:rPr>
              <a:t>, "Visual Analytics for Explainable and Trustworthy Artificial Intelligence,” 2025, </a:t>
            </a:r>
            <a:r>
              <a:rPr lang="en-US" sz="1600" b="0" i="0" dirty="0" err="1">
                <a:solidFill>
                  <a:srgbClr val="333333"/>
                </a:solidFill>
                <a:effectLst/>
                <a:latin typeface="+mj-lt"/>
              </a:rPr>
              <a:t>doi</a:t>
            </a:r>
            <a:r>
              <a:rPr lang="en-US" sz="1600" b="0" i="0" dirty="0">
                <a:solidFill>
                  <a:srgbClr val="333333"/>
                </a:solidFill>
                <a:effectLst/>
                <a:latin typeface="+mj-lt"/>
              </a:rPr>
              <a:t>: 10.1109/MCG.2025.3533806</a:t>
            </a:r>
            <a:r>
              <a:rPr lang="en-US" sz="1600" dirty="0">
                <a:solidFill>
                  <a:srgbClr val="333333"/>
                </a:solidFill>
                <a:latin typeface="+mj-lt"/>
              </a:rPr>
              <a:t> </a:t>
            </a:r>
            <a:endParaRPr lang="en-US" sz="1600" dirty="0">
              <a:latin typeface="+mj-lt"/>
            </a:endParaRPr>
          </a:p>
        </p:txBody>
      </p:sp>
      <p:sp>
        <p:nvSpPr>
          <p:cNvPr id="4" name="Content Placeholder 3">
            <a:extLst>
              <a:ext uri="{FF2B5EF4-FFF2-40B4-BE49-F238E27FC236}">
                <a16:creationId xmlns:a16="http://schemas.microsoft.com/office/drawing/2014/main" id="{C77153C6-0A00-E16D-B432-E450B5A8FD55}"/>
              </a:ext>
            </a:extLst>
          </p:cNvPr>
          <p:cNvSpPr>
            <a:spLocks noGrp="1"/>
          </p:cNvSpPr>
          <p:nvPr>
            <p:ph idx="1"/>
          </p:nvPr>
        </p:nvSpPr>
        <p:spPr/>
        <p:txBody>
          <a:bodyPr>
            <a:normAutofit/>
          </a:bodyPr>
          <a:lstStyle/>
          <a:p>
            <a:r>
              <a:rPr lang="en-US" sz="2200" dirty="0"/>
              <a:t>VA dashboards for boosting and stacking ensemble learning methods are notably scarce</a:t>
            </a:r>
          </a:p>
          <a:p>
            <a:r>
              <a:rPr lang="en-US" sz="2200" dirty="0"/>
              <a:t>Multilabel and regression problems are less explored compared to classification</a:t>
            </a:r>
          </a:p>
          <a:p>
            <a:r>
              <a:rPr lang="en-US" sz="2200" dirty="0"/>
              <a:t>In the realm of unsupervised learning, association and pattern mining remain underrepresented </a:t>
            </a:r>
          </a:p>
          <a:p>
            <a:r>
              <a:rPr lang="en-US" sz="2200" dirty="0"/>
              <a:t>Reinforcement learning also receives minimal attention</a:t>
            </a:r>
          </a:p>
          <a:p>
            <a:r>
              <a:rPr lang="en-US" sz="2200" dirty="0"/>
              <a:t>Lastly, more emphasis is needed on addressing the needs of beginners and users with varying levels of experience who aim to analyze their data broadly</a:t>
            </a:r>
          </a:p>
        </p:txBody>
      </p:sp>
    </p:spTree>
    <p:extLst>
      <p:ext uri="{BB962C8B-B14F-4D97-AF65-F5344CB8AC3E}">
        <p14:creationId xmlns:p14="http://schemas.microsoft.com/office/powerpoint/2010/main" val="407740636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F3E4939-5D13-847C-B6AE-7C1FACD9318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117B824-1AE2-2082-FA0F-5502CBEC4338}"/>
              </a:ext>
            </a:extLst>
          </p:cNvPr>
          <p:cNvSpPr>
            <a:spLocks noGrp="1"/>
          </p:cNvSpPr>
          <p:nvPr>
            <p:ph type="title"/>
          </p:nvPr>
        </p:nvSpPr>
        <p:spPr/>
        <p:txBody>
          <a:bodyPr/>
          <a:lstStyle/>
          <a:p>
            <a:r>
              <a:rPr lang="en-US" dirty="0"/>
              <a:t>your turn!</a:t>
            </a:r>
          </a:p>
        </p:txBody>
      </p:sp>
      <p:sp>
        <p:nvSpPr>
          <p:cNvPr id="8" name="TextBox 7">
            <a:extLst>
              <a:ext uri="{FF2B5EF4-FFF2-40B4-BE49-F238E27FC236}">
                <a16:creationId xmlns:a16="http://schemas.microsoft.com/office/drawing/2014/main" id="{24B09EC6-2B60-6382-C065-C87896A82CE0}"/>
              </a:ext>
            </a:extLst>
          </p:cNvPr>
          <p:cNvSpPr txBox="1"/>
          <p:nvPr/>
        </p:nvSpPr>
        <p:spPr>
          <a:xfrm>
            <a:off x="6248400" y="6155844"/>
            <a:ext cx="6294120" cy="584775"/>
          </a:xfrm>
          <a:prstGeom prst="rect">
            <a:avLst/>
          </a:prstGeom>
          <a:noFill/>
        </p:spPr>
        <p:txBody>
          <a:bodyPr wrap="square">
            <a:spAutoFit/>
          </a:bodyPr>
          <a:lstStyle/>
          <a:p>
            <a:r>
              <a:rPr lang="en-US" sz="1600" b="0" i="0" dirty="0">
                <a:solidFill>
                  <a:srgbClr val="333333"/>
                </a:solidFill>
                <a:effectLst/>
                <a:latin typeface="+mj-lt"/>
              </a:rPr>
              <a:t>A. </a:t>
            </a:r>
            <a:r>
              <a:rPr lang="en-US" sz="1600" b="0" i="0" dirty="0" err="1">
                <a:solidFill>
                  <a:srgbClr val="333333"/>
                </a:solidFill>
                <a:effectLst/>
                <a:latin typeface="+mj-lt"/>
              </a:rPr>
              <a:t>Chatzimparmpas</a:t>
            </a:r>
            <a:r>
              <a:rPr lang="en-US" sz="1600" b="0" i="0" dirty="0">
                <a:solidFill>
                  <a:srgbClr val="333333"/>
                </a:solidFill>
                <a:effectLst/>
                <a:latin typeface="+mj-lt"/>
              </a:rPr>
              <a:t>, "Visual Analytics for Explainable and Trustworthy Artificial Intelligence,” 2025, </a:t>
            </a:r>
            <a:r>
              <a:rPr lang="en-US" sz="1600" b="0" i="0" dirty="0" err="1">
                <a:solidFill>
                  <a:srgbClr val="333333"/>
                </a:solidFill>
                <a:effectLst/>
                <a:latin typeface="+mj-lt"/>
              </a:rPr>
              <a:t>doi</a:t>
            </a:r>
            <a:r>
              <a:rPr lang="en-US" sz="1600" b="0" i="0" dirty="0">
                <a:solidFill>
                  <a:srgbClr val="333333"/>
                </a:solidFill>
                <a:effectLst/>
                <a:latin typeface="+mj-lt"/>
              </a:rPr>
              <a:t>: 10.1109/MCG.2025.3533806</a:t>
            </a:r>
            <a:r>
              <a:rPr lang="en-US" sz="1600" dirty="0">
                <a:solidFill>
                  <a:srgbClr val="333333"/>
                </a:solidFill>
                <a:latin typeface="+mj-lt"/>
              </a:rPr>
              <a:t> </a:t>
            </a:r>
            <a:endParaRPr lang="en-US" sz="1600" dirty="0">
              <a:latin typeface="+mj-lt"/>
            </a:endParaRPr>
          </a:p>
        </p:txBody>
      </p:sp>
      <p:sp>
        <p:nvSpPr>
          <p:cNvPr id="4" name="Content Placeholder 3">
            <a:extLst>
              <a:ext uri="{FF2B5EF4-FFF2-40B4-BE49-F238E27FC236}">
                <a16:creationId xmlns:a16="http://schemas.microsoft.com/office/drawing/2014/main" id="{89406C78-3075-DD1F-189B-32136EB2E867}"/>
              </a:ext>
            </a:extLst>
          </p:cNvPr>
          <p:cNvSpPr>
            <a:spLocks noGrp="1"/>
          </p:cNvSpPr>
          <p:nvPr>
            <p:ph idx="1"/>
          </p:nvPr>
        </p:nvSpPr>
        <p:spPr/>
        <p:txBody>
          <a:bodyPr vert="horz" lIns="91440" tIns="45720" rIns="91440" bIns="45720" rtlCol="0" anchor="ctr">
            <a:normAutofit/>
          </a:bodyPr>
          <a:lstStyle/>
          <a:p>
            <a:r>
              <a:rPr lang="en-US" sz="2200" dirty="0"/>
              <a:t>Navigate to: </a:t>
            </a:r>
            <a:r>
              <a:rPr lang="en-US" sz="2200" dirty="0">
                <a:hlinkClick r:id="rId3"/>
              </a:rPr>
              <a:t>https://trustmlvis.lnu.se/</a:t>
            </a:r>
            <a:r>
              <a:rPr lang="en-US" sz="2200" dirty="0"/>
              <a:t> </a:t>
            </a:r>
          </a:p>
          <a:p>
            <a:r>
              <a:rPr lang="en-US" sz="2200" dirty="0"/>
              <a:t>Notice the “Target Group” filter option at the bottom of the page</a:t>
            </a:r>
          </a:p>
          <a:p>
            <a:r>
              <a:rPr lang="en-US" sz="2200" dirty="0"/>
              <a:t>Inspect some tools for Beginners, Practitioners, and Developers</a:t>
            </a:r>
          </a:p>
          <a:p>
            <a:pPr lvl="1"/>
            <a:r>
              <a:rPr lang="en-US" sz="2200" dirty="0"/>
              <a:t>What similarities and differences do you see? </a:t>
            </a:r>
          </a:p>
          <a:p>
            <a:pPr lvl="1"/>
            <a:r>
              <a:rPr lang="en-US" sz="2200" dirty="0"/>
              <a:t>Do the tools you seem seem appropriate for the target group? </a:t>
            </a:r>
          </a:p>
          <a:p>
            <a:pPr lvl="1"/>
            <a:r>
              <a:rPr lang="en-US" sz="2200" dirty="0"/>
              <a:t>Sketch out how you would redesign a beginner tool for a practitioner and vice versa </a:t>
            </a:r>
            <a:endParaRPr lang="en-US" sz="2200" dirty="0">
              <a:hlinkClick r:id="rId3"/>
            </a:endParaRPr>
          </a:p>
        </p:txBody>
      </p:sp>
    </p:spTree>
    <p:extLst>
      <p:ext uri="{BB962C8B-B14F-4D97-AF65-F5344CB8AC3E}">
        <p14:creationId xmlns:p14="http://schemas.microsoft.com/office/powerpoint/2010/main" val="2076957158"/>
      </p:ext>
    </p:extLst>
  </p:cSld>
  <p:clrMapOvr>
    <a:masterClrMapping/>
  </p:clrMapOvr>
</p:sld>
</file>

<file path=ppt/theme/theme1.xml><?xml version="1.0" encoding="utf-8"?>
<a:theme xmlns:a="http://schemas.openxmlformats.org/drawingml/2006/main" name="Dividend">
  <a:themeElements>
    <a:clrScheme name="Dividend">
      <a:dk1>
        <a:sysClr val="windowText" lastClr="000000"/>
      </a:dk1>
      <a:lt1>
        <a:sysClr val="window" lastClr="FFFFFF"/>
      </a:lt1>
      <a:dk2>
        <a:srgbClr val="3D3D3D"/>
      </a:dk2>
      <a:lt2>
        <a:srgbClr val="EBEBEB"/>
      </a:lt2>
      <a:accent1>
        <a:srgbClr val="1A3260"/>
      </a:accent1>
      <a:accent2>
        <a:srgbClr val="4590B8"/>
      </a:accent2>
      <a:accent3>
        <a:srgbClr val="45CBE8"/>
      </a:accent3>
      <a:accent4>
        <a:srgbClr val="969FA7"/>
      </a:accent4>
      <a:accent5>
        <a:srgbClr val="A2C777"/>
      </a:accent5>
      <a:accent6>
        <a:srgbClr val="42955F"/>
      </a:accent6>
      <a:hlink>
        <a:srgbClr val="828282"/>
      </a:hlink>
      <a:folHlink>
        <a:srgbClr val="A5A5A5"/>
      </a:folHlink>
    </a:clrScheme>
    <a:fontScheme name="Dividend">
      <a:majorFont>
        <a:latin typeface="Gill Sans MT"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Gill Sans MT"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Dividend">
      <a:fillStyleLst>
        <a:solidFill>
          <a:schemeClr val="phClr"/>
        </a:solidFill>
        <a:gradFill rotWithShape="1">
          <a:gsLst>
            <a:gs pos="0">
              <a:schemeClr val="phClr">
                <a:tint val="68000"/>
                <a:alpha val="90000"/>
                <a:lumMod val="100000"/>
              </a:schemeClr>
            </a:gs>
            <a:gs pos="100000">
              <a:schemeClr val="phClr">
                <a:tint val="90000"/>
                <a:lumMod val="95000"/>
              </a:schemeClr>
            </a:gs>
          </a:gsLst>
          <a:lin ang="5400000" scaled="1"/>
        </a:gradFill>
        <a:gradFill rotWithShape="1">
          <a:gsLst>
            <a:gs pos="0">
              <a:schemeClr val="phClr">
                <a:tint val="98000"/>
                <a:lumMod val="110000"/>
              </a:schemeClr>
            </a:gs>
            <a:gs pos="84000">
              <a:schemeClr val="phClr">
                <a:shade val="90000"/>
                <a:lumMod val="88000"/>
              </a:schemeClr>
            </a:gs>
          </a:gsLst>
          <a:lin ang="5400000" scaled="0"/>
        </a:gradFill>
      </a:fillStyleLst>
      <a:lnStyleLst>
        <a:ln w="12700" cap="rnd" cmpd="sng" algn="ctr">
          <a:solidFill>
            <a:schemeClr val="phClr">
              <a:lumMod val="90000"/>
            </a:schemeClr>
          </a:solidFill>
          <a:prstDash val="solid"/>
        </a:ln>
        <a:ln w="22225"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55000"/>
              </a:srgbClr>
            </a:outerShdw>
          </a:effectLst>
        </a:effectStyle>
        <a:effectStyle>
          <a:effectLst>
            <a:outerShdw blurRad="88900" dist="38100" dir="5040000" rotWithShape="0">
              <a:srgbClr val="000000">
                <a:alpha val="60000"/>
              </a:srgbClr>
            </a:outerShdw>
          </a:effectLst>
          <a:scene3d>
            <a:camera prst="orthographicFront">
              <a:rot lat="0" lon="0" rev="0"/>
            </a:camera>
            <a:lightRig rig="threePt" dir="tl">
              <a:rot lat="0" lon="0" rev="1200000"/>
            </a:lightRig>
          </a:scene3d>
          <a:sp3d>
            <a:bevelT w="38100" h="50800"/>
          </a:sp3d>
        </a:effectStyle>
      </a:effectStyleLst>
      <a:bgFillStyleLst>
        <a:solidFill>
          <a:schemeClr val="phClr"/>
        </a:solidFill>
        <a:gradFill rotWithShape="1">
          <a:gsLst>
            <a:gs pos="0">
              <a:schemeClr val="phClr">
                <a:tint val="90000"/>
                <a:lumMod val="110000"/>
              </a:schemeClr>
            </a:gs>
            <a:gs pos="88000">
              <a:schemeClr val="phClr">
                <a:shade val="94000"/>
                <a:satMod val="110000"/>
                <a:lumMod val="88000"/>
              </a:schemeClr>
            </a:gs>
          </a:gsLst>
          <a:lin ang="5400000" scaled="0"/>
        </a:gradFill>
        <a:gradFill rotWithShape="1">
          <a:gsLst>
            <a:gs pos="0">
              <a:schemeClr val="phClr">
                <a:tint val="90000"/>
                <a:lumMod val="110000"/>
              </a:schemeClr>
            </a:gs>
            <a:gs pos="100000">
              <a:schemeClr val="phClr">
                <a:shade val="98000"/>
                <a:satMod val="110000"/>
                <a:lumMod val="8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Dividend" id="{9697A71B-4AB7-4A1A-BD5B-BB2D22835B57}" vid="{66F1C100-1D2B-4BEA-AD01-C4F230B3B965}"/>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Dividend</Template>
  <TotalTime>2824</TotalTime>
  <Words>1660</Words>
  <Application>Microsoft Macintosh PowerPoint</Application>
  <PresentationFormat>Widescreen</PresentationFormat>
  <Paragraphs>124</Paragraphs>
  <Slides>16</Slides>
  <Notes>16</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16</vt:i4>
      </vt:variant>
    </vt:vector>
  </HeadingPairs>
  <TitlesOfParts>
    <vt:vector size="21" baseType="lpstr">
      <vt:lpstr>Aptos</vt:lpstr>
      <vt:lpstr>Arial</vt:lpstr>
      <vt:lpstr>Gill Sans MT</vt:lpstr>
      <vt:lpstr>Wingdings 2</vt:lpstr>
      <vt:lpstr>Dividend</vt:lpstr>
      <vt:lpstr>Visual Analytics: explainable ai</vt:lpstr>
      <vt:lpstr>Today’s plan</vt:lpstr>
      <vt:lpstr>why xai matters</vt:lpstr>
      <vt:lpstr>why xai matters</vt:lpstr>
      <vt:lpstr>why xai matters</vt:lpstr>
      <vt:lpstr>xai and Visualization</vt:lpstr>
      <vt:lpstr>xai and Visualization: design space</vt:lpstr>
      <vt:lpstr>xai and Visualization: data processing </vt:lpstr>
      <vt:lpstr>xai and Visualization: feature engineering </vt:lpstr>
      <vt:lpstr>xai and Visualization: hyperparameter tuning </vt:lpstr>
      <vt:lpstr>xai and Visualization: model understanding</vt:lpstr>
      <vt:lpstr>xai and Visualization: model debugging</vt:lpstr>
      <vt:lpstr>xai and Visualization: model comparisons</vt:lpstr>
      <vt:lpstr>open areas: over focus on Neural nets </vt:lpstr>
      <vt:lpstr>open areas: Underexplored opportunities </vt:lpstr>
      <vt:lpstr>your turn!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Ab Mosca</dc:creator>
  <cp:lastModifiedBy>Ab Mosca</cp:lastModifiedBy>
  <cp:revision>82</cp:revision>
  <dcterms:created xsi:type="dcterms:W3CDTF">2025-11-19T17:12:35Z</dcterms:created>
  <dcterms:modified xsi:type="dcterms:W3CDTF">2026-02-27T15:37:47Z</dcterms:modified>
</cp:coreProperties>
</file>