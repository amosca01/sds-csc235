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71" r:id="rId14"/>
    <p:sldId id="266" r:id="rId15"/>
    <p:sldId id="272" r:id="rId16"/>
    <p:sldId id="273" r:id="rId17"/>
    <p:sldId id="274" r:id="rId18"/>
    <p:sldId id="275" r:id="rId19"/>
    <p:sldId id="268" r:id="rId20"/>
    <p:sldId id="276" r:id="rId21"/>
    <p:sldId id="280" r:id="rId22"/>
    <p:sldId id="278" r:id="rId23"/>
    <p:sldId id="279" r:id="rId24"/>
    <p:sldId id="27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702"/>
    <p:restoredTop sz="87192"/>
  </p:normalViewPr>
  <p:slideViewPr>
    <p:cSldViewPr snapToGrid="0">
      <p:cViewPr varScale="1">
        <p:scale>
          <a:sx n="110" d="100"/>
          <a:sy n="110" d="100"/>
        </p:scale>
        <p:origin x="5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2/17/26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3indepth.com/introduction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d3indepth.com/scale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 </a:t>
            </a:r>
            <a:br>
              <a:rPr lang="en-US" dirty="0"/>
            </a:br>
            <a:r>
              <a:rPr lang="en-US" dirty="0"/>
              <a:t>Novel visualizations with d3.js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Overview</a:t>
            </a:r>
          </a:p>
          <a:p>
            <a:r>
              <a:rPr lang="en-US" sz="2400" dirty="0"/>
              <a:t>SVG</a:t>
            </a:r>
          </a:p>
          <a:p>
            <a:r>
              <a:rPr lang="en-US" sz="2400" dirty="0"/>
              <a:t>D3 Basics</a:t>
            </a:r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486C4-B07B-2CC7-DE6A-C2D0ED13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35051-58D6-7E29-B4C9-872FD9B66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D3.js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085B1-4AE2-8A3C-4C7E-250268530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en-US" sz="2400" dirty="0"/>
              <a:t>D3 </a:t>
            </a:r>
            <a:r>
              <a:rPr lang="en-US" sz="2400" dirty="0">
                <a:sym typeface="Wingdings" pitchFamily="2" charset="2"/>
              </a:rPr>
              <a:t> Data Driven Documents; it is a JavaScript library for creating custom, novel, interactive visualizations on the web</a:t>
            </a:r>
          </a:p>
          <a:p>
            <a:r>
              <a:rPr lang="en-US" sz="2400" dirty="0">
                <a:sym typeface="Wingdings" pitchFamily="2" charset="2"/>
              </a:rPr>
              <a:t>Good resource: </a:t>
            </a:r>
            <a:r>
              <a:rPr lang="en-US" sz="2400" dirty="0">
                <a:sym typeface="Wingdings" pitchFamily="2" charset="2"/>
                <a:hlinkClick r:id="rId2"/>
              </a:rPr>
              <a:t>https://www.d3indepth.com/introduction/</a:t>
            </a:r>
            <a:r>
              <a:rPr lang="en-US" sz="2400" dirty="0">
                <a:sym typeface="Wingdings" pitchFamily="2" charset="2"/>
              </a:rPr>
              <a:t> </a:t>
            </a:r>
          </a:p>
          <a:p>
            <a:r>
              <a:rPr lang="en-US" sz="2400" dirty="0">
                <a:sym typeface="Wingdings" pitchFamily="2" charset="2"/>
              </a:rPr>
              <a:t>D3 includes built in functions to bind data with HTML SVG elements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030960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BB47E-5388-C340-1884-802B6D72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516F5-3A07-4CB6-F76A-D9BE8CF34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90FB803-3905-4E51-5664-EC58471394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127467"/>
            <a:ext cx="8382000" cy="209550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496B54-6984-3F54-BED8-843CEA73B003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920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1764-5720-22B8-15B4-AA1F6B86F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5058F-1928-D573-1574-6152B371F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3AE775B-F154-8D68-BBAA-C3AB8909D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02" y="2107682"/>
            <a:ext cx="10305072" cy="40061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172D68-944F-59B4-AA69-81F98FD4BBA7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894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F8ED1-D873-0A9F-12C1-5B5F0710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74620-A90C-5825-2243-C04C9780A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CCE740-46D0-8D0B-8036-F53592E3B2D5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EAE6A7-AD7E-3837-0121-E7E3FE19C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246168"/>
            <a:ext cx="7772400" cy="3134868"/>
          </a:xfrm>
          <a:prstGeom prst="rect">
            <a:avLst/>
          </a:prstGeom>
        </p:spPr>
      </p:pic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7A9FD09-2AAA-3F85-FF2E-63A6916390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897"/>
          <a:stretch>
            <a:fillRect/>
          </a:stretch>
        </p:blipFill>
        <p:spPr>
          <a:xfrm>
            <a:off x="5453486" y="2048387"/>
            <a:ext cx="6605907" cy="4006128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79E1CD2-8CB4-B012-84DA-BA1833E5C989}"/>
              </a:ext>
            </a:extLst>
          </p:cNvPr>
          <p:cNvSpPr/>
          <p:nvPr/>
        </p:nvSpPr>
        <p:spPr>
          <a:xfrm>
            <a:off x="734290" y="4142509"/>
            <a:ext cx="387927" cy="360218"/>
          </a:xfrm>
          <a:prstGeom prst="roundRect">
            <a:avLst/>
          </a:prstGeom>
          <a:noFill/>
          <a:ln w="38100">
            <a:solidFill>
              <a:schemeClr val="accent4">
                <a:lumMod val="50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A9B3241-6346-3EDF-37A4-5D7B89637015}"/>
              </a:ext>
            </a:extLst>
          </p:cNvPr>
          <p:cNvSpPr/>
          <p:nvPr/>
        </p:nvSpPr>
        <p:spPr>
          <a:xfrm>
            <a:off x="8534398" y="3899052"/>
            <a:ext cx="845130" cy="271167"/>
          </a:xfrm>
          <a:prstGeom prst="roundRect">
            <a:avLst/>
          </a:prstGeom>
          <a:noFill/>
          <a:ln w="38100">
            <a:solidFill>
              <a:schemeClr val="accent4">
                <a:lumMod val="50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483E609-31FA-AA80-6275-990B9D2018B7}"/>
              </a:ext>
            </a:extLst>
          </p:cNvPr>
          <p:cNvSpPr/>
          <p:nvPr/>
        </p:nvSpPr>
        <p:spPr>
          <a:xfrm>
            <a:off x="734288" y="4516584"/>
            <a:ext cx="387927" cy="360218"/>
          </a:xfrm>
          <a:prstGeom prst="round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781510B-4E06-91F0-20C2-46775BC550AF}"/>
              </a:ext>
            </a:extLst>
          </p:cNvPr>
          <p:cNvSpPr/>
          <p:nvPr/>
        </p:nvSpPr>
        <p:spPr>
          <a:xfrm>
            <a:off x="6733310" y="3899053"/>
            <a:ext cx="900546" cy="271166"/>
          </a:xfrm>
          <a:prstGeom prst="round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494FA5A-8546-801C-F913-2AD8568ED09A}"/>
              </a:ext>
            </a:extLst>
          </p:cNvPr>
          <p:cNvSpPr/>
          <p:nvPr/>
        </p:nvSpPr>
        <p:spPr>
          <a:xfrm>
            <a:off x="734285" y="4849095"/>
            <a:ext cx="387927" cy="360218"/>
          </a:xfrm>
          <a:prstGeom prst="round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04E0657-9627-363E-581E-67EF70FC2A4B}"/>
              </a:ext>
            </a:extLst>
          </p:cNvPr>
          <p:cNvSpPr/>
          <p:nvPr/>
        </p:nvSpPr>
        <p:spPr>
          <a:xfrm>
            <a:off x="7606144" y="3902013"/>
            <a:ext cx="900546" cy="271166"/>
          </a:xfrm>
          <a:prstGeom prst="round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  <a:effectLst>
            <a:glow rad="101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140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C49D5-CCA7-1E0B-0D22-AD7ADCEE1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5857E-1476-CCE9-1F9F-8CDC510A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3AFD6-A0AF-D77F-3CFD-F82BF346F745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15" name="Picture 14" descr="A screenshot of a rectangle&#10;&#10;AI-generated content may be incorrect.">
            <a:extLst>
              <a:ext uri="{FF2B5EF4-FFF2-40B4-BE49-F238E27FC236}">
                <a16:creationId xmlns:a16="http://schemas.microsoft.com/office/drawing/2014/main" id="{0FF0AF54-9FB0-44DE-B305-D558E6431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28" y="2155791"/>
            <a:ext cx="7772400" cy="4179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41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372AC-5BC8-61EC-7EB2-0BBEB7C5C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F6F87-117A-5ED8-0FFD-783F9375E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C934D8-F0E2-39D8-9D90-B0FEAF7AD505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15" name="Picture 14" descr="A screenshot of a rectangle&#10;&#10;AI-generated content may be incorrect.">
            <a:extLst>
              <a:ext uri="{FF2B5EF4-FFF2-40B4-BE49-F238E27FC236}">
                <a16:creationId xmlns:a16="http://schemas.microsoft.com/office/drawing/2014/main" id="{4D26F380-92CF-BA9B-3E43-DD27DB967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28" y="2155791"/>
            <a:ext cx="7772400" cy="4179824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A32D45-B6AF-78FD-6574-46716DA1A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665" y="1093505"/>
            <a:ext cx="8030165" cy="295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8149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F084-8355-9AD5-D364-9182593CD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C5309-8197-2AB4-F1BA-61E1532F7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9957-A456-2C70-5F37-4CA29A9B7286}"/>
              </a:ext>
            </a:extLst>
          </p:cNvPr>
          <p:cNvSpPr txBox="1"/>
          <p:nvPr/>
        </p:nvSpPr>
        <p:spPr>
          <a:xfrm>
            <a:off x="7148946" y="6386946"/>
            <a:ext cx="491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https://www.w3schools.com/graphics/</a:t>
            </a:r>
            <a:r>
              <a:rPr lang="en-US" dirty="0" err="1"/>
              <a:t>svg_intro.asp</a:t>
            </a:r>
            <a:endParaRPr lang="en-US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D1B197-0687-61AF-C1D1-C7BB8F995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203601"/>
            <a:ext cx="7897790" cy="4032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011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6CDA0-C04D-0F3B-B59E-7C40D6782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0C790-4E02-713E-86B9-D06F5D55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AC22C-6D15-A752-32A3-CF8216E37E2A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E5919-A0DC-4159-F841-A40CE11C3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Starter code on the website</a:t>
            </a:r>
          </a:p>
          <a:p>
            <a:r>
              <a:rPr lang="en-US" sz="2400" dirty="0">
                <a:sym typeface="Wingdings" pitchFamily="2" charset="2"/>
              </a:rPr>
              <a:t>Final code also on the website</a:t>
            </a:r>
          </a:p>
          <a:p>
            <a:r>
              <a:rPr lang="en-US" sz="2400" dirty="0">
                <a:sym typeface="Wingdings" pitchFamily="2" charset="2"/>
              </a:rPr>
              <a:t>d3.js is a code library</a:t>
            </a:r>
          </a:p>
          <a:p>
            <a:r>
              <a:rPr lang="en-US" sz="2400" dirty="0">
                <a:sym typeface="Wingdings" pitchFamily="2" charset="2"/>
              </a:rPr>
              <a:t>To use the library, include d3.js in your html with the &lt;script&gt; tags  </a:t>
            </a:r>
          </a:p>
          <a:p>
            <a:endParaRPr lang="en-US" sz="2400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58ADC10-91BE-3033-3821-174474974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28" y="4291323"/>
            <a:ext cx="4927600" cy="245110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A398FD3-FF6A-EB2E-2782-E7354C1AB2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409" y="4365144"/>
            <a:ext cx="2768600" cy="179070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9417D86-2440-1C4A-AF6A-ED404019D990}"/>
              </a:ext>
            </a:extLst>
          </p:cNvPr>
          <p:cNvSpPr/>
          <p:nvPr/>
        </p:nvSpPr>
        <p:spPr>
          <a:xfrm>
            <a:off x="1745675" y="5860473"/>
            <a:ext cx="3491344" cy="2216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98BFE31-4430-BC99-44FE-2920E3DD0B15}"/>
              </a:ext>
            </a:extLst>
          </p:cNvPr>
          <p:cNvSpPr/>
          <p:nvPr/>
        </p:nvSpPr>
        <p:spPr>
          <a:xfrm>
            <a:off x="6428513" y="4821382"/>
            <a:ext cx="1565561" cy="290945"/>
          </a:xfrm>
          <a:prstGeom prst="roundRect">
            <a:avLst/>
          </a:prstGeom>
          <a:noFill/>
          <a:ln w="38100">
            <a:solidFill>
              <a:srgbClr val="FFC000"/>
            </a:solidFill>
          </a:ln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52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19460-8F6C-3DEA-388E-EF62564E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2015E-007D-BE1A-22EA-AE3CE6CD8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selections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114AE-4A7D-C752-F3D0-71B791CF7BF1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9E2AE-A08B-4A7C-5A74-2B9E15D58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selectAll</a:t>
            </a:r>
            <a:r>
              <a:rPr lang="en-US" sz="24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2400" dirty="0"/>
              <a:t>to select a group of SVGs</a:t>
            </a:r>
          </a:p>
          <a:p>
            <a:r>
              <a:rPr lang="en-US" sz="2400" dirty="0">
                <a:sym typeface="Wingdings" pitchFamily="2" charset="2"/>
              </a:rPr>
              <a:t>Specify what to select vis CSS selectors – Ex.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selectAll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(‘circle’)</a:t>
            </a:r>
            <a:r>
              <a:rPr lang="en-US" sz="2400" dirty="0">
                <a:cs typeface="Consolas" panose="020B0609020204030204" pitchFamily="49" charset="0"/>
                <a:sym typeface="Wingdings" pitchFamily="2" charset="2"/>
              </a:rPr>
              <a:t>, or 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selectAll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(“.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myCircle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”) </a:t>
            </a:r>
            <a:endParaRPr lang="en-US" sz="2400" dirty="0">
              <a:sym typeface="Wingdings" pitchFamily="2" charset="2"/>
            </a:endParaRPr>
          </a:p>
          <a:p>
            <a:r>
              <a:rPr lang="en-US" sz="2400" dirty="0">
                <a:sym typeface="Wingdings" pitchFamily="2" charset="2"/>
              </a:rPr>
              <a:t>Use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  <a:sym typeface="Wingdings" pitchFamily="2" charset="2"/>
              </a:rPr>
              <a:t>select()</a:t>
            </a:r>
            <a:r>
              <a:rPr lang="en-US" sz="2400" dirty="0">
                <a:sym typeface="Wingdings" pitchFamily="2" charset="2"/>
              </a:rPr>
              <a:t> to select just the first matching element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28570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5273-C594-CE31-762A-F392DEE5D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9F59E-FD54-C916-DE72-6B77BF144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selections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87A75C-E6C2-FD9E-47C2-B92EC6E64FB7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8F111-845D-E718-DA98-0F8FA4E49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400" dirty="0"/>
              <a:t>After selecting elements, use D3 methods to modify them 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70C7D43-02F9-522E-7AFA-D54693A25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799" y="2636557"/>
            <a:ext cx="7772400" cy="36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71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19A5A-C6E7-0C4D-B454-3EA2D325F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BA9D8-140A-2279-3932-44633BE66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selections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29933F-26E3-8A0F-C2F0-FE9A1105BDDA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A4DE5-DDC3-8053-D609-689243E18D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8"/>
            <a:ext cx="11029615" cy="3946872"/>
          </a:xfrm>
        </p:spPr>
        <p:txBody>
          <a:bodyPr anchor="t">
            <a:normAutofit/>
          </a:bodyPr>
          <a:lstStyle/>
          <a:p>
            <a:r>
              <a:rPr lang="en-US" sz="2400" dirty="0"/>
              <a:t>Your turn: </a:t>
            </a:r>
          </a:p>
          <a:p>
            <a:pPr lvl="1"/>
            <a:r>
              <a:rPr lang="en-US" sz="2200" dirty="0"/>
              <a:t>Use D3 selections to select all circles in the starter code and assign them the class ‘selected’</a:t>
            </a:r>
          </a:p>
          <a:p>
            <a:pPr lvl="1"/>
            <a:r>
              <a:rPr lang="en-US" sz="2200" dirty="0"/>
              <a:t>Use CSS to style selected elements such that they are light green with a dark green border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DDB3DAD-7DD6-8359-0FB9-80D890B1D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653" y="3882015"/>
            <a:ext cx="4594259" cy="2675742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A636BD-E49A-4E76-4257-A6BAF9EFF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216" y="3882015"/>
            <a:ext cx="4594259" cy="2675742"/>
          </a:xfrm>
          <a:prstGeom prst="rect">
            <a:avLst/>
          </a:prstGeom>
        </p:spPr>
      </p:pic>
      <p:sp>
        <p:nvSpPr>
          <p:cNvPr id="9" name="Right Arrow 8">
            <a:extLst>
              <a:ext uri="{FF2B5EF4-FFF2-40B4-BE49-F238E27FC236}">
                <a16:creationId xmlns:a16="http://schemas.microsoft.com/office/drawing/2014/main" id="{F893FB9A-FB6A-354D-FDBF-A384909A0A0C}"/>
              </a:ext>
            </a:extLst>
          </p:cNvPr>
          <p:cNvSpPr/>
          <p:nvPr/>
        </p:nvSpPr>
        <p:spPr>
          <a:xfrm>
            <a:off x="5195455" y="5195455"/>
            <a:ext cx="1496290" cy="3463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143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2BD6E-65C0-4F7A-C44C-37FCC494B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4FF65-F1CA-A166-DE65-FAE8A2C89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3B8C50-C041-526F-83EA-312099DCCD80}"/>
              </a:ext>
            </a:extLst>
          </p:cNvPr>
          <p:cNvSpPr txBox="1"/>
          <p:nvPr/>
        </p:nvSpPr>
        <p:spPr>
          <a:xfrm>
            <a:off x="7994074" y="6373091"/>
            <a:ext cx="4053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10B15-9C9C-42BE-AB44-683341C28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8"/>
            <a:ext cx="11029615" cy="3946872"/>
          </a:xfrm>
        </p:spPr>
        <p:txBody>
          <a:bodyPr anchor="t">
            <a:normAutofit/>
          </a:bodyPr>
          <a:lstStyle/>
          <a:p>
            <a:r>
              <a:rPr lang="en-US" sz="2400" dirty="0"/>
              <a:t>A data join creates a correspondence between an array of data and a selection of HTML or SVG elements.</a:t>
            </a:r>
          </a:p>
          <a:p>
            <a:r>
              <a:rPr lang="en-US" sz="2400" dirty="0"/>
              <a:t>Joining an array to HTML/SVG elements means that:</a:t>
            </a:r>
          </a:p>
          <a:p>
            <a:pPr lvl="1"/>
            <a:r>
              <a:rPr lang="en-US" sz="2200" dirty="0"/>
              <a:t>HTML (or SVG) elements are added or removed such that </a:t>
            </a:r>
            <a:r>
              <a:rPr lang="en-US" sz="2200" b="1" dirty="0"/>
              <a:t>each array element has a corresponding HTML (or SVG) element</a:t>
            </a:r>
          </a:p>
          <a:p>
            <a:pPr lvl="1"/>
            <a:r>
              <a:rPr lang="en-US" sz="2200" dirty="0"/>
              <a:t>each HTML/SVG element may be positioned, sized and styled according to the value of its corresponding array element</a:t>
            </a:r>
          </a:p>
        </p:txBody>
      </p:sp>
    </p:spTree>
    <p:extLst>
      <p:ext uri="{BB962C8B-B14F-4D97-AF65-F5344CB8AC3E}">
        <p14:creationId xmlns:p14="http://schemas.microsoft.com/office/powerpoint/2010/main" val="739077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FB694-2EA9-82F3-2717-CBE2B95BC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335F3FB-416F-5671-79E5-3034152A7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966" y="3311108"/>
            <a:ext cx="4432300" cy="4597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EB49D7-7E1B-4C59-E484-60AEEA38A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5F000B-B0AD-19EF-E812-8AB1D5B1D165}"/>
              </a:ext>
            </a:extLst>
          </p:cNvPr>
          <p:cNvSpPr txBox="1"/>
          <p:nvPr/>
        </p:nvSpPr>
        <p:spPr>
          <a:xfrm>
            <a:off x="10009541" y="6036489"/>
            <a:ext cx="21077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A0D4B-2303-55EC-370D-53134E3C2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11927"/>
            <a:ext cx="4926773" cy="4558145"/>
          </a:xfrm>
        </p:spPr>
        <p:txBody>
          <a:bodyPr anchor="t">
            <a:normAutofit fontScale="92500" lnSpcReduction="10000"/>
          </a:bodyPr>
          <a:lstStyle/>
          <a:p>
            <a:r>
              <a:rPr lang="en-US" sz="2400" dirty="0"/>
              <a:t>Typically, four methods are used in a data join:</a:t>
            </a:r>
          </a:p>
          <a:p>
            <a:pPr lvl="1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.select </a:t>
            </a:r>
            <a:r>
              <a:rPr lang="en-US" sz="2200" dirty="0"/>
              <a:t>defines the element that'll act as a container (or parent) to the joined HTML/SVG elements</a:t>
            </a:r>
          </a:p>
          <a:p>
            <a:pPr lvl="1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200" dirty="0" err="1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selectAll</a:t>
            </a:r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 </a:t>
            </a:r>
            <a:r>
              <a:rPr lang="en-US" sz="2200" dirty="0"/>
              <a:t>defines the type of element that'll be joined to each array element</a:t>
            </a:r>
          </a:p>
          <a:p>
            <a:pPr lvl="1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.data </a:t>
            </a:r>
            <a:r>
              <a:rPr lang="en-US" sz="2200" dirty="0"/>
              <a:t>defines the array that's being joined</a:t>
            </a:r>
          </a:p>
          <a:p>
            <a:pPr lvl="1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  <a:latin typeface="Consolas" panose="020B0609020204030204" pitchFamily="49" charset="0"/>
                <a:cs typeface="Consolas" panose="020B0609020204030204" pitchFamily="49" charset="0"/>
              </a:rPr>
              <a:t>.join </a:t>
            </a:r>
            <a:r>
              <a:rPr lang="en-US" sz="2200" dirty="0"/>
              <a:t>performs the join. This is where HTML or SVG elements are added and removed</a:t>
            </a:r>
          </a:p>
        </p:txBody>
      </p:sp>
      <p:pic>
        <p:nvPicPr>
          <p:cNvPr id="14" name="Picture 13" descr="A computer code with colorful text&#10;&#10;AI-generated content may be incorrect.">
            <a:extLst>
              <a:ext uri="{FF2B5EF4-FFF2-40B4-BE49-F238E27FC236}">
                <a16:creationId xmlns:a16="http://schemas.microsoft.com/office/drawing/2014/main" id="{6EC91F80-3C9F-6849-1536-6C1526071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966" y="1715955"/>
            <a:ext cx="4755424" cy="1151935"/>
          </a:xfrm>
          <a:prstGeom prst="rect">
            <a:avLst/>
          </a:prstGeom>
        </p:spPr>
      </p:pic>
      <p:pic>
        <p:nvPicPr>
          <p:cNvPr id="10" name="Picture 9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E53F4830-8FC4-8CD8-572F-8F3D090ECE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6127" y="2514962"/>
            <a:ext cx="4591680" cy="229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6693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55A1C-2FBC-0819-4D3E-16B800F0D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4AA8C-8EA8-1662-4C1C-CF28DBEAD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0E292C-51D2-15E3-8702-EC3A08E62656}"/>
              </a:ext>
            </a:extLst>
          </p:cNvPr>
          <p:cNvSpPr txBox="1"/>
          <p:nvPr/>
        </p:nvSpPr>
        <p:spPr>
          <a:xfrm>
            <a:off x="7680870" y="6483750"/>
            <a:ext cx="4511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9681F-AD04-C294-4203-5F1A32DB4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11927"/>
            <a:ext cx="10931934" cy="4558145"/>
          </a:xfrm>
        </p:spPr>
        <p:txBody>
          <a:bodyPr anchor="t">
            <a:normAutofit/>
          </a:bodyPr>
          <a:lstStyle/>
          <a:p>
            <a:r>
              <a:rPr lang="en-US" sz="2400" dirty="0"/>
              <a:t>Once data and HTML/SVG elements are joined, we can use the data to dynamically set properties of the elements  </a:t>
            </a:r>
            <a:endParaRPr lang="en-US" sz="2200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17DBCB1-C785-0A38-3EFD-22F59B68C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31" y="2488899"/>
            <a:ext cx="9310969" cy="4558145"/>
          </a:xfrm>
          <a:prstGeom prst="rect">
            <a:avLst/>
          </a:prstGeom>
        </p:spPr>
      </p:pic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00331138-9E1D-00DB-08F4-99009684A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73" y="2795618"/>
            <a:ext cx="35433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409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E7267-395B-B490-EDFC-1A659ACB5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21CB-9D00-A207-62F1-45C9941C0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B60ACA-402E-0E99-3DEC-B169D377C311}"/>
              </a:ext>
            </a:extLst>
          </p:cNvPr>
          <p:cNvSpPr txBox="1"/>
          <p:nvPr/>
        </p:nvSpPr>
        <p:spPr>
          <a:xfrm>
            <a:off x="7680870" y="6483750"/>
            <a:ext cx="4511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2E736-102D-1996-A245-8DAC85823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11927"/>
            <a:ext cx="10931934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Data will typically be in JSON format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In this format, each observation is an object. Data is accessed as properties of the object</a:t>
            </a:r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DCBD2552-BBB1-07F9-677C-CCD18741B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885" y="2452830"/>
            <a:ext cx="5541671" cy="1717387"/>
          </a:xfrm>
          <a:prstGeom prst="rect">
            <a:avLst/>
          </a:prstGeom>
        </p:spPr>
      </p:pic>
      <p:pic>
        <p:nvPicPr>
          <p:cNvPr id="10" name="Picture 9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2DC28EE2-6B3D-39F9-3351-9A20D1233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885" y="4853708"/>
            <a:ext cx="5616554" cy="1630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1520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61BB9-01FB-A862-7F7C-3B991D62B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3E5A2-7A20-CC73-BAD8-7C33FB252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data Joins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600EF-6E2F-87F5-2650-1170C80DED4C}"/>
              </a:ext>
            </a:extLst>
          </p:cNvPr>
          <p:cNvSpPr txBox="1"/>
          <p:nvPr/>
        </p:nvSpPr>
        <p:spPr>
          <a:xfrm>
            <a:off x="7680870" y="6483750"/>
            <a:ext cx="4511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C0532-1C0B-E2C7-1E99-BBBE9B5FA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4" y="1911927"/>
            <a:ext cx="4267898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Your turn:</a:t>
            </a:r>
          </a:p>
          <a:p>
            <a:pPr lvl="1"/>
            <a:r>
              <a:rPr lang="en-US" sz="2000" dirty="0"/>
              <a:t>Add a rectangle for each observation in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myData</a:t>
            </a:r>
            <a:r>
              <a:rPr lang="en-US" sz="2000" dirty="0"/>
              <a:t> to your HTML </a:t>
            </a:r>
          </a:p>
          <a:p>
            <a:pPr lvl="1"/>
            <a:r>
              <a:rPr lang="en-US" sz="2000" dirty="0"/>
              <a:t>Use even horizontal spacing, and map height to price </a:t>
            </a:r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EF1ECBB1-CC81-339C-66D1-B3F78DEF9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498"/>
          <a:stretch>
            <a:fillRect/>
          </a:stretch>
        </p:blipFill>
        <p:spPr>
          <a:xfrm>
            <a:off x="171590" y="4438457"/>
            <a:ext cx="4793673" cy="1717387"/>
          </a:xfrm>
          <a:prstGeom prst="rect">
            <a:avLst/>
          </a:prstGeom>
        </p:spPr>
      </p:pic>
      <p:pic>
        <p:nvPicPr>
          <p:cNvPr id="9" name="Picture 8" descr="A computer screen shot of a computer screen&#10;&#10;AI-generated content may be incorrect.">
            <a:extLst>
              <a:ext uri="{FF2B5EF4-FFF2-40B4-BE49-F238E27FC236}">
                <a16:creationId xmlns:a16="http://schemas.microsoft.com/office/drawing/2014/main" id="{5D6F580E-A8A4-EEC2-58A0-2FBE84F946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079" y="1546629"/>
            <a:ext cx="7772400" cy="531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4781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96EFC-6BA9-CA89-60B2-D8E002B1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04A7-A787-E557-4B2D-6A892D64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5FC82A-979D-6125-CD8C-EEDB690B4F30}"/>
              </a:ext>
            </a:extLst>
          </p:cNvPr>
          <p:cNvSpPr txBox="1"/>
          <p:nvPr/>
        </p:nvSpPr>
        <p:spPr>
          <a:xfrm>
            <a:off x="9584459" y="6019712"/>
            <a:ext cx="24635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711B4-5702-9464-C823-4C7915941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11927"/>
            <a:ext cx="10931934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To make perceptually accurate visualizations, we need to map data values to visual channels such as position, color, length, etc.</a:t>
            </a:r>
          </a:p>
          <a:p>
            <a:r>
              <a:rPr lang="en-US" sz="2200" dirty="0"/>
              <a:t>D3 has built in scale methods to make this easier </a:t>
            </a:r>
          </a:p>
          <a:p>
            <a:r>
              <a:rPr lang="en-US" sz="2200" dirty="0"/>
              <a:t>Scale methods:</a:t>
            </a:r>
          </a:p>
          <a:p>
            <a:pPr lvl="1"/>
            <a:r>
              <a:rPr lang="en-US" sz="2200" dirty="0"/>
              <a:t>take an input (usually a number, date or category) and</a:t>
            </a:r>
          </a:p>
          <a:p>
            <a:pPr lvl="1"/>
            <a:r>
              <a:rPr lang="en-US" sz="2200" dirty="0"/>
              <a:t>return a value (such as a coordinate, a color, a length, or a radius)</a:t>
            </a:r>
          </a:p>
          <a:p>
            <a:pPr lvl="1"/>
            <a:r>
              <a:rPr lang="en-US" sz="2200" dirty="0"/>
              <a:t>Ex.</a:t>
            </a:r>
          </a:p>
          <a:p>
            <a:endParaRPr lang="en-US" sz="2200" dirty="0"/>
          </a:p>
        </p:txBody>
      </p:sp>
      <p:pic>
        <p:nvPicPr>
          <p:cNvPr id="5" name="Picture 4" descr="A white rectangular object with black dots&#10;&#10;AI-generated content may be incorrect.">
            <a:extLst>
              <a:ext uri="{FF2B5EF4-FFF2-40B4-BE49-F238E27FC236}">
                <a16:creationId xmlns:a16="http://schemas.microsoft.com/office/drawing/2014/main" id="{340B1C50-5F1A-28B0-E17B-1B0D20F48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059" y="4592611"/>
            <a:ext cx="7772400" cy="214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152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849F7-3BC5-194B-91EE-650748E25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3420-E5A9-123A-BB97-20B45D546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399E18-E966-53C8-01AF-CFEAA9FED54C}"/>
              </a:ext>
            </a:extLst>
          </p:cNvPr>
          <p:cNvSpPr txBox="1"/>
          <p:nvPr/>
        </p:nvSpPr>
        <p:spPr>
          <a:xfrm>
            <a:off x="7980219" y="6331527"/>
            <a:ext cx="4067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369DA-FB70-B316-577A-0994FE244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7"/>
            <a:ext cx="3630589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To create an axis we need:</a:t>
            </a:r>
          </a:p>
          <a:p>
            <a:pPr lvl="1"/>
            <a:r>
              <a:rPr lang="en-US" sz="2200" dirty="0"/>
              <a:t>an SVG element to contain the axis (usually a g element)</a:t>
            </a:r>
          </a:p>
          <a:p>
            <a:pPr lvl="1"/>
            <a:r>
              <a:rPr lang="en-US" sz="2200" dirty="0"/>
              <a:t>a D3 </a:t>
            </a:r>
            <a:r>
              <a:rPr lang="en-US" sz="2200" u="sng" dirty="0">
                <a:hlinkClick r:id="rId2"/>
              </a:rPr>
              <a:t>scale function</a:t>
            </a:r>
            <a:endParaRPr lang="en-US" sz="2200" u="sng" dirty="0"/>
          </a:p>
          <a:p>
            <a:pPr marL="0" indent="0">
              <a:buNone/>
            </a:pPr>
            <a:endParaRPr lang="en-US" sz="2200" dirty="0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65DBD66-5F1D-8A68-BFDF-371380710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5605" y="2060965"/>
            <a:ext cx="7772400" cy="3925553"/>
          </a:xfrm>
          <a:prstGeom prst="rect">
            <a:avLst/>
          </a:prstGeom>
        </p:spPr>
      </p:pic>
      <p:sp>
        <p:nvSpPr>
          <p:cNvPr id="8" name="Rounded Rectangular Callout 7">
            <a:extLst>
              <a:ext uri="{FF2B5EF4-FFF2-40B4-BE49-F238E27FC236}">
                <a16:creationId xmlns:a16="http://schemas.microsoft.com/office/drawing/2014/main" id="{50FBDF51-E1EC-0397-C80D-19BA1A4E6F8F}"/>
              </a:ext>
            </a:extLst>
          </p:cNvPr>
          <p:cNvSpPr/>
          <p:nvPr/>
        </p:nvSpPr>
        <p:spPr>
          <a:xfrm>
            <a:off x="581192" y="4502727"/>
            <a:ext cx="3311935" cy="1371600"/>
          </a:xfrm>
          <a:prstGeom prst="wedgeRoundRectCallout">
            <a:avLst>
              <a:gd name="adj1" fmla="val 76361"/>
              <a:gd name="adj2" fmla="val -4053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.call takes a function that operates on a selection as a parameter</a:t>
            </a:r>
          </a:p>
        </p:txBody>
      </p:sp>
    </p:spTree>
    <p:extLst>
      <p:ext uri="{BB962C8B-B14F-4D97-AF65-F5344CB8AC3E}">
        <p14:creationId xmlns:p14="http://schemas.microsoft.com/office/powerpoint/2010/main" val="124548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23AD4-4D27-A357-2A02-32D6F9D82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1E1EE-2836-2686-7579-E5611E44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60BA75-BD90-4098-8A0D-ACB45E5F5CA9}"/>
              </a:ext>
            </a:extLst>
          </p:cNvPr>
          <p:cNvSpPr txBox="1"/>
          <p:nvPr/>
        </p:nvSpPr>
        <p:spPr>
          <a:xfrm>
            <a:off x="7989937" y="6401988"/>
            <a:ext cx="4067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EC230-641E-E265-1C68-423C17C1D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7"/>
            <a:ext cx="3403601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Aside: we can dynamically add SVG containers to HTML using D3</a:t>
            </a:r>
          </a:p>
        </p:txBody>
      </p:sp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76C9C0D0-EE67-862B-A2DB-11823004C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5894" y="1985240"/>
            <a:ext cx="5930900" cy="4279900"/>
          </a:xfrm>
          <a:prstGeom prst="rect">
            <a:avLst/>
          </a:prstGeom>
        </p:spPr>
      </p:pic>
      <p:pic>
        <p:nvPicPr>
          <p:cNvPr id="12" name="Picture 11" descr="A computer code with colorful letters&#10;&#10;AI-generated content may be incorrect.">
            <a:extLst>
              <a:ext uri="{FF2B5EF4-FFF2-40B4-BE49-F238E27FC236}">
                <a16:creationId xmlns:a16="http://schemas.microsoft.com/office/drawing/2014/main" id="{59809281-FA4B-56B6-4368-474700C51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66" y="3073400"/>
            <a:ext cx="3403600" cy="711200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4FF1F42-8BEA-FC15-83B1-C66AF0C44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9288" y="0"/>
            <a:ext cx="56318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0510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AC405-B39C-597E-B7E0-12AF49126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B171-B079-56EB-096F-38A5D0CF3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115B7-2153-AADA-24CD-A5E8C1CBC0B7}"/>
              </a:ext>
            </a:extLst>
          </p:cNvPr>
          <p:cNvSpPr txBox="1"/>
          <p:nvPr/>
        </p:nvSpPr>
        <p:spPr>
          <a:xfrm>
            <a:off x="7980219" y="6331527"/>
            <a:ext cx="4067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F9A3F-0132-9A4C-B1DB-00EED93FF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7"/>
            <a:ext cx="3630589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Many types of scale methods available</a:t>
            </a:r>
            <a:endParaRPr lang="en-US" sz="2200" u="sng" dirty="0"/>
          </a:p>
          <a:p>
            <a:pPr marL="0" indent="0">
              <a:buNone/>
            </a:pPr>
            <a:endParaRPr lang="en-US" sz="2200" dirty="0"/>
          </a:p>
        </p:txBody>
      </p:sp>
      <p:pic>
        <p:nvPicPr>
          <p:cNvPr id="5" name="Picture 4" descr="A row of black lines with numbers&#10;&#10;AI-generated content may be incorrect.">
            <a:extLst>
              <a:ext uri="{FF2B5EF4-FFF2-40B4-BE49-F238E27FC236}">
                <a16:creationId xmlns:a16="http://schemas.microsoft.com/office/drawing/2014/main" id="{6D71B180-B3A0-B3CF-18ED-E9CB322C2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019" y="2075872"/>
            <a:ext cx="7772400" cy="3652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3843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25293-5C80-5463-DBC0-DC6C39F99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17C04-40EE-D636-C636-1946888A5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588258-ED17-23BE-9D0D-2EA431BEA454}"/>
              </a:ext>
            </a:extLst>
          </p:cNvPr>
          <p:cNvSpPr txBox="1"/>
          <p:nvPr/>
        </p:nvSpPr>
        <p:spPr>
          <a:xfrm>
            <a:off x="7980219" y="6331527"/>
            <a:ext cx="4067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FAA3E-95E9-B900-0E56-0770C7C8B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1927"/>
            <a:ext cx="4835935" cy="4558145"/>
          </a:xfrm>
        </p:spPr>
        <p:txBody>
          <a:bodyPr anchor="t">
            <a:normAutofit/>
          </a:bodyPr>
          <a:lstStyle/>
          <a:p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scaleBand</a:t>
            </a:r>
            <a:r>
              <a:rPr lang="en-US" sz="2200" dirty="0"/>
              <a:t> is particularly useful for bar charts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.bandwidth() </a:t>
            </a:r>
            <a:r>
              <a:rPr lang="en-US" sz="2200" dirty="0"/>
              <a:t>will return the width of each band in the scale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paddingInner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(percentage) </a:t>
            </a:r>
            <a:r>
              <a:rPr lang="en-US" sz="2200" dirty="0"/>
              <a:t>will set padding between bands</a:t>
            </a:r>
          </a:p>
          <a:p>
            <a:pPr marL="0" indent="0">
              <a:buNone/>
            </a:pPr>
            <a:endParaRPr lang="en-US" sz="2200" dirty="0"/>
          </a:p>
        </p:txBody>
      </p:sp>
      <p:pic>
        <p:nvPicPr>
          <p:cNvPr id="7" name="Picture 6" descr="A white rectangular object with blue text&#10;&#10;AI-generated content may be incorrect.">
            <a:extLst>
              <a:ext uri="{FF2B5EF4-FFF2-40B4-BE49-F238E27FC236}">
                <a16:creationId xmlns:a16="http://schemas.microsoft.com/office/drawing/2014/main" id="{0EA0572C-8F25-0ABE-2D2D-DD471851C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848" y="1931460"/>
            <a:ext cx="10060308" cy="22441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63363CF-5465-0B70-C217-110CA65AF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855" y="3671485"/>
            <a:ext cx="10060301" cy="823349"/>
          </a:xfrm>
          <a:prstGeom prst="rect">
            <a:avLst/>
          </a:prstGeom>
        </p:spPr>
      </p:pic>
      <p:pic>
        <p:nvPicPr>
          <p:cNvPr id="11" name="Picture 10" descr="A white card with numbers and dots&#10;&#10;AI-generated content may be incorrect.">
            <a:extLst>
              <a:ext uri="{FF2B5EF4-FFF2-40B4-BE49-F238E27FC236}">
                <a16:creationId xmlns:a16="http://schemas.microsoft.com/office/drawing/2014/main" id="{124F6EAF-EBA9-6924-45E7-D2E0643EFD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4849" y="4326241"/>
            <a:ext cx="10060307" cy="180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6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A0787-9B62-BE60-0E48-EB8F1BA4A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85359-C06F-F7E7-C5C9-46F5F1430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 Basics: Axes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5BD33A-11DC-63B4-0A02-D6AA7B3D16BE}"/>
              </a:ext>
            </a:extLst>
          </p:cNvPr>
          <p:cNvSpPr txBox="1"/>
          <p:nvPr/>
        </p:nvSpPr>
        <p:spPr>
          <a:xfrm>
            <a:off x="7680870" y="6483750"/>
            <a:ext cx="4511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https://www.d3indepth.com/introduction/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1BAE2-3663-DA31-DBDA-D20FEEAB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4" y="1911927"/>
            <a:ext cx="4267898" cy="4558145"/>
          </a:xfrm>
        </p:spPr>
        <p:txBody>
          <a:bodyPr anchor="t">
            <a:normAutofit/>
          </a:bodyPr>
          <a:lstStyle/>
          <a:p>
            <a:r>
              <a:rPr lang="en-US" sz="2200" dirty="0"/>
              <a:t>Your turn:</a:t>
            </a:r>
          </a:p>
          <a:p>
            <a:pPr lvl="1"/>
            <a:r>
              <a:rPr lang="en-US" sz="2000" dirty="0"/>
              <a:t>Add a horizontal axis to the fruit bars to identify which bar is which fruit</a:t>
            </a:r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15D8DC87-75CD-4C64-E668-1B21E2D221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498"/>
          <a:stretch>
            <a:fillRect/>
          </a:stretch>
        </p:blipFill>
        <p:spPr>
          <a:xfrm>
            <a:off x="171590" y="4438457"/>
            <a:ext cx="4793673" cy="1717387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36BBD6-7492-FD12-D23F-811769D60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263" y="-4918"/>
            <a:ext cx="74686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61519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1417</TotalTime>
  <Words>899</Words>
  <Application>Microsoft Macintosh PowerPoint</Application>
  <PresentationFormat>Widescreen</PresentationFormat>
  <Paragraphs>99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Consolas</vt:lpstr>
      <vt:lpstr>Gill Sans MT</vt:lpstr>
      <vt:lpstr>Wingdings</vt:lpstr>
      <vt:lpstr>Wingdings 2</vt:lpstr>
      <vt:lpstr>Dividend</vt:lpstr>
      <vt:lpstr>Visual Analytics:   Novel visualizations with d3.js</vt:lpstr>
      <vt:lpstr>Today’s plan</vt:lpstr>
      <vt:lpstr>D3.js overview</vt:lpstr>
      <vt:lpstr>SVG</vt:lpstr>
      <vt:lpstr>SVG</vt:lpstr>
      <vt:lpstr>SVG</vt:lpstr>
      <vt:lpstr>SVG</vt:lpstr>
      <vt:lpstr>SVG</vt:lpstr>
      <vt:lpstr>SVG</vt:lpstr>
      <vt:lpstr>D3 Basics</vt:lpstr>
      <vt:lpstr>D3 Basics: selections</vt:lpstr>
      <vt:lpstr>D3 Basics: selections</vt:lpstr>
      <vt:lpstr>D3 Basics: selections</vt:lpstr>
      <vt:lpstr>D3 Basics: data Joins</vt:lpstr>
      <vt:lpstr>D3 Basics: data Joins</vt:lpstr>
      <vt:lpstr>D3 Basics: data Joins</vt:lpstr>
      <vt:lpstr>D3 Basics: data Joins</vt:lpstr>
      <vt:lpstr>D3 Basics: data Joins</vt:lpstr>
      <vt:lpstr>D3 Basics: axes</vt:lpstr>
      <vt:lpstr>D3 Basics: axes</vt:lpstr>
      <vt:lpstr>D3 Basics: axes</vt:lpstr>
      <vt:lpstr>D3 Basics: axes</vt:lpstr>
      <vt:lpstr>D3 Basics: axes</vt:lpstr>
      <vt:lpstr>D3 Basics: Axes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45</cp:revision>
  <dcterms:created xsi:type="dcterms:W3CDTF">2025-11-19T17:12:35Z</dcterms:created>
  <dcterms:modified xsi:type="dcterms:W3CDTF">2026-02-17T12:44:34Z</dcterms:modified>
</cp:coreProperties>
</file>