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9"/>
    <p:restoredTop sz="87217"/>
  </p:normalViewPr>
  <p:slideViewPr>
    <p:cSldViewPr snapToGrid="0">
      <p:cViewPr varScale="1">
        <p:scale>
          <a:sx n="92" d="100"/>
          <a:sy n="92" d="100"/>
        </p:scale>
        <p:origin x="1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3indepth.com/introductio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 </a:t>
            </a:r>
            <a:br>
              <a:rPr lang="en-US" dirty="0"/>
            </a:br>
            <a:r>
              <a:rPr lang="en-US" dirty="0"/>
              <a:t>Novel visualizations with d3.js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Overview</a:t>
            </a:r>
          </a:p>
          <a:p>
            <a:r>
              <a:rPr lang="en-US" sz="2400" dirty="0"/>
              <a:t>SVG</a:t>
            </a:r>
          </a:p>
          <a:p>
            <a:r>
              <a:rPr lang="en-US" sz="2400" dirty="0"/>
              <a:t>D3 Basics</a:t>
            </a:r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486C4-B07B-2CC7-DE6A-C2D0ED13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5051-58D6-7E29-B4C9-872FD9B6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D3.js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085B1-4AE2-8A3C-4C7E-250268530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D3 </a:t>
            </a:r>
            <a:r>
              <a:rPr lang="en-US" sz="2400" dirty="0">
                <a:sym typeface="Wingdings" pitchFamily="2" charset="2"/>
              </a:rPr>
              <a:t> Data Driven Documents; it is a JavaScript library for creating custom, novel, interactive visualizations on the web</a:t>
            </a:r>
          </a:p>
          <a:p>
            <a:r>
              <a:rPr lang="en-US" sz="2400" dirty="0">
                <a:sym typeface="Wingdings" pitchFamily="2" charset="2"/>
              </a:rPr>
              <a:t>Good resource: </a:t>
            </a:r>
            <a:r>
              <a:rPr lang="en-US" sz="2400" dirty="0">
                <a:sym typeface="Wingdings" pitchFamily="2" charset="2"/>
                <a:hlinkClick r:id="rId2"/>
              </a:rPr>
              <a:t>https://www.d3indepth.com/introduction/</a:t>
            </a:r>
            <a:r>
              <a:rPr lang="en-US" sz="2400" dirty="0">
                <a:sym typeface="Wingdings" pitchFamily="2" charset="2"/>
              </a:rPr>
              <a:t> </a:t>
            </a:r>
          </a:p>
          <a:p>
            <a:r>
              <a:rPr lang="en-US" sz="2400" dirty="0">
                <a:sym typeface="Wingdings" pitchFamily="2" charset="2"/>
              </a:rPr>
              <a:t>D3 includes build in functions to bind data with HTML SVG elements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309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BB47E-5388-C340-1884-802B6D72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16F5-3A07-4CB6-F76A-D9BE8CF3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90FB803-3905-4E51-5664-EC5847139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127467"/>
            <a:ext cx="8382000" cy="20955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496B54-6984-3F54-BED8-843CEA73B003}"/>
              </a:ext>
            </a:extLst>
          </p:cNvPr>
          <p:cNvSpPr txBox="1"/>
          <p:nvPr/>
        </p:nvSpPr>
        <p:spPr>
          <a:xfrm>
            <a:off x="7148946" y="6386946"/>
            <a:ext cx="491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https://www.w3schools.com/graphics/</a:t>
            </a:r>
            <a:r>
              <a:rPr lang="en-US" dirty="0" err="1"/>
              <a:t>svg_intro.asp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92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1764-5720-22B8-15B4-AA1F6B86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5058F-1928-D573-1574-6152B371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</a:t>
            </a: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3AE775B-F154-8D68-BBAA-C3AB8909D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02" y="2107682"/>
            <a:ext cx="10305072" cy="40061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172D68-944F-59B4-AA69-81F98FD4BBA7}"/>
              </a:ext>
            </a:extLst>
          </p:cNvPr>
          <p:cNvSpPr txBox="1"/>
          <p:nvPr/>
        </p:nvSpPr>
        <p:spPr>
          <a:xfrm>
            <a:off x="7148946" y="6386946"/>
            <a:ext cx="491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https://www.w3schools.com/graphics/</a:t>
            </a:r>
            <a:r>
              <a:rPr lang="en-US" dirty="0" err="1"/>
              <a:t>svg_intro.asp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894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8ED1-D873-0A9F-12C1-5B5F0710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4620-A90C-5825-2243-C04C9780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CE740-46D0-8D0B-8036-F53592E3B2D5}"/>
              </a:ext>
            </a:extLst>
          </p:cNvPr>
          <p:cNvSpPr txBox="1"/>
          <p:nvPr/>
        </p:nvSpPr>
        <p:spPr>
          <a:xfrm>
            <a:off x="7148946" y="6386946"/>
            <a:ext cx="491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https://www.w3schools.com/graphics/</a:t>
            </a:r>
            <a:r>
              <a:rPr lang="en-US" dirty="0" err="1"/>
              <a:t>svg_intro.asp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EAE6A7-AD7E-3837-0121-E7E3FE19C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246168"/>
            <a:ext cx="7772400" cy="3134868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7A9FD09-2AAA-3F85-FF2E-63A6916390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897"/>
          <a:stretch>
            <a:fillRect/>
          </a:stretch>
        </p:blipFill>
        <p:spPr>
          <a:xfrm>
            <a:off x="5453486" y="2048387"/>
            <a:ext cx="6605907" cy="4006128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9E1CD2-8CB4-B012-84DA-BA1833E5C989}"/>
              </a:ext>
            </a:extLst>
          </p:cNvPr>
          <p:cNvSpPr/>
          <p:nvPr/>
        </p:nvSpPr>
        <p:spPr>
          <a:xfrm>
            <a:off x="734290" y="4142509"/>
            <a:ext cx="387927" cy="360218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9B3241-6346-3EDF-37A4-5D7B89637015}"/>
              </a:ext>
            </a:extLst>
          </p:cNvPr>
          <p:cNvSpPr/>
          <p:nvPr/>
        </p:nvSpPr>
        <p:spPr>
          <a:xfrm>
            <a:off x="8534398" y="3899052"/>
            <a:ext cx="845130" cy="271167"/>
          </a:xfrm>
          <a:prstGeom prst="round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483E609-31FA-AA80-6275-990B9D2018B7}"/>
              </a:ext>
            </a:extLst>
          </p:cNvPr>
          <p:cNvSpPr/>
          <p:nvPr/>
        </p:nvSpPr>
        <p:spPr>
          <a:xfrm>
            <a:off x="734288" y="4516584"/>
            <a:ext cx="387927" cy="360218"/>
          </a:xfrm>
          <a:prstGeom prst="round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781510B-4E06-91F0-20C2-46775BC550AF}"/>
              </a:ext>
            </a:extLst>
          </p:cNvPr>
          <p:cNvSpPr/>
          <p:nvPr/>
        </p:nvSpPr>
        <p:spPr>
          <a:xfrm>
            <a:off x="6733310" y="3899053"/>
            <a:ext cx="900546" cy="271166"/>
          </a:xfrm>
          <a:prstGeom prst="round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494FA5A-8546-801C-F913-2AD8568ED09A}"/>
              </a:ext>
            </a:extLst>
          </p:cNvPr>
          <p:cNvSpPr/>
          <p:nvPr/>
        </p:nvSpPr>
        <p:spPr>
          <a:xfrm>
            <a:off x="734285" y="4849095"/>
            <a:ext cx="387927" cy="360218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04E0657-9627-363E-581E-67EF70FC2A4B}"/>
              </a:ext>
            </a:extLst>
          </p:cNvPr>
          <p:cNvSpPr/>
          <p:nvPr/>
        </p:nvSpPr>
        <p:spPr>
          <a:xfrm>
            <a:off x="7606144" y="3902013"/>
            <a:ext cx="900546" cy="271166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40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49D5-CCA7-1E0B-0D22-AD7ADCEE1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5857E-1476-CCE9-1F9F-8CDC510A6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3AFD6-A0AF-D77F-3CFD-F82BF346F745}"/>
              </a:ext>
            </a:extLst>
          </p:cNvPr>
          <p:cNvSpPr txBox="1"/>
          <p:nvPr/>
        </p:nvSpPr>
        <p:spPr>
          <a:xfrm>
            <a:off x="7148946" y="6386946"/>
            <a:ext cx="491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https://www.w3schools.com/graphics/</a:t>
            </a:r>
            <a:r>
              <a:rPr lang="en-US" dirty="0" err="1"/>
              <a:t>svg_intro.asp</a:t>
            </a:r>
            <a:endParaRPr lang="en-US" dirty="0"/>
          </a:p>
        </p:txBody>
      </p:sp>
      <p:pic>
        <p:nvPicPr>
          <p:cNvPr id="15" name="Picture 14" descr="A screenshot of a rectangle&#10;&#10;AI-generated content may be incorrect.">
            <a:extLst>
              <a:ext uri="{FF2B5EF4-FFF2-40B4-BE49-F238E27FC236}">
                <a16:creationId xmlns:a16="http://schemas.microsoft.com/office/drawing/2014/main" id="{0FF0AF54-9FB0-44DE-B305-D558E6431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28" y="2155791"/>
            <a:ext cx="7772400" cy="417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4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72AC-5BC8-61EC-7EB2-0BBEB7C5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6F87-117A-5ED8-0FFD-783F9375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934D8-F0E2-39D8-9D90-B0FEAF7AD505}"/>
              </a:ext>
            </a:extLst>
          </p:cNvPr>
          <p:cNvSpPr txBox="1"/>
          <p:nvPr/>
        </p:nvSpPr>
        <p:spPr>
          <a:xfrm>
            <a:off x="7148946" y="6386946"/>
            <a:ext cx="491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https://www.w3schools.com/graphics/</a:t>
            </a:r>
            <a:r>
              <a:rPr lang="en-US" dirty="0" err="1"/>
              <a:t>svg_intro.asp</a:t>
            </a:r>
            <a:endParaRPr lang="en-US" dirty="0"/>
          </a:p>
        </p:txBody>
      </p:sp>
      <p:pic>
        <p:nvPicPr>
          <p:cNvPr id="15" name="Picture 14" descr="A screenshot of a rectangle&#10;&#10;AI-generated content may be incorrect.">
            <a:extLst>
              <a:ext uri="{FF2B5EF4-FFF2-40B4-BE49-F238E27FC236}">
                <a16:creationId xmlns:a16="http://schemas.microsoft.com/office/drawing/2014/main" id="{4D26F380-92CF-BA9B-3E43-DD27DB967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28" y="2155791"/>
            <a:ext cx="7772400" cy="417982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A32D45-B6AF-78FD-6574-46716DA1A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665" y="1093505"/>
            <a:ext cx="8030165" cy="29579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814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F084-8355-9AD5-D364-9182593C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5309-8197-2AB4-F1BA-61E1532F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49957-A456-2C70-5F37-4CA29A9B7286}"/>
              </a:ext>
            </a:extLst>
          </p:cNvPr>
          <p:cNvSpPr txBox="1"/>
          <p:nvPr/>
        </p:nvSpPr>
        <p:spPr>
          <a:xfrm>
            <a:off x="7148946" y="6386946"/>
            <a:ext cx="491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https://www.w3schools.com/graphics/</a:t>
            </a:r>
            <a:r>
              <a:rPr lang="en-US" dirty="0" err="1"/>
              <a:t>svg_intro.asp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D1B197-0687-61AF-C1D1-C7BB8F995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203601"/>
            <a:ext cx="7897790" cy="403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11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6CDA0-C04D-0F3B-B59E-7C40D678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C790-4E02-713E-86B9-D06F5D55B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AC22C-6D15-A752-32A3-CF8216E37E2A}"/>
              </a:ext>
            </a:extLst>
          </p:cNvPr>
          <p:cNvSpPr txBox="1"/>
          <p:nvPr/>
        </p:nvSpPr>
        <p:spPr>
          <a:xfrm>
            <a:off x="7994074" y="6373091"/>
            <a:ext cx="405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https://www.d3indepth.com/introduction/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5919-A0DC-4159-F841-A40CE11C3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anchor="t">
            <a:normAutofit/>
          </a:bodyPr>
          <a:lstStyle/>
          <a:p>
            <a:r>
              <a:rPr lang="en-US" sz="2400" dirty="0"/>
              <a:t>Starter code on the website</a:t>
            </a:r>
          </a:p>
          <a:p>
            <a:r>
              <a:rPr lang="en-US" sz="2400" dirty="0">
                <a:sym typeface="Wingdings" pitchFamily="2" charset="2"/>
              </a:rPr>
              <a:t>Final code also on the website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9452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19460-8F6C-3DEA-388E-EF62564E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015E-007D-BE1A-22EA-AE3CE6CD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 Basics: selections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114AE-4A7D-C752-F3D0-71B791CF7BF1}"/>
              </a:ext>
            </a:extLst>
          </p:cNvPr>
          <p:cNvSpPr txBox="1"/>
          <p:nvPr/>
        </p:nvSpPr>
        <p:spPr>
          <a:xfrm>
            <a:off x="7994074" y="6373091"/>
            <a:ext cx="405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https://www.d3indepth.com/introduction/</a:t>
            </a:r>
          </a:p>
        </p:txBody>
      </p:sp>
    </p:spTree>
    <p:extLst>
      <p:ext uri="{BB962C8B-B14F-4D97-AF65-F5344CB8AC3E}">
        <p14:creationId xmlns:p14="http://schemas.microsoft.com/office/powerpoint/2010/main" val="628570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2BD6E-65C0-4F7A-C44C-37FCC494B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FF65-F1CA-A166-DE65-FAE8A2C8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 Basics: data Joins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B8C50-C041-526F-83EA-312099DCCD80}"/>
              </a:ext>
            </a:extLst>
          </p:cNvPr>
          <p:cNvSpPr txBox="1"/>
          <p:nvPr/>
        </p:nvSpPr>
        <p:spPr>
          <a:xfrm>
            <a:off x="7994074" y="6373091"/>
            <a:ext cx="405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https://www.d3indepth.com/introduction/</a:t>
            </a:r>
          </a:p>
        </p:txBody>
      </p:sp>
    </p:spTree>
    <p:extLst>
      <p:ext uri="{BB962C8B-B14F-4D97-AF65-F5344CB8AC3E}">
        <p14:creationId xmlns:p14="http://schemas.microsoft.com/office/powerpoint/2010/main" val="739077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4A7A1-6231-99B3-0FDA-F11786067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2136-8567-2B31-EE15-F4DD19AC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 Basics: enter, exit, update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DD1D8-6041-226D-28AB-4FCE5B3748C0}"/>
              </a:ext>
            </a:extLst>
          </p:cNvPr>
          <p:cNvSpPr txBox="1"/>
          <p:nvPr/>
        </p:nvSpPr>
        <p:spPr>
          <a:xfrm>
            <a:off x="7994074" y="6373091"/>
            <a:ext cx="405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https://www.d3indepth.com/introduction/</a:t>
            </a:r>
          </a:p>
        </p:txBody>
      </p:sp>
    </p:spTree>
    <p:extLst>
      <p:ext uri="{BB962C8B-B14F-4D97-AF65-F5344CB8AC3E}">
        <p14:creationId xmlns:p14="http://schemas.microsoft.com/office/powerpoint/2010/main" val="2818736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6EFC-6BA9-CA89-60B2-D8E002B17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04A7-A787-E557-4B2D-6A892D64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 Basics: axes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5FC82A-979D-6125-CD8C-EEDB690B4F30}"/>
              </a:ext>
            </a:extLst>
          </p:cNvPr>
          <p:cNvSpPr txBox="1"/>
          <p:nvPr/>
        </p:nvSpPr>
        <p:spPr>
          <a:xfrm>
            <a:off x="7994074" y="6373091"/>
            <a:ext cx="405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https://www.d3indepth.com/introduction/</a:t>
            </a:r>
          </a:p>
        </p:txBody>
      </p:sp>
    </p:spTree>
    <p:extLst>
      <p:ext uri="{BB962C8B-B14F-4D97-AF65-F5344CB8AC3E}">
        <p14:creationId xmlns:p14="http://schemas.microsoft.com/office/powerpoint/2010/main" val="62415284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1175</TotalTime>
  <Words>254</Words>
  <Application>Microsoft Macintosh PowerPoint</Application>
  <PresentationFormat>Widescreen</PresentationFormat>
  <Paragraphs>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Gill Sans MT</vt:lpstr>
      <vt:lpstr>Wingdings</vt:lpstr>
      <vt:lpstr>Wingdings 2</vt:lpstr>
      <vt:lpstr>Dividend</vt:lpstr>
      <vt:lpstr>Visual Analytics:   Novel visualizations with d3.js</vt:lpstr>
      <vt:lpstr>Today’s plan</vt:lpstr>
      <vt:lpstr>D3.js overview</vt:lpstr>
      <vt:lpstr>SVG</vt:lpstr>
      <vt:lpstr>SVG</vt:lpstr>
      <vt:lpstr>SVG</vt:lpstr>
      <vt:lpstr>SVG</vt:lpstr>
      <vt:lpstr>SVG</vt:lpstr>
      <vt:lpstr>SVG</vt:lpstr>
      <vt:lpstr>D3 Basics</vt:lpstr>
      <vt:lpstr>D3 Basics: selections</vt:lpstr>
      <vt:lpstr>D3 Basics: data Joins</vt:lpstr>
      <vt:lpstr>D3 Basics: enter, exit, update</vt:lpstr>
      <vt:lpstr>D3 Basics: axes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38</cp:revision>
  <dcterms:created xsi:type="dcterms:W3CDTF">2025-11-19T17:12:35Z</dcterms:created>
  <dcterms:modified xsi:type="dcterms:W3CDTF">2026-01-07T18:15:05Z</dcterms:modified>
</cp:coreProperties>
</file>