
<file path=[Content_Types].xml><?xml version="1.0" encoding="utf-8"?>
<Types xmlns="http://schemas.openxmlformats.org/package/2006/content-types">
  <Default Extension="gif" ContentType="image/gi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311" r:id="rId7"/>
    <p:sldId id="31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21"/>
    <p:restoredTop sz="64589"/>
  </p:normalViewPr>
  <p:slideViewPr>
    <p:cSldViewPr snapToGrid="0">
      <p:cViewPr varScale="1">
        <p:scale>
          <a:sx n="79" d="100"/>
          <a:sy n="79" d="100"/>
        </p:scale>
        <p:origin x="20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2518-F7FE-2E40-9C60-793856882CE6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CD335-F0CB-D347-B8A5-7AB70F34C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6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77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36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14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97DF0-9772-FFFB-2689-B2939BE8E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37510-A248-03BF-D5AD-A9C44F080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36A98-EBF9-C2B7-D94E-B23B5477F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04883-102D-3EBE-1CC2-1FA671B41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39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A9B1B-18E7-4C0B-2B96-84C7F261C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7E04B-22C3-8BF6-B2E9-B001BDB2C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00EEA-8ACD-0D46-CBD2-0B9F52130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DBE1-2318-1BD8-0840-367A4009E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07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23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6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6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5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2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4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5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40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4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8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7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.png"/><Relationship Id="rId4" Type="http://schemas.openxmlformats.org/officeDocument/2006/relationships/image" Target="../media/image1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BFC0-8BA3-DEDC-7E39-89EC78568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Analytics: uncertainty and bias 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BEFAC-62BD-EFDC-63B4-33E49BD33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 Mosca (they/them)</a:t>
            </a:r>
          </a:p>
        </p:txBody>
      </p:sp>
    </p:spTree>
    <p:extLst>
      <p:ext uri="{BB962C8B-B14F-4D97-AF65-F5344CB8AC3E}">
        <p14:creationId xmlns:p14="http://schemas.microsoft.com/office/powerpoint/2010/main" val="54738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CEEC-DA3B-FF6E-BAEB-9400A308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6356-47F4-DF13-CFDC-C996D4E4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Refresh: HOPs</a:t>
            </a:r>
          </a:p>
          <a:p>
            <a:pPr lvl="1"/>
            <a:r>
              <a:rPr lang="en-US" sz="2200" dirty="0"/>
              <a:t>High-level review for HW </a:t>
            </a:r>
          </a:p>
          <a:p>
            <a:r>
              <a:rPr lang="en-US" sz="2400" dirty="0"/>
              <a:t>Refresh: Bias in visual analyses </a:t>
            </a:r>
          </a:p>
          <a:p>
            <a:r>
              <a:rPr lang="en-US" sz="2400" dirty="0"/>
              <a:t>Visualizing bias in dataset exploration 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756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FDEBA-50E7-B334-3B6F-A1F689E0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79839-0C9A-DC2D-9701-7DC46FBD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outcome plots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8078C95-2C56-404D-67B0-311790FE2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429" y="2001662"/>
            <a:ext cx="3810000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19DB2C-0D03-AF0A-DC1A-23E5AC812E64}"/>
              </a:ext>
            </a:extLst>
          </p:cNvPr>
          <p:cNvSpPr txBox="1"/>
          <p:nvPr/>
        </p:nvSpPr>
        <p:spPr>
          <a:xfrm>
            <a:off x="371475" y="6155844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</a:t>
            </a:r>
            <a:r>
              <a:rPr lang="en-US" dirty="0" err="1"/>
              <a:t>hci</a:t>
            </a:r>
            <a:r>
              <a:rPr lang="en-US" dirty="0"/>
              <a:t>-design-at-</a:t>
            </a:r>
            <a:r>
              <a:rPr lang="en-US" dirty="0" err="1"/>
              <a:t>uw</a:t>
            </a:r>
            <a:r>
              <a:rPr lang="en-US" dirty="0"/>
              <a:t>/hypothetical-outcomes-plots-experiencing-the-uncertain-b9ea60d7c740</a:t>
            </a:r>
          </a:p>
        </p:txBody>
      </p:sp>
      <p:pic>
        <p:nvPicPr>
          <p:cNvPr id="8" name="Screen Recording 2026-02-09 at 10.43.09">
            <a:hlinkClick r:id="" action="ppaction://media"/>
            <a:extLst>
              <a:ext uri="{FF2B5EF4-FFF2-40B4-BE49-F238E27FC236}">
                <a16:creationId xmlns:a16="http://schemas.microsoft.com/office/drawing/2014/main" id="{71C72EF7-674B-E37A-20B4-D8CF93DCB3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55895" y="2279588"/>
            <a:ext cx="4851676" cy="33684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632F65-2371-0752-A63E-6E602810A0A4}"/>
              </a:ext>
            </a:extLst>
          </p:cNvPr>
          <p:cNvSpPr txBox="1"/>
          <p:nvPr/>
        </p:nvSpPr>
        <p:spPr>
          <a:xfrm>
            <a:off x="6355895" y="6155843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vega.github.io</a:t>
            </a:r>
            <a:r>
              <a:rPr lang="en-US" dirty="0"/>
              <a:t>/</a:t>
            </a:r>
            <a:r>
              <a:rPr lang="en-US" dirty="0" err="1"/>
              <a:t>vega</a:t>
            </a:r>
            <a:r>
              <a:rPr lang="en-US" dirty="0"/>
              <a:t>/examples/hypothetical-outcome-plots/</a:t>
            </a:r>
          </a:p>
        </p:txBody>
      </p:sp>
    </p:spTree>
    <p:extLst>
      <p:ext uri="{BB962C8B-B14F-4D97-AF65-F5344CB8AC3E}">
        <p14:creationId xmlns:p14="http://schemas.microsoft.com/office/powerpoint/2010/main" val="18282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1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C0B49-FA66-1A8A-C0C9-2014D1A25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1CAA4-8D91-2E29-0011-AFAFD2F1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outcome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00685-94CD-168E-A3E3-A0E3659CE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HOP 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Draw a sample of hypothetical outcomes (draws) from a distribution</a:t>
            </a:r>
          </a:p>
          <a:p>
            <a:pPr lvl="2"/>
            <a:r>
              <a:rPr lang="en-US" sz="22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Bootstrapping (resample original data with replacement) </a:t>
            </a:r>
          </a:p>
          <a:p>
            <a:pPr lvl="2"/>
            <a:r>
              <a:rPr lang="en-US" sz="2200" dirty="0"/>
              <a:t>Infer a distribution model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For each, make a plot that becomes one frame in an animation</a:t>
            </a:r>
          </a:p>
          <a:p>
            <a:pPr lvl="2"/>
            <a:r>
              <a:rPr lang="en-US" sz="2200" dirty="0"/>
              <a:t>Function to plot data with consistent axes, encoding, etc. </a:t>
            </a:r>
          </a:p>
          <a:p>
            <a:pPr lvl="2"/>
            <a:r>
              <a:rPr lang="en-US" sz="2200" dirty="0"/>
              <a:t>Function to update (animate) between hypothetical outcomes </a:t>
            </a:r>
          </a:p>
        </p:txBody>
      </p:sp>
    </p:spTree>
    <p:extLst>
      <p:ext uri="{BB962C8B-B14F-4D97-AF65-F5344CB8AC3E}">
        <p14:creationId xmlns:p14="http://schemas.microsoft.com/office/powerpoint/2010/main" val="78821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AFE9-0910-FDF2-3977-0B10D476B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22A97-ECA8-D727-AA8F-924062CF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in visual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8E7-CC98-2C86-D197-874EA4E2D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What do you remember? Write down 3 specific things. 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43DD7-576F-DB54-ACBA-D6A608E9483F}"/>
              </a:ext>
            </a:extLst>
          </p:cNvPr>
          <p:cNvSpPr txBox="1"/>
          <p:nvPr/>
        </p:nvSpPr>
        <p:spPr>
          <a:xfrm>
            <a:off x="2085048" y="6550223"/>
            <a:ext cx="10486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Wall, Emily. (2026). Human Bias in Visual Data Analysis: A Synthesis of Research to Empower Decision Makers. 10.1007/978-3-032-09307-3. 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5CAFA7A7-758E-A3DF-F828-2F7AEB37D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070" y="3290726"/>
            <a:ext cx="7772400" cy="2568073"/>
          </a:xfrm>
          <a:prstGeom prst="rect">
            <a:avLst/>
          </a:prstGeom>
        </p:spPr>
      </p:pic>
      <p:sp>
        <p:nvSpPr>
          <p:cNvPr id="6" name="Donut 5">
            <a:extLst>
              <a:ext uri="{FF2B5EF4-FFF2-40B4-BE49-F238E27FC236}">
                <a16:creationId xmlns:a16="http://schemas.microsoft.com/office/drawing/2014/main" id="{6246B7E5-4D5C-60BA-DB93-5E652775B301}"/>
              </a:ext>
            </a:extLst>
          </p:cNvPr>
          <p:cNvSpPr/>
          <p:nvPr/>
        </p:nvSpPr>
        <p:spPr>
          <a:xfrm>
            <a:off x="2596240" y="4557718"/>
            <a:ext cx="1322617" cy="781727"/>
          </a:xfrm>
          <a:prstGeom prst="donut">
            <a:avLst>
              <a:gd name="adj" fmla="val 1032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Donut 8">
            <a:extLst>
              <a:ext uri="{FF2B5EF4-FFF2-40B4-BE49-F238E27FC236}">
                <a16:creationId xmlns:a16="http://schemas.microsoft.com/office/drawing/2014/main" id="{95BF569A-D88D-C803-7D0C-C18C9CC7B1C2}"/>
              </a:ext>
            </a:extLst>
          </p:cNvPr>
          <p:cNvSpPr/>
          <p:nvPr/>
        </p:nvSpPr>
        <p:spPr>
          <a:xfrm>
            <a:off x="4114034" y="4216300"/>
            <a:ext cx="1322617" cy="781727"/>
          </a:xfrm>
          <a:prstGeom prst="donut">
            <a:avLst>
              <a:gd name="adj" fmla="val 1032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Donut 10">
            <a:extLst>
              <a:ext uri="{FF2B5EF4-FFF2-40B4-BE49-F238E27FC236}">
                <a16:creationId xmlns:a16="http://schemas.microsoft.com/office/drawing/2014/main" id="{4D0C84C8-54CE-662B-DE26-DB59E91F1003}"/>
              </a:ext>
            </a:extLst>
          </p:cNvPr>
          <p:cNvSpPr/>
          <p:nvPr/>
        </p:nvSpPr>
        <p:spPr>
          <a:xfrm>
            <a:off x="4117949" y="4899499"/>
            <a:ext cx="1322617" cy="781727"/>
          </a:xfrm>
          <a:prstGeom prst="donut">
            <a:avLst>
              <a:gd name="adj" fmla="val 1032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Donut 11">
            <a:extLst>
              <a:ext uri="{FF2B5EF4-FFF2-40B4-BE49-F238E27FC236}">
                <a16:creationId xmlns:a16="http://schemas.microsoft.com/office/drawing/2014/main" id="{63B18738-7744-C988-7592-4A4CA527D9E7}"/>
              </a:ext>
            </a:extLst>
          </p:cNvPr>
          <p:cNvSpPr/>
          <p:nvPr/>
        </p:nvSpPr>
        <p:spPr>
          <a:xfrm>
            <a:off x="7159692" y="3190118"/>
            <a:ext cx="1322617" cy="781727"/>
          </a:xfrm>
          <a:prstGeom prst="donut">
            <a:avLst>
              <a:gd name="adj" fmla="val 1032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53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B16D-609D-95E2-1930-3231F09A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6C220A-A70B-6066-6F27-AE826C02F981}"/>
              </a:ext>
            </a:extLst>
          </p:cNvPr>
          <p:cNvSpPr txBox="1"/>
          <p:nvPr/>
        </p:nvSpPr>
        <p:spPr>
          <a:xfrm>
            <a:off x="2003405" y="6499978"/>
            <a:ext cx="10486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Wall, Emily. (2026). Human Bias in Visual Data Analysis: A Synthesis of Research to Empower Decision Makers. 10.1007/978-3-032-09307-3.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25BDA7-85B5-574D-2DD0-ECFFD311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in visual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1D8C1-119F-2F04-DC8F-AD4199AE4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5"/>
            <a:ext cx="11029615" cy="414284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Real-Time interventions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24F794-077E-16CE-2907-83D4F3B969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72"/>
          <a:stretch>
            <a:fillRect/>
          </a:stretch>
        </p:blipFill>
        <p:spPr>
          <a:xfrm rot="5400000">
            <a:off x="6359255" y="26054"/>
            <a:ext cx="4142843" cy="7522646"/>
          </a:xfrm>
          <a:prstGeom prst="rect">
            <a:avLst/>
          </a:prstGeom>
        </p:spPr>
      </p:pic>
      <p:pic>
        <p:nvPicPr>
          <p:cNvPr id="9" name="Picture 8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5070FAC1-6A43-52C2-8858-3B3777557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87" y="3256722"/>
            <a:ext cx="4711701" cy="324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2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CEFD1-AF42-6C5F-4A81-12615556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003B04F-2C09-8E92-B4B6-6D4C3B8BC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dataset exploration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50F00AF-AA3F-CDED-3B5A-C9DFFE45C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anchor="t">
            <a:normAutofit lnSpcReduction="10000"/>
          </a:bodyPr>
          <a:lstStyle/>
          <a:p>
            <a:r>
              <a:rPr lang="en-US" sz="2200" dirty="0"/>
              <a:t>In the starter code for today’s lab, you will find a coordinated multiple view (CMV) visualization of the palmer’s penguins dataset</a:t>
            </a:r>
          </a:p>
          <a:p>
            <a:r>
              <a:rPr lang="en-US" sz="2200" dirty="0"/>
              <a:t>On the left scatterplot, there is a brush that allows the user to select a subset of points</a:t>
            </a:r>
          </a:p>
          <a:p>
            <a:r>
              <a:rPr lang="en-US" sz="2200" dirty="0"/>
              <a:t>Selected points are highlighted in red on both plots</a:t>
            </a:r>
          </a:p>
          <a:p>
            <a:endParaRPr lang="en-US" sz="2200" dirty="0"/>
          </a:p>
          <a:p>
            <a:r>
              <a:rPr lang="en-US" sz="2200" dirty="0"/>
              <a:t>Modify the starter code such that: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Interaction traces are shown. In other words, how can you keep track of and visualize which points have been selected previously?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Add a bar plot that shows number of each penguin species in a selection </a:t>
            </a:r>
          </a:p>
        </p:txBody>
      </p:sp>
    </p:spTree>
    <p:extLst>
      <p:ext uri="{BB962C8B-B14F-4D97-AF65-F5344CB8AC3E}">
        <p14:creationId xmlns:p14="http://schemas.microsoft.com/office/powerpoint/2010/main" val="425498790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1867</TotalTime>
  <Words>299</Words>
  <Application>Microsoft Macintosh PowerPoint</Application>
  <PresentationFormat>Widescreen</PresentationFormat>
  <Paragraphs>39</Paragraphs>
  <Slides>7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Gill Sans MT</vt:lpstr>
      <vt:lpstr>Wingdings 2</vt:lpstr>
      <vt:lpstr>Dividend</vt:lpstr>
      <vt:lpstr>Visual Analytics: uncertainty and bias lab </vt:lpstr>
      <vt:lpstr>Today’s plan</vt:lpstr>
      <vt:lpstr>Hypothetical outcome plots</vt:lpstr>
      <vt:lpstr>Hypothetical outcome plots</vt:lpstr>
      <vt:lpstr>bias in visual analytics</vt:lpstr>
      <vt:lpstr>Bias in visual analytics</vt:lpstr>
      <vt:lpstr>Visualizing dataset exploration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Mosca</dc:creator>
  <cp:lastModifiedBy>Ab Mosca</cp:lastModifiedBy>
  <cp:revision>66</cp:revision>
  <dcterms:created xsi:type="dcterms:W3CDTF">2025-11-19T17:12:35Z</dcterms:created>
  <dcterms:modified xsi:type="dcterms:W3CDTF">2026-02-11T18:09:13Z</dcterms:modified>
</cp:coreProperties>
</file>