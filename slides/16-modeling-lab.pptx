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60" r:id="rId1"/>
  </p:sldMasterIdLst>
  <p:notesMasterIdLst>
    <p:notesMasterId r:id="rId7"/>
  </p:notesMasterIdLst>
  <p:sldIdLst>
    <p:sldId id="256" r:id="rId2"/>
    <p:sldId id="257" r:id="rId3"/>
    <p:sldId id="259" r:id="rId4"/>
    <p:sldId id="260" r:id="rId5"/>
    <p:sldId id="258" r:id="rId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C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1348"/>
    <p:restoredTop sz="64540"/>
  </p:normalViewPr>
  <p:slideViewPr>
    <p:cSldViewPr snapToGrid="0">
      <p:cViewPr varScale="1">
        <p:scale>
          <a:sx n="66" d="100"/>
          <a:sy n="66" d="100"/>
        </p:scale>
        <p:origin x="1232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CD22518-F7FE-2E40-9C60-793856882CE6}" type="datetimeFigureOut">
              <a:rPr lang="en-US" smtClean="0"/>
              <a:t>4/7/26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62CD335-F0CB-D347-B8A5-7AB70F34C3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406720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62CD335-F0CB-D347-B8A5-7AB70F34C34F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317799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62CD335-F0CB-D347-B8A5-7AB70F34C34F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497288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6E3A0F-3CC0-E722-8C32-DABC462D50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A733D79-FF86-6BF4-2881-0705020FF40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B17FAE7-17CC-638B-B409-76F74C919F7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5D5A26F-5565-75E4-576A-3AEEBFF08F4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62CD335-F0CB-D347-B8A5-7AB70F34C34F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786385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202ED9-73B1-A077-68D5-C0C3EFC13C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4087832-666B-0B7B-3A95-692C0085CA2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D904557-9160-347B-4DB5-883AC02A31A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F2A910F-7DE8-C1F1-5C99-8D6E1066F89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62CD335-F0CB-D347-B8A5-7AB70F34C34F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650885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7CC035-E59B-532B-E8C9-B9E2E4F444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89186E8-FD7F-BA01-D8C3-2761C66C950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C572372-FD34-5B10-B414-19FB402801D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24F9059-B857-6BF2-BAB9-CB6A0080AE2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62CD335-F0CB-D347-B8A5-7AB70F34C34F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480207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446534" y="3085765"/>
            <a:ext cx="11262866" cy="33048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81191" y="1020431"/>
            <a:ext cx="10993549" cy="1475013"/>
          </a:xfrm>
          <a:effectLst/>
        </p:spPr>
        <p:txBody>
          <a:bodyPr anchor="b">
            <a:normAutofit/>
          </a:bodyPr>
          <a:lstStyle>
            <a:lvl1pPr>
              <a:defRPr sz="36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81194" y="2495445"/>
            <a:ext cx="10993546" cy="590321"/>
          </a:xfrm>
        </p:spPr>
        <p:txBody>
          <a:bodyPr anchor="t">
            <a:normAutofit/>
          </a:bodyPr>
          <a:lstStyle>
            <a:lvl1pPr marL="0" indent="0" algn="l">
              <a:buNone/>
              <a:defRPr sz="1600" cap="all">
                <a:solidFill>
                  <a:schemeClr val="accent2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605951" y="5956137"/>
            <a:ext cx="284480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smtClean="0"/>
              <a:pPr/>
              <a:t>4/7/26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81192" y="5951811"/>
            <a:ext cx="691721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1644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5123727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1192" y="2180496"/>
            <a:ext cx="11029615" cy="367830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4/7/26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52508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8616988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7817" y="5141974"/>
            <a:ext cx="11290860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3043910"/>
            <a:ext cx="11029615" cy="1497507"/>
          </a:xfrm>
        </p:spPr>
        <p:txBody>
          <a:bodyPr anchor="b">
            <a:normAutofit/>
          </a:bodyPr>
          <a:lstStyle>
            <a:lvl1pPr algn="l">
              <a:defRPr sz="3600" b="0" cap="all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4541417"/>
            <a:ext cx="11029615" cy="600556"/>
          </a:xfrm>
        </p:spPr>
        <p:txBody>
          <a:bodyPr anchor="t">
            <a:normAutofit/>
          </a:bodyPr>
          <a:lstStyle>
            <a:lvl1pPr marL="0" indent="0" algn="l">
              <a:buNone/>
              <a:defRPr sz="1800" cap="all">
                <a:solidFill>
                  <a:schemeClr val="accent2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smtClean="0"/>
              <a:pPr/>
              <a:t>4/7/26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4966516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81193" y="2228003"/>
            <a:ext cx="5422390" cy="363304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88417" y="2228003"/>
            <a:ext cx="5422392" cy="363304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4/7/26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7455803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87219" y="2250892"/>
            <a:ext cx="5087075" cy="536005"/>
          </a:xfrm>
        </p:spPr>
        <p:txBody>
          <a:bodyPr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1194" y="2926052"/>
            <a:ext cx="5393100" cy="2934999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523735" y="2250892"/>
            <a:ext cx="5087073" cy="553373"/>
          </a:xfrm>
        </p:spPr>
        <p:txBody>
          <a:bodyPr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709" y="2926052"/>
            <a:ext cx="5393100" cy="2934999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4/7/26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6542207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4/7/26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Rectangle 6"/>
          <p:cNvSpPr>
            <a:spLocks noChangeAspect="1"/>
          </p:cNvSpPr>
          <p:nvPr/>
        </p:nvSpPr>
        <p:spPr>
          <a:xfrm>
            <a:off x="440683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575894" y="729658"/>
            <a:ext cx="11029616" cy="98833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5474563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4/7/26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8915908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spect="1"/>
          </p:cNvSpPr>
          <p:nvPr/>
        </p:nvSpPr>
        <p:spPr>
          <a:xfrm>
            <a:off x="447817" y="5141973"/>
            <a:ext cx="11298200" cy="1274702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5262296"/>
            <a:ext cx="4909445" cy="689514"/>
          </a:xfrm>
        </p:spPr>
        <p:txBody>
          <a:bodyPr anchor="ctr"/>
          <a:lstStyle>
            <a:lvl1pPr algn="l">
              <a:defRPr sz="2000" b="0"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47816" y="601200"/>
            <a:ext cx="11292840" cy="4204800"/>
          </a:xfrm>
        </p:spPr>
        <p:txBody>
          <a:bodyPr anchor="ctr">
            <a:normAutofit/>
          </a:bodyPr>
          <a:lstStyle>
            <a:lvl1pPr>
              <a:defRPr sz="2000">
                <a:solidFill>
                  <a:schemeClr val="tx2"/>
                </a:solidFill>
              </a:defRPr>
            </a:lvl1pPr>
            <a:lvl2pPr>
              <a:defRPr sz="1800">
                <a:solidFill>
                  <a:schemeClr val="tx2"/>
                </a:solidFill>
              </a:defRPr>
            </a:lvl2pPr>
            <a:lvl3pPr>
              <a:defRPr sz="1600">
                <a:solidFill>
                  <a:schemeClr val="tx2"/>
                </a:solidFill>
              </a:defRPr>
            </a:lvl3pPr>
            <a:lvl4pPr>
              <a:defRPr sz="1400">
                <a:solidFill>
                  <a:schemeClr val="tx2"/>
                </a:solidFill>
              </a:defRPr>
            </a:lvl4pPr>
            <a:lvl5pPr>
              <a:defRPr sz="1400">
                <a:solidFill>
                  <a:schemeClr val="tx2"/>
                </a:solidFill>
              </a:defRPr>
            </a:lvl5pPr>
            <a:lvl6pPr>
              <a:defRPr sz="1400">
                <a:solidFill>
                  <a:schemeClr val="tx2"/>
                </a:solidFill>
              </a:defRPr>
            </a:lvl6pPr>
            <a:lvl7pPr>
              <a:defRPr sz="1400">
                <a:solidFill>
                  <a:schemeClr val="tx2"/>
                </a:solidFill>
              </a:defRPr>
            </a:lvl7pPr>
            <a:lvl8pPr>
              <a:defRPr sz="1400">
                <a:solidFill>
                  <a:schemeClr val="tx2"/>
                </a:solidFill>
              </a:defRPr>
            </a:lvl8pPr>
            <a:lvl9pPr>
              <a:defRPr sz="1400">
                <a:solidFill>
                  <a:schemeClr val="tx2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740823" y="5262296"/>
            <a:ext cx="5869987" cy="689515"/>
          </a:xfrm>
        </p:spPr>
        <p:txBody>
          <a:bodyPr anchor="ctr">
            <a:normAutofit/>
          </a:bodyPr>
          <a:lstStyle>
            <a:lvl1pPr marL="0" indent="0" algn="r">
              <a:buNone/>
              <a:defRPr sz="1100">
                <a:solidFill>
                  <a:schemeClr val="bg1"/>
                </a:solidFill>
              </a:defRPr>
            </a:lvl1pPr>
            <a:lvl2pPr marL="457200" indent="0">
              <a:buNone/>
              <a:defRPr sz="11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smtClean="0"/>
              <a:pPr/>
              <a:t>4/7/26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4140164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4693389"/>
            <a:ext cx="11029616" cy="566738"/>
          </a:xfrm>
        </p:spPr>
        <p:txBody>
          <a:bodyPr anchor="b">
            <a:normAutofit/>
          </a:bodyPr>
          <a:lstStyle>
            <a:lvl1pPr algn="l">
              <a:defRPr sz="2400" b="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47817" y="599725"/>
            <a:ext cx="11290859" cy="3557252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81192" y="5260127"/>
            <a:ext cx="11029617" cy="598671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4/7/26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4974945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>
            <a:lvl1pPr algn="l">
              <a:defRPr/>
            </a:lvl1pPr>
            <a:lvl2pPr algn="l">
              <a:defRPr/>
            </a:lvl2pPr>
            <a:lvl3pPr algn="l">
              <a:defRPr/>
            </a:lvl3pPr>
            <a:lvl4pPr algn="l">
              <a:defRPr/>
            </a:lvl4pPr>
            <a:lvl5pPr algn="l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4/7/26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2598906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8839201" y="599725"/>
            <a:ext cx="2906817" cy="581695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1" y="675726"/>
            <a:ext cx="2004164" cy="5183073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74923" y="675726"/>
            <a:ext cx="7896279" cy="5183073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993673" y="5956137"/>
            <a:ext cx="1328141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smtClean="0"/>
              <a:pPr/>
              <a:t>4/7/26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774923" y="5951811"/>
            <a:ext cx="7896279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446615" y="5956137"/>
            <a:ext cx="1164195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322798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81192" y="705124"/>
            <a:ext cx="11029616" cy="118955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2336003"/>
            <a:ext cx="11029616" cy="352279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fld id="{B61BEF0D-F0BB-DE4B-95CE-6DB70DBA9567}" type="datetimeFigureOut">
              <a:rPr lang="en-US" smtClean="0"/>
              <a:pPr/>
              <a:t>4/7/26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cap="all">
                <a:solidFill>
                  <a:schemeClr val="accent2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9" name="Rectangle 8"/>
          <p:cNvSpPr/>
          <p:nvPr/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0" name="Rectangle 9"/>
          <p:cNvSpPr/>
          <p:nvPr/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05439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457200" rtl="0" eaLnBrk="1" latinLnBrk="0" hangingPunct="1">
        <a:spcBef>
          <a:spcPct val="0"/>
        </a:spcBef>
        <a:buNone/>
        <a:defRPr sz="2800" b="0" kern="1200" cap="all">
          <a:solidFill>
            <a:schemeClr val="bg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06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800" kern="1200">
          <a:solidFill>
            <a:schemeClr val="tx2"/>
          </a:solidFill>
          <a:latin typeface="+mn-lt"/>
          <a:ea typeface="+mn-ea"/>
          <a:cs typeface="+mn-cs"/>
        </a:defRPr>
      </a:lvl1pPr>
      <a:lvl2pPr marL="630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600" kern="1200">
          <a:solidFill>
            <a:schemeClr val="tx2"/>
          </a:solidFill>
          <a:latin typeface="+mn-lt"/>
          <a:ea typeface="+mn-ea"/>
          <a:cs typeface="+mn-cs"/>
        </a:defRPr>
      </a:lvl2pPr>
      <a:lvl3pPr marL="900000" indent="-270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400" kern="1200">
          <a:solidFill>
            <a:schemeClr val="tx2"/>
          </a:solidFill>
          <a:latin typeface="+mn-lt"/>
          <a:ea typeface="+mn-ea"/>
          <a:cs typeface="+mn-cs"/>
        </a:defRPr>
      </a:lvl3pPr>
      <a:lvl4pPr marL="124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4pPr>
      <a:lvl5pPr marL="160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5pPr>
      <a:lvl6pPr marL="19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6pPr>
      <a:lvl7pPr marL="22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7pPr>
      <a:lvl8pPr marL="25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8pPr>
      <a:lvl9pPr marL="28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kaggle.com/organizations/uciml" TargetMode="External"/><Relationship Id="rId7" Type="http://schemas.openxmlformats.org/officeDocument/2006/relationships/hyperlink" Target="https://www.geeksforgeeks.org/r-machine-learning/introduction-to-machine-learning-in-r/" TargetMode="Externa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.xml"/><Relationship Id="rId6" Type="http://schemas.openxmlformats.org/officeDocument/2006/relationships/hyperlink" Target="https://lgatto.github.io/IntroMachineLearningWithR/supervised-learning.html" TargetMode="External"/><Relationship Id="rId5" Type="http://schemas.openxmlformats.org/officeDocument/2006/relationships/hyperlink" Target="https://www.w3schools.com/python/python_ml_getting_started.asp" TargetMode="External"/><Relationship Id="rId4" Type="http://schemas.openxmlformats.org/officeDocument/2006/relationships/hyperlink" Target="https://scikit-learn.org/stable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CDBFC0-8BA3-DEDC-7E39-89EC7856846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Visual Analytics: modeling lab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ECBEFAC-62BD-EFDC-63B4-33E49BD33BA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Ab Mosca (they/them)</a:t>
            </a:r>
          </a:p>
        </p:txBody>
      </p:sp>
    </p:spTree>
    <p:extLst>
      <p:ext uri="{BB962C8B-B14F-4D97-AF65-F5344CB8AC3E}">
        <p14:creationId xmlns:p14="http://schemas.microsoft.com/office/powerpoint/2010/main" val="5473888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CDCEEC-DA3B-FF6E-BAEB-9400A30851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Announcements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0A6356-47F4-DF13-CFDC-C996D4E40A0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anchor="ctr">
            <a:noAutofit/>
          </a:bodyPr>
          <a:lstStyle/>
          <a:p>
            <a:r>
              <a:rPr lang="en-US" sz="2800" dirty="0"/>
              <a:t>Demo Day is </a:t>
            </a:r>
            <a:r>
              <a:rPr lang="en-US" sz="2800" dirty="0">
                <a:effectLst>
                  <a:glow rad="228600">
                    <a:schemeClr val="accent5">
                      <a:satMod val="175000"/>
                      <a:alpha val="40000"/>
                    </a:schemeClr>
                  </a:glow>
                </a:effectLst>
              </a:rPr>
              <a:t>April 30</a:t>
            </a:r>
            <a:r>
              <a:rPr lang="en-US" sz="2800" baseline="30000" dirty="0">
                <a:effectLst>
                  <a:glow rad="228600">
                    <a:schemeClr val="accent5">
                      <a:satMod val="175000"/>
                      <a:alpha val="40000"/>
                    </a:schemeClr>
                  </a:glow>
                </a:effectLst>
              </a:rPr>
              <a:t>th</a:t>
            </a:r>
            <a:endParaRPr lang="en-US" sz="2800" dirty="0">
              <a:effectLst>
                <a:glow rad="228600">
                  <a:schemeClr val="accent5">
                    <a:satMod val="175000"/>
                    <a:alpha val="40000"/>
                  </a:schemeClr>
                </a:glow>
              </a:effectLst>
            </a:endParaRPr>
          </a:p>
          <a:p>
            <a:r>
              <a:rPr lang="en-US" sz="2800" dirty="0">
                <a:effectLst>
                  <a:glow rad="228600">
                    <a:schemeClr val="accent5">
                      <a:satMod val="175000"/>
                      <a:alpha val="40000"/>
                    </a:schemeClr>
                  </a:glow>
                </a:effectLst>
              </a:rPr>
              <a:t>Demos will take place in this classroom (Ford 342) from 12:15-1:00</a:t>
            </a:r>
          </a:p>
          <a:p>
            <a:endParaRPr lang="en-US" sz="2200" dirty="0"/>
          </a:p>
          <a:p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205756090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9FC951-DFF3-E5B3-EDD1-A21B416020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0AB312-521B-0819-C16C-BCC658C3D5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Today’s plan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B39765-30BB-86A0-999B-D30048CBE4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anchor="t">
            <a:noAutofit/>
          </a:bodyPr>
          <a:lstStyle/>
          <a:p>
            <a:r>
              <a:rPr lang="en-US" sz="2200" dirty="0"/>
              <a:t>Perform a simple ML modeling task </a:t>
            </a:r>
          </a:p>
          <a:p>
            <a:r>
              <a:rPr lang="en-US" sz="2200" dirty="0"/>
              <a:t>Visualize performance of your model </a:t>
            </a:r>
          </a:p>
          <a:p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295764537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ADA535-4CBB-06A4-13A1-11EAD536C6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7F84E4-57A5-1BCC-4A3B-3F7E19BF56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Warm up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831539-DE3A-A0F9-85B9-26876CE75A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anchor="ctr">
            <a:noAutofit/>
          </a:bodyPr>
          <a:lstStyle/>
          <a:p>
            <a:r>
              <a:rPr lang="en-US" sz="2200" dirty="0"/>
              <a:t>Name two evaluation measures used in modeling. What does each capture? </a:t>
            </a:r>
          </a:p>
          <a:p>
            <a:endParaRPr lang="en-US" sz="2200" dirty="0"/>
          </a:p>
          <a:p>
            <a:r>
              <a:rPr lang="en-US" sz="2200" dirty="0"/>
              <a:t>Name two methods for visualizing evaluation measures 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184655553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51DDC0-ECC3-1649-05A8-B1482A26F2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C13B66-5180-0948-95F9-2C24A224B1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Steps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A35386F-BB87-5C24-75AB-DE62997D997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87219" y="1904046"/>
            <a:ext cx="5087075" cy="536005"/>
          </a:xfrm>
        </p:spPr>
        <p:txBody>
          <a:bodyPr/>
          <a:lstStyle/>
          <a:p>
            <a:r>
              <a:rPr lang="en-US" dirty="0"/>
              <a:t>Step 1: Model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245335-952D-62DE-57CD-AE1116433BF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81193" y="2440052"/>
            <a:ext cx="9902876" cy="3074154"/>
          </a:xfrm>
        </p:spPr>
        <p:txBody>
          <a:bodyPr anchor="t">
            <a:noAutofit/>
          </a:bodyPr>
          <a:lstStyle/>
          <a:p>
            <a:r>
              <a:rPr lang="en-US" sz="2000" dirty="0"/>
              <a:t>Find a dataset of interest to you on the UCI ML Repository (</a:t>
            </a:r>
            <a:r>
              <a:rPr lang="en-US" sz="2000" dirty="0">
                <a:hlinkClick r:id="rId3"/>
              </a:rPr>
              <a:t>https://www.kaggle.com/organizations/uciml</a:t>
            </a:r>
            <a:r>
              <a:rPr lang="en-US" sz="2000" dirty="0"/>
              <a:t>) </a:t>
            </a:r>
          </a:p>
          <a:p>
            <a:r>
              <a:rPr lang="en-US" sz="2000" dirty="0"/>
              <a:t>Choose one that is good for classification or regression </a:t>
            </a:r>
          </a:p>
          <a:p>
            <a:r>
              <a:rPr lang="en-US" sz="2000" dirty="0"/>
              <a:t>Use your data to create a predictive model: </a:t>
            </a:r>
          </a:p>
          <a:p>
            <a:pPr lvl="1"/>
            <a:r>
              <a:rPr lang="en-US" sz="1800" dirty="0"/>
              <a:t>Python Starting Resources: </a:t>
            </a:r>
          </a:p>
          <a:p>
            <a:pPr lvl="2"/>
            <a:r>
              <a:rPr lang="en-US" dirty="0">
                <a:hlinkClick r:id="rId4"/>
              </a:rPr>
              <a:t>https://scikit-learn.org/stable/</a:t>
            </a:r>
            <a:r>
              <a:rPr lang="en-US" dirty="0"/>
              <a:t> </a:t>
            </a:r>
          </a:p>
          <a:p>
            <a:pPr lvl="2"/>
            <a:r>
              <a:rPr lang="en-US" dirty="0">
                <a:hlinkClick r:id="rId5"/>
              </a:rPr>
              <a:t>https://www.w3schools.com/python/python_ml_getting_started.asp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R Starting Resources:</a:t>
            </a:r>
          </a:p>
          <a:p>
            <a:pPr lvl="2"/>
            <a:r>
              <a:rPr lang="en-US" dirty="0">
                <a:hlinkClick r:id="rId6"/>
              </a:rPr>
              <a:t>https://lgatto.github.io/IntroMachineLearningWithR/supervised-learning.html</a:t>
            </a:r>
            <a:r>
              <a:rPr lang="en-US" dirty="0"/>
              <a:t> </a:t>
            </a:r>
          </a:p>
          <a:p>
            <a:pPr lvl="2"/>
            <a:r>
              <a:rPr lang="en-US" dirty="0">
                <a:hlinkClick r:id="rId7"/>
              </a:rPr>
              <a:t>https://www.geeksforgeeks.org/r-machine-learning/introduction-to-machine-learning-in-r/</a:t>
            </a:r>
            <a:endParaRPr lang="en-US" dirty="0"/>
          </a:p>
          <a:p>
            <a:r>
              <a:rPr lang="en-US" sz="2000" dirty="0"/>
              <a:t>Save your model parameters and evaluation metrics to a .csv file  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C1F747B-C4ED-0E89-B645-561FD9B2F16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7722530" y="1904046"/>
            <a:ext cx="3888278" cy="553373"/>
          </a:xfrm>
        </p:spPr>
        <p:txBody>
          <a:bodyPr/>
          <a:lstStyle/>
          <a:p>
            <a:r>
              <a:rPr lang="en-US" dirty="0"/>
              <a:t>Step 2: Visualize Performance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6183D20-8236-F73C-2379-905A1EF5428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7488621" y="2440052"/>
            <a:ext cx="4122188" cy="3074154"/>
          </a:xfrm>
        </p:spPr>
        <p:txBody>
          <a:bodyPr/>
          <a:lstStyle/>
          <a:p>
            <a:r>
              <a:rPr lang="en-US" sz="2000" dirty="0"/>
              <a:t>Sketch how you can visualize your model parameters and evaluation metrics</a:t>
            </a:r>
          </a:p>
          <a:p>
            <a:r>
              <a:rPr lang="en-US" sz="2000" dirty="0"/>
              <a:t>Use D3 to implement your sketch 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61428974"/>
      </p:ext>
    </p:extLst>
  </p:cSld>
  <p:clrMapOvr>
    <a:masterClrMapping/>
  </p:clrMapOvr>
</p:sld>
</file>

<file path=ppt/theme/theme1.xml><?xml version="1.0" encoding="utf-8"?>
<a:theme xmlns:a="http://schemas.openxmlformats.org/drawingml/2006/main" name="Dividend">
  <a:themeElements>
    <a:clrScheme name="Dividend">
      <a:dk1>
        <a:sysClr val="windowText" lastClr="000000"/>
      </a:dk1>
      <a:lt1>
        <a:sysClr val="window" lastClr="FFFFFF"/>
      </a:lt1>
      <a:dk2>
        <a:srgbClr val="3D3D3D"/>
      </a:dk2>
      <a:lt2>
        <a:srgbClr val="EBEBEB"/>
      </a:lt2>
      <a:accent1>
        <a:srgbClr val="1A3260"/>
      </a:accent1>
      <a:accent2>
        <a:srgbClr val="4590B8"/>
      </a:accent2>
      <a:accent3>
        <a:srgbClr val="45CBE8"/>
      </a:accent3>
      <a:accent4>
        <a:srgbClr val="969FA7"/>
      </a:accent4>
      <a:accent5>
        <a:srgbClr val="A2C777"/>
      </a:accent5>
      <a:accent6>
        <a:srgbClr val="42955F"/>
      </a:accent6>
      <a:hlink>
        <a:srgbClr val="828282"/>
      </a:hlink>
      <a:folHlink>
        <a:srgbClr val="A5A5A5"/>
      </a:folHlink>
    </a:clrScheme>
    <a:fontScheme name="Dividend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Dividend">
      <a:fillStyleLst>
        <a:solidFill>
          <a:schemeClr val="phClr"/>
        </a:solidFill>
        <a:gradFill rotWithShape="1">
          <a:gsLst>
            <a:gs pos="0">
              <a:schemeClr val="phClr">
                <a:tint val="68000"/>
                <a:alpha val="90000"/>
                <a:lumMod val="100000"/>
              </a:schemeClr>
            </a:gs>
            <a:gs pos="100000">
              <a:schemeClr val="phClr">
                <a:tint val="90000"/>
                <a:lumMod val="95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98000"/>
                <a:lumMod val="110000"/>
              </a:schemeClr>
            </a:gs>
            <a:gs pos="84000">
              <a:schemeClr val="phClr">
                <a:shade val="90000"/>
                <a:lumMod val="88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>
              <a:lumMod val="90000"/>
            </a:schemeClr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55000"/>
              </a:srgbClr>
            </a:outerShdw>
          </a:effectLst>
        </a:effectStyle>
        <a:effectStyle>
          <a:effectLst>
            <a:outerShdw blurRad="88900" dist="38100" dir="504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88000">
              <a:schemeClr val="phClr">
                <a:shade val="94000"/>
                <a:satMod val="110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8000"/>
                <a:satMod val="110000"/>
                <a:lumMod val="8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ividend" id="{9697A71B-4AB7-4A1A-BD5B-BB2D22835B57}" vid="{66F1C100-1D2B-4BEA-AD01-C4F230B3B965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Dividend</Template>
  <TotalTime>2621</TotalTime>
  <Words>213</Words>
  <Application>Microsoft Macintosh PowerPoint</Application>
  <PresentationFormat>Widescreen</PresentationFormat>
  <Paragraphs>32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9" baseType="lpstr">
      <vt:lpstr>Aptos</vt:lpstr>
      <vt:lpstr>Gill Sans MT</vt:lpstr>
      <vt:lpstr>Wingdings 2</vt:lpstr>
      <vt:lpstr>Dividend</vt:lpstr>
      <vt:lpstr>Visual Analytics: modeling lab</vt:lpstr>
      <vt:lpstr>Announcements</vt:lpstr>
      <vt:lpstr>Today’s plan</vt:lpstr>
      <vt:lpstr>Warm up</vt:lpstr>
      <vt:lpstr>Steps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Ab Mosca</dc:creator>
  <cp:lastModifiedBy>Ab Mosca</cp:lastModifiedBy>
  <cp:revision>80</cp:revision>
  <dcterms:created xsi:type="dcterms:W3CDTF">2025-11-19T17:12:35Z</dcterms:created>
  <dcterms:modified xsi:type="dcterms:W3CDTF">2026-04-07T13:27:02Z</dcterms:modified>
</cp:coreProperties>
</file>