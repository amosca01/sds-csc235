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0"/>
  </p:notesMasterIdLst>
  <p:sldIdLst>
    <p:sldId id="256" r:id="rId2"/>
    <p:sldId id="434" r:id="rId3"/>
    <p:sldId id="257" r:id="rId4"/>
    <p:sldId id="429" r:id="rId5"/>
    <p:sldId id="430" r:id="rId6"/>
    <p:sldId id="431" r:id="rId7"/>
    <p:sldId id="432" r:id="rId8"/>
    <p:sldId id="43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64"/>
    <p:restoredTop sz="87237"/>
  </p:normalViewPr>
  <p:slideViewPr>
    <p:cSldViewPr snapToGrid="0">
      <p:cViewPr varScale="1">
        <p:scale>
          <a:sx n="92" d="100"/>
          <a:sy n="92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67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63007-DA86-07B4-F1DD-C78F4E96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8D4D0-DBA1-72D8-D235-80B9D8114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A71B7-43D8-0208-7600-288162564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0FF84-0067-E732-CEC8-B11695E62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96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773C0-1A22-5043-1DC4-B14FA81A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55D9E-CEEE-B87F-293D-262100E0C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D9C62-9034-5FEF-1188-F2EC330A4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79821-95CC-C04C-FA0A-6633B64A6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4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8F58D-D293-F75F-143C-B844CD64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671F3-8B5B-AE2D-6411-21EF0B79A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747C9-96BC-B101-C0FC-DECD0F1F8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1BE05-6C69-5AA0-21B0-C606CE8B2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54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abkunal/98d35b9b235312e90f3e43c9f7b6932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Les_Mis%C3%A9rables" TargetMode="External"/><Relationship Id="rId4" Type="http://schemas.openxmlformats.org/officeDocument/2006/relationships/hyperlink" Target="https://bost.ocks.org/mike/miserable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3indepth.com/requests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3indepth.com/force-layout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 </a:t>
            </a:r>
            <a:br>
              <a:rPr lang="en-US" dirty="0"/>
            </a:br>
            <a:r>
              <a:rPr lang="en-US"/>
              <a:t>network analysis Lab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5A12-568C-F176-922C-DB7ECA83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3160-96E9-1E9D-DC69-08228919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/ 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7CCB9-2742-4676-D60B-819EDF14F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Thursday </a:t>
            </a:r>
            <a:r>
              <a:rPr lang="en-US" sz="2200" dirty="0">
                <a:highlight>
                  <a:srgbClr val="FFFF00"/>
                </a:highlight>
              </a:rPr>
              <a:t>02/26 is Rally Day </a:t>
            </a:r>
          </a:p>
          <a:p>
            <a:pPr lvl="1"/>
            <a:r>
              <a:rPr lang="en-US" sz="2200" dirty="0"/>
              <a:t>No class</a:t>
            </a:r>
          </a:p>
          <a:p>
            <a:pPr lvl="1"/>
            <a:r>
              <a:rPr lang="en-US" sz="2200" dirty="0"/>
              <a:t>Make up office hours 10:30-12:00</a:t>
            </a:r>
          </a:p>
          <a:p>
            <a:pPr lvl="1"/>
            <a:r>
              <a:rPr lang="en-US" sz="2200" dirty="0"/>
              <a:t>Mid-semester project released – start early </a:t>
            </a:r>
          </a:p>
          <a:p>
            <a:r>
              <a:rPr lang="en-US" sz="2200" dirty="0"/>
              <a:t>Next week (</a:t>
            </a:r>
            <a:r>
              <a:rPr lang="en-US" sz="2200" dirty="0">
                <a:highlight>
                  <a:srgbClr val="FFFF00"/>
                </a:highlight>
              </a:rPr>
              <a:t>03/03 &amp; 03/05</a:t>
            </a:r>
            <a:r>
              <a:rPr lang="en-US" sz="2200" dirty="0"/>
              <a:t>)</a:t>
            </a:r>
          </a:p>
          <a:p>
            <a:pPr lvl="1"/>
            <a:r>
              <a:rPr lang="en-US" sz="2200" dirty="0">
                <a:highlight>
                  <a:srgbClr val="FFFF00"/>
                </a:highlight>
              </a:rPr>
              <a:t>Geospatial analysis with SAL</a:t>
            </a:r>
          </a:p>
          <a:p>
            <a:pPr lvl="1"/>
            <a:r>
              <a:rPr lang="en-US" sz="2200" dirty="0"/>
              <a:t>03/03 in our regular classroom</a:t>
            </a:r>
          </a:p>
          <a:p>
            <a:pPr lvl="1"/>
            <a:r>
              <a:rPr lang="en-US" sz="2200" dirty="0"/>
              <a:t>03/05 in the SAL (Sabin-Reed 104) </a:t>
            </a:r>
          </a:p>
        </p:txBody>
      </p:sp>
    </p:spTree>
    <p:extLst>
      <p:ext uri="{BB962C8B-B14F-4D97-AF65-F5344CB8AC3E}">
        <p14:creationId xmlns:p14="http://schemas.microsoft.com/office/powerpoint/2010/main" val="253402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Warm up </a:t>
            </a:r>
          </a:p>
          <a:p>
            <a:r>
              <a:rPr lang="en-US" sz="2400" dirty="0"/>
              <a:t>Data</a:t>
            </a:r>
          </a:p>
          <a:p>
            <a:r>
              <a:rPr lang="en-US" sz="2400" dirty="0"/>
              <a:t>Visualization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7566-B7BB-47D8-F17D-6122EB5D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1812-598A-9E58-469C-FAE470B8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 Up: graph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74F8-1D6D-E990-AD54-95CE57196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What is the mathematical definition of graph data?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What does graph data model? 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What insights might we gain from analyzing graph data?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Name two ways to visualize graph data. What are the pros and cons to each?</a:t>
            </a:r>
          </a:p>
        </p:txBody>
      </p:sp>
    </p:spTree>
    <p:extLst>
      <p:ext uri="{BB962C8B-B14F-4D97-AF65-F5344CB8AC3E}">
        <p14:creationId xmlns:p14="http://schemas.microsoft.com/office/powerpoint/2010/main" val="60400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EFFD-34A0-C2FF-1D4E-76F5F1B3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A8BC-EA0D-9BAC-65FD-E5AC1292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2F719-EEC1-89BB-EF99-D8D8ADD24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sz="2200" dirty="0"/>
              <a:t>We will work with the Les Misérables Co-Occurrence dataset today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Raw Data: </a:t>
            </a:r>
            <a:r>
              <a:rPr lang="en-US" sz="2200" dirty="0">
                <a:solidFill>
                  <a:srgbClr val="82828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https://gist.github.com/abkunal/98d35b9b235312e90f3e43c9f7b6932b </a:t>
            </a:r>
            <a:r>
              <a:rPr lang="en-US" sz="2200" dirty="0">
                <a:solidFill>
                  <a:srgbClr val="828282"/>
                </a:solidFill>
              </a:rPr>
              <a:t> </a:t>
            </a:r>
            <a:endParaRPr lang="en-US" sz="2200" dirty="0">
              <a:solidFill>
                <a:srgbClr val="828282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Example Vis: </a:t>
            </a:r>
            <a:r>
              <a:rPr lang="en-US" sz="2200" dirty="0">
                <a:solidFill>
                  <a:srgbClr val="82828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https://bost.ocks.org/mike/miserables/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Wiki: </a:t>
            </a:r>
            <a:r>
              <a:rPr lang="en-US" sz="2200" dirty="0">
                <a:hlinkClick r:id="rId5"/>
              </a:rPr>
              <a:t>https://en.wikipedia.org/wiki/Les_Mis%C3%A9rables</a:t>
            </a:r>
            <a:r>
              <a:rPr lang="en-US" sz="2200" dirty="0"/>
              <a:t> </a:t>
            </a:r>
          </a:p>
          <a:p>
            <a:r>
              <a:rPr lang="en-US" sz="2400" dirty="0"/>
              <a:t>Familiarize yourself with the data: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200" dirty="0"/>
              <a:t>How is the raw data formatted?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200" dirty="0"/>
              <a:t>What information does the raw data contain?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200" dirty="0"/>
              <a:t>What questions do you have about the data?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368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5D8AA-61E1-7820-58F5-B45710F4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9CA8-575F-93E0-E6FC-49F36249F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D3: Requesting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6764-FE98-CC93-57DE-708680C0D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398342" cy="3678303"/>
          </a:xfrm>
        </p:spPr>
        <p:txBody>
          <a:bodyPr anchor="t">
            <a:normAutofit/>
          </a:bodyPr>
          <a:lstStyle/>
          <a:p>
            <a:r>
              <a:rPr lang="en-US" sz="2200" dirty="0"/>
              <a:t>Typically, the data we visualize will be in an external file or database </a:t>
            </a:r>
          </a:p>
          <a:p>
            <a:r>
              <a:rPr lang="en-US" sz="2200" dirty="0"/>
              <a:t>To load external data, your program must make a </a:t>
            </a:r>
            <a:r>
              <a:rPr lang="en-US" sz="22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request</a:t>
            </a:r>
            <a:r>
              <a:rPr lang="en-US" sz="2200" dirty="0"/>
              <a:t> (</a:t>
            </a:r>
            <a:r>
              <a:rPr lang="en-US" sz="2200" dirty="0">
                <a:hlinkClick r:id="rId3"/>
              </a:rPr>
              <a:t>https://www.d3indepth.com/requests/</a:t>
            </a:r>
            <a:r>
              <a:rPr lang="en-US" sz="2200" dirty="0"/>
              <a:t>):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1179D-3B8C-BFA4-1DDB-FA6EE3150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72799"/>
            <a:ext cx="7243294" cy="3236531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D932553-829E-C4D1-8FC2-38E0C5080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237" y="4442180"/>
            <a:ext cx="5273031" cy="174071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03E2B7-E265-1D04-BCD5-A073DECB28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700" y="2739912"/>
            <a:ext cx="5228300" cy="3724144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8B9F0D6-F1E1-FF63-5408-7F84E31D76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7027" y="2129269"/>
            <a:ext cx="5256709" cy="455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9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68D4-6D64-3508-36FC-FCABCA25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B8CB-DD1A-793C-1E19-28FA12C0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C5B0-342F-19A0-7906-D7B69D1B2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3678303"/>
          </a:xfrm>
        </p:spPr>
        <p:txBody>
          <a:bodyPr anchor="t">
            <a:normAutofit/>
          </a:bodyPr>
          <a:lstStyle/>
          <a:p>
            <a:r>
              <a:rPr lang="en-US" sz="2200" dirty="0"/>
              <a:t>Create a folder and add starter html, </a:t>
            </a:r>
            <a:r>
              <a:rPr lang="en-US" sz="2200" dirty="0" err="1"/>
              <a:t>css</a:t>
            </a:r>
            <a:r>
              <a:rPr lang="en-US" sz="2200" dirty="0"/>
              <a:t>, and </a:t>
            </a:r>
            <a:r>
              <a:rPr lang="en-US" sz="2200" dirty="0" err="1"/>
              <a:t>js</a:t>
            </a:r>
            <a:r>
              <a:rPr lang="en-US" sz="2200" dirty="0"/>
              <a:t> files to it.  Add the D3 library to your folder</a:t>
            </a:r>
          </a:p>
          <a:p>
            <a:r>
              <a:rPr lang="en-US" sz="2200" dirty="0"/>
              <a:t>Download the Les Misérables Co-Occurrence data and save it in the same folder as your starter files</a:t>
            </a:r>
          </a:p>
          <a:p>
            <a:r>
              <a:rPr lang="en-US" sz="2200" dirty="0"/>
              <a:t>Use d3 to </a:t>
            </a:r>
            <a:r>
              <a:rPr lang="en-US" sz="2200" b="1" dirty="0"/>
              <a:t>request the Les Mis data </a:t>
            </a:r>
            <a:r>
              <a:rPr lang="en-US" sz="2200" dirty="0"/>
              <a:t>and </a:t>
            </a:r>
            <a:r>
              <a:rPr lang="en-US" sz="2200" b="1" dirty="0"/>
              <a:t>print the data </a:t>
            </a:r>
            <a:r>
              <a:rPr lang="en-US" sz="2200" dirty="0"/>
              <a:t>to the console </a:t>
            </a:r>
          </a:p>
        </p:txBody>
      </p:sp>
    </p:spTree>
    <p:extLst>
      <p:ext uri="{BB962C8B-B14F-4D97-AF65-F5344CB8AC3E}">
        <p14:creationId xmlns:p14="http://schemas.microsoft.com/office/powerpoint/2010/main" val="211408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C410B-07C4-018A-2CAD-848436C0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C4F4-0681-16BF-32D6-A5076EA5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23D50-0C68-4ED9-5D72-299CCD351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5514809" cy="3678303"/>
          </a:xfrm>
        </p:spPr>
        <p:txBody>
          <a:bodyPr anchor="t">
            <a:normAutofit/>
          </a:bodyPr>
          <a:lstStyle/>
          <a:p>
            <a:r>
              <a:rPr lang="en-US" sz="2200" dirty="0"/>
              <a:t>Review the D3 overview for force-directed layouts: </a:t>
            </a:r>
            <a:r>
              <a:rPr lang="en-US" sz="2200" dirty="0">
                <a:hlinkClick r:id="rId3"/>
              </a:rPr>
              <a:t>https://www.d3indepth.com/force-layout/</a:t>
            </a:r>
            <a:endParaRPr lang="en-US" sz="2200" dirty="0"/>
          </a:p>
          <a:p>
            <a:r>
              <a:rPr lang="en-US" sz="2200" dirty="0"/>
              <a:t>Write a program to visualize the Les Mis data with a force directed layout  </a:t>
            </a:r>
          </a:p>
        </p:txBody>
      </p:sp>
      <p:pic>
        <p:nvPicPr>
          <p:cNvPr id="5" name="Picture 4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7DED8CFE-9A74-1ADB-2904-A5A977C6F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76" y="1942624"/>
            <a:ext cx="5099854" cy="462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1493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1572</TotalTime>
  <Words>336</Words>
  <Application>Microsoft Macintosh PowerPoint</Application>
  <PresentationFormat>Widescreen</PresentationFormat>
  <Paragraphs>48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Gill Sans MT</vt:lpstr>
      <vt:lpstr>Wingdings 2</vt:lpstr>
      <vt:lpstr>Dividend</vt:lpstr>
      <vt:lpstr>Visual Analytics:   network analysis Lab</vt:lpstr>
      <vt:lpstr>announcements / reminders</vt:lpstr>
      <vt:lpstr>Today’s plan</vt:lpstr>
      <vt:lpstr>Warm Up: graph data</vt:lpstr>
      <vt:lpstr>data</vt:lpstr>
      <vt:lpstr>D3: Requesting data</vt:lpstr>
      <vt:lpstr>Your turn</vt:lpstr>
      <vt:lpstr>Your 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56</cp:revision>
  <dcterms:created xsi:type="dcterms:W3CDTF">2025-11-19T17:12:35Z</dcterms:created>
  <dcterms:modified xsi:type="dcterms:W3CDTF">2026-02-24T14:25:41Z</dcterms:modified>
</cp:coreProperties>
</file>