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66" r:id="rId9"/>
    <p:sldId id="262" r:id="rId10"/>
    <p:sldId id="267" r:id="rId11"/>
    <p:sldId id="268" r:id="rId12"/>
    <p:sldId id="263" r:id="rId13"/>
    <p:sldId id="269" r:id="rId14"/>
    <p:sldId id="264" r:id="rId15"/>
    <p:sldId id="265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36"/>
    <p:restoredTop sz="78641"/>
  </p:normalViewPr>
  <p:slideViewPr>
    <p:cSldViewPr snapToGrid="0">
      <p:cViewPr varScale="1">
        <p:scale>
          <a:sx n="82" d="100"/>
          <a:sy n="82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2518-F7FE-2E40-9C60-793856882CE6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CD335-F0CB-D347-B8A5-7AB70F34C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Introduced by John Tukey in the 1970s </a:t>
            </a:r>
          </a:p>
          <a:p>
            <a:endParaRPr lang="en-US" sz="1200" dirty="0"/>
          </a:p>
          <a:p>
            <a:r>
              <a:rPr lang="en-US" sz="1200" dirty="0"/>
              <a:t>Differs from Confirmatory Data Analysis (CDA) i.e. hypothesis testing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23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974C7-D40C-65AA-F28D-50B8009DF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F53073-CA01-5ACB-5EF5-5AAD8B4CBC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6C25E-304D-D054-3ED6-2450F38E3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What do you learn from these summaries?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62777-2F6E-9ABE-F702-A432DECAE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547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35B14-F981-19C2-46DF-3E55E9E4A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CF0DE-6C28-0076-3BE1-BBC596B90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0C95F9-9B15-7AEB-908A-9798EB52E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r>
              <a:rPr lang="en-US" dirty="0"/>
              <a:t>What do we learn from this?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CFA8B-2148-FD54-0CB7-2BF03A67A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11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21BA2-7E0D-B778-3541-8CDC7A918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70D739-DC1C-4AB8-F382-E542E58FC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87E76-4A76-E4B7-8BFF-324F179F9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r>
              <a:rPr lang="en-US" dirty="0"/>
              <a:t>What do we learn from this?</a:t>
            </a:r>
          </a:p>
          <a:p>
            <a:endParaRPr lang="en-US" dirty="0"/>
          </a:p>
          <a:p>
            <a:r>
              <a:rPr lang="en-US" dirty="0"/>
              <a:t>Looks like we need some data cleaning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59AF6-F9CE-15CA-1D0F-1D20D4131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7619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2DAE7-1814-22A3-1AD2-AEBDB1DC4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ADD34-6EAD-C44F-0FD5-0C5412C6F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27DD7-0814-6097-5B80-61680701E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F4176-EFF1-6B1B-803A-A6B3BCDD52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35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011E0-48AC-BB0B-616F-EF430C6E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607B2-FA8D-2B4D-7C1E-08F526893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CC5B2-EB5B-4698-028E-AA349910A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B3392-8239-3656-764B-307707BE1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681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F549-24DC-BA6A-FCC7-7380D3D17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4D0B0-439D-8DEC-923E-EB90EA93E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1F40D-F2C7-2258-DF95-58AC5EDAE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3DE13-A2F7-4DFE-1E94-D17B3E802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101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691D4-78DC-679B-2BD6-7120B042B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24B5E-E24B-71E8-F60E-FE0E3B393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AF491A-F912-9478-95FF-A532CF71F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A28B1-0764-0217-F88E-D532CA422B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576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66EB2-E8DE-5A23-A7E9-ACDA7021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88CC1B-AA64-6279-7867-4A395335E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4FDD90-F558-1391-00B7-498F696E1D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14345-528A-BE12-AA20-E329FE439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537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93AC0-08C0-6B98-9990-1183392D0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2C7420-9625-0000-307F-961DC1D66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2042A-3847-E76C-E5D2-350164E64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D9F3E-5542-114E-2B8C-8D6BF6DDB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09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EAD4A-8BB4-6287-0C77-F91450D5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D2578-238E-9867-51C6-5F98E98DC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62B03-C94D-215D-EADF-40305F676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42561-AD11-2DAA-9A67-710997632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648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6700-44EA-7D32-7C3A-9D1EA8B15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936EEE-B568-AF5A-B17F-53EC56B1F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3EE1D-1211-FC7B-E00C-059FDA6DF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D8AF9-F93D-82E3-069C-0375EE48A8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2CD335-F0CB-D347-B8A5-7AB70F34C3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76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3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4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osca01/SDS-CSC-235-hw0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tmdb/tmdb-movie-metadata?resource=download&amp;select=tmdb_5000_movies.csv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xploratory_data_analysis#cite_note-Tukey1977-6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atalog.data.gov/dataset/real-estate-sales-2001-2018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FC0-8BA3-DEDC-7E39-89EC7856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Analytics:  </a:t>
            </a:r>
            <a:br>
              <a:rPr lang="en-US" dirty="0"/>
            </a:br>
            <a:r>
              <a:rPr lang="en-US" dirty="0"/>
              <a:t>Exploratory Data Analysis (EDA)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EFAC-62BD-EFDC-63B4-33E49BD33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Mosca (they/them)</a:t>
            </a:r>
          </a:p>
        </p:txBody>
      </p:sp>
    </p:spTree>
    <p:extLst>
      <p:ext uri="{BB962C8B-B14F-4D97-AF65-F5344CB8AC3E}">
        <p14:creationId xmlns:p14="http://schemas.microsoft.com/office/powerpoint/2010/main" val="5473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CEEC-DA3B-FF6E-BAEB-9400A308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356-47F4-DF13-CFDC-C996D4E4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HW notes </a:t>
            </a:r>
          </a:p>
          <a:p>
            <a:r>
              <a:rPr lang="en-US" sz="2400" dirty="0"/>
              <a:t>Motivation</a:t>
            </a:r>
          </a:p>
          <a:p>
            <a:r>
              <a:rPr lang="en-US" sz="2400" dirty="0"/>
              <a:t>Define EDA</a:t>
            </a:r>
          </a:p>
          <a:p>
            <a:r>
              <a:rPr lang="en-US" sz="2400" dirty="0"/>
              <a:t>Techniques</a:t>
            </a:r>
          </a:p>
          <a:p>
            <a:r>
              <a:rPr lang="en-US" sz="2400" dirty="0"/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205756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9FD0-8459-B14F-24B9-E169E21D9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20C89-B2AB-B9FD-FDA8-EFE17C143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Hw</a:t>
            </a:r>
            <a:r>
              <a:rPr lang="en-US" dirty="0"/>
              <a:t>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01807-C8B0-35D1-AD22-D024A3810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Starter code for coding assignments will be on </a:t>
            </a:r>
            <a:r>
              <a:rPr lang="en-US" sz="2400" dirty="0" err="1"/>
              <a:t>Github</a:t>
            </a:r>
            <a:endParaRPr lang="en-US" sz="2400" dirty="0"/>
          </a:p>
          <a:p>
            <a:pPr lvl="1"/>
            <a:r>
              <a:rPr lang="en-US" sz="2200" dirty="0"/>
              <a:t>Ex. </a:t>
            </a:r>
            <a:r>
              <a:rPr lang="en-US" sz="2200" dirty="0">
                <a:hlinkClick r:id="rId2"/>
              </a:rPr>
              <a:t>https://github.com/amosca01/SDS-CSC-235-hw02</a:t>
            </a:r>
            <a:r>
              <a:rPr lang="en-US" sz="2200" dirty="0"/>
              <a:t> </a:t>
            </a:r>
          </a:p>
          <a:p>
            <a:pPr lvl="1"/>
            <a:endParaRPr lang="en-US" sz="2200" dirty="0"/>
          </a:p>
          <a:p>
            <a:r>
              <a:rPr lang="en-US" sz="2400" b="1" dirty="0"/>
              <a:t>Fork the starter code repo </a:t>
            </a:r>
            <a:r>
              <a:rPr lang="en-US" sz="2400" dirty="0"/>
              <a:t>and then work out of your fork</a:t>
            </a:r>
          </a:p>
          <a:p>
            <a:endParaRPr lang="en-US" sz="2400" dirty="0"/>
          </a:p>
          <a:p>
            <a:r>
              <a:rPr lang="en-US" sz="2400" dirty="0"/>
              <a:t>You can submit on </a:t>
            </a:r>
            <a:r>
              <a:rPr lang="en-US" sz="2400" dirty="0" err="1"/>
              <a:t>Gradescope</a:t>
            </a:r>
            <a:r>
              <a:rPr lang="en-US" sz="2400" dirty="0"/>
              <a:t> by linking your repository once you’ve pushed your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862274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B420F-2B9A-7B62-1DFB-094759C3E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6D6D-4F6D-A230-133E-94D49411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5B089-CC31-8A3D-E02F-2C44B1F3F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TMDB 5000 Movie Dataset: </a:t>
            </a:r>
            <a:r>
              <a:rPr lang="en-US" sz="2400" dirty="0">
                <a:hlinkClick r:id="rId2"/>
              </a:rPr>
              <a:t>https://www.kaggle.com/datasets/tmdb/tmdb-movie-metadata?resource=download&amp;select=tmdb_5000_movies.csv</a:t>
            </a:r>
            <a:r>
              <a:rPr lang="en-US" sz="2400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What would you do if someone handed you this dataset and asked you to analyze it? </a:t>
            </a:r>
          </a:p>
        </p:txBody>
      </p:sp>
    </p:spTree>
    <p:extLst>
      <p:ext uri="{BB962C8B-B14F-4D97-AF65-F5344CB8AC3E}">
        <p14:creationId xmlns:p14="http://schemas.microsoft.com/office/powerpoint/2010/main" val="66429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F9672-84C3-75C1-38A6-35C2EC1B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03479-246F-99F5-511E-D64350A0D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21C91-390B-8DBE-96D9-6A3AA6325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lnSpcReduction="10000"/>
          </a:bodyPr>
          <a:lstStyle/>
          <a:p>
            <a:r>
              <a:rPr lang="en-US" sz="24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Exploratory Data Analysis (EDA)</a:t>
            </a:r>
            <a:r>
              <a:rPr lang="en-US" sz="2400" dirty="0"/>
              <a:t> is an approach of analyzing datasets that focuses on summarizing their main characteristics.</a:t>
            </a:r>
          </a:p>
          <a:p>
            <a:r>
              <a:rPr lang="en-US" sz="2400" dirty="0"/>
              <a:t>Main objectives:</a:t>
            </a:r>
          </a:p>
          <a:p>
            <a:pPr lvl="1"/>
            <a:r>
              <a:rPr lang="en-US" sz="2200" dirty="0"/>
              <a:t>Enable unexpected discoveries in the data</a:t>
            </a:r>
          </a:p>
          <a:p>
            <a:pPr lvl="1"/>
            <a:r>
              <a:rPr lang="en-US" sz="2200" dirty="0"/>
              <a:t>Suggest hypotheses</a:t>
            </a:r>
          </a:p>
          <a:p>
            <a:pPr lvl="1"/>
            <a:r>
              <a:rPr lang="en-US" sz="2200" dirty="0"/>
              <a:t>Assess modeling assumptions </a:t>
            </a:r>
          </a:p>
          <a:p>
            <a:pPr lvl="1"/>
            <a:r>
              <a:rPr lang="en-US" sz="2200" dirty="0"/>
              <a:t>Support selection of appropriate modeling tools </a:t>
            </a:r>
          </a:p>
          <a:p>
            <a:pPr lvl="1"/>
            <a:r>
              <a:rPr lang="en-US" sz="2200" dirty="0"/>
              <a:t>Provide a basis for further exploration 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556233-EB68-7B70-4108-D4A8C9E6C1EE}"/>
              </a:ext>
            </a:extLst>
          </p:cNvPr>
          <p:cNvSpPr txBox="1"/>
          <p:nvPr/>
        </p:nvSpPr>
        <p:spPr>
          <a:xfrm>
            <a:off x="581192" y="6488668"/>
            <a:ext cx="11720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John Tukey, Exploratory Data </a:t>
            </a:r>
            <a:r>
              <a:rPr lang="en-US" dirty="0" err="1"/>
              <a:t>Alaysis</a:t>
            </a:r>
            <a:r>
              <a:rPr lang="en-US" dirty="0"/>
              <a:t>, 1977.  </a:t>
            </a:r>
            <a:r>
              <a:rPr lang="en-US" dirty="0">
                <a:hlinkClick r:id="rId3"/>
              </a:rPr>
              <a:t>https://en.wikipedia.org/wiki/Exploratory_data_analysis#cite_note-Tukey1977-6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5747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F6358-B3C2-6665-1308-5AD49A6A6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372B-FE72-BD5E-7E05-5CE1B6B3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741AB-B797-2564-8EFC-C07B540EA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Five number summary (for quantitative variables)</a:t>
            </a:r>
          </a:p>
        </p:txBody>
      </p:sp>
      <p:pic>
        <p:nvPicPr>
          <p:cNvPr id="6" name="Picture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3E85821-2A6A-9E12-31B7-2765097F9B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866"/>
          <a:stretch>
            <a:fillRect/>
          </a:stretch>
        </p:blipFill>
        <p:spPr>
          <a:xfrm>
            <a:off x="581192" y="2796273"/>
            <a:ext cx="5274743" cy="3062526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CE35AA60-54B9-8EAE-594C-304250E497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222"/>
          <a:stretch>
            <a:fillRect/>
          </a:stretch>
        </p:blipFill>
        <p:spPr>
          <a:xfrm>
            <a:off x="6336067" y="2947787"/>
            <a:ext cx="5274743" cy="2759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37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DC3F4-9BE7-3ACB-4698-CA3F0C026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1CCD5-7EF7-2B30-7743-5BCEF953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E4877-2FB8-1280-A07B-69C0264B4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Frequency Tables (categorical / ordinal variables)</a:t>
            </a:r>
          </a:p>
        </p:txBody>
      </p:sp>
      <p:pic>
        <p:nvPicPr>
          <p:cNvPr id="5" name="Picture 4" descr="A close-up of a computer&#10;&#10;AI-generated content may be incorrect.">
            <a:extLst>
              <a:ext uri="{FF2B5EF4-FFF2-40B4-BE49-F238E27FC236}">
                <a16:creationId xmlns:a16="http://schemas.microsoft.com/office/drawing/2014/main" id="{75D693DE-3699-B73E-64CE-220AA6E65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806162"/>
            <a:ext cx="4546600" cy="1028700"/>
          </a:xfrm>
          <a:prstGeom prst="rect">
            <a:avLst/>
          </a:prstGeom>
        </p:spPr>
      </p:pic>
      <p:pic>
        <p:nvPicPr>
          <p:cNvPr id="7" name="Picture 6" descr="A number and numbers on a white background&#10;&#10;AI-generated content may be incorrect.">
            <a:extLst>
              <a:ext uri="{FF2B5EF4-FFF2-40B4-BE49-F238E27FC236}">
                <a16:creationId xmlns:a16="http://schemas.microsoft.com/office/drawing/2014/main" id="{596CEE67-3CE0-3AAD-9B45-0F13B512F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4299402"/>
            <a:ext cx="10976021" cy="139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2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5B559-7E43-3425-29CC-B1CB8B0FC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F2C8-0F4B-2B38-5689-736EF2D0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5477F-583A-BD96-5E82-21655F4246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Frequency Tables (categorical / ordinal variables)</a:t>
            </a:r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E518670-8264-BE13-6CD9-D16AB7895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684759"/>
            <a:ext cx="9417225" cy="3933017"/>
          </a:xfrm>
          <a:prstGeom prst="rect">
            <a:avLst/>
          </a:prstGeom>
        </p:spPr>
      </p:pic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945BB0D-58F7-89A6-1B3C-7F1536F5F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6" y="3429000"/>
            <a:ext cx="11212486" cy="235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6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F40A-9F2F-9CD5-9CD6-C77B0577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472C9-3C83-F45F-1BAA-5F08FD770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DDEFB-D344-D1F7-C040-F0AA3C5C9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Distributions (quantitative variables)</a:t>
            </a:r>
          </a:p>
        </p:txBody>
      </p:sp>
      <p:pic>
        <p:nvPicPr>
          <p:cNvPr id="5" name="Picture 4" descr="A graph with a line graph and a chart with a graph&#10;&#10;AI-generated content may be incorrect.">
            <a:extLst>
              <a:ext uri="{FF2B5EF4-FFF2-40B4-BE49-F238E27FC236}">
                <a16:creationId xmlns:a16="http://schemas.microsoft.com/office/drawing/2014/main" id="{66264B9A-BC56-EAB3-88AD-F2BD14846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195" y="2735106"/>
            <a:ext cx="3749741" cy="3932393"/>
          </a:xfrm>
          <a:prstGeom prst="rect">
            <a:avLst/>
          </a:prstGeom>
        </p:spPr>
      </p:pic>
      <p:pic>
        <p:nvPicPr>
          <p:cNvPr id="7" name="Picture 6" descr="A graph with a line graph&#10;&#10;AI-generated content may be incorrect.">
            <a:extLst>
              <a:ext uri="{FF2B5EF4-FFF2-40B4-BE49-F238E27FC236}">
                <a16:creationId xmlns:a16="http://schemas.microsoft.com/office/drawing/2014/main" id="{9A0DA15A-30FF-2060-C9A1-B2626C78E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731" y="2735106"/>
            <a:ext cx="3749741" cy="3932393"/>
          </a:xfrm>
          <a:prstGeom prst="rect">
            <a:avLst/>
          </a:prstGeom>
        </p:spPr>
      </p:pic>
      <p:pic>
        <p:nvPicPr>
          <p:cNvPr id="9" name="Picture 8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AFAA9D8A-6586-7C6E-C878-B2E715884B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267" y="2735105"/>
            <a:ext cx="3749741" cy="393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11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B1963-FD58-5F75-BF90-83C5D7E5A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8074-CA91-0DF9-D7E7-5C6EC220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B12DE-FC0E-871E-5C12-C25B8A95D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Distributions (quantitative variables)</a:t>
            </a:r>
          </a:p>
        </p:txBody>
      </p:sp>
      <p:pic>
        <p:nvPicPr>
          <p:cNvPr id="6" name="Picture 5" descr="A graph of a number of numbers&#10;&#10;AI-generated content may be incorrect.">
            <a:extLst>
              <a:ext uri="{FF2B5EF4-FFF2-40B4-BE49-F238E27FC236}">
                <a16:creationId xmlns:a16="http://schemas.microsoft.com/office/drawing/2014/main" id="{89C7B987-2C52-91F6-FA52-A9004B4BA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2884370"/>
            <a:ext cx="3507453" cy="3678303"/>
          </a:xfrm>
          <a:prstGeom prst="rect">
            <a:avLst/>
          </a:prstGeom>
        </p:spPr>
      </p:pic>
      <p:pic>
        <p:nvPicPr>
          <p:cNvPr id="10" name="Picture 9" descr="A graph with numbers and a graph&#10;&#10;AI-generated content may be incorrect.">
            <a:extLst>
              <a:ext uri="{FF2B5EF4-FFF2-40B4-BE49-F238E27FC236}">
                <a16:creationId xmlns:a16="http://schemas.microsoft.com/office/drawing/2014/main" id="{DE4E35FF-B14A-D33E-20A6-D8A52F1B82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388" y="2884369"/>
            <a:ext cx="3507453" cy="3678303"/>
          </a:xfrm>
          <a:prstGeom prst="rect">
            <a:avLst/>
          </a:prstGeom>
        </p:spPr>
      </p:pic>
      <p:pic>
        <p:nvPicPr>
          <p:cNvPr id="12" name="Picture 11" descr="Graph of a graph with numbers and text&#10;&#10;AI-generated content may be incorrect.">
            <a:extLst>
              <a:ext uri="{FF2B5EF4-FFF2-40B4-BE49-F238E27FC236}">
                <a16:creationId xmlns:a16="http://schemas.microsoft.com/office/drawing/2014/main" id="{917530C9-C7D8-51CD-9635-0AA11E1ED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0097" y="2884368"/>
            <a:ext cx="3507453" cy="36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88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DEA2E-18D5-1511-D177-8E4FFCBB1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00A1B-D29A-5139-8831-5450F500F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76FE7-17AF-CEB5-F225-472B4DCB3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Frequency (categorical / ordinal variables)</a:t>
            </a:r>
          </a:p>
        </p:txBody>
      </p:sp>
      <p:pic>
        <p:nvPicPr>
          <p:cNvPr id="5" name="Picture 4" descr="A graph of a bar&#10;&#10;AI-generated content may be incorrect.">
            <a:extLst>
              <a:ext uri="{FF2B5EF4-FFF2-40B4-BE49-F238E27FC236}">
                <a16:creationId xmlns:a16="http://schemas.microsoft.com/office/drawing/2014/main" id="{68B910CD-8928-0825-F0E7-1FA19BDFF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421" y="2797981"/>
            <a:ext cx="3576578" cy="3750795"/>
          </a:xfrm>
          <a:prstGeom prst="rect">
            <a:avLst/>
          </a:prstGeom>
        </p:spPr>
      </p:pic>
      <p:pic>
        <p:nvPicPr>
          <p:cNvPr id="6" name="Picture 5" descr="A graph of a number of different genre&#10;&#10;AI-generated content may be incorrect.">
            <a:extLst>
              <a:ext uri="{FF2B5EF4-FFF2-40B4-BE49-F238E27FC236}">
                <a16:creationId xmlns:a16="http://schemas.microsoft.com/office/drawing/2014/main" id="{DBD59D3A-BDC1-1FEF-563E-BCAB340F7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766" y="1984354"/>
            <a:ext cx="4647274" cy="487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46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6867C-9C77-3C4C-1A04-2E386BC35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DAF61-8C56-BD41-5DC8-41ADE8E17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60866-D875-5E93-5002-38A5A7943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Correlations (between quantitative variables)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  <p:pic>
        <p:nvPicPr>
          <p:cNvPr id="7" name="Picture 6" descr="A graph showing a plot of a movie&#10;&#10;AI-generated content may be incorrect.">
            <a:extLst>
              <a:ext uri="{FF2B5EF4-FFF2-40B4-BE49-F238E27FC236}">
                <a16:creationId xmlns:a16="http://schemas.microsoft.com/office/drawing/2014/main" id="{B0735D63-8D80-D558-2506-4A7EFE653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307" y="1970007"/>
            <a:ext cx="50165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10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60E6-F775-25A0-5FDC-5E46241F2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89A9C-99E9-CC85-E637-DAC168402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D77DC-285F-FFD6-D741-836FF14B5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3215893" cy="3678303"/>
          </a:xfrm>
        </p:spPr>
        <p:txBody>
          <a:bodyPr anchor="t">
            <a:normAutofit/>
          </a:bodyPr>
          <a:lstStyle/>
          <a:p>
            <a:r>
              <a:rPr lang="en-US" sz="2400" dirty="0"/>
              <a:t>Correlations (between many quantitative variables)</a:t>
            </a:r>
          </a:p>
          <a:p>
            <a:pPr marL="0" indent="0">
              <a:buNone/>
            </a:pPr>
            <a:r>
              <a:rPr lang="en-US" sz="2400" dirty="0"/>
              <a:t> 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582AE051-C38E-D720-5B46-4944C62C0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637" y="1212931"/>
            <a:ext cx="7772400" cy="525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57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8AB83-7390-E437-156F-54374713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E9411-7725-E127-69A6-E6B58875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5A3D2-D2D1-3E31-7EFF-67FDF4F03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Correlations (between quantitative / ordinal and quantitative variables) </a:t>
            </a:r>
          </a:p>
        </p:txBody>
      </p:sp>
      <p:pic>
        <p:nvPicPr>
          <p:cNvPr id="5" name="Picture 4" descr="A graph showing a plot of time&#10;&#10;AI-generated content may be incorrect.">
            <a:extLst>
              <a:ext uri="{FF2B5EF4-FFF2-40B4-BE49-F238E27FC236}">
                <a16:creationId xmlns:a16="http://schemas.microsoft.com/office/drawing/2014/main" id="{5D35250F-A4B8-C460-F45F-C30FC4D87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007" y="2732627"/>
            <a:ext cx="4925985" cy="412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64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C48E5-E126-56D2-DC02-D96D3105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79489-0595-BB82-758A-19EB7C76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814F0-BDBA-8B67-7171-C7D6419C3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Correlations (between quantitative / categorical variables) </a:t>
            </a:r>
          </a:p>
        </p:txBody>
      </p:sp>
      <p:pic>
        <p:nvPicPr>
          <p:cNvPr id="5" name="Picture 4" descr="A graph of average budget&#10;&#10;AI-generated content may be incorrect.">
            <a:extLst>
              <a:ext uri="{FF2B5EF4-FFF2-40B4-BE49-F238E27FC236}">
                <a16:creationId xmlns:a16="http://schemas.microsoft.com/office/drawing/2014/main" id="{B776E7AD-762F-07D4-375B-FB6641F4F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317" y="2692078"/>
            <a:ext cx="5875365" cy="39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70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09457-0AB6-9810-C412-217174CF2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F9D5A-3A2F-7DA2-BF56-CF1187EB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BCB05-E823-E1E4-C924-238E4E97C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6" cy="4251301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400" dirty="0"/>
              <a:t>Data: Real Estate Sales 2001-2023 GL</a:t>
            </a:r>
          </a:p>
          <a:p>
            <a:pPr lvl="1"/>
            <a:r>
              <a:rPr lang="en-US" sz="2200" dirty="0">
                <a:hlinkClick r:id="rId3"/>
              </a:rPr>
              <a:t>https://catalog.data.gov/dataset/real-estate-sales-2001-2018</a:t>
            </a:r>
            <a:r>
              <a:rPr lang="en-US" sz="2200" dirty="0"/>
              <a:t> </a:t>
            </a:r>
          </a:p>
          <a:p>
            <a:r>
              <a:rPr lang="en-US" sz="2400" dirty="0"/>
              <a:t>Use whatever tool you like (ex. R, python) to perform EDA on the dataset</a:t>
            </a:r>
          </a:p>
          <a:p>
            <a:r>
              <a:rPr lang="en-US" sz="2400" dirty="0"/>
              <a:t>As you perform EDA, do any necessary data cleaning / wrangling </a:t>
            </a:r>
          </a:p>
          <a:p>
            <a:r>
              <a:rPr lang="en-US" sz="2400" dirty="0"/>
              <a:t>Identify:</a:t>
            </a:r>
          </a:p>
          <a:p>
            <a:pPr lvl="1"/>
            <a:r>
              <a:rPr lang="en-US" sz="2200" dirty="0"/>
              <a:t>Distributions of variables</a:t>
            </a:r>
          </a:p>
          <a:p>
            <a:pPr lvl="1"/>
            <a:r>
              <a:rPr lang="en-US" sz="2200" dirty="0"/>
              <a:t>Outliers </a:t>
            </a:r>
          </a:p>
          <a:p>
            <a:pPr lvl="1"/>
            <a:r>
              <a:rPr lang="en-US" sz="2200" dirty="0"/>
              <a:t>Correlations </a:t>
            </a:r>
          </a:p>
          <a:p>
            <a:r>
              <a:rPr lang="en-US" sz="2400" dirty="0"/>
              <a:t>Brainstorm:</a:t>
            </a:r>
          </a:p>
          <a:p>
            <a:pPr lvl="1"/>
            <a:r>
              <a:rPr lang="en-US" sz="2200" dirty="0"/>
              <a:t>Three specific analysis questions you could answer with this dataset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282793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705</TotalTime>
  <Words>424</Words>
  <Application>Microsoft Macintosh PowerPoint</Application>
  <PresentationFormat>Widescreen</PresentationFormat>
  <Paragraphs>83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Gill Sans MT</vt:lpstr>
      <vt:lpstr>Wingdings 2</vt:lpstr>
      <vt:lpstr>Dividend</vt:lpstr>
      <vt:lpstr>Visual Analytics:   Exploratory Data Analysis (EDA)</vt:lpstr>
      <vt:lpstr>Today’s plan</vt:lpstr>
      <vt:lpstr>Hw notes</vt:lpstr>
      <vt:lpstr>Motivation</vt:lpstr>
      <vt:lpstr>Definition</vt:lpstr>
      <vt:lpstr>EDA Techniques </vt:lpstr>
      <vt:lpstr>EDA Techniques </vt:lpstr>
      <vt:lpstr>EDA Techniques </vt:lpstr>
      <vt:lpstr>EDA Techniques </vt:lpstr>
      <vt:lpstr>EDA Techniques </vt:lpstr>
      <vt:lpstr>EDA Techniques </vt:lpstr>
      <vt:lpstr>EDA Techniques </vt:lpstr>
      <vt:lpstr>EDA Techniques </vt:lpstr>
      <vt:lpstr>EDA Techniques </vt:lpstr>
      <vt:lpstr>EDA Techniques 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Mosca</dc:creator>
  <cp:lastModifiedBy>Ab Mosca</cp:lastModifiedBy>
  <cp:revision>19</cp:revision>
  <dcterms:created xsi:type="dcterms:W3CDTF">2025-11-19T17:12:35Z</dcterms:created>
  <dcterms:modified xsi:type="dcterms:W3CDTF">2026-02-05T12:06:51Z</dcterms:modified>
</cp:coreProperties>
</file>